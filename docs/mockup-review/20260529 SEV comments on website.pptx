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563" r:id="rId11"/>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showGuides="1">
      <p:cViewPr>
        <p:scale>
          <a:sx n="75" d="100"/>
          <a:sy n="75" d="100"/>
        </p:scale>
        <p:origin x="1512" y="-220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13236-6D68-4272-885C-D4C873AA9B6D}" type="datetimeFigureOut">
              <a:rPr lang="en-GB" smtClean="0"/>
              <a:t>29/05/2026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3F14EA-DB70-4150-8FDE-501DA8671F33}" type="slidenum">
              <a:rPr lang="en-GB" smtClean="0"/>
              <a:t>‹#›</a:t>
            </a:fld>
            <a:endParaRPr lang="en-GB"/>
          </a:p>
        </p:txBody>
      </p:sp>
    </p:spTree>
    <p:extLst>
      <p:ext uri="{BB962C8B-B14F-4D97-AF65-F5344CB8AC3E}">
        <p14:creationId xmlns:p14="http://schemas.microsoft.com/office/powerpoint/2010/main" val="4227321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a concise, decision-oriented framework designed specifically for CFO-level discussions regarding the Evaluetor platform. It walks through a structured financial narrative beginning with the total contract portfolio value, which is estimated at €50 million in the example. The framework then introduces the concept of value leakage, quantified at a base assumption of 9%, resulting in approximately €4.5 million in annual lost value. This leakage primarily occurs during contract execution rather than negotiation, making it a critical but often overlooked area of financial erosion. The next step identifies recoverable value, estimated at 35% of the leakage, which equates to around €1.6 million. This is the portion of the lost value that can realistically be recovered through active contract monitoring and management enabled by Evaluetor. The slide then presents the total investment required, including platform subscription, implementation, and integration costs, totaling €150,000 in the example. This leads to a net gain calculation of €1.45 million in the first year alone, resulting in a compelling return on investment of approximately 10.5 times. The final and most important element of the slide is the decision framing, which clearly positions the investment not as a cost, but as a choice between recovering €1.6 million in value or leaving it unclaimed. This structure ensures that the conversation remains focused on financial outcomes rather than software features, aligning the narrative with CFO priorities such as cash recovery, efficiency, and risk mitigation.</a:t>
            </a:r>
          </a:p>
        </p:txBody>
      </p:sp>
      <p:sp>
        <p:nvSpPr>
          <p:cNvPr id="4" name="Slide Number Placeholder 3"/>
          <p:cNvSpPr>
            <a:spLocks noGrp="1"/>
          </p:cNvSpPr>
          <p:nvPr>
            <p:ph type="sldNum" sz="quarter" idx="5"/>
          </p:nvPr>
        </p:nvSpPr>
        <p:spPr/>
        <p:txBody>
          <a:bodyPr/>
          <a:lstStyle/>
          <a:p>
            <a:fld id="{5CB77C3A-2304-468D-A131-FA05FDAB0B5C}" type="slidenum">
              <a:t>10</a:t>
            </a:fld>
            <a:endParaRPr lang="en-US"/>
          </a:p>
        </p:txBody>
      </p:sp>
    </p:spTree>
    <p:extLst>
      <p:ext uri="{BB962C8B-B14F-4D97-AF65-F5344CB8AC3E}">
        <p14:creationId xmlns:p14="http://schemas.microsoft.com/office/powerpoint/2010/main" val="76261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C4D5D-0837-B3CB-9D2C-B1AA3F1C1A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DB15B98-CCD9-ED65-AD7E-0C7CEB341C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DB054A7-FB92-5AEE-D6BA-1D078CEFB317}"/>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5" name="Footer Placeholder 4">
            <a:extLst>
              <a:ext uri="{FF2B5EF4-FFF2-40B4-BE49-F238E27FC236}">
                <a16:creationId xmlns:a16="http://schemas.microsoft.com/office/drawing/2014/main" id="{5F11F2F6-AFEC-3B31-208F-1714F8FAD4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C7845D-EA16-C08F-68B7-56B797E39E0F}"/>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185511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BB09-AC06-17AE-1919-3455E517477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A31490C-BA00-3EF6-0E4B-F9CCB5478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918623-C2E4-C26A-393B-CB01017B9810}"/>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5" name="Footer Placeholder 4">
            <a:extLst>
              <a:ext uri="{FF2B5EF4-FFF2-40B4-BE49-F238E27FC236}">
                <a16:creationId xmlns:a16="http://schemas.microsoft.com/office/drawing/2014/main" id="{E52ECAE7-C973-7EBA-5152-DB74D561D7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0B27ED-44D6-8ECB-B8F9-1159B483DCA8}"/>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2130352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DF9B7-F497-55D0-4817-9009AD9C63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C55828-3837-9916-EE44-B84BDD4B53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4B49B7-6BE5-9A53-A5BE-9F35077C9D81}"/>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5" name="Footer Placeholder 4">
            <a:extLst>
              <a:ext uri="{FF2B5EF4-FFF2-40B4-BE49-F238E27FC236}">
                <a16:creationId xmlns:a16="http://schemas.microsoft.com/office/drawing/2014/main" id="{355BFBC0-DEB0-D925-B31E-CB02A3B838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0C0890-3706-326D-80C8-B23FC7BC66E9}"/>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1481419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DC5AE-B69D-E818-D7C4-C1B03B800B6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0A281F-0906-EF55-51E8-619064609F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C7467F5-9147-897E-4B6A-003AD9C2F1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2CBAA67-79C0-A8DA-029C-7B0D812BF108}"/>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6" name="Footer Placeholder 5">
            <a:extLst>
              <a:ext uri="{FF2B5EF4-FFF2-40B4-BE49-F238E27FC236}">
                <a16:creationId xmlns:a16="http://schemas.microsoft.com/office/drawing/2014/main" id="{4481DB94-834F-23BD-9825-DE88D90A80E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E8F3DE9-AE3F-B183-8EAC-58B9EC63B4F9}"/>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1806228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EA30E-F7D3-024D-6118-C9EC5038CDA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D75199D-6A32-1D41-D5FC-D4E04ADD7E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2CA5A-2E4C-C5E5-DB1F-CC6D6170F4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BEA5086-CA5E-0F95-42B8-4E09950479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5A6F40-C950-36D6-5722-9B25EF010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1E0B7EC-8C2B-DD1B-5A7D-4965FFA51C08}"/>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8" name="Footer Placeholder 7">
            <a:extLst>
              <a:ext uri="{FF2B5EF4-FFF2-40B4-BE49-F238E27FC236}">
                <a16:creationId xmlns:a16="http://schemas.microsoft.com/office/drawing/2014/main" id="{5CBA6F1E-4C9D-DA53-BBD6-C8B6F33A57A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9E3C027-D41F-D8C5-7BAB-3F44C238FA9F}"/>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261314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33693-D1A3-385D-84F7-94D4EF9E2A2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B627CB1-EC3B-B31C-CAC5-21E1F9766470}"/>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4" name="Footer Placeholder 3">
            <a:extLst>
              <a:ext uri="{FF2B5EF4-FFF2-40B4-BE49-F238E27FC236}">
                <a16:creationId xmlns:a16="http://schemas.microsoft.com/office/drawing/2014/main" id="{8AC2F45A-6349-5DD9-006F-F19D99FBFDF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C3237FB-202D-5AB9-8383-C0A83418889B}"/>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73206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3D983-37D6-98F5-5794-99435D9313E8}"/>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3" name="Footer Placeholder 2">
            <a:extLst>
              <a:ext uri="{FF2B5EF4-FFF2-40B4-BE49-F238E27FC236}">
                <a16:creationId xmlns:a16="http://schemas.microsoft.com/office/drawing/2014/main" id="{68508CBF-6421-88C7-1CF7-67194551A27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707350A-B99C-C372-7D8E-68FE4D60B487}"/>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3284401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CDB4-3FD7-3999-D1C7-8B9E4ADDC9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0C41F18-4078-7806-5DB6-EC475AC7B6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459E7F8-A7F8-C55E-8836-1E8A26CAC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EB3446-8E19-C44E-A887-84F63A87F86B}"/>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6" name="Footer Placeholder 5">
            <a:extLst>
              <a:ext uri="{FF2B5EF4-FFF2-40B4-BE49-F238E27FC236}">
                <a16:creationId xmlns:a16="http://schemas.microsoft.com/office/drawing/2014/main" id="{A6F30839-EDF5-6308-CAA8-6CBB4597E3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D3B45C-F007-A28B-5EC3-0866A86610B9}"/>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4004914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4A1EE-EE71-1D90-7B9F-0CADE14EA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38DB13D-1137-F206-984D-B6951EEC4D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689C202-12D4-89E6-329D-78386C21E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713D0-85EF-A9A9-B0E9-79074F2C9709}"/>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6" name="Footer Placeholder 5">
            <a:extLst>
              <a:ext uri="{FF2B5EF4-FFF2-40B4-BE49-F238E27FC236}">
                <a16:creationId xmlns:a16="http://schemas.microsoft.com/office/drawing/2014/main" id="{B98A3D9B-980E-E0AE-0559-D01A91ED73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A7D0FB3-10BA-59B6-B7CA-F7C24677F7A6}"/>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4010776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2640A-9778-B6B4-FB34-8DD0954720B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5684EF-578D-8511-6659-4A703F8DD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052833-88C9-21CF-C0CA-6557E1285D1A}"/>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5" name="Footer Placeholder 4">
            <a:extLst>
              <a:ext uri="{FF2B5EF4-FFF2-40B4-BE49-F238E27FC236}">
                <a16:creationId xmlns:a16="http://schemas.microsoft.com/office/drawing/2014/main" id="{7BEDF208-77F2-2C33-0D35-798661611D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CA8288-87BC-232F-B574-CBE5B7C5922B}"/>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214977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969F93-12DA-FE86-6F34-94383B2623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9F29FB2-FF42-9E43-C7EE-1B4124BFA1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0187657-E707-BBF9-F10B-528C972ACB2F}"/>
              </a:ext>
            </a:extLst>
          </p:cNvPr>
          <p:cNvSpPr>
            <a:spLocks noGrp="1"/>
          </p:cNvSpPr>
          <p:nvPr>
            <p:ph type="dt" sz="half" idx="10"/>
          </p:nvPr>
        </p:nvSpPr>
        <p:spPr/>
        <p:txBody>
          <a:bodyPr/>
          <a:lstStyle/>
          <a:p>
            <a:fld id="{D9C864FD-4F2B-464F-9015-C3C27501A653}" type="datetimeFigureOut">
              <a:rPr lang="en-GB" smtClean="0"/>
              <a:t>29/05/2026</a:t>
            </a:fld>
            <a:endParaRPr lang="en-GB"/>
          </a:p>
        </p:txBody>
      </p:sp>
      <p:sp>
        <p:nvSpPr>
          <p:cNvPr id="5" name="Footer Placeholder 4">
            <a:extLst>
              <a:ext uri="{FF2B5EF4-FFF2-40B4-BE49-F238E27FC236}">
                <a16:creationId xmlns:a16="http://schemas.microsoft.com/office/drawing/2014/main" id="{88FC7E51-5EA6-7C80-8C78-4FE8901C7C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EE4A13-2182-6340-A3C8-7E27F299751D}"/>
              </a:ext>
            </a:extLst>
          </p:cNvPr>
          <p:cNvSpPr>
            <a:spLocks noGrp="1"/>
          </p:cNvSpPr>
          <p:nvPr>
            <p:ph type="sldNum" sz="quarter" idx="12"/>
          </p:nvPr>
        </p:nvSpPr>
        <p:spPr/>
        <p:txBody>
          <a:bodyPr/>
          <a:lstStyle/>
          <a:p>
            <a:fld id="{D5FFE9C7-0A3B-4AB3-AE9C-DA4A8578ECA1}" type="slidenum">
              <a:rPr lang="en-GB" smtClean="0"/>
              <a:t>‹#›</a:t>
            </a:fld>
            <a:endParaRPr lang="en-GB"/>
          </a:p>
        </p:txBody>
      </p:sp>
    </p:spTree>
    <p:extLst>
      <p:ext uri="{BB962C8B-B14F-4D97-AF65-F5344CB8AC3E}">
        <p14:creationId xmlns:p14="http://schemas.microsoft.com/office/powerpoint/2010/main" val="1376811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4"/>
            <a:ext cx="4654296" cy="100401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BABAF444-0EFC-B8EE-DF68-7CD4EEBA3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7DBC6452-8FE0-731A-B20B-59CF47CE749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1C9BACBF-74CC-DF75-A77E-6C3DBA3666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FF032E9-B94F-48D6-9953-A37CC3DD361D}" type="datetime1">
              <a:rPr lang="en-US" smtClean="0"/>
              <a:t>5/29/2026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2584094"/>
            <a:ext cx="4654296" cy="369608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41849" y="1260123"/>
            <a:ext cx="5882639" cy="502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3626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B74DE3-CBDB-40DB-917F-C197FE04EB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5AF6F5-4A4E-D7BA-8987-1D609D7448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667F3F4-B393-CC45-60B3-91828F700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C864FD-4F2B-464F-9015-C3C27501A653}" type="datetimeFigureOut">
              <a:rPr lang="en-GB" smtClean="0"/>
              <a:t>29/05/2026</a:t>
            </a:fld>
            <a:endParaRPr lang="en-GB"/>
          </a:p>
        </p:txBody>
      </p:sp>
      <p:sp>
        <p:nvSpPr>
          <p:cNvPr id="5" name="Footer Placeholder 4">
            <a:extLst>
              <a:ext uri="{FF2B5EF4-FFF2-40B4-BE49-F238E27FC236}">
                <a16:creationId xmlns:a16="http://schemas.microsoft.com/office/drawing/2014/main" id="{3585046B-7E9F-A838-A4AB-B5E400A4EC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2B71D73-58A7-4584-1CDF-30F7ECE388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FFE9C7-0A3B-4AB3-AE9C-DA4A8578ECA1}" type="slidenum">
              <a:rPr lang="en-GB" smtClean="0"/>
              <a:t>‹#›</a:t>
            </a:fld>
            <a:endParaRPr lang="en-GB"/>
          </a:p>
        </p:txBody>
      </p:sp>
    </p:spTree>
    <p:extLst>
      <p:ext uri="{BB962C8B-B14F-4D97-AF65-F5344CB8AC3E}">
        <p14:creationId xmlns:p14="http://schemas.microsoft.com/office/powerpoint/2010/main" val="1061244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hyperlink" Target="https://vehnta.com/b2b-saas-go-to-market-strategy-examples/" TargetMode="External"/><Relationship Id="rId3" Type="http://schemas.openxmlformats.org/officeDocument/2006/relationships/hyperlink" Target="https://www.sirion.ai/library/clm-platform/contract-management-software-cost/" TargetMode="External"/><Relationship Id="rId7" Type="http://schemas.openxmlformats.org/officeDocument/2006/relationships/hyperlink" Target="https://cpl.thalesgroup.com/software-monetization/saas-pricing-models" TargetMode="External"/><Relationship Id="rId2" Type="http://schemas.openxmlformats.org/officeDocument/2006/relationships/hyperlink" Target="https://sevisserconsultancybv-my.sharepoint.com/personal/steven_visser_sevisser_com/Documents/Microsoft%20Copilot%20Chat%20Files/commercial-combo-mockup.html" TargetMode="External"/><Relationship Id="rId1" Type="http://schemas.openxmlformats.org/officeDocument/2006/relationships/slideLayout" Target="../slideLayouts/slideLayout6.xml"/><Relationship Id="rId6" Type="http://schemas.openxmlformats.org/officeDocument/2006/relationships/hyperlink" Target="https://www.hyperstart.com/blog/icertis-pricing/" TargetMode="External"/><Relationship Id="rId5" Type="http://schemas.openxmlformats.org/officeDocument/2006/relationships/hyperlink" Target="https://www.concord.app/blog/clm-pricing-exposed-real-costs-hidden-fees-vendor-quotes" TargetMode="External"/><Relationship Id="rId10" Type="http://schemas.openxmlformats.org/officeDocument/2006/relationships/hyperlink" Target="https://zefort.com/blog/contract-management-software-pricing-explained-what-buyers-need-to-know/" TargetMode="External"/><Relationship Id="rId4" Type="http://schemas.openxmlformats.org/officeDocument/2006/relationships/hyperlink" Target="https://remery.ai/blog/startup-pricing-strategy-b2b-saas" TargetMode="External"/><Relationship Id="rId9" Type="http://schemas.openxmlformats.org/officeDocument/2006/relationships/hyperlink" Target="https://www.saashero.net/strategy/go-to-market-strategy-exampl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03F8B-B955-D44C-25AF-3D971D074205}"/>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BB34ACCB-3E13-00DF-54A4-16E91F9FA18F}"/>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79FB7769-75EC-498F-4D0D-32C29374A64C}"/>
              </a:ext>
            </a:extLst>
          </p:cNvPr>
          <p:cNvPicPr>
            <a:picLocks noChangeAspect="1"/>
          </p:cNvPicPr>
          <p:nvPr/>
        </p:nvPicPr>
        <p:blipFill>
          <a:blip r:embed="rId2"/>
          <a:stretch>
            <a:fillRect/>
          </a:stretch>
        </p:blipFill>
        <p:spPr>
          <a:xfrm>
            <a:off x="230493" y="0"/>
            <a:ext cx="11731014" cy="6858000"/>
          </a:xfrm>
          <a:prstGeom prst="rect">
            <a:avLst/>
          </a:prstGeom>
        </p:spPr>
      </p:pic>
    </p:spTree>
    <p:extLst>
      <p:ext uri="{BB962C8B-B14F-4D97-AF65-F5344CB8AC3E}">
        <p14:creationId xmlns:p14="http://schemas.microsoft.com/office/powerpoint/2010/main" val="2865629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98F1F-A91F-7A9F-238A-22DD9B6DAB5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8C9D821-3133-6692-86EA-F26F22BFC92D}"/>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2C504FF9-BA24-5DE4-2193-46EB752B6114}"/>
              </a:ext>
            </a:extLst>
          </p:cNvPr>
          <p:cNvPicPr>
            <a:picLocks noChangeAspect="1"/>
          </p:cNvPicPr>
          <p:nvPr/>
        </p:nvPicPr>
        <p:blipFill>
          <a:blip r:embed="rId2"/>
          <a:stretch>
            <a:fillRect/>
          </a:stretch>
        </p:blipFill>
        <p:spPr>
          <a:xfrm>
            <a:off x="0" y="309832"/>
            <a:ext cx="12192000" cy="6238335"/>
          </a:xfrm>
          <a:prstGeom prst="rect">
            <a:avLst/>
          </a:prstGeom>
        </p:spPr>
      </p:pic>
      <p:sp>
        <p:nvSpPr>
          <p:cNvPr id="6" name="TextBox 5">
            <a:extLst>
              <a:ext uri="{FF2B5EF4-FFF2-40B4-BE49-F238E27FC236}">
                <a16:creationId xmlns:a16="http://schemas.microsoft.com/office/drawing/2014/main" id="{58F2253D-BA8B-6C41-7E1C-BDDA9A147E46}"/>
              </a:ext>
            </a:extLst>
          </p:cNvPr>
          <p:cNvSpPr txBox="1"/>
          <p:nvPr/>
        </p:nvSpPr>
        <p:spPr>
          <a:xfrm>
            <a:off x="7444539" y="4001294"/>
            <a:ext cx="4144981" cy="369332"/>
          </a:xfrm>
          <a:prstGeom prst="rect">
            <a:avLst/>
          </a:prstGeom>
          <a:noFill/>
        </p:spPr>
        <p:txBody>
          <a:bodyPr wrap="none" rtlCol="0">
            <a:spAutoFit/>
          </a:bodyPr>
          <a:lstStyle/>
          <a:p>
            <a:r>
              <a:rPr lang="en-GB" dirty="0">
                <a:highlight>
                  <a:srgbClr val="FFFF00"/>
                </a:highlight>
              </a:rPr>
              <a:t>Change Rotterdam into the Netherlands</a:t>
            </a:r>
          </a:p>
        </p:txBody>
      </p:sp>
    </p:spTree>
    <p:extLst>
      <p:ext uri="{BB962C8B-B14F-4D97-AF65-F5344CB8AC3E}">
        <p14:creationId xmlns:p14="http://schemas.microsoft.com/office/powerpoint/2010/main" val="3719089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4F9F2B-FEB7-1D7D-2A64-AFECDCCD9CA0}"/>
              </a:ext>
            </a:extLst>
          </p:cNvPr>
          <p:cNvPicPr>
            <a:picLocks noChangeAspect="1"/>
          </p:cNvPicPr>
          <p:nvPr/>
        </p:nvPicPr>
        <p:blipFill>
          <a:blip r:embed="rId2"/>
          <a:stretch>
            <a:fillRect/>
          </a:stretch>
        </p:blipFill>
        <p:spPr>
          <a:xfrm>
            <a:off x="1685428" y="0"/>
            <a:ext cx="8821143" cy="6858000"/>
          </a:xfrm>
          <a:prstGeom prst="rect">
            <a:avLst/>
          </a:prstGeom>
        </p:spPr>
      </p:pic>
      <p:sp>
        <p:nvSpPr>
          <p:cNvPr id="6" name="TextBox 5">
            <a:extLst>
              <a:ext uri="{FF2B5EF4-FFF2-40B4-BE49-F238E27FC236}">
                <a16:creationId xmlns:a16="http://schemas.microsoft.com/office/drawing/2014/main" id="{6EC2F0DB-0120-6662-9BB9-71D561B959CE}"/>
              </a:ext>
            </a:extLst>
          </p:cNvPr>
          <p:cNvSpPr txBox="1"/>
          <p:nvPr/>
        </p:nvSpPr>
        <p:spPr>
          <a:xfrm>
            <a:off x="2321668" y="6176963"/>
            <a:ext cx="3531608" cy="369332"/>
          </a:xfrm>
          <a:prstGeom prst="rect">
            <a:avLst/>
          </a:prstGeom>
          <a:noFill/>
        </p:spPr>
        <p:txBody>
          <a:bodyPr wrap="none" rtlCol="0">
            <a:spAutoFit/>
          </a:bodyPr>
          <a:lstStyle/>
          <a:p>
            <a:r>
              <a:rPr lang="en-GB" dirty="0">
                <a:highlight>
                  <a:srgbClr val="FFFF00"/>
                </a:highlight>
              </a:rPr>
              <a:t>Replace </a:t>
            </a:r>
            <a:r>
              <a:rPr lang="en-GB" dirty="0" err="1">
                <a:highlight>
                  <a:srgbClr val="FFFF00"/>
                </a:highlight>
              </a:rPr>
              <a:t>Senority</a:t>
            </a:r>
            <a:r>
              <a:rPr lang="en-GB" dirty="0">
                <a:highlight>
                  <a:srgbClr val="FFFF00"/>
                </a:highlight>
              </a:rPr>
              <a:t> by </a:t>
            </a:r>
            <a:r>
              <a:rPr lang="en-GB" dirty="0" err="1">
                <a:highlight>
                  <a:srgbClr val="FFFF00"/>
                </a:highlight>
              </a:rPr>
              <a:t>Evaluetor</a:t>
            </a:r>
            <a:r>
              <a:rPr lang="en-GB" dirty="0">
                <a:highlight>
                  <a:srgbClr val="FFFF00"/>
                </a:highlight>
              </a:rPr>
              <a:t> B.V.</a:t>
            </a:r>
          </a:p>
        </p:txBody>
      </p:sp>
      <p:cxnSp>
        <p:nvCxnSpPr>
          <p:cNvPr id="8" name="Straight Arrow Connector 7">
            <a:extLst>
              <a:ext uri="{FF2B5EF4-FFF2-40B4-BE49-F238E27FC236}">
                <a16:creationId xmlns:a16="http://schemas.microsoft.com/office/drawing/2014/main" id="{BF7FF4D9-8C7D-8F37-A55F-97D729E30112}"/>
              </a:ext>
            </a:extLst>
          </p:cNvPr>
          <p:cNvCxnSpPr/>
          <p:nvPr/>
        </p:nvCxnSpPr>
        <p:spPr>
          <a:xfrm flipH="1">
            <a:off x="2684834" y="6546295"/>
            <a:ext cx="1193260" cy="13985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273170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D3B38B-38C7-5038-F756-AAD3D6F9D788}"/>
              </a:ext>
            </a:extLst>
          </p:cNvPr>
          <p:cNvPicPr>
            <a:picLocks noChangeAspect="1"/>
          </p:cNvPicPr>
          <p:nvPr/>
        </p:nvPicPr>
        <p:blipFill>
          <a:blip r:embed="rId2"/>
          <a:stretch>
            <a:fillRect/>
          </a:stretch>
        </p:blipFill>
        <p:spPr>
          <a:xfrm>
            <a:off x="267228" y="580246"/>
            <a:ext cx="7080398" cy="5129890"/>
          </a:xfrm>
          <a:prstGeom prst="rect">
            <a:avLst/>
          </a:prstGeom>
        </p:spPr>
      </p:pic>
      <p:sp>
        <p:nvSpPr>
          <p:cNvPr id="4" name="TextBox 3">
            <a:extLst>
              <a:ext uri="{FF2B5EF4-FFF2-40B4-BE49-F238E27FC236}">
                <a16:creationId xmlns:a16="http://schemas.microsoft.com/office/drawing/2014/main" id="{56B78723-2069-1CC3-7B52-08F3FA544920}"/>
              </a:ext>
            </a:extLst>
          </p:cNvPr>
          <p:cNvSpPr txBox="1"/>
          <p:nvPr/>
        </p:nvSpPr>
        <p:spPr>
          <a:xfrm>
            <a:off x="7704306" y="849548"/>
            <a:ext cx="4220466" cy="1569660"/>
          </a:xfrm>
          <a:prstGeom prst="rect">
            <a:avLst/>
          </a:prstGeom>
          <a:noFill/>
        </p:spPr>
        <p:txBody>
          <a:bodyPr wrap="square" rtlCol="0">
            <a:spAutoFit/>
          </a:bodyPr>
          <a:lstStyle/>
          <a:p>
            <a:r>
              <a:rPr lang="en-GB" sz="1200" dirty="0"/>
              <a:t>I like the different views, we should add sales/account management/Commercial for a </a:t>
            </a:r>
            <a:r>
              <a:rPr lang="nl-NL" sz="1200" dirty="0"/>
              <a:t>companies</a:t>
            </a:r>
            <a:r>
              <a:rPr lang="en-GB" sz="1200" dirty="0"/>
              <a:t> </a:t>
            </a:r>
            <a:r>
              <a:rPr lang="en-GB" sz="1200" dirty="0">
                <a:highlight>
                  <a:srgbClr val="FFFF00"/>
                </a:highlight>
              </a:rPr>
              <a:t>SELL</a:t>
            </a:r>
            <a:r>
              <a:rPr lang="en-GB" sz="1200" dirty="0"/>
              <a:t> side</a:t>
            </a:r>
          </a:p>
          <a:p>
            <a:r>
              <a:rPr lang="en-GB" sz="1200" dirty="0"/>
              <a:t>Current text seems to focus on </a:t>
            </a:r>
            <a:r>
              <a:rPr lang="en-GB" sz="1200" dirty="0">
                <a:highlight>
                  <a:srgbClr val="FFFF00"/>
                </a:highlight>
              </a:rPr>
              <a:t>buy</a:t>
            </a:r>
            <a:r>
              <a:rPr lang="en-GB" sz="1200" dirty="0"/>
              <a:t> side…. Where you manage Cost, on the sell side you manage Revenue and Contribution … both sides matter </a:t>
            </a:r>
          </a:p>
          <a:p>
            <a:endParaRPr lang="en-GB" sz="1200" dirty="0"/>
          </a:p>
          <a:p>
            <a:r>
              <a:rPr lang="en-GB" sz="1200" dirty="0"/>
              <a:t>Improves client satisfaction, improve trust, do as your promised, deliver as agreed…. </a:t>
            </a:r>
          </a:p>
        </p:txBody>
      </p:sp>
      <p:sp>
        <p:nvSpPr>
          <p:cNvPr id="5" name="TextBox 4">
            <a:extLst>
              <a:ext uri="{FF2B5EF4-FFF2-40B4-BE49-F238E27FC236}">
                <a16:creationId xmlns:a16="http://schemas.microsoft.com/office/drawing/2014/main" id="{32BE5EFC-9568-7BD1-C46C-ED394CC73353}"/>
              </a:ext>
            </a:extLst>
          </p:cNvPr>
          <p:cNvSpPr txBox="1"/>
          <p:nvPr/>
        </p:nvSpPr>
        <p:spPr>
          <a:xfrm>
            <a:off x="3514928" y="3683540"/>
            <a:ext cx="2749685" cy="1200329"/>
          </a:xfrm>
          <a:prstGeom prst="rect">
            <a:avLst/>
          </a:prstGeom>
          <a:noFill/>
        </p:spPr>
        <p:txBody>
          <a:bodyPr wrap="square" rtlCol="0">
            <a:spAutoFit/>
          </a:bodyPr>
          <a:lstStyle/>
          <a:p>
            <a:r>
              <a:rPr lang="en-GB" dirty="0">
                <a:highlight>
                  <a:srgbClr val="FFFF00"/>
                </a:highlight>
              </a:rPr>
              <a:t>Maybe improve contrast (grey on Grey) &amp; increase font a bit …. Or are it just my eyes ;-)</a:t>
            </a:r>
          </a:p>
        </p:txBody>
      </p:sp>
    </p:spTree>
    <p:extLst>
      <p:ext uri="{BB962C8B-B14F-4D97-AF65-F5344CB8AC3E}">
        <p14:creationId xmlns:p14="http://schemas.microsoft.com/office/powerpoint/2010/main" val="215464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4D718F-E1C1-DE76-6ED2-E7C1CDF8566E}"/>
              </a:ext>
            </a:extLst>
          </p:cNvPr>
          <p:cNvSpPr txBox="1"/>
          <p:nvPr/>
        </p:nvSpPr>
        <p:spPr>
          <a:xfrm>
            <a:off x="894947" y="1147864"/>
            <a:ext cx="9909242" cy="58262103"/>
          </a:xfrm>
          <a:prstGeom prst="rect">
            <a:avLst/>
          </a:prstGeom>
          <a:solidFill>
            <a:schemeClr val="bg1"/>
          </a:solidFill>
        </p:spPr>
        <p:txBody>
          <a:bodyPr wrap="square">
            <a:spAutoFit/>
          </a:bodyPr>
          <a:lstStyle/>
          <a:p>
            <a:r>
              <a:rPr lang="en-US" sz="1400" dirty="0"/>
              <a:t>I’ve carefully reviewed your uploaded page ([commercial-combo-mockup.html](https://sevisserconsultancybv-my.sharepoint.com/personal/steven_visser_sevisser_com/Documents/Microsoft%20Copilot%20Chat%20Files/commercial-combo-mockup.html?EntityRepresentationId=30f20e83-13e3-4707-8bcf-ca45a75af89a)) and here is a **clear, structured conclusion**—tailored to your background in CLM, contract value leakage, and board-level thinking.</a:t>
            </a:r>
          </a:p>
          <a:p>
            <a:endParaRPr lang="en-US" sz="1400" dirty="0"/>
          </a:p>
          <a:p>
            <a:r>
              <a:rPr lang="en-US" sz="1400" dirty="0"/>
              <a:t>***</a:t>
            </a:r>
          </a:p>
          <a:p>
            <a:endParaRPr lang="en-US" sz="1400" dirty="0"/>
          </a:p>
          <a:p>
            <a:r>
              <a:rPr lang="en-US" sz="1400" dirty="0"/>
              <a:t># 🧠 Overall conclusion</a:t>
            </a:r>
          </a:p>
          <a:p>
            <a:endParaRPr lang="en-US" sz="1400" dirty="0"/>
          </a:p>
          <a:p>
            <a:r>
              <a:rPr lang="en-US" sz="1400" dirty="0"/>
              <a:t>This is a **highly sophisticated commercial landing page for a next-generation CLM platform (“</a:t>
            </a:r>
            <a:r>
              <a:rPr lang="en-US" sz="1400" dirty="0" err="1"/>
              <a:t>Evaluetor</a:t>
            </a:r>
            <a:r>
              <a:rPr lang="en-US" sz="1400" dirty="0"/>
              <a:t>”)** with a very specific positioning:</a:t>
            </a:r>
          </a:p>
          <a:p>
            <a:endParaRPr lang="en-US" sz="1400" dirty="0"/>
          </a:p>
          <a:p>
            <a:r>
              <a:rPr lang="en-US" sz="1400" dirty="0"/>
              <a:t>👉 It is **not “just another CLM tool”**  </a:t>
            </a:r>
          </a:p>
          <a:p>
            <a:r>
              <a:rPr lang="en-US" sz="1400" dirty="0"/>
              <a:t>👉 It is positioned as an **AI-native execution intelligence layer**  </a:t>
            </a:r>
          </a:p>
          <a:p>
            <a:r>
              <a:rPr lang="en-US" sz="1400" dirty="0"/>
              <a:t>👉 Its core thesis: **contract value is lost after signature — and existing CLM tools don’t solve that**</a:t>
            </a:r>
          </a:p>
          <a:p>
            <a:endParaRPr lang="en-US" sz="1400" dirty="0"/>
          </a:p>
          <a:p>
            <a:r>
              <a:rPr lang="en-US" sz="1400" dirty="0"/>
              <a:t>***</a:t>
            </a:r>
          </a:p>
          <a:p>
            <a:endParaRPr lang="en-US" sz="1400" dirty="0"/>
          </a:p>
          <a:p>
            <a:r>
              <a:rPr lang="en-US" sz="1400" dirty="0"/>
              <a:t># 🎯 1. Core strategic positioning</a:t>
            </a:r>
          </a:p>
          <a:p>
            <a:endParaRPr lang="en-US" sz="1400" dirty="0"/>
          </a:p>
          <a:p>
            <a:r>
              <a:rPr lang="en-US" sz="1400" dirty="0"/>
              <a:t>The **central claim** is extremely clear:</a:t>
            </a:r>
          </a:p>
          <a:p>
            <a:endParaRPr lang="en-US" sz="1400" dirty="0"/>
          </a:p>
          <a:p>
            <a:r>
              <a:rPr lang="en-US" sz="1400" dirty="0"/>
              <a:t>&gt; **“8–11% of contract value is lost post-signature”**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And more importantly:</a:t>
            </a:r>
          </a:p>
          <a:p>
            <a:endParaRPr lang="en-US" sz="1400" dirty="0"/>
          </a:p>
          <a:p>
            <a:r>
              <a:rPr lang="en-US" sz="1400" dirty="0"/>
              <a:t>&gt; **70–80% of that loss happens during execution, not negotiation**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What this means strategically</a:t>
            </a:r>
          </a:p>
          <a:p>
            <a:endParaRPr lang="en-US" sz="1400" dirty="0"/>
          </a:p>
          <a:p>
            <a:r>
              <a:rPr lang="en-US" sz="1400" dirty="0"/>
              <a:t>* This product is **not competing in drafting/workflow CLM**</a:t>
            </a:r>
          </a:p>
          <a:p>
            <a:r>
              <a:rPr lang="en-US" sz="1400" dirty="0"/>
              <a:t>* It is going after the **“execution gap” → value leakage**</a:t>
            </a:r>
          </a:p>
          <a:p>
            <a:r>
              <a:rPr lang="en-US" sz="1400" dirty="0"/>
              <a:t>* It reframes CLM from:</a:t>
            </a:r>
          </a:p>
          <a:p>
            <a:r>
              <a:rPr lang="en-US" sz="1400" dirty="0"/>
              <a:t>  * ❌ Document system</a:t>
            </a:r>
          </a:p>
          <a:p>
            <a:r>
              <a:rPr lang="en-US" sz="1400" dirty="0"/>
              <a:t>  * ✅ **Value recovery &amp; operational control system**</a:t>
            </a:r>
          </a:p>
          <a:p>
            <a:endParaRPr lang="en-US" sz="1400" dirty="0"/>
          </a:p>
          <a:p>
            <a:r>
              <a:rPr lang="en-US" sz="1400" dirty="0"/>
              <a:t>👉 This aligns very closely with the concept you often explore:  </a:t>
            </a:r>
          </a:p>
          <a:p>
            <a:r>
              <a:rPr lang="en-US" sz="1400" dirty="0"/>
              <a:t>**contract value leakage prevention as a board-level KPI**</a:t>
            </a:r>
          </a:p>
          <a:p>
            <a:endParaRPr lang="en-US" sz="1400" dirty="0"/>
          </a:p>
          <a:p>
            <a:r>
              <a:rPr lang="en-US" sz="1400" dirty="0"/>
              <a:t>***</a:t>
            </a:r>
          </a:p>
          <a:p>
            <a:endParaRPr lang="en-US" sz="1400" dirty="0"/>
          </a:p>
          <a:p>
            <a:r>
              <a:rPr lang="en-US" sz="1400" dirty="0"/>
              <a:t># 🧩 2. Product concept (what it really is)</a:t>
            </a:r>
          </a:p>
          <a:p>
            <a:endParaRPr lang="en-US" sz="1400" dirty="0"/>
          </a:p>
          <a:p>
            <a:r>
              <a:rPr lang="en-US" sz="1400" dirty="0"/>
              <a:t>Behind the marketing, the product is essentially:</a:t>
            </a:r>
          </a:p>
          <a:p>
            <a:endParaRPr lang="en-US" sz="1400" dirty="0"/>
          </a:p>
          <a:p>
            <a:r>
              <a:rPr lang="en-US" sz="1400" dirty="0"/>
              <a:t>### 👉 A post-signature contract intelligence layer with 6 pillars:</a:t>
            </a:r>
          </a:p>
          <a:p>
            <a:endParaRPr lang="en-US" sz="1400" dirty="0"/>
          </a:p>
          <a:p>
            <a:r>
              <a:rPr lang="en-US" sz="1400" dirty="0"/>
              <a:t>1. Contract intelligence (AI extraction + risk scoring)</a:t>
            </a:r>
          </a:p>
          <a:p>
            <a:r>
              <a:rPr lang="en-US" sz="1400" dirty="0"/>
              <a:t>2. Obligation tracking</a:t>
            </a:r>
          </a:p>
          <a:p>
            <a:r>
              <a:rPr lang="en-US" sz="1400" dirty="0"/>
              <a:t>3. SLA monitoring</a:t>
            </a:r>
          </a:p>
          <a:p>
            <a:r>
              <a:rPr lang="en-US" sz="1400" dirty="0"/>
              <a:t>4. Renewal management</a:t>
            </a:r>
          </a:p>
          <a:p>
            <a:r>
              <a:rPr lang="en-US" sz="1400" dirty="0"/>
              <a:t>5. Relationship governance (differentiator)</a:t>
            </a:r>
          </a:p>
          <a:p>
            <a:r>
              <a:rPr lang="en-US" sz="1400" dirty="0"/>
              <a:t>6. Enterprise security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Key architectural claim:</a:t>
            </a:r>
          </a:p>
          <a:p>
            <a:endParaRPr lang="en-US" sz="1400" dirty="0"/>
          </a:p>
          <a:p>
            <a:r>
              <a:rPr lang="en-US" sz="1400" dirty="0"/>
              <a:t>&gt; “Nine AI agents… every contract”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My interpretation</a:t>
            </a:r>
          </a:p>
          <a:p>
            <a:endParaRPr lang="en-US" sz="1400" dirty="0"/>
          </a:p>
          <a:p>
            <a:r>
              <a:rPr lang="en-US" sz="1400" dirty="0"/>
              <a:t>This suggests:</a:t>
            </a:r>
          </a:p>
          <a:p>
            <a:endParaRPr lang="en-US" sz="1400" dirty="0"/>
          </a:p>
          <a:p>
            <a:r>
              <a:rPr lang="en-US" sz="1400" dirty="0"/>
              <a:t>* Multi-agent LLM orchestration</a:t>
            </a:r>
          </a:p>
          <a:p>
            <a:r>
              <a:rPr lang="en-US" sz="1400" dirty="0"/>
              <a:t>* Structured extraction + monitoring + alerting</a:t>
            </a:r>
          </a:p>
          <a:p>
            <a:r>
              <a:rPr lang="en-US" sz="1400" dirty="0"/>
              <a:t>* Strong focus on **operational triggers** (not static analysis)</a:t>
            </a:r>
          </a:p>
          <a:p>
            <a:endParaRPr lang="en-US" sz="1400" dirty="0"/>
          </a:p>
          <a:p>
            <a:r>
              <a:rPr lang="en-US" sz="1400" dirty="0"/>
              <a:t>***</a:t>
            </a:r>
          </a:p>
          <a:p>
            <a:endParaRPr lang="en-US" sz="1400" dirty="0"/>
          </a:p>
          <a:p>
            <a:r>
              <a:rPr lang="en-US" sz="1400" dirty="0"/>
              <a:t># ⚠️ 3. The real differentiator (important)</a:t>
            </a:r>
          </a:p>
          <a:p>
            <a:endParaRPr lang="en-US" sz="1400" dirty="0"/>
          </a:p>
          <a:p>
            <a:r>
              <a:rPr lang="en-US" sz="1400" dirty="0"/>
              <a:t>The **single most important differentiator** is:</a:t>
            </a:r>
          </a:p>
          <a:p>
            <a:endParaRPr lang="en-US" sz="1400" dirty="0"/>
          </a:p>
          <a:p>
            <a:r>
              <a:rPr lang="en-US" sz="1400" dirty="0"/>
              <a:t>### 👉 “Relationship Governance”</a:t>
            </a:r>
          </a:p>
          <a:p>
            <a:endParaRPr lang="en-US" sz="1400" dirty="0"/>
          </a:p>
          <a:p>
            <a:r>
              <a:rPr lang="en-US" sz="1400" dirty="0"/>
              <a:t>&gt; Including perception gap + health scoring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This is **not standard in CLM tools**.</a:t>
            </a:r>
          </a:p>
          <a:p>
            <a:endParaRPr lang="en-US" sz="1400" dirty="0"/>
          </a:p>
          <a:p>
            <a:r>
              <a:rPr lang="en-US" sz="1400" dirty="0"/>
              <a:t>### Why this matters (your lens)</a:t>
            </a:r>
          </a:p>
          <a:p>
            <a:endParaRPr lang="en-US" sz="1400" dirty="0"/>
          </a:p>
          <a:p>
            <a:r>
              <a:rPr lang="en-US" sz="1400" dirty="0"/>
              <a:t>* Moves from:</a:t>
            </a:r>
          </a:p>
          <a:p>
            <a:r>
              <a:rPr lang="en-US" sz="1400" dirty="0"/>
              <a:t>  * contract → compliance</a:t>
            </a:r>
          </a:p>
          <a:p>
            <a:r>
              <a:rPr lang="en-US" sz="1400" dirty="0"/>
              <a:t>  * to:</a:t>
            </a:r>
          </a:p>
          <a:p>
            <a:r>
              <a:rPr lang="en-US" sz="1400" dirty="0"/>
              <a:t>  * contract → **commercial performance + relationship quality**</a:t>
            </a:r>
          </a:p>
          <a:p>
            <a:r>
              <a:rPr lang="en-US" sz="1400" dirty="0"/>
              <a:t>* Bridges **legal, procurement, and operations**</a:t>
            </a:r>
          </a:p>
          <a:p>
            <a:endParaRPr lang="en-US" sz="1400" dirty="0"/>
          </a:p>
          <a:p>
            <a:r>
              <a:rPr lang="en-US" sz="1400" dirty="0"/>
              <a:t>👉 In board terms:</a:t>
            </a:r>
          </a:p>
          <a:p>
            <a:r>
              <a:rPr lang="en-US" sz="1400" dirty="0"/>
              <a:t>**This is where CLM becomes a business performance system**</a:t>
            </a:r>
          </a:p>
          <a:p>
            <a:endParaRPr lang="en-US" sz="1400" dirty="0"/>
          </a:p>
          <a:p>
            <a:r>
              <a:rPr lang="en-US" sz="1400" dirty="0"/>
              <a:t>***</a:t>
            </a:r>
          </a:p>
          <a:p>
            <a:endParaRPr lang="en-US" sz="1400" dirty="0"/>
          </a:p>
          <a:p>
            <a:r>
              <a:rPr lang="en-US" sz="1400" dirty="0"/>
              <a:t># 📊 4. Strong commercial narrative (well-crafted)</a:t>
            </a:r>
          </a:p>
          <a:p>
            <a:endParaRPr lang="en-US" sz="1400" dirty="0"/>
          </a:p>
          <a:p>
            <a:r>
              <a:rPr lang="en-US" sz="1400" dirty="0"/>
              <a:t>The website is very well structured commercially:</a:t>
            </a:r>
          </a:p>
          <a:p>
            <a:endParaRPr lang="en-US" sz="1400" dirty="0"/>
          </a:p>
          <a:p>
            <a:r>
              <a:rPr lang="en-US" sz="1400" dirty="0"/>
              <a:t>### A. Problem framing</a:t>
            </a:r>
          </a:p>
          <a:p>
            <a:endParaRPr lang="en-US" sz="1400" dirty="0"/>
          </a:p>
          <a:p>
            <a:r>
              <a:rPr lang="en-US" sz="1400" dirty="0"/>
              <a:t>* Quantified leakage (8–11%)</a:t>
            </a:r>
          </a:p>
          <a:p>
            <a:r>
              <a:rPr lang="en-US" sz="1400" dirty="0"/>
              <a:t>* Execution-phase focus</a:t>
            </a:r>
          </a:p>
          <a:p>
            <a:endParaRPr lang="en-US" sz="1400" dirty="0"/>
          </a:p>
          <a:p>
            <a:r>
              <a:rPr lang="en-US" sz="1400" dirty="0"/>
              <a:t>### B. Visual storytelling</a:t>
            </a:r>
          </a:p>
          <a:p>
            <a:endParaRPr lang="en-US" sz="1400" dirty="0"/>
          </a:p>
          <a:p>
            <a:r>
              <a:rPr lang="en-US" sz="1400" dirty="0"/>
              <a:t>* Value erosion curve</a:t>
            </a:r>
          </a:p>
          <a:p>
            <a:r>
              <a:rPr lang="en-US" sz="1400" dirty="0"/>
              <a:t>* Leakage points (SLA breach, scope change, missed deadlines, etc.)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C. Role-based value propositions</a:t>
            </a:r>
          </a:p>
          <a:p>
            <a:endParaRPr lang="en-US" sz="1400" dirty="0"/>
          </a:p>
          <a:p>
            <a:r>
              <a:rPr lang="en-US" sz="1400" dirty="0"/>
              <a:t>* Legal → speed + risk visibility</a:t>
            </a:r>
          </a:p>
          <a:p>
            <a:r>
              <a:rPr lang="en-US" sz="1400" dirty="0"/>
              <a:t>* Procurement → recover credits</a:t>
            </a:r>
          </a:p>
          <a:p>
            <a:r>
              <a:rPr lang="en-US" sz="1400" dirty="0"/>
              <a:t>* Finance → forecast vs contracts</a:t>
            </a:r>
          </a:p>
          <a:p>
            <a:r>
              <a:rPr lang="en-US" sz="1400" dirty="0"/>
              <a:t>* Operations → obligation tracking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This is **very well aligned with enterprise buying committees**</a:t>
            </a:r>
          </a:p>
          <a:p>
            <a:endParaRPr lang="en-US" sz="1400" dirty="0"/>
          </a:p>
          <a:p>
            <a:r>
              <a:rPr lang="en-US" sz="1400" dirty="0"/>
              <a:t>***</a:t>
            </a:r>
          </a:p>
          <a:p>
            <a:endParaRPr lang="en-US" sz="1400" dirty="0"/>
          </a:p>
          <a:p>
            <a:r>
              <a:rPr lang="en-US" sz="1400" dirty="0"/>
              <a:t># ⚖️ 5. Competitive positioning (very deliberate)</a:t>
            </a:r>
          </a:p>
          <a:p>
            <a:endParaRPr lang="en-US" sz="1400" dirty="0"/>
          </a:p>
          <a:p>
            <a:r>
              <a:rPr lang="en-US" sz="1400" dirty="0"/>
              <a:t>Compared to:</a:t>
            </a:r>
          </a:p>
          <a:p>
            <a:endParaRPr lang="en-US" sz="1400" dirty="0"/>
          </a:p>
          <a:p>
            <a:r>
              <a:rPr lang="en-US" sz="1400" dirty="0"/>
              <a:t>* </a:t>
            </a:r>
            <a:r>
              <a:rPr lang="en-US" sz="1400" dirty="0" err="1"/>
              <a:t>DocuSign</a:t>
            </a:r>
            <a:r>
              <a:rPr lang="en-US" sz="1400" dirty="0"/>
              <a:t> CLM</a:t>
            </a:r>
          </a:p>
          <a:p>
            <a:r>
              <a:rPr lang="en-US" sz="1400" dirty="0"/>
              <a:t>* Icertis</a:t>
            </a:r>
          </a:p>
          <a:p>
            <a:r>
              <a:rPr lang="en-US" sz="1400" dirty="0"/>
              <a:t>* Ironclad</a:t>
            </a:r>
          </a:p>
          <a:p>
            <a:endParaRPr lang="en-US" sz="1400" dirty="0"/>
          </a:p>
          <a:p>
            <a:r>
              <a:rPr lang="en-US" sz="1400" dirty="0"/>
              <a:t>The message is:</a:t>
            </a:r>
          </a:p>
          <a:p>
            <a:endParaRPr lang="en-US" sz="1400" dirty="0"/>
          </a:p>
          <a:p>
            <a:r>
              <a:rPr lang="en-US" sz="1400" dirty="0"/>
              <a:t>👉 **They manage contracts → we manage outcomes**</a:t>
            </a:r>
          </a:p>
          <a:p>
            <a:endParaRPr lang="en-US" sz="1400" dirty="0"/>
          </a:p>
          <a:p>
            <a:r>
              <a:rPr lang="en-US" sz="1400" dirty="0"/>
              <a:t>Key contrasts:</a:t>
            </a:r>
          </a:p>
          <a:p>
            <a:endParaRPr lang="en-US" sz="1400" dirty="0"/>
          </a:p>
          <a:p>
            <a:r>
              <a:rPr lang="en-US" sz="1400" dirty="0"/>
              <a:t>* Faster time to value (weeks vs months)</a:t>
            </a:r>
          </a:p>
          <a:p>
            <a:r>
              <a:rPr lang="en-US" sz="1400" dirty="0"/>
              <a:t>* Built-in AI vs add-ons</a:t>
            </a:r>
          </a:p>
          <a:p>
            <a:r>
              <a:rPr lang="en-US" sz="1400" dirty="0"/>
              <a:t>* Execution monitoring (SLA, obligations) not standard elsewhere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My realistic interpretation</a:t>
            </a:r>
          </a:p>
          <a:p>
            <a:endParaRPr lang="en-US" sz="1400" dirty="0"/>
          </a:p>
          <a:p>
            <a:r>
              <a:rPr lang="en-US" sz="1400" dirty="0"/>
              <a:t>* Some claims are **aggressive (marketing-driven)**</a:t>
            </a:r>
          </a:p>
          <a:p>
            <a:r>
              <a:rPr lang="en-US" sz="1400" dirty="0"/>
              <a:t>* But the **direction is credible and strategically strong**</a:t>
            </a:r>
          </a:p>
          <a:p>
            <a:endParaRPr lang="en-US" sz="1400" dirty="0"/>
          </a:p>
          <a:p>
            <a:r>
              <a:rPr lang="en-US" sz="1400" dirty="0"/>
              <a:t>***</a:t>
            </a:r>
          </a:p>
          <a:p>
            <a:endParaRPr lang="en-US" sz="1400" dirty="0"/>
          </a:p>
          <a:p>
            <a:r>
              <a:rPr lang="en-US" sz="1400" dirty="0"/>
              <a:t># 🚨 6. Critical observations (important for you)</a:t>
            </a:r>
          </a:p>
          <a:p>
            <a:endParaRPr lang="en-US" sz="1400" dirty="0"/>
          </a:p>
          <a:p>
            <a:r>
              <a:rPr lang="en-US" sz="1400" dirty="0"/>
              <a:t>Here are the **real-world questions you should ask as an expert**:</a:t>
            </a:r>
          </a:p>
          <a:p>
            <a:endParaRPr lang="en-US" sz="1400" dirty="0"/>
          </a:p>
          <a:p>
            <a:r>
              <a:rPr lang="en-US" sz="1400" dirty="0"/>
              <a:t>### 1. Data integration complexity</a:t>
            </a:r>
          </a:p>
          <a:p>
            <a:endParaRPr lang="en-US" sz="1400" dirty="0"/>
          </a:p>
          <a:p>
            <a:r>
              <a:rPr lang="en-US" sz="1400" dirty="0"/>
              <a:t>They mention:</a:t>
            </a:r>
          </a:p>
          <a:p>
            <a:endParaRPr lang="en-US" sz="1400" dirty="0"/>
          </a:p>
          <a:p>
            <a:r>
              <a:rPr lang="en-US" sz="1400" dirty="0"/>
              <a:t>* ERP</a:t>
            </a:r>
          </a:p>
          <a:p>
            <a:r>
              <a:rPr lang="en-US" sz="1400" dirty="0"/>
              <a:t>* ITSM</a:t>
            </a:r>
          </a:p>
          <a:p>
            <a:r>
              <a:rPr lang="en-US" sz="1400" dirty="0"/>
              <a:t>* SLA data feeds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In reality:</a:t>
            </a:r>
          </a:p>
          <a:p>
            <a:r>
              <a:rPr lang="en-US" sz="1400" dirty="0"/>
              <a:t>This is **the hardest part of the entire solution**</a:t>
            </a:r>
          </a:p>
          <a:p>
            <a:endParaRPr lang="en-US" sz="1400" dirty="0"/>
          </a:p>
          <a:p>
            <a:r>
              <a:rPr lang="en-US" sz="1400" dirty="0"/>
              <a:t>***</a:t>
            </a:r>
          </a:p>
          <a:p>
            <a:endParaRPr lang="en-US" sz="1400" dirty="0"/>
          </a:p>
          <a:p>
            <a:r>
              <a:rPr lang="en-US" sz="1400" dirty="0"/>
              <a:t>### 2. Accuracy vs risk exposure</a:t>
            </a:r>
          </a:p>
          <a:p>
            <a:endParaRPr lang="en-US" sz="1400" dirty="0"/>
          </a:p>
          <a:p>
            <a:r>
              <a:rPr lang="en-US" sz="1400" dirty="0"/>
              <a:t>They say:</a:t>
            </a:r>
          </a:p>
          <a:p>
            <a:endParaRPr lang="en-US" sz="1400" dirty="0"/>
          </a:p>
          <a:p>
            <a:r>
              <a:rPr lang="en-US" sz="1400" dirty="0"/>
              <a:t>* Human-in-the-loop initially</a:t>
            </a:r>
          </a:p>
          <a:p>
            <a:r>
              <a:rPr lang="en-US" sz="1400" dirty="0"/>
              <a:t>* Audit trails via </a:t>
            </a:r>
            <a:r>
              <a:rPr lang="en-US" sz="1400" dirty="0" err="1"/>
              <a:t>Langfuse</a:t>
            </a:r>
            <a:r>
              <a:rPr lang="en-US" sz="1400" dirty="0"/>
              <a:t>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 Key concern:</a:t>
            </a:r>
          </a:p>
          <a:p>
            <a:endParaRPr lang="en-US" sz="1400" dirty="0"/>
          </a:p>
          <a:p>
            <a:r>
              <a:rPr lang="en-US" sz="1400" dirty="0"/>
              <a:t>* Legal/compliance teams need **near-perfect precision**</a:t>
            </a:r>
          </a:p>
          <a:p>
            <a:r>
              <a:rPr lang="en-US" sz="1400" dirty="0"/>
              <a:t>* Especially for:</a:t>
            </a:r>
          </a:p>
          <a:p>
            <a:r>
              <a:rPr lang="en-US" sz="1400" dirty="0"/>
              <a:t>  * liabilities</a:t>
            </a:r>
          </a:p>
          <a:p>
            <a:r>
              <a:rPr lang="en-US" sz="1400" dirty="0"/>
              <a:t>  * penalties</a:t>
            </a:r>
          </a:p>
          <a:p>
            <a:r>
              <a:rPr lang="en-US" sz="1400" dirty="0"/>
              <a:t>  * obligations</a:t>
            </a:r>
          </a:p>
          <a:p>
            <a:endParaRPr lang="en-US" sz="1400" dirty="0"/>
          </a:p>
          <a:p>
            <a:r>
              <a:rPr lang="en-US" sz="1400" dirty="0"/>
              <a:t>***</a:t>
            </a:r>
          </a:p>
          <a:p>
            <a:endParaRPr lang="en-US" sz="1400" dirty="0"/>
          </a:p>
          <a:p>
            <a:r>
              <a:rPr lang="en-US" sz="1400" dirty="0"/>
              <a:t>### 3. Scalability of “relationship governance”</a:t>
            </a:r>
          </a:p>
          <a:p>
            <a:endParaRPr lang="en-US" sz="1400" dirty="0"/>
          </a:p>
          <a:p>
            <a:r>
              <a:rPr lang="en-US" sz="1400" dirty="0"/>
              <a:t>Very interesting concept — but:</a:t>
            </a:r>
          </a:p>
          <a:p>
            <a:endParaRPr lang="en-US" sz="1400" dirty="0"/>
          </a:p>
          <a:p>
            <a:r>
              <a:rPr lang="en-US" sz="1400" dirty="0"/>
              <a:t>👉 Hard questions:</a:t>
            </a:r>
          </a:p>
          <a:p>
            <a:endParaRPr lang="en-US" sz="1400" dirty="0"/>
          </a:p>
          <a:p>
            <a:r>
              <a:rPr lang="en-US" sz="1400" dirty="0"/>
              <a:t>* How is “perception gap” measured?</a:t>
            </a:r>
          </a:p>
          <a:p>
            <a:r>
              <a:rPr lang="en-US" sz="1400" dirty="0"/>
              <a:t>* Based on surveys? signals? emails?</a:t>
            </a:r>
          </a:p>
          <a:p>
            <a:endParaRPr lang="en-US" sz="1400" dirty="0"/>
          </a:p>
          <a:p>
            <a:r>
              <a:rPr lang="en-US" sz="1400" dirty="0"/>
              <a:t>This could either be:</a:t>
            </a:r>
          </a:p>
          <a:p>
            <a:endParaRPr lang="en-US" sz="1400" dirty="0"/>
          </a:p>
          <a:p>
            <a:r>
              <a:rPr lang="en-US" sz="1400" dirty="0"/>
              <a:t>* ✅ breakthrough</a:t>
            </a:r>
          </a:p>
          <a:p>
            <a:r>
              <a:rPr lang="en-US" sz="1400" dirty="0"/>
              <a:t>* ❌ vague / unscalable feature</a:t>
            </a:r>
          </a:p>
          <a:p>
            <a:endParaRPr lang="en-US" sz="1400" dirty="0"/>
          </a:p>
          <a:p>
            <a:r>
              <a:rPr lang="en-US" sz="1400" dirty="0"/>
              <a:t>***</a:t>
            </a:r>
          </a:p>
          <a:p>
            <a:endParaRPr lang="en-US" sz="1400" dirty="0"/>
          </a:p>
          <a:p>
            <a:r>
              <a:rPr lang="en-US" sz="1400" dirty="0"/>
              <a:t>### 4. Market maturity mismatch</a:t>
            </a:r>
          </a:p>
          <a:p>
            <a:endParaRPr lang="en-US" sz="1400" dirty="0"/>
          </a:p>
          <a:p>
            <a:r>
              <a:rPr lang="en-US" sz="1400" dirty="0"/>
              <a:t>Most </a:t>
            </a:r>
            <a:r>
              <a:rPr lang="en-US" sz="1400" dirty="0" err="1"/>
              <a:t>organisations</a:t>
            </a:r>
            <a:r>
              <a:rPr lang="en-US" sz="1400" dirty="0"/>
              <a:t> still:</a:t>
            </a:r>
          </a:p>
          <a:p>
            <a:endParaRPr lang="en-US" sz="1400" dirty="0"/>
          </a:p>
          <a:p>
            <a:r>
              <a:rPr lang="en-US" sz="1400" dirty="0"/>
              <a:t>* struggle with basic CLM</a:t>
            </a:r>
          </a:p>
          <a:p>
            <a:endParaRPr lang="en-US" sz="1400" dirty="0"/>
          </a:p>
          <a:p>
            <a:r>
              <a:rPr lang="en-US" sz="1400" dirty="0"/>
              <a:t>This product assumes:</a:t>
            </a:r>
          </a:p>
          <a:p>
            <a:endParaRPr lang="en-US" sz="1400" dirty="0"/>
          </a:p>
          <a:p>
            <a:r>
              <a:rPr lang="en-US" sz="1400" dirty="0"/>
              <a:t>* structured contracts</a:t>
            </a:r>
          </a:p>
          <a:p>
            <a:r>
              <a:rPr lang="en-US" sz="1400" dirty="0"/>
              <a:t>* available operational data</a:t>
            </a:r>
          </a:p>
          <a:p>
            <a:r>
              <a:rPr lang="en-US" sz="1400" dirty="0"/>
              <a:t>* cross-functional maturity</a:t>
            </a:r>
          </a:p>
          <a:p>
            <a:endParaRPr lang="en-US" sz="1400" dirty="0"/>
          </a:p>
          <a:p>
            <a:r>
              <a:rPr lang="en-US" sz="1400" dirty="0"/>
              <a:t>👉 So:</a:t>
            </a:r>
          </a:p>
          <a:p>
            <a:r>
              <a:rPr lang="en-US" sz="1400" dirty="0"/>
              <a:t>**Target market = mid-to-large, relatively mature buyers**</a:t>
            </a:r>
          </a:p>
          <a:p>
            <a:endParaRPr lang="en-US" sz="1400" dirty="0"/>
          </a:p>
          <a:p>
            <a:r>
              <a:rPr lang="en-US" sz="1400" dirty="0"/>
              <a:t>***</a:t>
            </a:r>
          </a:p>
          <a:p>
            <a:endParaRPr lang="en-US" sz="1400" dirty="0"/>
          </a:p>
          <a:p>
            <a:r>
              <a:rPr lang="en-US" sz="1400" dirty="0"/>
              <a:t># 💡 7. My bottom-line judgement (straight)</a:t>
            </a:r>
          </a:p>
          <a:p>
            <a:endParaRPr lang="en-US" sz="1400" dirty="0"/>
          </a:p>
          <a:p>
            <a:r>
              <a:rPr lang="en-US" sz="1400" dirty="0"/>
              <a:t>### ✅ What’s strong</a:t>
            </a:r>
          </a:p>
          <a:p>
            <a:endParaRPr lang="en-US" sz="1400" dirty="0"/>
          </a:p>
          <a:p>
            <a:r>
              <a:rPr lang="en-US" sz="1400" dirty="0"/>
              <a:t>* Excellent positioning (execution &gt; drafting)</a:t>
            </a:r>
          </a:p>
          <a:p>
            <a:r>
              <a:rPr lang="en-US" sz="1400" dirty="0"/>
              <a:t>* Very relevant problem (value leakage)</a:t>
            </a:r>
          </a:p>
          <a:p>
            <a:r>
              <a:rPr lang="en-US" sz="1400" dirty="0"/>
              <a:t>* Clear differentiation vs legacy CLM</a:t>
            </a:r>
          </a:p>
          <a:p>
            <a:r>
              <a:rPr lang="en-US" sz="1400" dirty="0"/>
              <a:t>* Strong commercial storytelling</a:t>
            </a:r>
          </a:p>
          <a:p>
            <a:r>
              <a:rPr lang="en-US" sz="1400" dirty="0"/>
              <a:t>* Aligns with CFO / procurement agenda</a:t>
            </a:r>
          </a:p>
          <a:p>
            <a:endParaRPr lang="en-US" sz="1400" dirty="0"/>
          </a:p>
          <a:p>
            <a:r>
              <a:rPr lang="en-US" sz="1400" dirty="0"/>
              <a:t>### ⚠️ What’s uncertain</a:t>
            </a:r>
          </a:p>
          <a:p>
            <a:endParaRPr lang="en-US" sz="1400" dirty="0"/>
          </a:p>
          <a:p>
            <a:r>
              <a:rPr lang="en-US" sz="1400" dirty="0"/>
              <a:t>* Real integration effort</a:t>
            </a:r>
          </a:p>
          <a:p>
            <a:r>
              <a:rPr lang="en-US" sz="1400" dirty="0"/>
              <a:t>* AI accuracy at scale</a:t>
            </a:r>
          </a:p>
          <a:p>
            <a:r>
              <a:rPr lang="en-US" sz="1400" dirty="0"/>
              <a:t>* Depth of “relationship governance”</a:t>
            </a:r>
          </a:p>
          <a:p>
            <a:r>
              <a:rPr lang="en-US" sz="1400" dirty="0"/>
              <a:t>* Proof vs concept (early-stage signal: “pilot &amp; early access”) [\[commercial...</a:t>
            </a:r>
            <a:r>
              <a:rPr lang="en-US" sz="1400" dirty="0" err="1"/>
              <a:t>mbo</a:t>
            </a:r>
            <a:r>
              <a:rPr lang="en-US" sz="1400" dirty="0"/>
              <a:t>-mockup \| HTML\]](https://sevisserconsultancybv-my.sharepoint.com/personal/steven_visser_sevisser_com/Documents/Microsoft%20Copilot%20Chat%20Files/commercial-combo-mockup.html)</a:t>
            </a:r>
          </a:p>
          <a:p>
            <a:endParaRPr lang="en-US" sz="1400" dirty="0"/>
          </a:p>
          <a:p>
            <a:r>
              <a:rPr lang="en-US" sz="1400" dirty="0"/>
              <a:t>***</a:t>
            </a:r>
          </a:p>
          <a:p>
            <a:endParaRPr lang="en-US" sz="1400" dirty="0"/>
          </a:p>
          <a:p>
            <a:r>
              <a:rPr lang="en-US" sz="1400" dirty="0"/>
              <a:t># 🧾 8. What I would conclude (in one sentence)</a:t>
            </a:r>
          </a:p>
          <a:p>
            <a:endParaRPr lang="en-US" sz="1400" dirty="0"/>
          </a:p>
          <a:p>
            <a:r>
              <a:rPr lang="en-US" sz="1400" dirty="0"/>
              <a:t>👉  </a:t>
            </a:r>
          </a:p>
          <a:p>
            <a:r>
              <a:rPr lang="en-US" sz="1400" dirty="0"/>
              <a:t>**This is a well-designed, strategically sharp positioning of a next-gen CLM category (“execution intelligence”), but the real test will be its ability to </a:t>
            </a:r>
            <a:r>
              <a:rPr lang="en-US" sz="1400" dirty="0" err="1"/>
              <a:t>operationalise</a:t>
            </a:r>
            <a:r>
              <a:rPr lang="en-US" sz="1400" dirty="0"/>
              <a:t> data integration and deliver reliable, measurable value recovery at scale.**</a:t>
            </a:r>
          </a:p>
          <a:p>
            <a:endParaRPr lang="en-US" sz="1400" dirty="0"/>
          </a:p>
          <a:p>
            <a:r>
              <a:rPr lang="en-US" sz="1400" dirty="0"/>
              <a:t>***</a:t>
            </a:r>
          </a:p>
          <a:p>
            <a:endParaRPr lang="en-US" sz="1400" dirty="0"/>
          </a:p>
          <a:p>
            <a:r>
              <a:rPr lang="en-US" sz="1400" dirty="0"/>
              <a:t># 🚀 If you want next step (high value for you)</a:t>
            </a:r>
          </a:p>
          <a:p>
            <a:endParaRPr lang="en-US" sz="1400" dirty="0"/>
          </a:p>
          <a:p>
            <a:r>
              <a:rPr lang="en-US" sz="1400" dirty="0"/>
              <a:t>Given your experience, I can:</a:t>
            </a:r>
          </a:p>
          <a:p>
            <a:endParaRPr lang="en-US" sz="1400" dirty="0"/>
          </a:p>
          <a:p>
            <a:r>
              <a:rPr lang="en-US" sz="1400" dirty="0"/>
              <a:t>✅ Turn this into a **board-ready 1-page positioning slide**  </a:t>
            </a:r>
          </a:p>
          <a:p>
            <a:r>
              <a:rPr lang="en-US" sz="1400" dirty="0"/>
              <a:t>✅ Create a **CLM maturity model vs </a:t>
            </a:r>
            <a:r>
              <a:rPr lang="en-US" sz="1400" dirty="0" err="1"/>
              <a:t>Evaluetor</a:t>
            </a:r>
            <a:r>
              <a:rPr lang="en-US" sz="1400" dirty="0"/>
              <a:t> fit**  </a:t>
            </a:r>
          </a:p>
          <a:p>
            <a:r>
              <a:rPr lang="en-US" sz="1400" dirty="0"/>
              <a:t>✅ Or do a **commercial critique (pricing, GTM, ICP fit)**</a:t>
            </a:r>
          </a:p>
          <a:p>
            <a:endParaRPr lang="en-US" sz="1400" dirty="0"/>
          </a:p>
          <a:p>
            <a:r>
              <a:rPr lang="en-US" sz="1400" dirty="0"/>
              <a:t>Just tell me 👍</a:t>
            </a:r>
          </a:p>
        </p:txBody>
      </p:sp>
      <p:sp>
        <p:nvSpPr>
          <p:cNvPr id="4" name="Title 3">
            <a:extLst>
              <a:ext uri="{FF2B5EF4-FFF2-40B4-BE49-F238E27FC236}">
                <a16:creationId xmlns:a16="http://schemas.microsoft.com/office/drawing/2014/main" id="{256B8963-1DA0-CFFF-18F0-C1F9F3D2BCD6}"/>
              </a:ext>
            </a:extLst>
          </p:cNvPr>
          <p:cNvSpPr>
            <a:spLocks noGrp="1"/>
          </p:cNvSpPr>
          <p:nvPr>
            <p:ph type="title"/>
          </p:nvPr>
        </p:nvSpPr>
        <p:spPr>
          <a:xfrm>
            <a:off x="838200" y="27899"/>
            <a:ext cx="10515600" cy="1325563"/>
          </a:xfrm>
        </p:spPr>
        <p:txBody>
          <a:bodyPr/>
          <a:lstStyle/>
          <a:p>
            <a:r>
              <a:rPr lang="en-GB" dirty="0"/>
              <a:t>What did co-pilot read ….</a:t>
            </a:r>
          </a:p>
        </p:txBody>
      </p:sp>
    </p:spTree>
    <p:extLst>
      <p:ext uri="{BB962C8B-B14F-4D97-AF65-F5344CB8AC3E}">
        <p14:creationId xmlns:p14="http://schemas.microsoft.com/office/powerpoint/2010/main" val="74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F8710-B6D8-6C72-5841-E4237AF8E711}"/>
              </a:ext>
            </a:extLst>
          </p:cNvPr>
          <p:cNvSpPr>
            <a:spLocks noGrp="1"/>
          </p:cNvSpPr>
          <p:nvPr>
            <p:ph type="title"/>
          </p:nvPr>
        </p:nvSpPr>
        <p:spPr/>
        <p:txBody>
          <a:bodyPr/>
          <a:lstStyle/>
          <a:p>
            <a:r>
              <a:rPr lang="en-NL" b="1" dirty="0"/>
              <a:t>sharp, no-nonsense commercial critique of pricing and GTM</a:t>
            </a:r>
            <a:endParaRPr lang="en-GB" dirty="0"/>
          </a:p>
        </p:txBody>
      </p:sp>
      <p:sp>
        <p:nvSpPr>
          <p:cNvPr id="3" name="TextBox 2">
            <a:extLst>
              <a:ext uri="{FF2B5EF4-FFF2-40B4-BE49-F238E27FC236}">
                <a16:creationId xmlns:a16="http://schemas.microsoft.com/office/drawing/2014/main" id="{B7882C2D-CB21-F9E6-B596-6C92FDD7BCC6}"/>
              </a:ext>
            </a:extLst>
          </p:cNvPr>
          <p:cNvSpPr txBox="1"/>
          <p:nvPr/>
        </p:nvSpPr>
        <p:spPr>
          <a:xfrm>
            <a:off x="711201" y="2082800"/>
            <a:ext cx="11569699" cy="72112049"/>
          </a:xfrm>
          <a:prstGeom prst="rect">
            <a:avLst/>
          </a:prstGeom>
          <a:solidFill>
            <a:schemeClr val="bg1"/>
          </a:solidFill>
        </p:spPr>
        <p:txBody>
          <a:bodyPr wrap="square" rtlCol="0">
            <a:spAutoFit/>
          </a:bodyPr>
          <a:lstStyle/>
          <a:p>
            <a:r>
              <a:rPr lang="en-NL" dirty="0"/>
              <a:t>Here is a </a:t>
            </a:r>
            <a:r>
              <a:rPr lang="en-NL" b="1" dirty="0"/>
              <a:t>sharp, no-nonsense commercial critique of pricing and GTM</a:t>
            </a:r>
            <a:r>
              <a:rPr lang="en-NL" dirty="0"/>
              <a:t> for the </a:t>
            </a:r>
            <a:r>
              <a:rPr lang="en-NL" dirty="0" err="1"/>
              <a:t>Evaluetor</a:t>
            </a:r>
            <a:r>
              <a:rPr lang="en-NL" dirty="0"/>
              <a:t> concept—grounded in how the CLM market actually behaves and tailored to your expertise (value leakage, enterprise sales, board-level positioning).</a:t>
            </a:r>
          </a:p>
          <a:p>
            <a:br>
              <a:rPr lang="en-NL" dirty="0"/>
            </a:br>
            <a:endParaRPr lang="en-NL" dirty="0"/>
          </a:p>
          <a:p>
            <a:r>
              <a:rPr lang="en-NL" b="1" dirty="0"/>
              <a:t>💰 1. Pricing critique — strong concept, but incomplete execution</a:t>
            </a:r>
          </a:p>
          <a:p>
            <a:r>
              <a:rPr lang="en-NL" b="1" dirty="0"/>
              <a:t>✅ What they get right (strategically)</a:t>
            </a:r>
          </a:p>
          <a:p>
            <a:r>
              <a:rPr lang="en-NL" b="1" dirty="0"/>
              <a:t>1. Explicit rejection of per-seat pricing</a:t>
            </a:r>
          </a:p>
          <a:p>
            <a:r>
              <a:rPr lang="en-NL" dirty="0"/>
              <a:t>“Pricing based on portfolio size and connector scope, not per seat” </a:t>
            </a:r>
            <a:r>
              <a:rPr lang="en-NL" dirty="0">
                <a:hlinkClick r:id="rId2"/>
              </a:rPr>
              <a:t>[commercial...</a:t>
            </a:r>
            <a:r>
              <a:rPr lang="en-NL" dirty="0" err="1">
                <a:hlinkClick r:id="rId2"/>
              </a:rPr>
              <a:t>mbo-mockup</a:t>
            </a:r>
            <a:r>
              <a:rPr lang="en-NL" dirty="0">
                <a:hlinkClick r:id="rId2"/>
              </a:rPr>
              <a:t> | HTML]</a:t>
            </a:r>
            <a:endParaRPr lang="en-NL" dirty="0"/>
          </a:p>
          <a:p>
            <a:r>
              <a:rPr lang="en-NL" dirty="0"/>
              <a:t>This is </a:t>
            </a:r>
            <a:r>
              <a:rPr lang="en-NL" b="1" dirty="0"/>
              <a:t>correct and forward-looking</a:t>
            </a:r>
            <a:r>
              <a:rPr lang="en-NL" dirty="0"/>
              <a:t> because:</a:t>
            </a:r>
          </a:p>
          <a:p>
            <a:r>
              <a:rPr lang="en-NL" dirty="0"/>
              <a:t>Per-seat pricing </a:t>
            </a:r>
            <a:r>
              <a:rPr lang="en-NL" b="1" dirty="0"/>
              <a:t>breaks in cross-functional tools</a:t>
            </a:r>
            <a:r>
              <a:rPr lang="en-NL" dirty="0"/>
              <a:t> </a:t>
            </a:r>
          </a:p>
          <a:p>
            <a:pPr lvl="1"/>
            <a:r>
              <a:rPr lang="en-NL" dirty="0"/>
              <a:t>CLM must be used by legal, procurement, finance, operations</a:t>
            </a:r>
          </a:p>
          <a:p>
            <a:r>
              <a:rPr lang="en-NL" dirty="0"/>
              <a:t>Per-seat models: </a:t>
            </a:r>
          </a:p>
          <a:p>
            <a:pPr lvl="1"/>
            <a:r>
              <a:rPr lang="en-NL" dirty="0"/>
              <a:t>discourage adoption</a:t>
            </a:r>
          </a:p>
          <a:p>
            <a:pPr lvl="1"/>
            <a:r>
              <a:rPr lang="en-NL" dirty="0"/>
              <a:t>create internal friction</a:t>
            </a:r>
          </a:p>
          <a:p>
            <a:pPr lvl="1"/>
            <a:r>
              <a:rPr lang="en-NL" dirty="0"/>
              <a:t>scale poorly in enterprise environments </a:t>
            </a:r>
            <a:r>
              <a:rPr lang="en-NL" dirty="0">
                <a:hlinkClick r:id="rId3"/>
              </a:rPr>
              <a:t>[sirion.ai]</a:t>
            </a:r>
            <a:endParaRPr lang="en-NL" dirty="0"/>
          </a:p>
          <a:p>
            <a:r>
              <a:rPr lang="en-NL" dirty="0"/>
              <a:t>👉 Your lens:</a:t>
            </a:r>
            <a:br>
              <a:rPr lang="en-NL" dirty="0"/>
            </a:br>
            <a:r>
              <a:rPr lang="en-NL" dirty="0"/>
              <a:t>This aligns perfectly with </a:t>
            </a:r>
            <a:r>
              <a:rPr lang="en-NL" b="1" dirty="0"/>
              <a:t>“contract value is enterprise-wide, not user-based”</a:t>
            </a:r>
            <a:endParaRPr lang="en-NL" dirty="0"/>
          </a:p>
          <a:p>
            <a:br>
              <a:rPr lang="en-NL" dirty="0"/>
            </a:br>
            <a:endParaRPr lang="en-NL" dirty="0"/>
          </a:p>
          <a:p>
            <a:r>
              <a:rPr lang="en-NL" b="1" dirty="0"/>
              <a:t>2. Implicit value-based pricing direction</a:t>
            </a:r>
          </a:p>
          <a:p>
            <a:r>
              <a:rPr lang="en-NL" dirty="0"/>
              <a:t>Their positioning (value leakage recovery, SLA credits, renewal prevention) naturally points to:</a:t>
            </a:r>
          </a:p>
          <a:p>
            <a:r>
              <a:rPr lang="en-NL" dirty="0"/>
              <a:t>👉 </a:t>
            </a:r>
            <a:r>
              <a:rPr lang="en-NL" b="1" dirty="0"/>
              <a:t>Value-based or outcome-based pricing</a:t>
            </a:r>
            <a:endParaRPr lang="en-NL" dirty="0"/>
          </a:p>
          <a:p>
            <a:r>
              <a:rPr lang="en-NL" dirty="0"/>
              <a:t>Which is the </a:t>
            </a:r>
            <a:r>
              <a:rPr lang="en-NL" b="1" dirty="0"/>
              <a:t>correct direction</a:t>
            </a:r>
            <a:r>
              <a:rPr lang="en-NL" dirty="0"/>
              <a:t> for enterprise SaaS:</a:t>
            </a:r>
          </a:p>
          <a:p>
            <a:r>
              <a:rPr lang="en-NL" dirty="0"/>
              <a:t>Value-based pricing: </a:t>
            </a:r>
          </a:p>
          <a:p>
            <a:pPr lvl="1"/>
            <a:r>
              <a:rPr lang="en-NL" dirty="0"/>
              <a:t>aligns with perceived ROI</a:t>
            </a:r>
          </a:p>
          <a:p>
            <a:pPr lvl="1"/>
            <a:r>
              <a:rPr lang="en-NL" dirty="0"/>
              <a:t>works best in high-ACV enterprise deals </a:t>
            </a:r>
            <a:r>
              <a:rPr lang="en-NL" dirty="0">
                <a:hlinkClick r:id="rId4"/>
              </a:rPr>
              <a:t>[remery.ai]</a:t>
            </a:r>
            <a:endParaRPr lang="en-NL" dirty="0"/>
          </a:p>
          <a:p>
            <a:br>
              <a:rPr lang="en-NL" dirty="0"/>
            </a:br>
            <a:endParaRPr lang="en-NL" dirty="0"/>
          </a:p>
          <a:p>
            <a:r>
              <a:rPr lang="en-NL" b="1" dirty="0"/>
              <a:t>❌ Where it falls short (commercially critical)</a:t>
            </a:r>
          </a:p>
          <a:p>
            <a:r>
              <a:rPr lang="en-NL" b="1" dirty="0"/>
              <a:t>1. Missing a clear value metric (biggest issue)</a:t>
            </a:r>
          </a:p>
          <a:p>
            <a:r>
              <a:rPr lang="en-NL" dirty="0"/>
              <a:t>They don’t answer:</a:t>
            </a:r>
          </a:p>
          <a:p>
            <a:r>
              <a:rPr lang="en-NL" dirty="0"/>
              <a:t>👉 What exactly are customers paying for?</a:t>
            </a:r>
          </a:p>
          <a:p>
            <a:r>
              <a:rPr lang="en-NL" dirty="0"/>
              <a:t>Examples they could have used:</a:t>
            </a:r>
          </a:p>
          <a:p>
            <a:r>
              <a:rPr lang="en-NL" dirty="0"/>
              <a:t>% of contract value under management</a:t>
            </a:r>
          </a:p>
          <a:p>
            <a:r>
              <a:rPr lang="en-NL" dirty="0"/>
              <a:t>€ value at risk monitored</a:t>
            </a:r>
          </a:p>
          <a:p>
            <a:r>
              <a:rPr lang="en-NL" dirty="0"/>
              <a:t>number of obligations tracked</a:t>
            </a:r>
          </a:p>
          <a:p>
            <a:r>
              <a:rPr lang="en-NL" dirty="0"/>
              <a:t>number of suppliers monitored</a:t>
            </a:r>
          </a:p>
          <a:p>
            <a:r>
              <a:rPr lang="en-NL" dirty="0"/>
              <a:t>👉 Without this:</a:t>
            </a:r>
          </a:p>
          <a:p>
            <a:r>
              <a:rPr lang="en-NL" dirty="0"/>
              <a:t>Pricing feels </a:t>
            </a:r>
            <a:r>
              <a:rPr lang="en-NL" b="1" dirty="0"/>
              <a:t>vague → CFO resistance</a:t>
            </a:r>
            <a:endParaRPr lang="en-NL" dirty="0"/>
          </a:p>
          <a:p>
            <a:r>
              <a:rPr lang="en-NL" dirty="0"/>
              <a:t>Sales cycles become longer</a:t>
            </a:r>
          </a:p>
          <a:p>
            <a:r>
              <a:rPr lang="en-NL" dirty="0"/>
              <a:t>Value narrative becomes harder to quantify</a:t>
            </a:r>
          </a:p>
          <a:p>
            <a:r>
              <a:rPr lang="en-NL" dirty="0"/>
              <a:t>📌 Key rule:</a:t>
            </a:r>
          </a:p>
          <a:p>
            <a:r>
              <a:rPr lang="en-NL" dirty="0"/>
              <a:t>Pricing must map to </a:t>
            </a:r>
            <a:r>
              <a:rPr lang="en-NL" b="1" dirty="0"/>
              <a:t>the same metric as ROI</a:t>
            </a:r>
            <a:endParaRPr lang="en-NL" dirty="0"/>
          </a:p>
          <a:p>
            <a:br>
              <a:rPr lang="en-NL" dirty="0"/>
            </a:br>
            <a:endParaRPr lang="en-NL" dirty="0"/>
          </a:p>
          <a:p>
            <a:r>
              <a:rPr lang="en-NL" b="1" dirty="0"/>
              <a:t>2. No explicit ROI anchor in pricing</a:t>
            </a:r>
          </a:p>
          <a:p>
            <a:r>
              <a:rPr lang="en-NL" dirty="0"/>
              <a:t>They state:</a:t>
            </a:r>
          </a:p>
          <a:p>
            <a:r>
              <a:rPr lang="en-NL" dirty="0"/>
              <a:t>8–11% leakage</a:t>
            </a:r>
          </a:p>
          <a:p>
            <a:r>
              <a:rPr lang="en-NL" dirty="0"/>
              <a:t>30–40% recoverable </a:t>
            </a:r>
            <a:r>
              <a:rPr lang="en-NL" dirty="0">
                <a:hlinkClick r:id="rId2"/>
              </a:rPr>
              <a:t>[commercial...</a:t>
            </a:r>
            <a:r>
              <a:rPr lang="en-NL" dirty="0" err="1">
                <a:hlinkClick r:id="rId2"/>
              </a:rPr>
              <a:t>mbo-mockup</a:t>
            </a:r>
            <a:r>
              <a:rPr lang="en-NL" dirty="0">
                <a:hlinkClick r:id="rId2"/>
              </a:rPr>
              <a:t> | HTML]</a:t>
            </a:r>
            <a:endParaRPr lang="en-NL" dirty="0"/>
          </a:p>
          <a:p>
            <a:r>
              <a:rPr lang="en-NL" dirty="0"/>
              <a:t>But they </a:t>
            </a:r>
            <a:r>
              <a:rPr lang="en-NL" b="1" dirty="0"/>
              <a:t>don’t connect this to pricing</a:t>
            </a:r>
            <a:endParaRPr lang="en-NL" dirty="0"/>
          </a:p>
          <a:p>
            <a:r>
              <a:rPr lang="en-NL" dirty="0"/>
              <a:t>👉 Missed opportunity:</a:t>
            </a:r>
          </a:p>
          <a:p>
            <a:r>
              <a:rPr lang="en-NL" dirty="0"/>
              <a:t>They should say:</a:t>
            </a:r>
          </a:p>
          <a:p>
            <a:r>
              <a:rPr lang="en-NL" dirty="0"/>
              <a:t>“We recover €X → we charge €Y”</a:t>
            </a:r>
          </a:p>
          <a:p>
            <a:r>
              <a:rPr lang="en-NL" dirty="0"/>
              <a:t>or:</a:t>
            </a:r>
          </a:p>
          <a:p>
            <a:r>
              <a:rPr lang="en-NL" dirty="0"/>
              <a:t>“&lt;5–10% of recovered value”</a:t>
            </a:r>
          </a:p>
          <a:p>
            <a:r>
              <a:rPr lang="en-NL" dirty="0"/>
              <a:t>👉 This is exactly how:</a:t>
            </a:r>
          </a:p>
          <a:p>
            <a:r>
              <a:rPr lang="en-NL" dirty="0"/>
              <a:t>audit firms</a:t>
            </a:r>
          </a:p>
          <a:p>
            <a:r>
              <a:rPr lang="en-NL" dirty="0"/>
              <a:t>procurement analytics tools</a:t>
            </a:r>
          </a:p>
          <a:p>
            <a:r>
              <a:rPr lang="en-NL" dirty="0"/>
              <a:t>optimisation platforms price</a:t>
            </a:r>
          </a:p>
          <a:p>
            <a:br>
              <a:rPr lang="en-NL" dirty="0"/>
            </a:br>
            <a:endParaRPr lang="en-NL" dirty="0"/>
          </a:p>
          <a:p>
            <a:r>
              <a:rPr lang="en-NL" b="1" dirty="0"/>
              <a:t>3. Hidden enterprise pricing reality not addressed</a:t>
            </a:r>
          </a:p>
          <a:p>
            <a:r>
              <a:rPr lang="en-NL" dirty="0"/>
              <a:t>In reality, CLM pricing includes:</a:t>
            </a:r>
          </a:p>
          <a:p>
            <a:r>
              <a:rPr lang="en-NL" dirty="0"/>
              <a:t>subscription</a:t>
            </a:r>
          </a:p>
          <a:p>
            <a:r>
              <a:rPr lang="en-NL" dirty="0"/>
              <a:t>implementation</a:t>
            </a:r>
          </a:p>
          <a:p>
            <a:r>
              <a:rPr lang="en-NL" dirty="0"/>
              <a:t>integrations</a:t>
            </a:r>
          </a:p>
          <a:p>
            <a:r>
              <a:rPr lang="en-NL" dirty="0"/>
              <a:t>support </a:t>
            </a:r>
            <a:r>
              <a:rPr lang="en-NL" dirty="0">
                <a:hlinkClick r:id="rId5"/>
              </a:rPr>
              <a:t>[</a:t>
            </a:r>
            <a:r>
              <a:rPr lang="en-NL" dirty="0" err="1">
                <a:hlinkClick r:id="rId5"/>
              </a:rPr>
              <a:t>concord.app</a:t>
            </a:r>
            <a:r>
              <a:rPr lang="en-NL" dirty="0">
                <a:hlinkClick r:id="rId5"/>
              </a:rPr>
              <a:t>]</a:t>
            </a:r>
            <a:endParaRPr lang="en-NL" dirty="0"/>
          </a:p>
          <a:p>
            <a:r>
              <a:rPr lang="en-NL" dirty="0"/>
              <a:t>👉 Their message: “simple engagement, 30-minute review”</a:t>
            </a:r>
          </a:p>
          <a:p>
            <a:r>
              <a:rPr lang="en-NL" dirty="0"/>
              <a:t>👉 Reality:</a:t>
            </a:r>
          </a:p>
          <a:p>
            <a:r>
              <a:rPr lang="en-NL" dirty="0"/>
              <a:t>enterprise implementations often cost: </a:t>
            </a:r>
          </a:p>
          <a:p>
            <a:pPr lvl="1"/>
            <a:r>
              <a:rPr lang="en-NL" dirty="0"/>
              <a:t>€100k–€300k year one (benchmark) </a:t>
            </a:r>
            <a:r>
              <a:rPr lang="en-NL" dirty="0">
                <a:hlinkClick r:id="rId6"/>
              </a:rPr>
              <a:t>[hyperstart.com]</a:t>
            </a:r>
            <a:endParaRPr lang="en-NL" dirty="0"/>
          </a:p>
          <a:p>
            <a:r>
              <a:rPr lang="en-NL" dirty="0"/>
              <a:t>⚠️ Risk:</a:t>
            </a:r>
          </a:p>
          <a:p>
            <a:r>
              <a:rPr lang="en-NL" dirty="0"/>
              <a:t>credibility gap with experienced buyers</a:t>
            </a:r>
          </a:p>
          <a:p>
            <a:br>
              <a:rPr lang="en-NL" dirty="0"/>
            </a:br>
            <a:endParaRPr lang="en-NL" dirty="0"/>
          </a:p>
          <a:p>
            <a:r>
              <a:rPr lang="en-NL" b="1" dirty="0"/>
              <a:t>4. AI pricing expectation gap</a:t>
            </a:r>
          </a:p>
          <a:p>
            <a:r>
              <a:rPr lang="en-NL" dirty="0"/>
              <a:t>Market trend:</a:t>
            </a:r>
          </a:p>
          <a:p>
            <a:r>
              <a:rPr lang="en-NL" dirty="0"/>
              <a:t>55% of buyers expect AI features at no extra cost </a:t>
            </a:r>
            <a:r>
              <a:rPr lang="en-NL" dirty="0">
                <a:hlinkClick r:id="rId7"/>
              </a:rPr>
              <a:t>[cpl.thalesgroup.com]</a:t>
            </a:r>
            <a:endParaRPr lang="en-NL" dirty="0"/>
          </a:p>
          <a:p>
            <a:r>
              <a:rPr lang="en-NL" dirty="0"/>
              <a:t>But </a:t>
            </a:r>
            <a:r>
              <a:rPr lang="en-NL" dirty="0" err="1"/>
              <a:t>Evaluetor</a:t>
            </a:r>
            <a:r>
              <a:rPr lang="en-NL" dirty="0"/>
              <a:t> heavily sells:</a:t>
            </a:r>
          </a:p>
          <a:p>
            <a:r>
              <a:rPr lang="en-NL" dirty="0"/>
              <a:t>“AI-native”</a:t>
            </a:r>
          </a:p>
          <a:p>
            <a:r>
              <a:rPr lang="en-NL" dirty="0"/>
              <a:t>“9 agents”</a:t>
            </a:r>
          </a:p>
          <a:p>
            <a:r>
              <a:rPr lang="en-NL" dirty="0"/>
              <a:t>👉 Risk:</a:t>
            </a:r>
          </a:p>
          <a:p>
            <a:r>
              <a:rPr lang="en-NL" dirty="0"/>
              <a:t>Customers won’t accept </a:t>
            </a:r>
            <a:r>
              <a:rPr lang="en-NL" b="1" dirty="0"/>
              <a:t>AI as premium pricing justification</a:t>
            </a:r>
            <a:endParaRPr lang="en-NL" dirty="0"/>
          </a:p>
          <a:p>
            <a:r>
              <a:rPr lang="en-NL" dirty="0"/>
              <a:t>Instead, they expect: </a:t>
            </a:r>
          </a:p>
          <a:p>
            <a:pPr lvl="1"/>
            <a:r>
              <a:rPr lang="en-NL" dirty="0"/>
              <a:t>outcomes, not tech</a:t>
            </a:r>
          </a:p>
          <a:p>
            <a:br>
              <a:rPr lang="en-NL" dirty="0"/>
            </a:br>
            <a:endParaRPr lang="en-NL" dirty="0"/>
          </a:p>
          <a:p>
            <a:r>
              <a:rPr lang="en-NL" b="1" dirty="0"/>
              <a:t>💡 Pricing conclusion (your language)</a:t>
            </a:r>
          </a:p>
          <a:p>
            <a:r>
              <a:rPr lang="en-NL" dirty="0"/>
              <a:t>👉</a:t>
            </a:r>
            <a:br>
              <a:rPr lang="en-NL" dirty="0"/>
            </a:br>
            <a:r>
              <a:rPr lang="en-NL" b="1" dirty="0"/>
              <a:t>The pricing direction is strategically right (move away from seat-based CLM), but commercially underdeveloped: it lacks a clear value metric, ROI anchor, and enterprise pricing realism—making it harder to close CFO-led deals.</a:t>
            </a:r>
            <a:endParaRPr lang="en-NL" dirty="0"/>
          </a:p>
          <a:p>
            <a:br>
              <a:rPr lang="en-NL" dirty="0"/>
            </a:br>
            <a:endParaRPr lang="en-NL" dirty="0"/>
          </a:p>
          <a:p>
            <a:r>
              <a:rPr lang="en-NL" b="1" dirty="0"/>
              <a:t>🚀 2. GTM critique — very strong narrative, but execution risk</a:t>
            </a:r>
          </a:p>
          <a:p>
            <a:br>
              <a:rPr lang="en-NL" dirty="0"/>
            </a:br>
            <a:endParaRPr lang="en-NL" dirty="0"/>
          </a:p>
          <a:p>
            <a:r>
              <a:rPr lang="en-NL" b="1" dirty="0"/>
              <a:t>✅ What they get right (very strong)</a:t>
            </a:r>
          </a:p>
          <a:p>
            <a:r>
              <a:rPr lang="en-NL" b="1" dirty="0"/>
              <a:t>1. Excellent category repositioning</a:t>
            </a:r>
          </a:p>
          <a:p>
            <a:r>
              <a:rPr lang="en-NL" dirty="0"/>
              <a:t>They are not selling:</a:t>
            </a:r>
          </a:p>
          <a:p>
            <a:r>
              <a:rPr lang="en-NL" dirty="0"/>
              <a:t>CLM</a:t>
            </a:r>
          </a:p>
          <a:p>
            <a:r>
              <a:rPr lang="en-NL" dirty="0"/>
              <a:t>They are selling: 👉 </a:t>
            </a:r>
            <a:r>
              <a:rPr lang="en-NL" b="1" dirty="0"/>
              <a:t>“post-signature execution intelligence”</a:t>
            </a:r>
            <a:endParaRPr lang="en-NL" dirty="0"/>
          </a:p>
          <a:p>
            <a:r>
              <a:rPr lang="en-NL" dirty="0"/>
              <a:t>This is excellent because:</a:t>
            </a:r>
          </a:p>
          <a:p>
            <a:r>
              <a:rPr lang="en-NL" dirty="0"/>
              <a:t>Legacy CLM = crowded</a:t>
            </a:r>
          </a:p>
          <a:p>
            <a:r>
              <a:rPr lang="en-NL" dirty="0"/>
              <a:t>Execution intelligence = </a:t>
            </a:r>
            <a:r>
              <a:rPr lang="en-NL" b="1" dirty="0"/>
              <a:t>white space</a:t>
            </a:r>
            <a:endParaRPr lang="en-NL" dirty="0"/>
          </a:p>
          <a:p>
            <a:br>
              <a:rPr lang="en-NL" dirty="0"/>
            </a:br>
            <a:endParaRPr lang="en-NL" dirty="0"/>
          </a:p>
          <a:p>
            <a:r>
              <a:rPr lang="en-NL" b="1" dirty="0"/>
              <a:t>2. CFO-level problem framing</a:t>
            </a:r>
          </a:p>
          <a:p>
            <a:r>
              <a:rPr lang="en-NL" dirty="0"/>
              <a:t>They speak in:</a:t>
            </a:r>
          </a:p>
          <a:p>
            <a:r>
              <a:rPr lang="en-NL" dirty="0"/>
              <a:t>€ value leakage</a:t>
            </a:r>
          </a:p>
          <a:p>
            <a:r>
              <a:rPr lang="en-NL" dirty="0"/>
              <a:t>risk exposure</a:t>
            </a:r>
          </a:p>
          <a:p>
            <a:r>
              <a:rPr lang="en-NL" dirty="0"/>
              <a:t>missed credits</a:t>
            </a:r>
          </a:p>
          <a:p>
            <a:r>
              <a:rPr lang="en-NL" dirty="0"/>
              <a:t>👉 This directly targets:</a:t>
            </a:r>
          </a:p>
          <a:p>
            <a:r>
              <a:rPr lang="en-NL" dirty="0"/>
              <a:t>CFO</a:t>
            </a:r>
          </a:p>
          <a:p>
            <a:r>
              <a:rPr lang="en-NL" dirty="0"/>
              <a:t>procurement leadership</a:t>
            </a:r>
          </a:p>
          <a:p>
            <a:r>
              <a:rPr lang="en-NL" dirty="0"/>
              <a:t>COO</a:t>
            </a:r>
          </a:p>
          <a:p>
            <a:r>
              <a:rPr lang="en-NL" dirty="0"/>
              <a:t>✅ This is </a:t>
            </a:r>
            <a:r>
              <a:rPr lang="en-NL" b="1" dirty="0"/>
              <a:t>much stronger than legal-led selling</a:t>
            </a:r>
            <a:endParaRPr lang="en-NL" dirty="0"/>
          </a:p>
          <a:p>
            <a:br>
              <a:rPr lang="en-NL" dirty="0"/>
            </a:br>
            <a:endParaRPr lang="en-NL" dirty="0"/>
          </a:p>
          <a:p>
            <a:r>
              <a:rPr lang="en-NL" b="1" dirty="0"/>
              <a:t>3. Multi-stakeholder GTM (correct for enterprise)</a:t>
            </a:r>
          </a:p>
          <a:p>
            <a:r>
              <a:rPr lang="en-NL" dirty="0"/>
              <a:t>They built views for:</a:t>
            </a:r>
          </a:p>
          <a:p>
            <a:r>
              <a:rPr lang="en-NL" dirty="0"/>
              <a:t>Legal</a:t>
            </a:r>
          </a:p>
          <a:p>
            <a:r>
              <a:rPr lang="en-NL" dirty="0"/>
              <a:t>Procurement</a:t>
            </a:r>
          </a:p>
          <a:p>
            <a:r>
              <a:rPr lang="en-NL" dirty="0"/>
              <a:t>Finance</a:t>
            </a:r>
          </a:p>
          <a:p>
            <a:r>
              <a:rPr lang="en-NL" dirty="0"/>
              <a:t>Operations </a:t>
            </a:r>
            <a:r>
              <a:rPr lang="en-NL" dirty="0">
                <a:hlinkClick r:id="rId2"/>
              </a:rPr>
              <a:t>[commercial...</a:t>
            </a:r>
            <a:r>
              <a:rPr lang="en-NL" dirty="0" err="1">
                <a:hlinkClick r:id="rId2"/>
              </a:rPr>
              <a:t>mbo-mockup</a:t>
            </a:r>
            <a:r>
              <a:rPr lang="en-NL" dirty="0">
                <a:hlinkClick r:id="rId2"/>
              </a:rPr>
              <a:t> | HTML]</a:t>
            </a:r>
            <a:endParaRPr lang="en-NL" dirty="0"/>
          </a:p>
          <a:p>
            <a:r>
              <a:rPr lang="en-NL" dirty="0"/>
              <a:t>👉 This matches reality:</a:t>
            </a:r>
          </a:p>
          <a:p>
            <a:r>
              <a:rPr lang="en-NL" dirty="0"/>
              <a:t>B2B SaaS requires multiple decision-makers </a:t>
            </a:r>
            <a:r>
              <a:rPr lang="en-NL" dirty="0">
                <a:hlinkClick r:id="rId8"/>
              </a:rPr>
              <a:t>[vehnta.com]</a:t>
            </a:r>
            <a:endParaRPr lang="en-NL" dirty="0"/>
          </a:p>
          <a:p>
            <a:br>
              <a:rPr lang="en-NL" dirty="0"/>
            </a:br>
            <a:endParaRPr lang="en-NL" dirty="0"/>
          </a:p>
          <a:p>
            <a:r>
              <a:rPr lang="en-NL" b="1" dirty="0"/>
              <a:t>4. Smart entry offer (very strong)</a:t>
            </a:r>
          </a:p>
          <a:p>
            <a:r>
              <a:rPr lang="en-NL" dirty="0"/>
              <a:t>“Bring five contracts → 30-minute review”</a:t>
            </a:r>
          </a:p>
          <a:p>
            <a:r>
              <a:rPr lang="en-NL" dirty="0"/>
              <a:t>👉 This is:</a:t>
            </a:r>
          </a:p>
          <a:p>
            <a:r>
              <a:rPr lang="en-NL" dirty="0"/>
              <a:t>tangible</a:t>
            </a:r>
          </a:p>
          <a:p>
            <a:r>
              <a:rPr lang="en-NL" dirty="0"/>
              <a:t>low friction</a:t>
            </a:r>
          </a:p>
          <a:p>
            <a:r>
              <a:rPr lang="en-NL" dirty="0"/>
              <a:t>ROI-driven</a:t>
            </a:r>
          </a:p>
          <a:p>
            <a:r>
              <a:rPr lang="en-NL" dirty="0"/>
              <a:t>✅ This is a </a:t>
            </a:r>
            <a:r>
              <a:rPr lang="en-NL" b="1" dirty="0"/>
              <a:t>good wedge into enterprise accounts</a:t>
            </a:r>
            <a:endParaRPr lang="en-NL" dirty="0"/>
          </a:p>
          <a:p>
            <a:br>
              <a:rPr lang="en-NL" dirty="0"/>
            </a:br>
            <a:endParaRPr lang="en-NL" dirty="0"/>
          </a:p>
          <a:p>
            <a:r>
              <a:rPr lang="en-NL" b="1" dirty="0"/>
              <a:t>❌ Where the GTM will struggle (critical)</a:t>
            </a:r>
          </a:p>
          <a:p>
            <a:br>
              <a:rPr lang="en-NL" dirty="0"/>
            </a:br>
            <a:endParaRPr lang="en-NL" dirty="0"/>
          </a:p>
          <a:p>
            <a:r>
              <a:rPr lang="en-NL" b="1" dirty="0"/>
              <a:t>1. Target market is too wide</a:t>
            </a:r>
          </a:p>
          <a:p>
            <a:r>
              <a:rPr lang="en-NL" dirty="0"/>
              <a:t>They say:</a:t>
            </a:r>
          </a:p>
          <a:p>
            <a:r>
              <a:rPr lang="en-NL" dirty="0"/>
              <a:t>Legal, Procurement, Finance, Ops, CFOs</a:t>
            </a:r>
          </a:p>
          <a:p>
            <a:r>
              <a:rPr lang="en-NL" dirty="0"/>
              <a:t>👉 That is too broad for early GTM</a:t>
            </a:r>
          </a:p>
          <a:p>
            <a:r>
              <a:rPr lang="en-NL" dirty="0"/>
              <a:t>Reality:</a:t>
            </a:r>
          </a:p>
          <a:p>
            <a:r>
              <a:rPr lang="en-NL" dirty="0"/>
              <a:t>Successful SaaS GTM often starts with </a:t>
            </a:r>
            <a:r>
              <a:rPr lang="en-NL" b="1" dirty="0"/>
              <a:t>one vertical persona</a:t>
            </a:r>
            <a:r>
              <a:rPr lang="en-NL" dirty="0"/>
              <a:t> </a:t>
            </a:r>
            <a:r>
              <a:rPr lang="en-NL" dirty="0">
                <a:hlinkClick r:id="rId9"/>
              </a:rPr>
              <a:t>[saashero.net]</a:t>
            </a:r>
            <a:endParaRPr lang="en-NL" dirty="0"/>
          </a:p>
          <a:p>
            <a:r>
              <a:rPr lang="en-NL" dirty="0"/>
              <a:t>👉 Recommendation (strong):</a:t>
            </a:r>
          </a:p>
          <a:p>
            <a:r>
              <a:rPr lang="en-NL" dirty="0"/>
              <a:t>Start with: </a:t>
            </a:r>
          </a:p>
          <a:p>
            <a:pPr lvl="1"/>
            <a:r>
              <a:rPr lang="en-NL" b="1" dirty="0"/>
              <a:t>procurement-led enterprises (SLA/credit recovery use case)</a:t>
            </a:r>
            <a:endParaRPr lang="en-NL" dirty="0"/>
          </a:p>
          <a:p>
            <a:r>
              <a:rPr lang="en-NL" dirty="0"/>
              <a:t>Why?</a:t>
            </a:r>
          </a:p>
          <a:p>
            <a:r>
              <a:rPr lang="en-NL" dirty="0"/>
              <a:t>fastest ROI</a:t>
            </a:r>
          </a:p>
          <a:p>
            <a:r>
              <a:rPr lang="en-NL" dirty="0"/>
              <a:t>easiest quantification</a:t>
            </a:r>
          </a:p>
          <a:p>
            <a:r>
              <a:rPr lang="en-NL" dirty="0"/>
              <a:t>shortest sales cycle</a:t>
            </a:r>
          </a:p>
          <a:p>
            <a:br>
              <a:rPr lang="en-NL" dirty="0"/>
            </a:br>
            <a:endParaRPr lang="en-NL" dirty="0"/>
          </a:p>
          <a:p>
            <a:r>
              <a:rPr lang="en-NL" b="1" dirty="0"/>
              <a:t>2. No clear ICP (ideal customer profile)</a:t>
            </a:r>
          </a:p>
          <a:p>
            <a:r>
              <a:rPr lang="en-NL" dirty="0"/>
              <a:t>Missing:</a:t>
            </a:r>
          </a:p>
          <a:p>
            <a:r>
              <a:rPr lang="en-NL" dirty="0"/>
              <a:t>company size</a:t>
            </a:r>
          </a:p>
          <a:p>
            <a:r>
              <a:rPr lang="en-NL" dirty="0"/>
              <a:t>industry focus</a:t>
            </a:r>
          </a:p>
          <a:p>
            <a:r>
              <a:rPr lang="en-NL" dirty="0"/>
              <a:t>contract type focus</a:t>
            </a:r>
          </a:p>
          <a:p>
            <a:r>
              <a:rPr lang="en-NL" dirty="0"/>
              <a:t>👉 This is dangerous because:</a:t>
            </a:r>
          </a:p>
          <a:p>
            <a:r>
              <a:rPr lang="en-NL" dirty="0"/>
              <a:t>enterprise CLM is extremely vertical-dependent</a:t>
            </a:r>
          </a:p>
          <a:p>
            <a:r>
              <a:rPr lang="en-NL" dirty="0"/>
              <a:t>Example:</a:t>
            </a:r>
          </a:p>
          <a:p>
            <a:r>
              <a:rPr lang="en-NL" dirty="0"/>
              <a:t>telco SLAs ≠ pharma contracts</a:t>
            </a:r>
          </a:p>
          <a:p>
            <a:r>
              <a:rPr lang="en-NL" dirty="0"/>
              <a:t>👉 Without ICP:</a:t>
            </a:r>
          </a:p>
          <a:p>
            <a:r>
              <a:rPr lang="en-NL" dirty="0"/>
              <a:t>messaging becomes generic</a:t>
            </a:r>
          </a:p>
          <a:p>
            <a:r>
              <a:rPr lang="en-NL" dirty="0"/>
              <a:t>sales cycles increase</a:t>
            </a:r>
          </a:p>
          <a:p>
            <a:br>
              <a:rPr lang="en-NL" dirty="0"/>
            </a:br>
            <a:endParaRPr lang="en-NL" dirty="0"/>
          </a:p>
          <a:p>
            <a:r>
              <a:rPr lang="en-NL" b="1" dirty="0"/>
              <a:t>3. Underestimates integration as GTM blocker</a:t>
            </a:r>
          </a:p>
          <a:p>
            <a:r>
              <a:rPr lang="en-NL" dirty="0"/>
              <a:t>They claim:</a:t>
            </a:r>
          </a:p>
          <a:p>
            <a:r>
              <a:rPr lang="en-NL" dirty="0"/>
              <a:t>“reads ERP, ITSM, etc.”</a:t>
            </a:r>
          </a:p>
          <a:p>
            <a:r>
              <a:rPr lang="en-NL" dirty="0"/>
              <a:t>But reality:</a:t>
            </a:r>
          </a:p>
          <a:p>
            <a:r>
              <a:rPr lang="en-NL" dirty="0"/>
              <a:t>integration is often the </a:t>
            </a:r>
            <a:r>
              <a:rPr lang="en-NL" b="1" dirty="0"/>
              <a:t>#1 failure point in CLM</a:t>
            </a:r>
            <a:r>
              <a:rPr lang="en-NL" dirty="0"/>
              <a:t> </a:t>
            </a:r>
            <a:r>
              <a:rPr lang="en-NL" dirty="0">
                <a:hlinkClick r:id="rId10"/>
              </a:rPr>
              <a:t>[zefort.com]</a:t>
            </a:r>
            <a:endParaRPr lang="en-NL" dirty="0"/>
          </a:p>
          <a:p>
            <a:r>
              <a:rPr lang="en-NL" dirty="0"/>
              <a:t>👉 GTM gap:</a:t>
            </a:r>
          </a:p>
          <a:p>
            <a:r>
              <a:rPr lang="en-NL" dirty="0"/>
              <a:t>no clear story for: </a:t>
            </a:r>
          </a:p>
          <a:p>
            <a:pPr lvl="1"/>
            <a:r>
              <a:rPr lang="en-NL" dirty="0"/>
              <a:t>data onboarding</a:t>
            </a:r>
          </a:p>
          <a:p>
            <a:pPr lvl="1"/>
            <a:r>
              <a:rPr lang="en-NL" dirty="0"/>
              <a:t>system integration</a:t>
            </a:r>
          </a:p>
          <a:p>
            <a:pPr lvl="1"/>
            <a:r>
              <a:rPr lang="en-NL" dirty="0"/>
              <a:t>time-to-value beyond pilot</a:t>
            </a:r>
          </a:p>
          <a:p>
            <a:br>
              <a:rPr lang="en-NL" dirty="0"/>
            </a:br>
            <a:endParaRPr lang="en-NL" dirty="0"/>
          </a:p>
          <a:p>
            <a:r>
              <a:rPr lang="en-NL" b="1" dirty="0"/>
              <a:t>4. “Overlay, not replace” positioning creates ambiguity</a:t>
            </a:r>
          </a:p>
          <a:p>
            <a:r>
              <a:rPr lang="en-NL" dirty="0"/>
              <a:t>They say:</a:t>
            </a:r>
          </a:p>
          <a:p>
            <a:r>
              <a:rPr lang="en-NL" dirty="0"/>
              <a:t>“We layer on top of existing CLM”</a:t>
            </a:r>
          </a:p>
          <a:p>
            <a:r>
              <a:rPr lang="en-NL" dirty="0"/>
              <a:t>👉 Good technically — but:</a:t>
            </a:r>
          </a:p>
          <a:p>
            <a:r>
              <a:rPr lang="en-NL" dirty="0"/>
              <a:t>Commercially:</a:t>
            </a:r>
          </a:p>
          <a:p>
            <a:r>
              <a:rPr lang="en-NL" dirty="0"/>
              <a:t>creates confusion: </a:t>
            </a:r>
          </a:p>
          <a:p>
            <a:pPr lvl="1"/>
            <a:r>
              <a:rPr lang="en-NL" dirty="0"/>
              <a:t>Who owns the contract process?</a:t>
            </a:r>
          </a:p>
          <a:p>
            <a:pPr lvl="1"/>
            <a:r>
              <a:rPr lang="en-NL" dirty="0"/>
              <a:t>What system is primary?</a:t>
            </a:r>
          </a:p>
          <a:p>
            <a:r>
              <a:rPr lang="en-NL" dirty="0"/>
              <a:t>👉 Risk:</a:t>
            </a:r>
          </a:p>
          <a:p>
            <a:r>
              <a:rPr lang="en-NL" dirty="0"/>
              <a:t>budgets already locked in existing CLM</a:t>
            </a:r>
          </a:p>
          <a:p>
            <a:r>
              <a:rPr lang="en-NL" dirty="0"/>
              <a:t>difficult to justify incremental spend</a:t>
            </a:r>
          </a:p>
          <a:p>
            <a:br>
              <a:rPr lang="en-NL" dirty="0"/>
            </a:br>
            <a:endParaRPr lang="en-NL" dirty="0"/>
          </a:p>
          <a:p>
            <a:r>
              <a:rPr lang="en-NL" b="1" dirty="0"/>
              <a:t>5. No strong land-and-expand model yet</a:t>
            </a:r>
          </a:p>
          <a:p>
            <a:r>
              <a:rPr lang="en-NL" dirty="0"/>
              <a:t>Modern SaaS GTM relies on:</a:t>
            </a:r>
          </a:p>
          <a:p>
            <a:r>
              <a:rPr lang="en-NL" dirty="0"/>
              <a:t>small entry</a:t>
            </a:r>
          </a:p>
          <a:p>
            <a:r>
              <a:rPr lang="en-NL" dirty="0"/>
              <a:t>expansion via usage or value</a:t>
            </a:r>
          </a:p>
          <a:p>
            <a:r>
              <a:rPr lang="en-NL" dirty="0"/>
              <a:t>👉 Their approach:</a:t>
            </a:r>
          </a:p>
          <a:p>
            <a:r>
              <a:rPr lang="en-NL" dirty="0"/>
              <a:t>enterprise review → big sale</a:t>
            </a:r>
          </a:p>
          <a:p>
            <a:r>
              <a:rPr lang="en-NL" dirty="0"/>
              <a:t>But missing:</a:t>
            </a:r>
          </a:p>
          <a:p>
            <a:r>
              <a:rPr lang="en-NL" dirty="0"/>
              <a:t>clear expansion triggers</a:t>
            </a:r>
          </a:p>
          <a:p>
            <a:br>
              <a:rPr lang="en-NL" dirty="0"/>
            </a:br>
            <a:endParaRPr lang="en-NL" dirty="0"/>
          </a:p>
          <a:p>
            <a:r>
              <a:rPr lang="en-NL" b="1" dirty="0"/>
              <a:t>⚠️ 3. Real GTM challenge (your lens)</a:t>
            </a:r>
          </a:p>
          <a:p>
            <a:r>
              <a:rPr lang="en-NL" dirty="0"/>
              <a:t>👉 This is </a:t>
            </a:r>
            <a:r>
              <a:rPr lang="en-NL" b="1" dirty="0"/>
              <a:t>not a legal tool sale</a:t>
            </a:r>
            <a:endParaRPr lang="en-NL" dirty="0"/>
          </a:p>
          <a:p>
            <a:r>
              <a:rPr lang="en-NL" dirty="0"/>
              <a:t>It is:</a:t>
            </a:r>
          </a:p>
          <a:p>
            <a:r>
              <a:rPr lang="en-NL" dirty="0"/>
              <a:t>transformation sale</a:t>
            </a:r>
          </a:p>
          <a:p>
            <a:r>
              <a:rPr lang="en-NL" dirty="0"/>
              <a:t>cross-functional adoption</a:t>
            </a:r>
          </a:p>
          <a:p>
            <a:r>
              <a:rPr lang="en-NL" dirty="0"/>
              <a:t>behaviour change</a:t>
            </a:r>
          </a:p>
          <a:p>
            <a:r>
              <a:rPr lang="en-NL" dirty="0"/>
              <a:t>➡️ Which implies:</a:t>
            </a:r>
          </a:p>
          <a:p>
            <a:r>
              <a:rPr lang="en-NL" dirty="0"/>
              <a:t>long sales cycles</a:t>
            </a:r>
          </a:p>
          <a:p>
            <a:r>
              <a:rPr lang="en-NL" dirty="0"/>
              <a:t>heavy onboarding</a:t>
            </a:r>
          </a:p>
          <a:p>
            <a:r>
              <a:rPr lang="en-NL" dirty="0"/>
              <a:t>need for executive sponsor</a:t>
            </a:r>
          </a:p>
          <a:p>
            <a:br>
              <a:rPr lang="en-NL" dirty="0"/>
            </a:br>
            <a:endParaRPr lang="en-NL" dirty="0"/>
          </a:p>
          <a:p>
            <a:r>
              <a:rPr lang="en-NL" b="1" dirty="0"/>
              <a:t>🧾 Final commercial judgement</a:t>
            </a:r>
          </a:p>
          <a:p>
            <a:r>
              <a:rPr lang="en-NL" b="1" dirty="0"/>
              <a:t>🧠 Pricing</a:t>
            </a:r>
          </a:p>
          <a:p>
            <a:r>
              <a:rPr lang="en-NL" dirty="0"/>
              <a:t>👉</a:t>
            </a:r>
            <a:br>
              <a:rPr lang="en-NL" dirty="0"/>
            </a:br>
            <a:r>
              <a:rPr lang="en-NL" b="1" dirty="0"/>
              <a:t>Conceptually strong (value-based direction), but too vague and not yet operationalised into a scalable pricing model tied to measurable outcomes.</a:t>
            </a:r>
            <a:endParaRPr lang="en-NL" dirty="0"/>
          </a:p>
          <a:p>
            <a:r>
              <a:rPr lang="en-NL" b="1" dirty="0"/>
              <a:t>🚀 GTM</a:t>
            </a:r>
          </a:p>
          <a:p>
            <a:r>
              <a:rPr lang="en-NL" dirty="0"/>
              <a:t>👉</a:t>
            </a:r>
            <a:br>
              <a:rPr lang="en-NL" dirty="0"/>
            </a:br>
            <a:r>
              <a:rPr lang="en-NL" b="1" dirty="0"/>
              <a:t>Excellent strategic positioning and messaging, but execution risk lies in lack of focus (ICP), integration complexity, and missing expansion mechanics.</a:t>
            </a:r>
            <a:endParaRPr lang="en-NL" dirty="0"/>
          </a:p>
          <a:p>
            <a:br>
              <a:rPr lang="en-NL" dirty="0"/>
            </a:br>
            <a:endParaRPr lang="en-NL" dirty="0"/>
          </a:p>
          <a:p>
            <a:r>
              <a:rPr lang="en-NL" b="1" dirty="0"/>
              <a:t>💡 If I were advising them (very concrete)</a:t>
            </a:r>
          </a:p>
          <a:p>
            <a:r>
              <a:rPr lang="en-NL" b="1" dirty="0"/>
              <a:t>Pricing</a:t>
            </a:r>
          </a:p>
          <a:p>
            <a:r>
              <a:rPr lang="en-NL" dirty="0"/>
              <a:t>Anchor to one metric: </a:t>
            </a:r>
          </a:p>
          <a:p>
            <a:pPr lvl="1"/>
            <a:r>
              <a:rPr lang="en-NL" dirty="0"/>
              <a:t>“% of recoverable value identified”</a:t>
            </a:r>
          </a:p>
          <a:p>
            <a:r>
              <a:rPr lang="en-NL" dirty="0"/>
              <a:t>Create 3 tiers: </a:t>
            </a:r>
          </a:p>
          <a:p>
            <a:pPr lvl="1"/>
            <a:r>
              <a:rPr lang="en-NL" dirty="0"/>
              <a:t>Monitoring</a:t>
            </a:r>
          </a:p>
          <a:p>
            <a:pPr lvl="1"/>
            <a:r>
              <a:rPr lang="en-NL" dirty="0"/>
              <a:t>Recovery</a:t>
            </a:r>
          </a:p>
          <a:p>
            <a:pPr lvl="1"/>
            <a:r>
              <a:rPr lang="en-NL" dirty="0"/>
              <a:t>Optimisation</a:t>
            </a:r>
          </a:p>
          <a:p>
            <a:br>
              <a:rPr lang="en-NL" dirty="0"/>
            </a:br>
            <a:endParaRPr lang="en-NL" dirty="0"/>
          </a:p>
          <a:p>
            <a:r>
              <a:rPr lang="en-NL" b="1" dirty="0"/>
              <a:t>GTM</a:t>
            </a:r>
          </a:p>
          <a:p>
            <a:r>
              <a:rPr lang="en-NL" dirty="0"/>
              <a:t>Start with:</a:t>
            </a:r>
          </a:p>
          <a:p>
            <a:r>
              <a:rPr lang="en-NL" dirty="0"/>
              <a:t>👉 ONE wedge market:</a:t>
            </a:r>
          </a:p>
          <a:p>
            <a:r>
              <a:rPr lang="en-NL" dirty="0"/>
              <a:t>Procurement-led enterprises</a:t>
            </a:r>
          </a:p>
          <a:p>
            <a:r>
              <a:rPr lang="en-NL" dirty="0"/>
              <a:t>High SLA / vendor spend environments</a:t>
            </a:r>
          </a:p>
          <a:p>
            <a:r>
              <a:rPr lang="en-NL" dirty="0"/>
              <a:t>Then expand to:</a:t>
            </a:r>
          </a:p>
          <a:p>
            <a:r>
              <a:rPr lang="en-NL" dirty="0"/>
              <a:t>finance</a:t>
            </a:r>
          </a:p>
          <a:p>
            <a:r>
              <a:rPr lang="en-NL" dirty="0"/>
              <a:t>legal</a:t>
            </a:r>
          </a:p>
          <a:p>
            <a:r>
              <a:rPr lang="en-NL" dirty="0"/>
              <a:t>operations</a:t>
            </a:r>
          </a:p>
          <a:p>
            <a:br>
              <a:rPr lang="en-NL" dirty="0"/>
            </a:br>
            <a:endParaRPr lang="en-NL" dirty="0"/>
          </a:p>
          <a:p>
            <a:r>
              <a:rPr lang="en-NL" b="1" dirty="0"/>
              <a:t>🔥 Bottom-line (your level, one sentence)</a:t>
            </a:r>
          </a:p>
          <a:p>
            <a:r>
              <a:rPr lang="en-NL" dirty="0"/>
              <a:t>👉</a:t>
            </a:r>
            <a:br>
              <a:rPr lang="en-NL" dirty="0"/>
            </a:br>
            <a:r>
              <a:rPr lang="en-NL" b="1" dirty="0"/>
              <a:t>This is a very strong “category creation” play, but to win commercially it must translate its narrative into a sharp ICP, a measurable value-based pricing metric, and a focused land-and-expand GTM motion—otherwise it risks becoming a compelling demo that stalls in procurement.</a:t>
            </a:r>
            <a:endParaRPr lang="en-NL" dirty="0"/>
          </a:p>
          <a:p>
            <a:br>
              <a:rPr lang="en-NL" dirty="0"/>
            </a:br>
            <a:endParaRPr lang="en-NL" dirty="0"/>
          </a:p>
          <a:p>
            <a:r>
              <a:rPr lang="en-NL" dirty="0"/>
              <a:t>If you want, I can convert this into: ✅ a </a:t>
            </a:r>
            <a:r>
              <a:rPr lang="en-NL" b="1" dirty="0"/>
              <a:t>board-ready pricing model (with numbers)</a:t>
            </a:r>
            <a:br>
              <a:rPr lang="en-NL" dirty="0"/>
            </a:br>
            <a:r>
              <a:rPr lang="en-NL" dirty="0"/>
              <a:t>✅ or a </a:t>
            </a:r>
            <a:r>
              <a:rPr lang="en-NL" b="1" dirty="0"/>
              <a:t>go-to-market battle plan (first 10 customers + sales motion)</a:t>
            </a:r>
            <a:endParaRPr lang="en-NL" dirty="0"/>
          </a:p>
          <a:p>
            <a:endParaRPr lang="en-GB" dirty="0"/>
          </a:p>
        </p:txBody>
      </p:sp>
    </p:spTree>
    <p:extLst>
      <p:ext uri="{BB962C8B-B14F-4D97-AF65-F5344CB8AC3E}">
        <p14:creationId xmlns:p14="http://schemas.microsoft.com/office/powerpoint/2010/main" val="643308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E2F9-9E4E-5470-DAE7-A2B5FF2684AA}"/>
              </a:ext>
            </a:extLst>
          </p:cNvPr>
          <p:cNvSpPr>
            <a:spLocks noGrp="1"/>
          </p:cNvSpPr>
          <p:nvPr>
            <p:ph type="title"/>
          </p:nvPr>
        </p:nvSpPr>
        <p:spPr/>
        <p:txBody>
          <a:bodyPr/>
          <a:lstStyle/>
          <a:p>
            <a:r>
              <a:rPr lang="en-GB" dirty="0"/>
              <a:t>Food for thought on pricing</a:t>
            </a:r>
          </a:p>
        </p:txBody>
      </p:sp>
      <p:sp>
        <p:nvSpPr>
          <p:cNvPr id="3" name="TextBox 2">
            <a:extLst>
              <a:ext uri="{FF2B5EF4-FFF2-40B4-BE49-F238E27FC236}">
                <a16:creationId xmlns:a16="http://schemas.microsoft.com/office/drawing/2014/main" id="{9CD38D59-72AC-6B4F-7A2F-237624DC3925}"/>
              </a:ext>
            </a:extLst>
          </p:cNvPr>
          <p:cNvSpPr txBox="1"/>
          <p:nvPr/>
        </p:nvSpPr>
        <p:spPr>
          <a:xfrm>
            <a:off x="838200" y="1690688"/>
            <a:ext cx="10515600" cy="85407996"/>
          </a:xfrm>
          <a:prstGeom prst="rect">
            <a:avLst/>
          </a:prstGeom>
          <a:solidFill>
            <a:schemeClr val="bg1"/>
          </a:solidFill>
        </p:spPr>
        <p:txBody>
          <a:bodyPr wrap="square" rtlCol="0">
            <a:spAutoFit/>
          </a:bodyPr>
          <a:lstStyle/>
          <a:p>
            <a:r>
              <a:rPr lang="en-GB" dirty="0"/>
              <a:t>Excellent—this is exactly the step where most CLM/AI ventures fail or succeed.</a:t>
            </a:r>
          </a:p>
          <a:p>
            <a:endParaRPr lang="en-GB" dirty="0"/>
          </a:p>
          <a:p>
            <a:r>
              <a:rPr lang="en-GB" dirty="0"/>
              <a:t>Below is a **board-ready pricing model with concrete numbers**, structured the way a CFO, investor, or enterprise buyer would expect it. I’ve translated the concept into a **defensible commercial model tied to value leakage recovery**, not features.</a:t>
            </a:r>
          </a:p>
          <a:p>
            <a:endParaRPr lang="en-GB" dirty="0"/>
          </a:p>
          <a:p>
            <a:r>
              <a:rPr lang="en-GB" dirty="0"/>
              <a:t>***</a:t>
            </a:r>
          </a:p>
          <a:p>
            <a:endParaRPr lang="en-GB" dirty="0"/>
          </a:p>
          <a:p>
            <a:r>
              <a:rPr lang="en-GB" dirty="0"/>
              <a:t># 📊 1. Executive pricing logic (board slide level)</a:t>
            </a:r>
          </a:p>
          <a:p>
            <a:endParaRPr lang="en-GB" dirty="0"/>
          </a:p>
          <a:p>
            <a:r>
              <a:rPr lang="en-GB" dirty="0"/>
              <a:t>### Core principle</a:t>
            </a:r>
          </a:p>
          <a:p>
            <a:endParaRPr lang="en-GB" dirty="0"/>
          </a:p>
          <a:p>
            <a:r>
              <a:rPr lang="en-GB" dirty="0"/>
              <a:t>👉 **Price as a function of value protected / recovered (not users, not AI)**</a:t>
            </a:r>
          </a:p>
          <a:p>
            <a:endParaRPr lang="en-GB" dirty="0"/>
          </a:p>
          <a:p>
            <a:r>
              <a:rPr lang="en-GB" dirty="0"/>
              <a:t>### Anchor numbers (from your own narrative)</a:t>
            </a:r>
          </a:p>
          <a:p>
            <a:endParaRPr lang="en-GB" dirty="0"/>
          </a:p>
          <a:p>
            <a:r>
              <a:rPr lang="en-GB" dirty="0"/>
              <a:t>* Average contract leakage: **8–11% of contract value**</a:t>
            </a:r>
          </a:p>
          <a:p>
            <a:r>
              <a:rPr lang="en-GB" dirty="0"/>
              <a:t>* Recoverable leakage: **30–40%**</a:t>
            </a:r>
          </a:p>
          <a:p>
            <a:r>
              <a:rPr lang="en-GB" dirty="0"/>
              <a:t>* Typical enterprise portfolio: **€20M – €200M**</a:t>
            </a:r>
          </a:p>
          <a:p>
            <a:endParaRPr lang="en-GB" dirty="0"/>
          </a:p>
          <a:p>
            <a:r>
              <a:rPr lang="en-GB" dirty="0"/>
              <a:t>***</a:t>
            </a:r>
          </a:p>
          <a:p>
            <a:endParaRPr lang="en-GB" dirty="0"/>
          </a:p>
          <a:p>
            <a:r>
              <a:rPr lang="en-GB" dirty="0"/>
              <a:t>### 💡 Pricing thesis</a:t>
            </a:r>
          </a:p>
          <a:p>
            <a:endParaRPr lang="en-GB" dirty="0"/>
          </a:p>
          <a:p>
            <a:r>
              <a:rPr lang="en-GB" dirty="0"/>
              <a:t>👉  </a:t>
            </a:r>
          </a:p>
          <a:p>
            <a:r>
              <a:rPr lang="en-GB" dirty="0"/>
              <a:t>**Charge 2–6% of recoverable value → ensuring:**</a:t>
            </a:r>
          </a:p>
          <a:p>
            <a:endParaRPr lang="en-GB" dirty="0"/>
          </a:p>
          <a:p>
            <a:r>
              <a:rPr lang="en-GB" dirty="0"/>
              <a:t>* 10× ROI for customer</a:t>
            </a:r>
          </a:p>
          <a:p>
            <a:r>
              <a:rPr lang="en-GB" dirty="0"/>
              <a:t>* strong enterprise willingness to pay</a:t>
            </a:r>
          </a:p>
          <a:p>
            <a:r>
              <a:rPr lang="en-GB" dirty="0"/>
              <a:t>* scalable ACV</a:t>
            </a:r>
          </a:p>
          <a:p>
            <a:endParaRPr lang="en-GB" dirty="0"/>
          </a:p>
          <a:p>
            <a:r>
              <a:rPr lang="en-GB" dirty="0"/>
              <a:t>***</a:t>
            </a:r>
          </a:p>
          <a:p>
            <a:endParaRPr lang="en-GB" dirty="0"/>
          </a:p>
          <a:p>
            <a:r>
              <a:rPr lang="en-GB" dirty="0"/>
              <a:t># 💰 2. Concrete pricing model (with numbers)</a:t>
            </a:r>
          </a:p>
          <a:p>
            <a:endParaRPr lang="en-GB" dirty="0"/>
          </a:p>
          <a:p>
            <a:r>
              <a:rPr lang="en-GB" dirty="0"/>
              <a:t>## A. Value-based core formula</a:t>
            </a:r>
          </a:p>
          <a:p>
            <a:endParaRPr lang="en-GB" dirty="0"/>
          </a:p>
          <a:p>
            <a:r>
              <a:rPr lang="en-GB" dirty="0"/>
              <a:t>### Step 1 — define recoverable pool</a:t>
            </a:r>
          </a:p>
          <a:p>
            <a:endParaRPr lang="en-GB" dirty="0"/>
          </a:p>
          <a:p>
            <a:r>
              <a:rPr lang="en-GB" dirty="0"/>
              <a:t>Example customer:</a:t>
            </a:r>
          </a:p>
          <a:p>
            <a:endParaRPr lang="en-GB" dirty="0"/>
          </a:p>
          <a:p>
            <a:r>
              <a:rPr lang="en-GB" dirty="0"/>
              <a:t>* Annual contract value: €50M</a:t>
            </a:r>
          </a:p>
          <a:p>
            <a:r>
              <a:rPr lang="en-GB" dirty="0"/>
              <a:t>* Leakage (9%): €4.5M</a:t>
            </a:r>
          </a:p>
          <a:p>
            <a:r>
              <a:rPr lang="en-GB" dirty="0"/>
              <a:t>* Recoverable (35%): **€1.6M**</a:t>
            </a:r>
          </a:p>
          <a:p>
            <a:endParaRPr lang="en-GB" dirty="0"/>
          </a:p>
          <a:p>
            <a:r>
              <a:rPr lang="en-GB" dirty="0"/>
              <a:t>***</a:t>
            </a:r>
          </a:p>
          <a:p>
            <a:endParaRPr lang="en-GB" dirty="0"/>
          </a:p>
          <a:p>
            <a:r>
              <a:rPr lang="en-GB" dirty="0"/>
              <a:t>### Step 2 — pricing band</a:t>
            </a:r>
          </a:p>
          <a:p>
            <a:endParaRPr lang="en-GB" dirty="0"/>
          </a:p>
          <a:p>
            <a:r>
              <a:rPr lang="en-GB" dirty="0"/>
              <a:t>👉 Charge:</a:t>
            </a:r>
          </a:p>
          <a:p>
            <a:endParaRPr lang="en-GB" dirty="0"/>
          </a:p>
          <a:p>
            <a:r>
              <a:rPr lang="en-GB" dirty="0"/>
              <a:t>| Tier     | % of recoverable value | Annual fee |</a:t>
            </a:r>
          </a:p>
          <a:p>
            <a:r>
              <a:rPr lang="en-GB" dirty="0"/>
              <a:t>| -------- | ---------------------- | ---------- |</a:t>
            </a:r>
          </a:p>
          <a:p>
            <a:r>
              <a:rPr lang="en-GB" dirty="0"/>
              <a:t>| Entry    | 2%                     | €32k       |</a:t>
            </a:r>
          </a:p>
          <a:p>
            <a:r>
              <a:rPr lang="en-GB" dirty="0"/>
              <a:t>| Standard | 4%                     | €64k       |</a:t>
            </a:r>
          </a:p>
          <a:p>
            <a:r>
              <a:rPr lang="en-GB" dirty="0"/>
              <a:t>| Premium  | 6%                     | €96k       |</a:t>
            </a:r>
          </a:p>
          <a:p>
            <a:endParaRPr lang="en-GB" dirty="0"/>
          </a:p>
          <a:p>
            <a:r>
              <a:rPr lang="en-GB" dirty="0"/>
              <a:t>***</a:t>
            </a:r>
          </a:p>
          <a:p>
            <a:endParaRPr lang="en-GB" dirty="0"/>
          </a:p>
          <a:p>
            <a:r>
              <a:rPr lang="en-GB" dirty="0"/>
              <a:t>👉 CFO logic:</a:t>
            </a:r>
          </a:p>
          <a:p>
            <a:endParaRPr lang="en-GB" dirty="0"/>
          </a:p>
          <a:p>
            <a:r>
              <a:rPr lang="en-GB" dirty="0"/>
              <a:t>* Pay €64k to recover €1.6M → **25× ROI**</a:t>
            </a:r>
          </a:p>
          <a:p>
            <a:endParaRPr lang="en-GB" dirty="0"/>
          </a:p>
          <a:p>
            <a:r>
              <a:rPr lang="en-GB" dirty="0"/>
              <a:t>✅ This is extremely compelling</a:t>
            </a:r>
          </a:p>
          <a:p>
            <a:endParaRPr lang="en-GB" dirty="0"/>
          </a:p>
          <a:p>
            <a:r>
              <a:rPr lang="en-GB" dirty="0"/>
              <a:t>***</a:t>
            </a:r>
          </a:p>
          <a:p>
            <a:endParaRPr lang="en-GB" dirty="0"/>
          </a:p>
          <a:p>
            <a:r>
              <a:rPr lang="en-GB" dirty="0"/>
              <a:t>## B. Add structural floor pricing (critical)</a:t>
            </a:r>
          </a:p>
          <a:p>
            <a:endParaRPr lang="en-GB" dirty="0"/>
          </a:p>
          <a:p>
            <a:r>
              <a:rPr lang="en-GB" dirty="0"/>
              <a:t>To avoid </a:t>
            </a:r>
            <a:r>
              <a:rPr lang="en-GB" dirty="0" err="1"/>
              <a:t>underpricing</a:t>
            </a:r>
            <a:r>
              <a:rPr lang="en-GB" dirty="0"/>
              <a:t> small deals:</a:t>
            </a:r>
          </a:p>
          <a:p>
            <a:endParaRPr lang="en-GB" dirty="0"/>
          </a:p>
          <a:p>
            <a:r>
              <a:rPr lang="en-GB" dirty="0"/>
              <a:t>### Minimum platform fee</a:t>
            </a:r>
          </a:p>
          <a:p>
            <a:endParaRPr lang="en-GB" dirty="0"/>
          </a:p>
          <a:p>
            <a:r>
              <a:rPr lang="en-GB" dirty="0"/>
              <a:t>| Segment    | Minimum ACV |</a:t>
            </a:r>
          </a:p>
          <a:p>
            <a:r>
              <a:rPr lang="en-GB" dirty="0"/>
              <a:t>| ---------- | ----------- |</a:t>
            </a:r>
          </a:p>
          <a:p>
            <a:r>
              <a:rPr lang="en-GB" dirty="0"/>
              <a:t>| Mid-market | €40k/year   |</a:t>
            </a:r>
          </a:p>
          <a:p>
            <a:r>
              <a:rPr lang="en-GB" dirty="0"/>
              <a:t>| Enterprise | €80k/year   |</a:t>
            </a:r>
          </a:p>
          <a:p>
            <a:endParaRPr lang="en-GB" dirty="0"/>
          </a:p>
          <a:p>
            <a:r>
              <a:rPr lang="en-GB" dirty="0"/>
              <a:t>***</a:t>
            </a:r>
          </a:p>
          <a:p>
            <a:endParaRPr lang="en-GB" dirty="0"/>
          </a:p>
          <a:p>
            <a:r>
              <a:rPr lang="en-GB" dirty="0"/>
              <a:t>👉 This aligns with market benchmarks:</a:t>
            </a:r>
          </a:p>
          <a:p>
            <a:endParaRPr lang="en-GB" dirty="0"/>
          </a:p>
          <a:p>
            <a:r>
              <a:rPr lang="en-GB" dirty="0"/>
              <a:t>* Enterprise CLM solutions often exceed €90k+ annually [\[bindlegal.com\]](https://bindlegal.com/resources/best-software/clm-for-saas-companies/)</a:t>
            </a:r>
          </a:p>
          <a:p>
            <a:endParaRPr lang="en-GB" dirty="0"/>
          </a:p>
          <a:p>
            <a:r>
              <a:rPr lang="en-GB" dirty="0"/>
              <a:t>***</a:t>
            </a:r>
          </a:p>
          <a:p>
            <a:endParaRPr lang="en-GB" dirty="0"/>
          </a:p>
          <a:p>
            <a:r>
              <a:rPr lang="en-GB" dirty="0"/>
              <a:t># 🧩 3. Packaging model (what you actually sell)</a:t>
            </a:r>
          </a:p>
          <a:p>
            <a:endParaRPr lang="en-GB" dirty="0"/>
          </a:p>
          <a:p>
            <a:r>
              <a:rPr lang="en-GB" dirty="0"/>
              <a:t>## Tiering (very important for sales)</a:t>
            </a:r>
          </a:p>
          <a:p>
            <a:endParaRPr lang="en-GB" dirty="0"/>
          </a:p>
          <a:p>
            <a:r>
              <a:rPr lang="en-GB" dirty="0"/>
              <a:t>### 🟢 Tier 1 — Monitoring (Land deal)</a:t>
            </a:r>
          </a:p>
          <a:p>
            <a:endParaRPr lang="en-GB" dirty="0"/>
          </a:p>
          <a:p>
            <a:r>
              <a:rPr lang="en-GB" dirty="0"/>
              <a:t>**€40k – €60k**</a:t>
            </a:r>
          </a:p>
          <a:p>
            <a:endParaRPr lang="en-GB" dirty="0"/>
          </a:p>
          <a:p>
            <a:r>
              <a:rPr lang="en-GB" dirty="0"/>
              <a:t>* Contract ingestion + extraction</a:t>
            </a:r>
          </a:p>
          <a:p>
            <a:r>
              <a:rPr lang="en-GB" dirty="0"/>
              <a:t>* Risk scoring</a:t>
            </a:r>
          </a:p>
          <a:p>
            <a:r>
              <a:rPr lang="en-GB" dirty="0"/>
              <a:t>* Renewal alerts</a:t>
            </a:r>
          </a:p>
          <a:p>
            <a:r>
              <a:rPr lang="en-GB" dirty="0"/>
              <a:t>* Basic dashboard</a:t>
            </a:r>
          </a:p>
          <a:p>
            <a:endParaRPr lang="en-GB" dirty="0"/>
          </a:p>
          <a:p>
            <a:r>
              <a:rPr lang="en-GB" dirty="0"/>
              <a:t>👉 Goal:</a:t>
            </a:r>
          </a:p>
          <a:p>
            <a:endParaRPr lang="en-GB" dirty="0"/>
          </a:p>
          <a:p>
            <a:r>
              <a:rPr lang="en-GB" dirty="0"/>
              <a:t>* fast entry</a:t>
            </a:r>
          </a:p>
          <a:p>
            <a:r>
              <a:rPr lang="en-GB" dirty="0"/>
              <a:t>* low friction</a:t>
            </a:r>
          </a:p>
          <a:p>
            <a:r>
              <a:rPr lang="en-GB" dirty="0"/>
              <a:t>* prove value</a:t>
            </a:r>
          </a:p>
          <a:p>
            <a:endParaRPr lang="en-GB" dirty="0"/>
          </a:p>
          <a:p>
            <a:r>
              <a:rPr lang="en-GB" dirty="0"/>
              <a:t>***</a:t>
            </a:r>
          </a:p>
          <a:p>
            <a:endParaRPr lang="en-GB" dirty="0"/>
          </a:p>
          <a:p>
            <a:r>
              <a:rPr lang="en-GB" dirty="0"/>
              <a:t>### 🟡 Tier 2 — Recovery (Core revenue driver)</a:t>
            </a:r>
          </a:p>
          <a:p>
            <a:endParaRPr lang="en-GB" dirty="0"/>
          </a:p>
          <a:p>
            <a:r>
              <a:rPr lang="en-GB" dirty="0"/>
              <a:t>**€60k – €120k**</a:t>
            </a:r>
          </a:p>
          <a:p>
            <a:endParaRPr lang="en-GB" dirty="0"/>
          </a:p>
          <a:p>
            <a:r>
              <a:rPr lang="en-GB" dirty="0"/>
              <a:t>* SLA monitoring</a:t>
            </a:r>
          </a:p>
          <a:p>
            <a:r>
              <a:rPr lang="en-GB" dirty="0"/>
              <a:t>* obligation tracking</a:t>
            </a:r>
          </a:p>
          <a:p>
            <a:r>
              <a:rPr lang="en-GB" dirty="0"/>
              <a:t>* credit calculation</a:t>
            </a:r>
          </a:p>
          <a:p>
            <a:r>
              <a:rPr lang="en-GB" dirty="0"/>
              <a:t>* breach alerts</a:t>
            </a:r>
          </a:p>
          <a:p>
            <a:endParaRPr lang="en-GB" dirty="0"/>
          </a:p>
          <a:p>
            <a:r>
              <a:rPr lang="en-GB" dirty="0"/>
              <a:t>👉 This is:</a:t>
            </a:r>
          </a:p>
          <a:p>
            <a:r>
              <a:rPr lang="en-GB" dirty="0"/>
              <a:t>**your “money-making tier”**</a:t>
            </a:r>
          </a:p>
          <a:p>
            <a:endParaRPr lang="en-GB" dirty="0"/>
          </a:p>
          <a:p>
            <a:r>
              <a:rPr lang="en-GB" dirty="0"/>
              <a:t>***</a:t>
            </a:r>
          </a:p>
          <a:p>
            <a:endParaRPr lang="en-GB" dirty="0"/>
          </a:p>
          <a:p>
            <a:r>
              <a:rPr lang="en-GB" dirty="0"/>
              <a:t>### 🔴 Tier 3 — Optimisation (Strategic upsell)</a:t>
            </a:r>
          </a:p>
          <a:p>
            <a:endParaRPr lang="en-GB" dirty="0"/>
          </a:p>
          <a:p>
            <a:r>
              <a:rPr lang="en-GB" dirty="0"/>
              <a:t>**€120k – €250k+**</a:t>
            </a:r>
          </a:p>
          <a:p>
            <a:endParaRPr lang="en-GB" dirty="0"/>
          </a:p>
          <a:p>
            <a:r>
              <a:rPr lang="en-GB" dirty="0"/>
              <a:t>* relationship governance</a:t>
            </a:r>
          </a:p>
          <a:p>
            <a:r>
              <a:rPr lang="en-GB" dirty="0"/>
              <a:t>* vendor scoring</a:t>
            </a:r>
          </a:p>
          <a:p>
            <a:r>
              <a:rPr lang="en-GB" dirty="0"/>
              <a:t>* forecasting</a:t>
            </a:r>
          </a:p>
          <a:p>
            <a:r>
              <a:rPr lang="en-GB" dirty="0"/>
              <a:t>* AI recommendations</a:t>
            </a:r>
          </a:p>
          <a:p>
            <a:endParaRPr lang="en-GB" dirty="0"/>
          </a:p>
          <a:p>
            <a:r>
              <a:rPr lang="en-GB" dirty="0"/>
              <a:t>👉 Sell to:</a:t>
            </a:r>
          </a:p>
          <a:p>
            <a:endParaRPr lang="en-GB" dirty="0"/>
          </a:p>
          <a:p>
            <a:r>
              <a:rPr lang="en-GB" dirty="0"/>
              <a:t>* CFO / COO level</a:t>
            </a:r>
          </a:p>
          <a:p>
            <a:endParaRPr lang="en-GB" dirty="0"/>
          </a:p>
          <a:p>
            <a:r>
              <a:rPr lang="en-GB" dirty="0"/>
              <a:t>***</a:t>
            </a:r>
          </a:p>
          <a:p>
            <a:endParaRPr lang="en-GB" dirty="0"/>
          </a:p>
          <a:p>
            <a:r>
              <a:rPr lang="en-GB" dirty="0"/>
              <a:t># ⚙️ 4. Integration &amp; implementation pricing (must be explicit)</a:t>
            </a:r>
          </a:p>
          <a:p>
            <a:endParaRPr lang="en-GB" dirty="0"/>
          </a:p>
          <a:p>
            <a:r>
              <a:rPr lang="en-GB" dirty="0"/>
              <a:t>This is where many vendors lose margin.</a:t>
            </a:r>
          </a:p>
          <a:p>
            <a:endParaRPr lang="en-GB" dirty="0"/>
          </a:p>
          <a:p>
            <a:r>
              <a:rPr lang="en-GB" dirty="0"/>
              <a:t>## A. Implementation package</a:t>
            </a:r>
          </a:p>
          <a:p>
            <a:endParaRPr lang="en-GB" dirty="0"/>
          </a:p>
          <a:p>
            <a:r>
              <a:rPr lang="en-GB" dirty="0"/>
              <a:t>| Scope                 | Price        |</a:t>
            </a:r>
          </a:p>
          <a:p>
            <a:r>
              <a:rPr lang="en-GB" dirty="0"/>
              <a:t>| --------------------- | ------------ |</a:t>
            </a:r>
          </a:p>
          <a:p>
            <a:r>
              <a:rPr lang="en-GB" dirty="0"/>
              <a:t>| Lite (≤ 50 contracts) | €15k         |</a:t>
            </a:r>
          </a:p>
          <a:p>
            <a:r>
              <a:rPr lang="en-GB" dirty="0"/>
              <a:t>| Standard              | €25k – €50k  |</a:t>
            </a:r>
          </a:p>
          <a:p>
            <a:r>
              <a:rPr lang="en-GB" dirty="0"/>
              <a:t>| Enterprise            | €50k – €120k |</a:t>
            </a:r>
          </a:p>
          <a:p>
            <a:endParaRPr lang="en-GB" dirty="0"/>
          </a:p>
          <a:p>
            <a:r>
              <a:rPr lang="en-GB" dirty="0"/>
              <a:t>***</a:t>
            </a:r>
          </a:p>
          <a:p>
            <a:endParaRPr lang="en-GB" dirty="0"/>
          </a:p>
          <a:p>
            <a:r>
              <a:rPr lang="en-GB" dirty="0"/>
              <a:t>## B. Connector pricing (critical lever)</a:t>
            </a:r>
          </a:p>
          <a:p>
            <a:endParaRPr lang="en-GB" dirty="0"/>
          </a:p>
          <a:p>
            <a:r>
              <a:rPr lang="en-GB" dirty="0"/>
              <a:t>| Connector         | Annual fee |</a:t>
            </a:r>
          </a:p>
          <a:p>
            <a:r>
              <a:rPr lang="en-GB" dirty="0"/>
              <a:t>| ----------------- | ---------- |</a:t>
            </a:r>
          </a:p>
          <a:p>
            <a:r>
              <a:rPr lang="en-GB" dirty="0"/>
              <a:t>| ERP (SAP/Oracle)  | €20k       |</a:t>
            </a:r>
          </a:p>
          <a:p>
            <a:r>
              <a:rPr lang="en-GB" dirty="0"/>
              <a:t>| ITSM (ServiceNow) | €15k       |</a:t>
            </a:r>
          </a:p>
          <a:p>
            <a:r>
              <a:rPr lang="en-GB" dirty="0"/>
              <a:t>| Finance / FX      | €10k       |</a:t>
            </a:r>
          </a:p>
          <a:p>
            <a:endParaRPr lang="en-GB" dirty="0"/>
          </a:p>
          <a:p>
            <a:r>
              <a:rPr lang="en-GB" dirty="0"/>
              <a:t>***</a:t>
            </a:r>
          </a:p>
          <a:p>
            <a:endParaRPr lang="en-GB" dirty="0"/>
          </a:p>
          <a:p>
            <a:r>
              <a:rPr lang="en-GB" dirty="0"/>
              <a:t>👉 Why:</a:t>
            </a:r>
          </a:p>
          <a:p>
            <a:endParaRPr lang="en-GB" dirty="0"/>
          </a:p>
          <a:p>
            <a:r>
              <a:rPr lang="en-GB" dirty="0"/>
              <a:t>* Integration is real cost driver in CLM [\[hyperstart.com\]](https://www.hyperstart.com/blog/contract-management-software-pricing/)</a:t>
            </a:r>
          </a:p>
          <a:p>
            <a:r>
              <a:rPr lang="en-GB" dirty="0"/>
              <a:t>* Creates natural expansion model</a:t>
            </a:r>
          </a:p>
          <a:p>
            <a:endParaRPr lang="en-GB" dirty="0"/>
          </a:p>
          <a:p>
            <a:r>
              <a:rPr lang="en-GB" dirty="0"/>
              <a:t>***</a:t>
            </a:r>
          </a:p>
          <a:p>
            <a:endParaRPr lang="en-GB" dirty="0"/>
          </a:p>
          <a:p>
            <a:r>
              <a:rPr lang="en-GB" dirty="0"/>
              <a:t># 📈 5. Revenue model example (board-ready)</a:t>
            </a:r>
          </a:p>
          <a:p>
            <a:endParaRPr lang="en-GB" dirty="0"/>
          </a:p>
          <a:p>
            <a:r>
              <a:rPr lang="en-GB" dirty="0"/>
              <a:t>## Typical mid-enterprise deal</a:t>
            </a:r>
          </a:p>
          <a:p>
            <a:endParaRPr lang="en-GB" dirty="0"/>
          </a:p>
          <a:p>
            <a:r>
              <a:rPr lang="en-GB" dirty="0"/>
              <a:t>* Contract value: €50M</a:t>
            </a:r>
          </a:p>
          <a:p>
            <a:r>
              <a:rPr lang="en-GB" dirty="0"/>
              <a:t>* Tier: Recovery (4%)</a:t>
            </a:r>
          </a:p>
          <a:p>
            <a:endParaRPr lang="en-GB" dirty="0"/>
          </a:p>
          <a:p>
            <a:r>
              <a:rPr lang="en-GB" dirty="0"/>
              <a:t>→ Base fee: €64k  </a:t>
            </a:r>
          </a:p>
          <a:p>
            <a:r>
              <a:rPr lang="en-GB" dirty="0"/>
              <a:t>→ Implementation: €40k (year 1)  </a:t>
            </a:r>
          </a:p>
          <a:p>
            <a:r>
              <a:rPr lang="en-GB" dirty="0"/>
              <a:t>→ Connectors: €30k</a:t>
            </a:r>
          </a:p>
          <a:p>
            <a:endParaRPr lang="en-GB" dirty="0"/>
          </a:p>
          <a:p>
            <a:r>
              <a:rPr lang="en-GB" dirty="0"/>
              <a:t>### ✅ Total Year 1:</a:t>
            </a:r>
          </a:p>
          <a:p>
            <a:endParaRPr lang="en-GB" dirty="0"/>
          </a:p>
          <a:p>
            <a:r>
              <a:rPr lang="en-GB" dirty="0"/>
              <a:t>👉 **€134k**</a:t>
            </a:r>
          </a:p>
          <a:p>
            <a:endParaRPr lang="en-GB" dirty="0"/>
          </a:p>
          <a:p>
            <a:r>
              <a:rPr lang="en-GB" dirty="0"/>
              <a:t>### ✅ Recurring:</a:t>
            </a:r>
          </a:p>
          <a:p>
            <a:endParaRPr lang="en-GB" dirty="0"/>
          </a:p>
          <a:p>
            <a:r>
              <a:rPr lang="en-GB" dirty="0"/>
              <a:t>👉 **€94k/year**</a:t>
            </a:r>
          </a:p>
          <a:p>
            <a:endParaRPr lang="en-GB" dirty="0"/>
          </a:p>
          <a:p>
            <a:r>
              <a:rPr lang="en-GB" dirty="0"/>
              <a:t>***</a:t>
            </a:r>
          </a:p>
          <a:p>
            <a:endParaRPr lang="en-GB" dirty="0"/>
          </a:p>
          <a:p>
            <a:r>
              <a:rPr lang="en-GB" dirty="0"/>
              <a:t>## Enterprise account</a:t>
            </a:r>
          </a:p>
          <a:p>
            <a:endParaRPr lang="en-GB" dirty="0"/>
          </a:p>
          <a:p>
            <a:r>
              <a:rPr lang="en-GB" dirty="0"/>
              <a:t>* Contract value: €150M</a:t>
            </a:r>
          </a:p>
          <a:p>
            <a:endParaRPr lang="en-GB" dirty="0"/>
          </a:p>
          <a:p>
            <a:r>
              <a:rPr lang="en-GB" dirty="0"/>
              <a:t>→ Base: €240k  </a:t>
            </a:r>
          </a:p>
          <a:p>
            <a:r>
              <a:rPr lang="en-GB" dirty="0"/>
              <a:t>→ Connectors: €50k</a:t>
            </a:r>
          </a:p>
          <a:p>
            <a:endParaRPr lang="en-GB" dirty="0"/>
          </a:p>
          <a:p>
            <a:r>
              <a:rPr lang="en-GB" dirty="0"/>
              <a:t>👉 **€290k ARR**</a:t>
            </a:r>
          </a:p>
          <a:p>
            <a:endParaRPr lang="en-GB" dirty="0"/>
          </a:p>
          <a:p>
            <a:r>
              <a:rPr lang="en-GB" dirty="0"/>
              <a:t>***</a:t>
            </a:r>
          </a:p>
          <a:p>
            <a:endParaRPr lang="en-GB" dirty="0"/>
          </a:p>
          <a:p>
            <a:r>
              <a:rPr lang="en-GB" dirty="0"/>
              <a:t># 🚀 6. Land-and-expand mechanics (critical for GTM)</a:t>
            </a:r>
          </a:p>
          <a:p>
            <a:endParaRPr lang="en-GB" dirty="0"/>
          </a:p>
          <a:p>
            <a:r>
              <a:rPr lang="en-GB" dirty="0"/>
              <a:t>## Entry motion</a:t>
            </a:r>
          </a:p>
          <a:p>
            <a:endParaRPr lang="en-GB" dirty="0"/>
          </a:p>
          <a:p>
            <a:r>
              <a:rPr lang="en-GB" dirty="0"/>
              <a:t>* 5 contracts (pilot)</a:t>
            </a:r>
          </a:p>
          <a:p>
            <a:r>
              <a:rPr lang="en-GB" dirty="0"/>
              <a:t>* €40k package</a:t>
            </a:r>
          </a:p>
          <a:p>
            <a:r>
              <a:rPr lang="en-GB" dirty="0"/>
              <a:t>* 6–8 week deployment</a:t>
            </a:r>
          </a:p>
          <a:p>
            <a:endParaRPr lang="en-GB" dirty="0"/>
          </a:p>
          <a:p>
            <a:r>
              <a:rPr lang="en-GB" dirty="0"/>
              <a:t>***</a:t>
            </a:r>
          </a:p>
          <a:p>
            <a:endParaRPr lang="en-GB" dirty="0"/>
          </a:p>
          <a:p>
            <a:r>
              <a:rPr lang="en-GB" dirty="0"/>
              <a:t>## Expansion triggers</a:t>
            </a:r>
          </a:p>
          <a:p>
            <a:endParaRPr lang="en-GB" dirty="0"/>
          </a:p>
          <a:p>
            <a:r>
              <a:rPr lang="en-GB" dirty="0"/>
              <a:t>| Trigger           | Upsell                     |</a:t>
            </a:r>
          </a:p>
          <a:p>
            <a:r>
              <a:rPr lang="en-GB" dirty="0"/>
              <a:t>| ----------------- | -------------------------- |</a:t>
            </a:r>
          </a:p>
          <a:p>
            <a:r>
              <a:rPr lang="en-GB" dirty="0"/>
              <a:t>| SLA credits found | move to Recovery           |</a:t>
            </a:r>
          </a:p>
          <a:p>
            <a:r>
              <a:rPr lang="en-GB" dirty="0"/>
              <a:t>| missed renewals   | renewal </a:t>
            </a:r>
            <a:r>
              <a:rPr lang="en-GB" dirty="0" err="1"/>
              <a:t>mgmt</a:t>
            </a:r>
            <a:r>
              <a:rPr lang="en-GB" dirty="0"/>
              <a:t> module        |</a:t>
            </a:r>
          </a:p>
          <a:p>
            <a:r>
              <a:rPr lang="en-GB" dirty="0"/>
              <a:t>| CFO interest      | forecasting + optimisation |</a:t>
            </a:r>
          </a:p>
          <a:p>
            <a:r>
              <a:rPr lang="en-GB" dirty="0"/>
              <a:t>| new BU onboarding | +€30k–€100k                |</a:t>
            </a:r>
          </a:p>
          <a:p>
            <a:endParaRPr lang="en-GB" dirty="0"/>
          </a:p>
          <a:p>
            <a:r>
              <a:rPr lang="en-GB" dirty="0"/>
              <a:t>***</a:t>
            </a:r>
          </a:p>
          <a:p>
            <a:endParaRPr lang="en-GB" dirty="0"/>
          </a:p>
          <a:p>
            <a:r>
              <a:rPr lang="en-GB" dirty="0"/>
              <a:t>✅ This aligns with:</a:t>
            </a:r>
          </a:p>
          <a:p>
            <a:endParaRPr lang="en-GB" dirty="0"/>
          </a:p>
          <a:p>
            <a:r>
              <a:rPr lang="en-GB" dirty="0"/>
              <a:t>* hybrid SaaS + value-based pricing trends [\[cpl.thalesgroup.com\]](https://cpl.thalesgroup.com/software-monetization/saas-pricing-models)</a:t>
            </a:r>
          </a:p>
          <a:p>
            <a:endParaRPr lang="en-GB" dirty="0"/>
          </a:p>
          <a:p>
            <a:r>
              <a:rPr lang="en-GB" dirty="0"/>
              <a:t>***</a:t>
            </a:r>
          </a:p>
          <a:p>
            <a:endParaRPr lang="en-GB" dirty="0"/>
          </a:p>
          <a:p>
            <a:r>
              <a:rPr lang="en-GB" dirty="0"/>
              <a:t># ⚠️ 7. Pricing risks (board awareness)</a:t>
            </a:r>
          </a:p>
          <a:p>
            <a:endParaRPr lang="en-GB" dirty="0"/>
          </a:p>
          <a:p>
            <a:r>
              <a:rPr lang="en-GB" dirty="0"/>
              <a:t>### 1. </a:t>
            </a:r>
            <a:r>
              <a:rPr lang="en-GB" dirty="0" err="1"/>
              <a:t>Underpricing</a:t>
            </a:r>
            <a:r>
              <a:rPr lang="en-GB" dirty="0"/>
              <a:t> risk</a:t>
            </a:r>
          </a:p>
          <a:p>
            <a:endParaRPr lang="en-GB" dirty="0"/>
          </a:p>
          <a:p>
            <a:r>
              <a:rPr lang="en-GB" dirty="0"/>
              <a:t>* €40k too low → enterprise won’t respect product</a:t>
            </a:r>
          </a:p>
          <a:p>
            <a:endParaRPr lang="en-GB" dirty="0"/>
          </a:p>
          <a:p>
            <a:r>
              <a:rPr lang="en-GB" dirty="0"/>
              <a:t>👉 Solution:</a:t>
            </a:r>
          </a:p>
          <a:p>
            <a:endParaRPr lang="en-GB" dirty="0"/>
          </a:p>
          <a:p>
            <a:r>
              <a:rPr lang="en-GB" dirty="0"/>
              <a:t>* enforce minimum €80k for enterprise</a:t>
            </a:r>
          </a:p>
          <a:p>
            <a:endParaRPr lang="en-GB" dirty="0"/>
          </a:p>
          <a:p>
            <a:r>
              <a:rPr lang="en-GB" dirty="0"/>
              <a:t>***</a:t>
            </a:r>
          </a:p>
          <a:p>
            <a:endParaRPr lang="en-GB" dirty="0"/>
          </a:p>
          <a:p>
            <a:r>
              <a:rPr lang="en-GB" dirty="0"/>
              <a:t>### 2. ROI proof gap</a:t>
            </a:r>
          </a:p>
          <a:p>
            <a:endParaRPr lang="en-GB" dirty="0"/>
          </a:p>
          <a:p>
            <a:r>
              <a:rPr lang="en-GB" dirty="0"/>
              <a:t>* customers demand evidence</a:t>
            </a:r>
          </a:p>
          <a:p>
            <a:endParaRPr lang="en-GB" dirty="0"/>
          </a:p>
          <a:p>
            <a:r>
              <a:rPr lang="en-GB" dirty="0"/>
              <a:t>👉 Solution:</a:t>
            </a:r>
          </a:p>
          <a:p>
            <a:endParaRPr lang="en-GB" dirty="0"/>
          </a:p>
          <a:p>
            <a:r>
              <a:rPr lang="en-GB" dirty="0"/>
              <a:t>* build “value calculator”</a:t>
            </a:r>
          </a:p>
          <a:p>
            <a:r>
              <a:rPr lang="en-GB" dirty="0"/>
              <a:t>* show:</a:t>
            </a:r>
          </a:p>
          <a:p>
            <a:r>
              <a:rPr lang="en-GB" dirty="0"/>
              <a:t>  * € detected leakage</a:t>
            </a:r>
          </a:p>
          <a:p>
            <a:r>
              <a:rPr lang="en-GB" dirty="0"/>
              <a:t>  * € recoverable</a:t>
            </a:r>
          </a:p>
          <a:p>
            <a:endParaRPr lang="en-GB" dirty="0"/>
          </a:p>
          <a:p>
            <a:r>
              <a:rPr lang="en-GB" dirty="0"/>
              <a:t>***</a:t>
            </a:r>
          </a:p>
          <a:p>
            <a:endParaRPr lang="en-GB" dirty="0"/>
          </a:p>
          <a:p>
            <a:r>
              <a:rPr lang="en-GB" dirty="0"/>
              <a:t>### 3. Complexity creep</a:t>
            </a:r>
          </a:p>
          <a:p>
            <a:endParaRPr lang="en-GB" dirty="0"/>
          </a:p>
          <a:p>
            <a:r>
              <a:rPr lang="en-GB" dirty="0"/>
              <a:t>* too many pricing variables</a:t>
            </a:r>
          </a:p>
          <a:p>
            <a:endParaRPr lang="en-GB" dirty="0"/>
          </a:p>
          <a:p>
            <a:r>
              <a:rPr lang="en-GB" dirty="0"/>
              <a:t>👉 Solution:</a:t>
            </a:r>
          </a:p>
          <a:p>
            <a:endParaRPr lang="en-GB" dirty="0"/>
          </a:p>
          <a:p>
            <a:r>
              <a:rPr lang="en-GB" dirty="0"/>
              <a:t>* keep model simple:</a:t>
            </a:r>
          </a:p>
          <a:p>
            <a:r>
              <a:rPr lang="en-GB" dirty="0"/>
              <a:t>  👉 **Base + connectors**</a:t>
            </a:r>
          </a:p>
          <a:p>
            <a:endParaRPr lang="en-GB" dirty="0"/>
          </a:p>
          <a:p>
            <a:r>
              <a:rPr lang="en-GB" dirty="0"/>
              <a:t>***</a:t>
            </a:r>
          </a:p>
          <a:p>
            <a:endParaRPr lang="en-GB" dirty="0"/>
          </a:p>
          <a:p>
            <a:r>
              <a:rPr lang="en-GB" dirty="0"/>
              <a:t># 🧠 8. Strategic recommendation (your level)</a:t>
            </a:r>
          </a:p>
          <a:p>
            <a:endParaRPr lang="en-GB" dirty="0"/>
          </a:p>
          <a:p>
            <a:r>
              <a:rPr lang="en-GB" dirty="0"/>
              <a:t>## The winning pricing model is:</a:t>
            </a:r>
          </a:p>
          <a:p>
            <a:endParaRPr lang="en-GB" dirty="0"/>
          </a:p>
          <a:p>
            <a:r>
              <a:rPr lang="en-GB" dirty="0"/>
              <a:t>👉  </a:t>
            </a:r>
          </a:p>
          <a:p>
            <a:r>
              <a:rPr lang="en-GB" dirty="0"/>
              <a:t>**Hybrid model = Value-based core + platform floor + integration expansion**</a:t>
            </a:r>
          </a:p>
          <a:p>
            <a:endParaRPr lang="en-GB" dirty="0"/>
          </a:p>
          <a:p>
            <a:r>
              <a:rPr lang="en-GB" dirty="0"/>
              <a:t>***</a:t>
            </a:r>
          </a:p>
          <a:p>
            <a:endParaRPr lang="en-GB" dirty="0"/>
          </a:p>
          <a:p>
            <a:r>
              <a:rPr lang="en-GB" dirty="0"/>
              <a:t>### In one line (board-ready)</a:t>
            </a:r>
          </a:p>
          <a:p>
            <a:endParaRPr lang="en-GB" dirty="0"/>
          </a:p>
          <a:p>
            <a:r>
              <a:rPr lang="en-GB" dirty="0"/>
              <a:t>👉  </a:t>
            </a:r>
          </a:p>
          <a:p>
            <a:r>
              <a:rPr lang="en-GB" dirty="0"/>
              <a:t>**“We capture 4% of recoverable contract value with a €80k enterprise floor and €20–50k integration upsell, delivering &gt;10× ROI to customers.”**</a:t>
            </a:r>
          </a:p>
          <a:p>
            <a:endParaRPr lang="en-GB" dirty="0"/>
          </a:p>
          <a:p>
            <a:r>
              <a:rPr lang="en-GB" dirty="0"/>
              <a:t>***</a:t>
            </a:r>
          </a:p>
          <a:p>
            <a:endParaRPr lang="en-GB" dirty="0"/>
          </a:p>
          <a:p>
            <a:r>
              <a:rPr lang="en-GB" dirty="0"/>
              <a:t># 🔥 9. My straight assessment</a:t>
            </a:r>
          </a:p>
          <a:p>
            <a:endParaRPr lang="en-GB" dirty="0"/>
          </a:p>
          <a:p>
            <a:r>
              <a:rPr lang="en-GB" dirty="0"/>
              <a:t>If implemented like this:</a:t>
            </a:r>
          </a:p>
          <a:p>
            <a:endParaRPr lang="en-GB" dirty="0"/>
          </a:p>
          <a:p>
            <a:r>
              <a:rPr lang="en-GB" dirty="0"/>
              <a:t>✅ You have:</a:t>
            </a:r>
          </a:p>
          <a:p>
            <a:endParaRPr lang="en-GB" dirty="0"/>
          </a:p>
          <a:p>
            <a:r>
              <a:rPr lang="en-GB" dirty="0"/>
              <a:t>* €100k–€300k ACV deals</a:t>
            </a:r>
          </a:p>
          <a:p>
            <a:r>
              <a:rPr lang="en-GB" dirty="0"/>
              <a:t>* clear ROI story (CFO-approved)</a:t>
            </a:r>
          </a:p>
          <a:p>
            <a:r>
              <a:rPr lang="en-GB" dirty="0"/>
              <a:t>* scalable enterprise motion</a:t>
            </a:r>
          </a:p>
          <a:p>
            <a:endParaRPr lang="en-GB" dirty="0"/>
          </a:p>
          <a:p>
            <a:r>
              <a:rPr lang="en-GB" dirty="0"/>
              <a:t>❌ Without it:</a:t>
            </a:r>
          </a:p>
          <a:p>
            <a:endParaRPr lang="en-GB" dirty="0"/>
          </a:p>
          <a:p>
            <a:r>
              <a:rPr lang="en-GB" dirty="0"/>
              <a:t>* pricing remains “consulting disguised as SaaS”</a:t>
            </a:r>
          </a:p>
          <a:p>
            <a:r>
              <a:rPr lang="en-GB" dirty="0"/>
              <a:t>* deals stall in procurement</a:t>
            </a:r>
          </a:p>
          <a:p>
            <a:endParaRPr lang="en-GB" dirty="0"/>
          </a:p>
          <a:p>
            <a:r>
              <a:rPr lang="en-GB" dirty="0"/>
              <a:t>***</a:t>
            </a:r>
          </a:p>
          <a:p>
            <a:endParaRPr lang="en-GB" dirty="0"/>
          </a:p>
          <a:p>
            <a:r>
              <a:rPr lang="en-GB" dirty="0"/>
              <a:t># 💡 If you want next (highly relevant)</a:t>
            </a:r>
          </a:p>
          <a:p>
            <a:endParaRPr lang="en-GB" dirty="0"/>
          </a:p>
          <a:p>
            <a:r>
              <a:rPr lang="en-GB" dirty="0"/>
              <a:t>Given your background, I can:</a:t>
            </a:r>
          </a:p>
          <a:p>
            <a:endParaRPr lang="en-GB" dirty="0"/>
          </a:p>
          <a:p>
            <a:r>
              <a:rPr lang="en-GB" dirty="0"/>
              <a:t>✅ Build a **full revenue model (3-year ARR projection)**  </a:t>
            </a:r>
          </a:p>
          <a:p>
            <a:r>
              <a:rPr lang="en-GB" dirty="0"/>
              <a:t>✅ Create a **pricing calculator (Excel-style logic)**  </a:t>
            </a:r>
          </a:p>
          <a:p>
            <a:r>
              <a:rPr lang="en-GB" dirty="0"/>
              <a:t>✅ Or design a **deal negotiation playbook (what to say to CFO/procurement)**</a:t>
            </a:r>
          </a:p>
          <a:p>
            <a:endParaRPr lang="en-GB" dirty="0"/>
          </a:p>
          <a:p>
            <a:r>
              <a:rPr lang="en-GB" dirty="0"/>
              <a:t>Just tell me 👍</a:t>
            </a:r>
          </a:p>
        </p:txBody>
      </p:sp>
    </p:spTree>
    <p:extLst>
      <p:ext uri="{BB962C8B-B14F-4D97-AF65-F5344CB8AC3E}">
        <p14:creationId xmlns:p14="http://schemas.microsoft.com/office/powerpoint/2010/main" val="1963582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D28F-2B6A-7F0D-10FE-AFA8E4E80C4F}"/>
              </a:ext>
            </a:extLst>
          </p:cNvPr>
          <p:cNvSpPr>
            <a:spLocks noGrp="1"/>
          </p:cNvSpPr>
          <p:nvPr>
            <p:ph type="title"/>
          </p:nvPr>
        </p:nvSpPr>
        <p:spPr/>
        <p:txBody>
          <a:bodyPr/>
          <a:lstStyle/>
          <a:p>
            <a:r>
              <a:rPr lang="en-GB" dirty="0"/>
              <a:t>CFO Negotiating playbook</a:t>
            </a:r>
          </a:p>
        </p:txBody>
      </p:sp>
      <p:sp>
        <p:nvSpPr>
          <p:cNvPr id="4" name="TextBox 3">
            <a:extLst>
              <a:ext uri="{FF2B5EF4-FFF2-40B4-BE49-F238E27FC236}">
                <a16:creationId xmlns:a16="http://schemas.microsoft.com/office/drawing/2014/main" id="{60D8388A-1ECB-4C85-003E-8C9FDAC59966}"/>
              </a:ext>
            </a:extLst>
          </p:cNvPr>
          <p:cNvSpPr txBox="1"/>
          <p:nvPr/>
        </p:nvSpPr>
        <p:spPr>
          <a:xfrm>
            <a:off x="882650" y="2222500"/>
            <a:ext cx="10426700" cy="113938883"/>
          </a:xfrm>
          <a:prstGeom prst="rect">
            <a:avLst/>
          </a:prstGeom>
          <a:solidFill>
            <a:schemeClr val="bg1"/>
          </a:solidFill>
        </p:spPr>
        <p:txBody>
          <a:bodyPr wrap="square" rtlCol="0">
            <a:spAutoFit/>
          </a:bodyPr>
          <a:lstStyle/>
          <a:p>
            <a:r>
              <a:rPr lang="en-US" dirty="0"/>
              <a:t>Excellent—this is where deals are actually won or lost.</a:t>
            </a:r>
          </a:p>
          <a:p>
            <a:endParaRPr lang="en-US" dirty="0"/>
          </a:p>
          <a:p>
            <a:r>
              <a:rPr lang="en-US" dirty="0"/>
              <a:t>Below is a **board-ready CFO negotiation playbook** for </a:t>
            </a:r>
            <a:r>
              <a:rPr lang="en-US" dirty="0" err="1"/>
              <a:t>Evaluetor</a:t>
            </a:r>
            <a:r>
              <a:rPr lang="en-US" dirty="0"/>
              <a:t>. It is designed for **enterprise negotiations (€80k–€300k ACV)** and aligns tightly with the pricing model we just built.</a:t>
            </a:r>
          </a:p>
          <a:p>
            <a:endParaRPr lang="en-US" dirty="0"/>
          </a:p>
          <a:p>
            <a:r>
              <a:rPr lang="en-US" dirty="0"/>
              <a:t>This is written the way you would actually **arm a sales leader or yourself** in a negotiation.</a:t>
            </a:r>
          </a:p>
          <a:p>
            <a:endParaRPr lang="en-US" dirty="0"/>
          </a:p>
          <a:p>
            <a:r>
              <a:rPr lang="en-US" dirty="0"/>
              <a:t>***</a:t>
            </a:r>
          </a:p>
          <a:p>
            <a:endParaRPr lang="en-US" dirty="0"/>
          </a:p>
          <a:p>
            <a:r>
              <a:rPr lang="en-US" dirty="0"/>
              <a:t># 🎯 CFO NEGOTIATION PLAYBOOK</a:t>
            </a:r>
          </a:p>
          <a:p>
            <a:endParaRPr lang="en-US" dirty="0"/>
          </a:p>
          <a:p>
            <a:r>
              <a:rPr lang="en-US" dirty="0"/>
              <a:t>**</a:t>
            </a:r>
            <a:r>
              <a:rPr lang="en-US" dirty="0" err="1"/>
              <a:t>Evaluetor</a:t>
            </a:r>
            <a:r>
              <a:rPr lang="en-US" dirty="0"/>
              <a:t> – Value-Based CLM (Execution Intelligence)**</a:t>
            </a:r>
          </a:p>
          <a:p>
            <a:endParaRPr lang="en-US" dirty="0"/>
          </a:p>
          <a:p>
            <a:r>
              <a:rPr lang="en-US" dirty="0"/>
              <a:t>***</a:t>
            </a:r>
          </a:p>
          <a:p>
            <a:endParaRPr lang="en-US" dirty="0"/>
          </a:p>
          <a:p>
            <a:r>
              <a:rPr lang="en-US" dirty="0"/>
              <a:t># 🧠 1. CFO MINDSET (UNDERSTAND FIRST)</a:t>
            </a:r>
          </a:p>
          <a:p>
            <a:endParaRPr lang="en-US" dirty="0"/>
          </a:p>
          <a:p>
            <a:r>
              <a:rPr lang="en-US" dirty="0"/>
              <a:t>### What the CFO actually cares about:</a:t>
            </a:r>
          </a:p>
          <a:p>
            <a:endParaRPr lang="en-US" dirty="0"/>
          </a:p>
          <a:p>
            <a:r>
              <a:rPr lang="en-US" dirty="0"/>
              <a:t>✅ Not:</a:t>
            </a:r>
          </a:p>
          <a:p>
            <a:endParaRPr lang="en-US" dirty="0"/>
          </a:p>
          <a:p>
            <a:r>
              <a:rPr lang="en-US" dirty="0"/>
              <a:t>* AI agents</a:t>
            </a:r>
          </a:p>
          <a:p>
            <a:r>
              <a:rPr lang="en-US" dirty="0"/>
              <a:t>* CLM features</a:t>
            </a:r>
          </a:p>
          <a:p>
            <a:r>
              <a:rPr lang="en-US" dirty="0"/>
              <a:t>* dashboards</a:t>
            </a:r>
          </a:p>
          <a:p>
            <a:endParaRPr lang="en-US" dirty="0"/>
          </a:p>
          <a:p>
            <a:r>
              <a:rPr lang="en-US" dirty="0"/>
              <a:t>✅ But:</a:t>
            </a:r>
          </a:p>
          <a:p>
            <a:endParaRPr lang="en-US" dirty="0"/>
          </a:p>
          <a:p>
            <a:r>
              <a:rPr lang="en-US" dirty="0"/>
              <a:t>* **Cash impact**</a:t>
            </a:r>
          </a:p>
          <a:p>
            <a:r>
              <a:rPr lang="en-US" dirty="0"/>
              <a:t>* **Forecast reliability**</a:t>
            </a:r>
          </a:p>
          <a:p>
            <a:r>
              <a:rPr lang="en-US" dirty="0"/>
              <a:t>* **risk avoidance**</a:t>
            </a:r>
          </a:p>
          <a:p>
            <a:r>
              <a:rPr lang="en-US" dirty="0"/>
              <a:t>* **audit defensibility**</a:t>
            </a:r>
          </a:p>
          <a:p>
            <a:endParaRPr lang="en-US" dirty="0"/>
          </a:p>
          <a:p>
            <a:r>
              <a:rPr lang="en-US" dirty="0"/>
              <a:t>👉 Your framing must always be:</a:t>
            </a:r>
          </a:p>
          <a:p>
            <a:endParaRPr lang="en-US" dirty="0"/>
          </a:p>
          <a:p>
            <a:r>
              <a:rPr lang="en-US" dirty="0"/>
              <a:t>&gt; “This is not software → this is a **P\&amp;L improvement system**.”</a:t>
            </a:r>
          </a:p>
          <a:p>
            <a:endParaRPr lang="en-US" dirty="0"/>
          </a:p>
          <a:p>
            <a:r>
              <a:rPr lang="en-US" dirty="0"/>
              <a:t>***</a:t>
            </a:r>
          </a:p>
          <a:p>
            <a:endParaRPr lang="en-US" dirty="0"/>
          </a:p>
          <a:p>
            <a:r>
              <a:rPr lang="en-US" dirty="0"/>
              <a:t># ⚙️ 2. OPENING POSITION (HOW YOU START)</a:t>
            </a:r>
          </a:p>
          <a:p>
            <a:endParaRPr lang="en-US" dirty="0"/>
          </a:p>
          <a:p>
            <a:r>
              <a:rPr lang="en-US" dirty="0"/>
              <a:t>## First statement (never skip this)</a:t>
            </a:r>
          </a:p>
          <a:p>
            <a:endParaRPr lang="en-US" dirty="0"/>
          </a:p>
          <a:p>
            <a:r>
              <a:rPr lang="en-US" dirty="0"/>
              <a:t>👉  </a:t>
            </a:r>
          </a:p>
          <a:p>
            <a:r>
              <a:rPr lang="en-US" dirty="0"/>
              <a:t>**“We typically identify €X–€Y of recoverable value per €50M of contract volume. Our fee is a fraction of that.”**</a:t>
            </a:r>
          </a:p>
          <a:p>
            <a:endParaRPr lang="en-US" dirty="0"/>
          </a:p>
          <a:p>
            <a:r>
              <a:rPr lang="en-US" dirty="0"/>
              <a:t>***</a:t>
            </a:r>
          </a:p>
          <a:p>
            <a:endParaRPr lang="en-US" dirty="0"/>
          </a:p>
          <a:p>
            <a:r>
              <a:rPr lang="en-US" dirty="0"/>
              <a:t>### Example (use numbers)</a:t>
            </a:r>
          </a:p>
          <a:p>
            <a:endParaRPr lang="en-US" dirty="0"/>
          </a:p>
          <a:p>
            <a:r>
              <a:rPr lang="en-US" dirty="0"/>
              <a:t>* Contract base: €50M</a:t>
            </a:r>
          </a:p>
          <a:p>
            <a:r>
              <a:rPr lang="en-US" dirty="0"/>
              <a:t>* Leakage: \~€4.5M</a:t>
            </a:r>
          </a:p>
          <a:p>
            <a:r>
              <a:rPr lang="en-US" dirty="0"/>
              <a:t>* Recoverable: €1.5M</a:t>
            </a:r>
          </a:p>
          <a:p>
            <a:endParaRPr lang="en-US" dirty="0"/>
          </a:p>
          <a:p>
            <a:r>
              <a:rPr lang="en-US" dirty="0"/>
              <a:t>👉 Say:</a:t>
            </a:r>
          </a:p>
          <a:p>
            <a:endParaRPr lang="en-US" dirty="0"/>
          </a:p>
          <a:p>
            <a:r>
              <a:rPr lang="en-US" dirty="0"/>
              <a:t>&gt; “In similar portfolios, we find €1–2M recoverable value within 6–12 months.  </a:t>
            </a:r>
          </a:p>
          <a:p>
            <a:r>
              <a:rPr lang="en-US" dirty="0"/>
              <a:t>&gt; Our fee is \~€80–100k.”</a:t>
            </a:r>
          </a:p>
          <a:p>
            <a:endParaRPr lang="en-US" dirty="0"/>
          </a:p>
          <a:p>
            <a:r>
              <a:rPr lang="en-US" dirty="0"/>
              <a:t>***</a:t>
            </a:r>
          </a:p>
          <a:p>
            <a:endParaRPr lang="en-US" dirty="0"/>
          </a:p>
          <a:p>
            <a:r>
              <a:rPr lang="en-US" dirty="0"/>
              <a:t>✅ This immediately reframes:</a:t>
            </a:r>
          </a:p>
          <a:p>
            <a:endParaRPr lang="en-US" dirty="0"/>
          </a:p>
          <a:p>
            <a:r>
              <a:rPr lang="en-US" dirty="0"/>
              <a:t>* price → **investment**</a:t>
            </a:r>
          </a:p>
          <a:p>
            <a:r>
              <a:rPr lang="en-US" dirty="0"/>
              <a:t>* cost → **return multiple**</a:t>
            </a:r>
          </a:p>
          <a:p>
            <a:endParaRPr lang="en-US" dirty="0"/>
          </a:p>
          <a:p>
            <a:r>
              <a:rPr lang="en-US" dirty="0"/>
              <a:t>***</a:t>
            </a:r>
          </a:p>
          <a:p>
            <a:endParaRPr lang="en-US" dirty="0"/>
          </a:p>
          <a:p>
            <a:r>
              <a:rPr lang="en-US" dirty="0"/>
              <a:t># 💰 3. PRICE DEFENCE FRAMEWORK (THE CORE)</a:t>
            </a:r>
          </a:p>
          <a:p>
            <a:endParaRPr lang="en-US" dirty="0"/>
          </a:p>
          <a:p>
            <a:r>
              <a:rPr lang="en-US" dirty="0"/>
              <a:t>You must always anchor to **three layers**</a:t>
            </a:r>
          </a:p>
          <a:p>
            <a:endParaRPr lang="en-US" dirty="0"/>
          </a:p>
          <a:p>
            <a:r>
              <a:rPr lang="en-US" dirty="0"/>
              <a:t>***</a:t>
            </a:r>
          </a:p>
          <a:p>
            <a:endParaRPr lang="en-US" dirty="0"/>
          </a:p>
          <a:p>
            <a:r>
              <a:rPr lang="en-US" dirty="0"/>
              <a:t>## Layer 1 — ROI multiple</a:t>
            </a:r>
          </a:p>
          <a:p>
            <a:endParaRPr lang="en-US" dirty="0"/>
          </a:p>
          <a:p>
            <a:r>
              <a:rPr lang="en-US" dirty="0"/>
              <a:t>👉 Always lead with:</a:t>
            </a:r>
          </a:p>
          <a:p>
            <a:endParaRPr lang="en-US" dirty="0"/>
          </a:p>
          <a:p>
            <a:r>
              <a:rPr lang="en-US" dirty="0"/>
              <a:t>&gt; “This is a 10–25× ROI decision.”</a:t>
            </a:r>
          </a:p>
          <a:p>
            <a:endParaRPr lang="en-US" dirty="0"/>
          </a:p>
          <a:p>
            <a:r>
              <a:rPr lang="en-US" dirty="0"/>
              <a:t>***</a:t>
            </a:r>
          </a:p>
          <a:p>
            <a:endParaRPr lang="en-US" dirty="0"/>
          </a:p>
          <a:p>
            <a:r>
              <a:rPr lang="en-US" dirty="0"/>
              <a:t>### CFO mental model:</a:t>
            </a:r>
          </a:p>
          <a:p>
            <a:endParaRPr lang="en-US" dirty="0"/>
          </a:p>
          <a:p>
            <a:r>
              <a:rPr lang="en-US" dirty="0"/>
              <a:t>* Anything:</a:t>
            </a:r>
          </a:p>
          <a:p>
            <a:r>
              <a:rPr lang="en-US" dirty="0"/>
              <a:t>  * &lt; 3× → reject</a:t>
            </a:r>
          </a:p>
          <a:p>
            <a:r>
              <a:rPr lang="en-US" dirty="0"/>
              <a:t>  * 5–10× → consider</a:t>
            </a:r>
          </a:p>
          <a:p>
            <a:r>
              <a:rPr lang="en-US" dirty="0"/>
              <a:t>  * &gt; 10× → approve</a:t>
            </a:r>
          </a:p>
          <a:p>
            <a:endParaRPr lang="en-US" dirty="0"/>
          </a:p>
          <a:p>
            <a:r>
              <a:rPr lang="en-US" dirty="0"/>
              <a:t>***</a:t>
            </a:r>
          </a:p>
          <a:p>
            <a:endParaRPr lang="en-US" dirty="0"/>
          </a:p>
          <a:p>
            <a:r>
              <a:rPr lang="en-US" dirty="0"/>
              <a:t>## Layer 2 — Cost of inaction</a:t>
            </a:r>
          </a:p>
          <a:p>
            <a:endParaRPr lang="en-US" dirty="0"/>
          </a:p>
          <a:p>
            <a:r>
              <a:rPr lang="en-US" dirty="0"/>
              <a:t>👉 Quantify the loss:</a:t>
            </a:r>
          </a:p>
          <a:p>
            <a:endParaRPr lang="en-US" dirty="0"/>
          </a:p>
          <a:p>
            <a:r>
              <a:rPr lang="en-US" dirty="0"/>
              <a:t>&gt; “Doing nothing costs you €1–2M per year.”</a:t>
            </a:r>
          </a:p>
          <a:p>
            <a:endParaRPr lang="en-US" dirty="0"/>
          </a:p>
          <a:p>
            <a:r>
              <a:rPr lang="en-US" dirty="0"/>
              <a:t>***</a:t>
            </a:r>
          </a:p>
          <a:p>
            <a:endParaRPr lang="en-US" dirty="0"/>
          </a:p>
          <a:p>
            <a:r>
              <a:rPr lang="en-US" dirty="0"/>
              <a:t>Make it concrete:</a:t>
            </a:r>
          </a:p>
          <a:p>
            <a:endParaRPr lang="en-US" dirty="0"/>
          </a:p>
          <a:p>
            <a:r>
              <a:rPr lang="en-US" dirty="0"/>
              <a:t>* missed SLA credits</a:t>
            </a:r>
          </a:p>
          <a:p>
            <a:r>
              <a:rPr lang="en-US" dirty="0"/>
              <a:t>* auto-renewals</a:t>
            </a:r>
          </a:p>
          <a:p>
            <a:r>
              <a:rPr lang="en-US" dirty="0"/>
              <a:t>* pricing leakage</a:t>
            </a:r>
          </a:p>
          <a:p>
            <a:endParaRPr lang="en-US" dirty="0"/>
          </a:p>
          <a:p>
            <a:r>
              <a:rPr lang="en-US" dirty="0"/>
              <a:t>***</a:t>
            </a:r>
          </a:p>
          <a:p>
            <a:endParaRPr lang="en-US" dirty="0"/>
          </a:p>
          <a:p>
            <a:r>
              <a:rPr lang="en-US" dirty="0"/>
              <a:t>## Layer 3 — Budget reframing</a:t>
            </a:r>
          </a:p>
          <a:p>
            <a:endParaRPr lang="en-US" dirty="0"/>
          </a:p>
          <a:p>
            <a:r>
              <a:rPr lang="en-US" dirty="0"/>
              <a:t>👉 Position against wrong budget category:</a:t>
            </a:r>
          </a:p>
          <a:p>
            <a:endParaRPr lang="en-US" dirty="0"/>
          </a:p>
          <a:p>
            <a:r>
              <a:rPr lang="en-US" dirty="0"/>
              <a:t>❌ “CLM software”  </a:t>
            </a:r>
          </a:p>
          <a:p>
            <a:r>
              <a:rPr lang="en-US" dirty="0"/>
              <a:t>✅ “Value recovery / cost </a:t>
            </a:r>
            <a:r>
              <a:rPr lang="en-US" dirty="0" err="1"/>
              <a:t>optimisation</a:t>
            </a:r>
            <a:r>
              <a:rPr lang="en-US" dirty="0"/>
              <a:t>”</a:t>
            </a:r>
          </a:p>
          <a:p>
            <a:endParaRPr lang="en-US" dirty="0"/>
          </a:p>
          <a:p>
            <a:r>
              <a:rPr lang="en-US" dirty="0"/>
              <a:t>***</a:t>
            </a:r>
          </a:p>
          <a:p>
            <a:endParaRPr lang="en-US" dirty="0"/>
          </a:p>
          <a:p>
            <a:r>
              <a:rPr lang="en-US" dirty="0"/>
              <a:t>Say:</a:t>
            </a:r>
          </a:p>
          <a:p>
            <a:endParaRPr lang="en-US" dirty="0"/>
          </a:p>
          <a:p>
            <a:r>
              <a:rPr lang="en-US" dirty="0"/>
              <a:t>&gt; “This should sit next to procurement savings or audit recovery—not IT tooling.”</a:t>
            </a:r>
          </a:p>
          <a:p>
            <a:endParaRPr lang="en-US" dirty="0"/>
          </a:p>
          <a:p>
            <a:r>
              <a:rPr lang="en-US" dirty="0"/>
              <a:t>***</a:t>
            </a:r>
          </a:p>
          <a:p>
            <a:endParaRPr lang="en-US" dirty="0"/>
          </a:p>
          <a:p>
            <a:r>
              <a:rPr lang="en-US" dirty="0"/>
              <a:t># 💡 4. HANDLING THE 5 REAL CFO OBJECTIONS</a:t>
            </a:r>
          </a:p>
          <a:p>
            <a:endParaRPr lang="en-US" dirty="0"/>
          </a:p>
          <a:p>
            <a:r>
              <a:rPr lang="en-US" dirty="0"/>
              <a:t>***</a:t>
            </a:r>
          </a:p>
          <a:p>
            <a:endParaRPr lang="en-US" dirty="0"/>
          </a:p>
          <a:p>
            <a:r>
              <a:rPr lang="en-US" dirty="0"/>
              <a:t>## ❌ Objection 1: “This is expensive”</a:t>
            </a:r>
          </a:p>
          <a:p>
            <a:endParaRPr lang="en-US" dirty="0"/>
          </a:p>
          <a:p>
            <a:r>
              <a:rPr lang="en-US" dirty="0"/>
              <a:t>### Response:</a:t>
            </a:r>
          </a:p>
          <a:p>
            <a:endParaRPr lang="en-US" dirty="0"/>
          </a:p>
          <a:p>
            <a:r>
              <a:rPr lang="en-US" dirty="0"/>
              <a:t>👉</a:t>
            </a:r>
          </a:p>
          <a:p>
            <a:endParaRPr lang="en-US" dirty="0"/>
          </a:p>
          <a:p>
            <a:r>
              <a:rPr lang="en-US" dirty="0"/>
              <a:t>&gt; “Relative to what?”</a:t>
            </a:r>
          </a:p>
          <a:p>
            <a:endParaRPr lang="en-US" dirty="0"/>
          </a:p>
          <a:p>
            <a:r>
              <a:rPr lang="en-US" dirty="0"/>
              <a:t>Then:</a:t>
            </a:r>
          </a:p>
          <a:p>
            <a:endParaRPr lang="en-US" dirty="0"/>
          </a:p>
          <a:p>
            <a:r>
              <a:rPr lang="en-US" dirty="0"/>
              <a:t>* €80k vs €1.5M recoverable</a:t>
            </a:r>
          </a:p>
          <a:p>
            <a:r>
              <a:rPr lang="en-US" dirty="0"/>
              <a:t>* €80k vs 1 missed SLA claim</a:t>
            </a:r>
          </a:p>
          <a:p>
            <a:r>
              <a:rPr lang="en-US" dirty="0"/>
              <a:t>* €80k vs incorrect renewal</a:t>
            </a:r>
          </a:p>
          <a:p>
            <a:endParaRPr lang="en-US" dirty="0"/>
          </a:p>
          <a:p>
            <a:r>
              <a:rPr lang="en-US" dirty="0"/>
              <a:t>👉 Close with:</a:t>
            </a:r>
          </a:p>
          <a:p>
            <a:endParaRPr lang="en-US" dirty="0"/>
          </a:p>
          <a:p>
            <a:r>
              <a:rPr lang="en-US" dirty="0"/>
              <a:t>&gt; “You’re comparing it to software. You should compare it to lost cash.”</a:t>
            </a:r>
          </a:p>
          <a:p>
            <a:endParaRPr lang="en-US" dirty="0"/>
          </a:p>
          <a:p>
            <a:r>
              <a:rPr lang="en-US" dirty="0"/>
              <a:t>***</a:t>
            </a:r>
          </a:p>
          <a:p>
            <a:endParaRPr lang="en-US" dirty="0"/>
          </a:p>
          <a:p>
            <a:r>
              <a:rPr lang="en-US" dirty="0"/>
              <a:t>✅ Never defend price → reframe benchmark</a:t>
            </a:r>
          </a:p>
          <a:p>
            <a:endParaRPr lang="en-US" dirty="0"/>
          </a:p>
          <a:p>
            <a:r>
              <a:rPr lang="en-US" dirty="0"/>
              <a:t>***</a:t>
            </a:r>
          </a:p>
          <a:p>
            <a:endParaRPr lang="en-US" dirty="0"/>
          </a:p>
          <a:p>
            <a:r>
              <a:rPr lang="en-US" dirty="0"/>
              <a:t>## ❌ Objection 2: “We already have a CLM”</a:t>
            </a:r>
          </a:p>
          <a:p>
            <a:endParaRPr lang="en-US" dirty="0"/>
          </a:p>
          <a:p>
            <a:r>
              <a:rPr lang="en-US" dirty="0"/>
              <a:t>### Response:</a:t>
            </a:r>
          </a:p>
          <a:p>
            <a:endParaRPr lang="en-US" dirty="0"/>
          </a:p>
          <a:p>
            <a:r>
              <a:rPr lang="en-US" dirty="0"/>
              <a:t>👉</a:t>
            </a:r>
          </a:p>
          <a:p>
            <a:endParaRPr lang="en-US" dirty="0"/>
          </a:p>
          <a:p>
            <a:r>
              <a:rPr lang="en-US" dirty="0"/>
              <a:t>&gt; “You already have a contract repository.  </a:t>
            </a:r>
          </a:p>
          <a:p>
            <a:r>
              <a:rPr lang="en-US" dirty="0"/>
              <a:t>&gt; What you don’t have is execution visibility.”</a:t>
            </a:r>
          </a:p>
          <a:p>
            <a:endParaRPr lang="en-US" dirty="0"/>
          </a:p>
          <a:p>
            <a:r>
              <a:rPr lang="en-US" dirty="0"/>
              <a:t>Then:</a:t>
            </a:r>
          </a:p>
          <a:p>
            <a:endParaRPr lang="en-US" dirty="0"/>
          </a:p>
          <a:p>
            <a:r>
              <a:rPr lang="en-US" dirty="0"/>
              <a:t>* CLM = storage + workflow</a:t>
            </a:r>
          </a:p>
          <a:p>
            <a:r>
              <a:rPr lang="en-US" dirty="0"/>
              <a:t>* </a:t>
            </a:r>
            <a:r>
              <a:rPr lang="en-US" dirty="0" err="1"/>
              <a:t>Evaluetor</a:t>
            </a:r>
            <a:r>
              <a:rPr lang="en-US" dirty="0"/>
              <a:t> = € recovery + risk detection</a:t>
            </a:r>
          </a:p>
          <a:p>
            <a:endParaRPr lang="en-US" dirty="0"/>
          </a:p>
          <a:p>
            <a:r>
              <a:rPr lang="en-US" dirty="0"/>
              <a:t>***</a:t>
            </a:r>
          </a:p>
          <a:p>
            <a:endParaRPr lang="en-US" dirty="0"/>
          </a:p>
          <a:p>
            <a:r>
              <a:rPr lang="en-US" dirty="0"/>
              <a:t>👉 Kill switch:</a:t>
            </a:r>
          </a:p>
          <a:p>
            <a:endParaRPr lang="en-US" dirty="0"/>
          </a:p>
          <a:p>
            <a:r>
              <a:rPr lang="en-US" dirty="0"/>
              <a:t>&gt; “If your current CLM can show € recovered / € lost monthly, you don’t need us.”</a:t>
            </a:r>
          </a:p>
          <a:p>
            <a:endParaRPr lang="en-US" dirty="0"/>
          </a:p>
          <a:p>
            <a:r>
              <a:rPr lang="en-US" dirty="0"/>
              <a:t>***</a:t>
            </a:r>
          </a:p>
          <a:p>
            <a:endParaRPr lang="en-US" dirty="0"/>
          </a:p>
          <a:p>
            <a:r>
              <a:rPr lang="en-US" dirty="0"/>
              <a:t>✅ Puts pressure on incumbent</a:t>
            </a:r>
          </a:p>
          <a:p>
            <a:endParaRPr lang="en-US" dirty="0"/>
          </a:p>
          <a:p>
            <a:r>
              <a:rPr lang="en-US" dirty="0"/>
              <a:t>***</a:t>
            </a:r>
          </a:p>
          <a:p>
            <a:endParaRPr lang="en-US" dirty="0"/>
          </a:p>
          <a:p>
            <a:r>
              <a:rPr lang="en-US" dirty="0"/>
              <a:t>## ❌ Objection 3: “Integration will be complex”</a:t>
            </a:r>
          </a:p>
          <a:p>
            <a:endParaRPr lang="en-US" dirty="0"/>
          </a:p>
          <a:p>
            <a:r>
              <a:rPr lang="en-US" dirty="0"/>
              <a:t>### Response:</a:t>
            </a:r>
          </a:p>
          <a:p>
            <a:endParaRPr lang="en-US" dirty="0"/>
          </a:p>
          <a:p>
            <a:r>
              <a:rPr lang="en-US" dirty="0"/>
              <a:t>👉 Acknowledge (don’t fight):</a:t>
            </a:r>
          </a:p>
          <a:p>
            <a:endParaRPr lang="en-US" dirty="0"/>
          </a:p>
          <a:p>
            <a:r>
              <a:rPr lang="en-US" dirty="0"/>
              <a:t>&gt; “Correct—this is where most value sits.”</a:t>
            </a:r>
          </a:p>
          <a:p>
            <a:endParaRPr lang="en-US" dirty="0"/>
          </a:p>
          <a:p>
            <a:r>
              <a:rPr lang="en-US" dirty="0"/>
              <a:t>Then reposition:</a:t>
            </a:r>
          </a:p>
          <a:p>
            <a:endParaRPr lang="en-US" dirty="0"/>
          </a:p>
          <a:p>
            <a:r>
              <a:rPr lang="en-US" dirty="0"/>
              <a:t>&gt; “That’s exactly why the ROI exists. If the data were already connected, the value wouldn’t be leaking.”</a:t>
            </a:r>
          </a:p>
          <a:p>
            <a:endParaRPr lang="en-US" dirty="0"/>
          </a:p>
          <a:p>
            <a:r>
              <a:rPr lang="en-US" dirty="0"/>
              <a:t>***</a:t>
            </a:r>
          </a:p>
          <a:p>
            <a:endParaRPr lang="en-US" dirty="0"/>
          </a:p>
          <a:p>
            <a:r>
              <a:rPr lang="en-US" dirty="0"/>
              <a:t>Then:</a:t>
            </a:r>
          </a:p>
          <a:p>
            <a:endParaRPr lang="en-US" dirty="0"/>
          </a:p>
          <a:p>
            <a:r>
              <a:rPr lang="en-US" dirty="0"/>
              <a:t>* Start with **limited scope**</a:t>
            </a:r>
          </a:p>
          <a:p>
            <a:r>
              <a:rPr lang="en-US" dirty="0"/>
              <a:t>* expand after proof</a:t>
            </a:r>
          </a:p>
          <a:p>
            <a:endParaRPr lang="en-US" dirty="0"/>
          </a:p>
          <a:p>
            <a:r>
              <a:rPr lang="en-US" dirty="0"/>
              <a:t>***</a:t>
            </a:r>
          </a:p>
          <a:p>
            <a:endParaRPr lang="en-US" dirty="0"/>
          </a:p>
          <a:p>
            <a:r>
              <a:rPr lang="en-US" dirty="0"/>
              <a:t>✅ Turn weakness into justification</a:t>
            </a:r>
          </a:p>
          <a:p>
            <a:endParaRPr lang="en-US" dirty="0"/>
          </a:p>
          <a:p>
            <a:r>
              <a:rPr lang="en-US" dirty="0"/>
              <a:t>***</a:t>
            </a:r>
          </a:p>
          <a:p>
            <a:endParaRPr lang="en-US" dirty="0"/>
          </a:p>
          <a:p>
            <a:r>
              <a:rPr lang="en-US" dirty="0"/>
              <a:t>## ❌ Objection 4: “We need proof before committing”</a:t>
            </a:r>
          </a:p>
          <a:p>
            <a:endParaRPr lang="en-US" dirty="0"/>
          </a:p>
          <a:p>
            <a:r>
              <a:rPr lang="en-US" dirty="0"/>
              <a:t>### Response:</a:t>
            </a:r>
          </a:p>
          <a:p>
            <a:endParaRPr lang="en-US" dirty="0"/>
          </a:p>
          <a:p>
            <a:r>
              <a:rPr lang="en-US" dirty="0"/>
              <a:t>👉</a:t>
            </a:r>
          </a:p>
          <a:p>
            <a:endParaRPr lang="en-US" dirty="0"/>
          </a:p>
          <a:p>
            <a:r>
              <a:rPr lang="en-US" dirty="0"/>
              <a:t>&gt; “Agreed. That’s why we start with 5 contracts.”</a:t>
            </a:r>
          </a:p>
          <a:p>
            <a:endParaRPr lang="en-US" dirty="0"/>
          </a:p>
          <a:p>
            <a:r>
              <a:rPr lang="en-US" dirty="0"/>
              <a:t>Then:</a:t>
            </a:r>
          </a:p>
          <a:p>
            <a:endParaRPr lang="en-US" dirty="0"/>
          </a:p>
          <a:p>
            <a:r>
              <a:rPr lang="en-US" dirty="0"/>
              <a:t>* identify:</a:t>
            </a:r>
          </a:p>
          <a:p>
            <a:r>
              <a:rPr lang="en-US" dirty="0"/>
              <a:t>  * missed obligations</a:t>
            </a:r>
          </a:p>
          <a:p>
            <a:r>
              <a:rPr lang="en-US" dirty="0"/>
              <a:t>  * renewal risks</a:t>
            </a:r>
          </a:p>
          <a:p>
            <a:r>
              <a:rPr lang="en-US" dirty="0"/>
              <a:t>  * SLA gaps</a:t>
            </a:r>
          </a:p>
          <a:p>
            <a:endParaRPr lang="en-US" dirty="0"/>
          </a:p>
          <a:p>
            <a:r>
              <a:rPr lang="en-US" dirty="0"/>
              <a:t>***</a:t>
            </a:r>
          </a:p>
          <a:p>
            <a:endParaRPr lang="en-US" dirty="0"/>
          </a:p>
          <a:p>
            <a:r>
              <a:rPr lang="en-US" dirty="0"/>
              <a:t>👉 Close with:</a:t>
            </a:r>
          </a:p>
          <a:p>
            <a:endParaRPr lang="en-US" dirty="0"/>
          </a:p>
          <a:p>
            <a:r>
              <a:rPr lang="en-US" dirty="0"/>
              <a:t>&gt; “If we don’t find value, you don’t proceed.”</a:t>
            </a:r>
          </a:p>
          <a:p>
            <a:endParaRPr lang="en-US" dirty="0"/>
          </a:p>
          <a:p>
            <a:r>
              <a:rPr lang="en-US" dirty="0"/>
              <a:t>***</a:t>
            </a:r>
          </a:p>
          <a:p>
            <a:endParaRPr lang="en-US" dirty="0"/>
          </a:p>
          <a:p>
            <a:r>
              <a:rPr lang="en-US" dirty="0"/>
              <a:t>✅ Removes buying risk completely</a:t>
            </a:r>
          </a:p>
          <a:p>
            <a:endParaRPr lang="en-US" dirty="0"/>
          </a:p>
          <a:p>
            <a:r>
              <a:rPr lang="en-US" dirty="0"/>
              <a:t>***</a:t>
            </a:r>
          </a:p>
          <a:p>
            <a:endParaRPr lang="en-US" dirty="0"/>
          </a:p>
          <a:p>
            <a:r>
              <a:rPr lang="en-US" dirty="0"/>
              <a:t>## ❌ Objection 5: “Can you discount?”</a:t>
            </a:r>
          </a:p>
          <a:p>
            <a:endParaRPr lang="en-US" dirty="0"/>
          </a:p>
          <a:p>
            <a:r>
              <a:rPr lang="en-US" dirty="0"/>
              <a:t>### Response framework:</a:t>
            </a:r>
          </a:p>
          <a:p>
            <a:endParaRPr lang="en-US" dirty="0"/>
          </a:p>
          <a:p>
            <a:r>
              <a:rPr lang="en-US" dirty="0"/>
              <a:t>NEVER discount first.</a:t>
            </a:r>
          </a:p>
          <a:p>
            <a:endParaRPr lang="en-US" dirty="0"/>
          </a:p>
          <a:p>
            <a:r>
              <a:rPr lang="en-US" dirty="0"/>
              <a:t>***</a:t>
            </a:r>
          </a:p>
          <a:p>
            <a:endParaRPr lang="en-US" dirty="0"/>
          </a:p>
          <a:p>
            <a:r>
              <a:rPr lang="en-US" dirty="0"/>
              <a:t>### Step 1 — anchor value</a:t>
            </a:r>
          </a:p>
          <a:p>
            <a:endParaRPr lang="en-US" dirty="0"/>
          </a:p>
          <a:p>
            <a:r>
              <a:rPr lang="en-US" dirty="0"/>
              <a:t>&gt; “If we reduce scope, we reduce value recovery.”</a:t>
            </a:r>
          </a:p>
          <a:p>
            <a:endParaRPr lang="en-US" dirty="0"/>
          </a:p>
          <a:p>
            <a:r>
              <a:rPr lang="en-US" dirty="0"/>
              <a:t>***</a:t>
            </a:r>
          </a:p>
          <a:p>
            <a:endParaRPr lang="en-US" dirty="0"/>
          </a:p>
          <a:p>
            <a:r>
              <a:rPr lang="en-US" dirty="0"/>
              <a:t>### Step 2 — offer trade-off</a:t>
            </a:r>
          </a:p>
          <a:p>
            <a:endParaRPr lang="en-US" dirty="0"/>
          </a:p>
          <a:p>
            <a:r>
              <a:rPr lang="en-US" dirty="0"/>
              <a:t>Only exchange:</a:t>
            </a:r>
          </a:p>
          <a:p>
            <a:endParaRPr lang="en-US" dirty="0"/>
          </a:p>
          <a:p>
            <a:r>
              <a:rPr lang="en-US" dirty="0"/>
              <a:t>| Give        | Get                    |</a:t>
            </a:r>
          </a:p>
          <a:p>
            <a:r>
              <a:rPr lang="en-US" dirty="0"/>
              <a:t>| ----------- | ---------------------- |</a:t>
            </a:r>
          </a:p>
          <a:p>
            <a:r>
              <a:rPr lang="en-US" dirty="0"/>
              <a:t>| Lower price | longer contract (2–3y) |</a:t>
            </a:r>
          </a:p>
          <a:p>
            <a:r>
              <a:rPr lang="en-US" dirty="0"/>
              <a:t>| Lower price | reference case         |</a:t>
            </a:r>
          </a:p>
          <a:p>
            <a:r>
              <a:rPr lang="en-US" dirty="0"/>
              <a:t>| Lower price | faster decision        |</a:t>
            </a:r>
          </a:p>
          <a:p>
            <a:endParaRPr lang="en-US" dirty="0"/>
          </a:p>
          <a:p>
            <a:r>
              <a:rPr lang="en-US" dirty="0"/>
              <a:t>***</a:t>
            </a:r>
          </a:p>
          <a:p>
            <a:endParaRPr lang="en-US" dirty="0"/>
          </a:p>
          <a:p>
            <a:r>
              <a:rPr lang="en-US" dirty="0"/>
              <a:t>### Step 3 — controlled concession</a:t>
            </a:r>
          </a:p>
          <a:p>
            <a:endParaRPr lang="en-US" dirty="0"/>
          </a:p>
          <a:p>
            <a:r>
              <a:rPr lang="en-US" dirty="0"/>
              <a:t>👉</a:t>
            </a:r>
          </a:p>
          <a:p>
            <a:endParaRPr lang="en-US" dirty="0"/>
          </a:p>
          <a:p>
            <a:r>
              <a:rPr lang="en-US" dirty="0"/>
              <a:t>&gt; “We can </a:t>
            </a:r>
            <a:r>
              <a:rPr lang="en-US" dirty="0" err="1"/>
              <a:t>optimise</a:t>
            </a:r>
            <a:r>
              <a:rPr lang="en-US" dirty="0"/>
              <a:t> pricing if we structure this as a multi-year engagement.”</a:t>
            </a:r>
          </a:p>
          <a:p>
            <a:endParaRPr lang="en-US" dirty="0"/>
          </a:p>
          <a:p>
            <a:r>
              <a:rPr lang="en-US" dirty="0"/>
              <a:t>***</a:t>
            </a:r>
          </a:p>
          <a:p>
            <a:endParaRPr lang="en-US" dirty="0"/>
          </a:p>
          <a:p>
            <a:r>
              <a:rPr lang="en-US" dirty="0"/>
              <a:t>✅ Keep price = value integrity</a:t>
            </a:r>
          </a:p>
          <a:p>
            <a:endParaRPr lang="en-US" dirty="0"/>
          </a:p>
          <a:p>
            <a:r>
              <a:rPr lang="en-US" dirty="0"/>
              <a:t>***</a:t>
            </a:r>
          </a:p>
          <a:p>
            <a:endParaRPr lang="en-US" dirty="0"/>
          </a:p>
          <a:p>
            <a:r>
              <a:rPr lang="en-US" dirty="0"/>
              <a:t># 📊 5. NEGOTIATION LEVERS (WHAT YOU CAN MOVE)</a:t>
            </a:r>
          </a:p>
          <a:p>
            <a:endParaRPr lang="en-US" dirty="0"/>
          </a:p>
          <a:p>
            <a:r>
              <a:rPr lang="en-US" dirty="0"/>
              <a:t>***</a:t>
            </a:r>
          </a:p>
          <a:p>
            <a:endParaRPr lang="en-US" dirty="0"/>
          </a:p>
          <a:p>
            <a:r>
              <a:rPr lang="en-US" dirty="0"/>
              <a:t>## Primary levers</a:t>
            </a:r>
          </a:p>
          <a:p>
            <a:endParaRPr lang="en-US" dirty="0"/>
          </a:p>
          <a:p>
            <a:r>
              <a:rPr lang="en-US" dirty="0"/>
              <a:t>### 1. Scope</a:t>
            </a:r>
          </a:p>
          <a:p>
            <a:endParaRPr lang="en-US" dirty="0"/>
          </a:p>
          <a:p>
            <a:r>
              <a:rPr lang="en-US" dirty="0"/>
              <a:t>* # contracts</a:t>
            </a:r>
          </a:p>
          <a:p>
            <a:r>
              <a:rPr lang="en-US" dirty="0"/>
              <a:t>* business units</a:t>
            </a:r>
          </a:p>
          <a:p>
            <a:r>
              <a:rPr lang="en-US" dirty="0"/>
              <a:t>* modules</a:t>
            </a:r>
          </a:p>
          <a:p>
            <a:endParaRPr lang="en-US" dirty="0"/>
          </a:p>
          <a:p>
            <a:r>
              <a:rPr lang="en-US" dirty="0"/>
              <a:t>***</a:t>
            </a:r>
          </a:p>
          <a:p>
            <a:endParaRPr lang="en-US" dirty="0"/>
          </a:p>
          <a:p>
            <a:r>
              <a:rPr lang="en-US" dirty="0"/>
              <a:t>### 2. Time</a:t>
            </a:r>
          </a:p>
          <a:p>
            <a:endParaRPr lang="en-US" dirty="0"/>
          </a:p>
          <a:p>
            <a:r>
              <a:rPr lang="en-US" dirty="0"/>
              <a:t>* pilot vs full rollout</a:t>
            </a:r>
          </a:p>
          <a:p>
            <a:r>
              <a:rPr lang="en-US" dirty="0"/>
              <a:t>* staged expansion</a:t>
            </a:r>
          </a:p>
          <a:p>
            <a:endParaRPr lang="en-US" dirty="0"/>
          </a:p>
          <a:p>
            <a:r>
              <a:rPr lang="en-US" dirty="0"/>
              <a:t>***</a:t>
            </a:r>
          </a:p>
          <a:p>
            <a:endParaRPr lang="en-US" dirty="0"/>
          </a:p>
          <a:p>
            <a:r>
              <a:rPr lang="en-US" dirty="0"/>
              <a:t>### 3. Integrations</a:t>
            </a:r>
          </a:p>
          <a:p>
            <a:endParaRPr lang="en-US" dirty="0"/>
          </a:p>
          <a:p>
            <a:r>
              <a:rPr lang="en-US" dirty="0"/>
              <a:t>* delay connectors = lower price</a:t>
            </a:r>
          </a:p>
          <a:p>
            <a:endParaRPr lang="en-US" dirty="0"/>
          </a:p>
          <a:p>
            <a:r>
              <a:rPr lang="en-US" dirty="0"/>
              <a:t>***</a:t>
            </a:r>
          </a:p>
          <a:p>
            <a:endParaRPr lang="en-US" dirty="0"/>
          </a:p>
          <a:p>
            <a:r>
              <a:rPr lang="en-US" dirty="0"/>
              <a:t>### 4. Commitment</a:t>
            </a:r>
          </a:p>
          <a:p>
            <a:endParaRPr lang="en-US" dirty="0"/>
          </a:p>
          <a:p>
            <a:r>
              <a:rPr lang="en-US" dirty="0"/>
              <a:t>* 1 year → higher price</a:t>
            </a:r>
          </a:p>
          <a:p>
            <a:r>
              <a:rPr lang="en-US" dirty="0"/>
              <a:t>* 3 year → lower price</a:t>
            </a:r>
          </a:p>
          <a:p>
            <a:endParaRPr lang="en-US" dirty="0"/>
          </a:p>
          <a:p>
            <a:r>
              <a:rPr lang="en-US" dirty="0"/>
              <a:t>***</a:t>
            </a:r>
          </a:p>
          <a:p>
            <a:endParaRPr lang="en-US" dirty="0"/>
          </a:p>
          <a:p>
            <a:r>
              <a:rPr lang="en-US" dirty="0"/>
              <a:t>✅ Never reduce “price per value”—only adjust scope</a:t>
            </a:r>
          </a:p>
          <a:p>
            <a:endParaRPr lang="en-US" dirty="0"/>
          </a:p>
          <a:p>
            <a:r>
              <a:rPr lang="en-US" dirty="0"/>
              <a:t>***</a:t>
            </a:r>
          </a:p>
          <a:p>
            <a:endParaRPr lang="en-US" dirty="0"/>
          </a:p>
          <a:p>
            <a:r>
              <a:rPr lang="en-US" dirty="0"/>
              <a:t># 🚀 6. CLOSING STRATEGY (VERY PRACTICAL)</a:t>
            </a:r>
          </a:p>
          <a:p>
            <a:endParaRPr lang="en-US" dirty="0"/>
          </a:p>
          <a:p>
            <a:r>
              <a:rPr lang="en-US" dirty="0"/>
              <a:t>***</a:t>
            </a:r>
          </a:p>
          <a:p>
            <a:endParaRPr lang="en-US" dirty="0"/>
          </a:p>
          <a:p>
            <a:r>
              <a:rPr lang="en-US" dirty="0"/>
              <a:t>## Step 1 — </a:t>
            </a:r>
            <a:r>
              <a:rPr lang="en-US" dirty="0" err="1"/>
              <a:t>summarise</a:t>
            </a:r>
            <a:r>
              <a:rPr lang="en-US" dirty="0"/>
              <a:t> value</a:t>
            </a:r>
          </a:p>
          <a:p>
            <a:endParaRPr lang="en-US" dirty="0"/>
          </a:p>
          <a:p>
            <a:r>
              <a:rPr lang="en-US" dirty="0"/>
              <a:t>👉</a:t>
            </a:r>
          </a:p>
          <a:p>
            <a:endParaRPr lang="en-US" dirty="0"/>
          </a:p>
          <a:p>
            <a:r>
              <a:rPr lang="en-US" dirty="0"/>
              <a:t>&gt; “We’ve identified €X risk / missed value.”</a:t>
            </a:r>
          </a:p>
          <a:p>
            <a:endParaRPr lang="en-US" dirty="0"/>
          </a:p>
          <a:p>
            <a:r>
              <a:rPr lang="en-US" dirty="0"/>
              <a:t>***</a:t>
            </a:r>
          </a:p>
          <a:p>
            <a:endParaRPr lang="en-US" dirty="0"/>
          </a:p>
          <a:p>
            <a:r>
              <a:rPr lang="en-US" dirty="0"/>
              <a:t>## Step 2 — restate ROI</a:t>
            </a:r>
          </a:p>
          <a:p>
            <a:endParaRPr lang="en-US" dirty="0"/>
          </a:p>
          <a:p>
            <a:r>
              <a:rPr lang="en-US" dirty="0"/>
              <a:t>&gt; “You invest €Y to recover €X.”</a:t>
            </a:r>
          </a:p>
          <a:p>
            <a:endParaRPr lang="en-US" dirty="0"/>
          </a:p>
          <a:p>
            <a:r>
              <a:rPr lang="en-US" dirty="0"/>
              <a:t>***</a:t>
            </a:r>
          </a:p>
          <a:p>
            <a:endParaRPr lang="en-US" dirty="0"/>
          </a:p>
          <a:p>
            <a:r>
              <a:rPr lang="en-US" dirty="0"/>
              <a:t>## Step 3 — reduce risk</a:t>
            </a:r>
          </a:p>
          <a:p>
            <a:endParaRPr lang="en-US" dirty="0"/>
          </a:p>
          <a:p>
            <a:r>
              <a:rPr lang="en-US" dirty="0"/>
              <a:t>&gt; “We start with a focused scope.”</a:t>
            </a:r>
          </a:p>
          <a:p>
            <a:endParaRPr lang="en-US" dirty="0"/>
          </a:p>
          <a:p>
            <a:r>
              <a:rPr lang="en-US" dirty="0"/>
              <a:t>***</a:t>
            </a:r>
          </a:p>
          <a:p>
            <a:endParaRPr lang="en-US" dirty="0"/>
          </a:p>
          <a:p>
            <a:r>
              <a:rPr lang="en-US" dirty="0"/>
              <a:t>## Step 4 — call to action</a:t>
            </a:r>
          </a:p>
          <a:p>
            <a:endParaRPr lang="en-US" dirty="0"/>
          </a:p>
          <a:p>
            <a:r>
              <a:rPr lang="en-US" dirty="0"/>
              <a:t>👉</a:t>
            </a:r>
          </a:p>
          <a:p>
            <a:endParaRPr lang="en-US" dirty="0"/>
          </a:p>
          <a:p>
            <a:r>
              <a:rPr lang="en-US" dirty="0"/>
              <a:t>&gt; “The only real decision is:  </a:t>
            </a:r>
          </a:p>
          <a:p>
            <a:r>
              <a:rPr lang="en-US" dirty="0"/>
              <a:t>&gt; do you want visibility into this value now or next year?”</a:t>
            </a:r>
          </a:p>
          <a:p>
            <a:endParaRPr lang="en-US" dirty="0"/>
          </a:p>
          <a:p>
            <a:r>
              <a:rPr lang="en-US" dirty="0"/>
              <a:t>***</a:t>
            </a:r>
          </a:p>
          <a:p>
            <a:endParaRPr lang="en-US" dirty="0"/>
          </a:p>
          <a:p>
            <a:r>
              <a:rPr lang="en-US" dirty="0"/>
              <a:t>✅ Make delay the real cost</a:t>
            </a:r>
          </a:p>
          <a:p>
            <a:endParaRPr lang="en-US" dirty="0"/>
          </a:p>
          <a:p>
            <a:r>
              <a:rPr lang="en-US" dirty="0"/>
              <a:t>***</a:t>
            </a:r>
          </a:p>
          <a:p>
            <a:endParaRPr lang="en-US" dirty="0"/>
          </a:p>
          <a:p>
            <a:r>
              <a:rPr lang="en-US" dirty="0"/>
              <a:t># 🧾 7. IDEAL DEAL STRUCTURE (WHAT YOU AIM FOR)</a:t>
            </a:r>
          </a:p>
          <a:p>
            <a:endParaRPr lang="en-US" dirty="0"/>
          </a:p>
          <a:p>
            <a:r>
              <a:rPr lang="en-US" dirty="0"/>
              <a:t>***</a:t>
            </a:r>
          </a:p>
          <a:p>
            <a:endParaRPr lang="en-US" dirty="0"/>
          </a:p>
          <a:p>
            <a:r>
              <a:rPr lang="en-US" dirty="0"/>
              <a:t>## Mid-enterprise (target deal)</a:t>
            </a:r>
          </a:p>
          <a:p>
            <a:endParaRPr lang="en-US" dirty="0"/>
          </a:p>
          <a:p>
            <a:r>
              <a:rPr lang="en-US" dirty="0"/>
              <a:t>* Base fee: €80k</a:t>
            </a:r>
          </a:p>
          <a:p>
            <a:r>
              <a:rPr lang="en-US" dirty="0"/>
              <a:t>* Connectors: €30k</a:t>
            </a:r>
          </a:p>
          <a:p>
            <a:r>
              <a:rPr lang="en-US" dirty="0"/>
              <a:t>* Implementation: €40k</a:t>
            </a:r>
          </a:p>
          <a:p>
            <a:endParaRPr lang="en-US" dirty="0"/>
          </a:p>
          <a:p>
            <a:r>
              <a:rPr lang="en-US" dirty="0"/>
              <a:t>👉 **Total year 1: €150k**</a:t>
            </a:r>
          </a:p>
          <a:p>
            <a:endParaRPr lang="en-US" dirty="0"/>
          </a:p>
          <a:p>
            <a:r>
              <a:rPr lang="en-US" dirty="0"/>
              <a:t>***</a:t>
            </a:r>
          </a:p>
          <a:p>
            <a:endParaRPr lang="en-US" dirty="0"/>
          </a:p>
          <a:p>
            <a:r>
              <a:rPr lang="en-US" dirty="0"/>
              <a:t>## Enterprise (target deal)</a:t>
            </a:r>
          </a:p>
          <a:p>
            <a:endParaRPr lang="en-US" dirty="0"/>
          </a:p>
          <a:p>
            <a:r>
              <a:rPr lang="en-US" dirty="0"/>
              <a:t>* Base: €150k–€250k</a:t>
            </a:r>
          </a:p>
          <a:p>
            <a:r>
              <a:rPr lang="en-US" dirty="0"/>
              <a:t>* Connectors: €50k</a:t>
            </a:r>
          </a:p>
          <a:p>
            <a:r>
              <a:rPr lang="en-US" dirty="0"/>
              <a:t>* Implementation: €80k</a:t>
            </a:r>
          </a:p>
          <a:p>
            <a:endParaRPr lang="en-US" dirty="0"/>
          </a:p>
          <a:p>
            <a:r>
              <a:rPr lang="en-US" dirty="0"/>
              <a:t>👉 **€280k–€380k**</a:t>
            </a:r>
          </a:p>
          <a:p>
            <a:endParaRPr lang="en-US" dirty="0"/>
          </a:p>
          <a:p>
            <a:r>
              <a:rPr lang="en-US" dirty="0"/>
              <a:t>***</a:t>
            </a:r>
          </a:p>
          <a:p>
            <a:endParaRPr lang="en-US" dirty="0"/>
          </a:p>
          <a:p>
            <a:r>
              <a:rPr lang="en-US" dirty="0"/>
              <a:t>✅ Every deal must show:</a:t>
            </a:r>
          </a:p>
          <a:p>
            <a:endParaRPr lang="en-US" dirty="0"/>
          </a:p>
          <a:p>
            <a:r>
              <a:rPr lang="en-US" dirty="0"/>
              <a:t>* **&gt;10× ROI narrative**</a:t>
            </a:r>
          </a:p>
          <a:p>
            <a:endParaRPr lang="en-US" dirty="0"/>
          </a:p>
          <a:p>
            <a:r>
              <a:rPr lang="en-US" dirty="0"/>
              <a:t>***</a:t>
            </a:r>
          </a:p>
          <a:p>
            <a:endParaRPr lang="en-US" dirty="0"/>
          </a:p>
          <a:p>
            <a:r>
              <a:rPr lang="en-US" dirty="0"/>
              <a:t># 🔥 8. YOUR ADVANTAGE (VERY IMPORTANT)</a:t>
            </a:r>
          </a:p>
          <a:p>
            <a:endParaRPr lang="en-US" dirty="0"/>
          </a:p>
          <a:p>
            <a:r>
              <a:rPr lang="en-US" dirty="0"/>
              <a:t>This product has one uncommon strength:</a:t>
            </a:r>
          </a:p>
          <a:p>
            <a:endParaRPr lang="en-US" dirty="0"/>
          </a:p>
          <a:p>
            <a:r>
              <a:rPr lang="en-US" dirty="0"/>
              <a:t>👉 You can quantify **money lost**</a:t>
            </a:r>
          </a:p>
          <a:p>
            <a:endParaRPr lang="en-US" dirty="0"/>
          </a:p>
          <a:p>
            <a:r>
              <a:rPr lang="en-US" dirty="0"/>
              <a:t>Most SaaS cannot.</a:t>
            </a:r>
          </a:p>
          <a:p>
            <a:endParaRPr lang="en-US" dirty="0"/>
          </a:p>
          <a:p>
            <a:r>
              <a:rPr lang="en-US" dirty="0"/>
              <a:t>***</a:t>
            </a:r>
          </a:p>
          <a:p>
            <a:endParaRPr lang="en-US" dirty="0"/>
          </a:p>
          <a:p>
            <a:r>
              <a:rPr lang="en-US" dirty="0"/>
              <a:t>## Use that ruthlessly:</a:t>
            </a:r>
          </a:p>
          <a:p>
            <a:endParaRPr lang="en-US" dirty="0"/>
          </a:p>
          <a:p>
            <a:r>
              <a:rPr lang="en-US" dirty="0"/>
              <a:t>* “€ missed”</a:t>
            </a:r>
          </a:p>
          <a:p>
            <a:r>
              <a:rPr lang="en-US" dirty="0"/>
              <a:t>* “€ unclaimed”</a:t>
            </a:r>
          </a:p>
          <a:p>
            <a:r>
              <a:rPr lang="en-US" dirty="0"/>
              <a:t>* “€ at risk”</a:t>
            </a:r>
          </a:p>
          <a:p>
            <a:endParaRPr lang="en-US" dirty="0"/>
          </a:p>
          <a:p>
            <a:r>
              <a:rPr lang="en-US" dirty="0"/>
              <a:t>***</a:t>
            </a:r>
          </a:p>
          <a:p>
            <a:endParaRPr lang="en-US" dirty="0"/>
          </a:p>
          <a:p>
            <a:r>
              <a:rPr lang="en-US" dirty="0"/>
              <a:t>👉 CFOs don’t buy software  </a:t>
            </a:r>
          </a:p>
          <a:p>
            <a:r>
              <a:rPr lang="en-US" dirty="0"/>
              <a:t>👉 They fix **financial leakage**</a:t>
            </a:r>
          </a:p>
          <a:p>
            <a:endParaRPr lang="en-US" dirty="0"/>
          </a:p>
          <a:p>
            <a:r>
              <a:rPr lang="en-US" dirty="0"/>
              <a:t>***</a:t>
            </a:r>
          </a:p>
          <a:p>
            <a:endParaRPr lang="en-US" dirty="0"/>
          </a:p>
          <a:p>
            <a:r>
              <a:rPr lang="en-US" dirty="0"/>
              <a:t># 🧠 Final one-line playbook</a:t>
            </a:r>
          </a:p>
          <a:p>
            <a:endParaRPr lang="en-US" dirty="0"/>
          </a:p>
          <a:p>
            <a:r>
              <a:rPr lang="en-US" dirty="0"/>
              <a:t>👉  </a:t>
            </a:r>
          </a:p>
          <a:p>
            <a:r>
              <a:rPr lang="en-US" dirty="0"/>
              <a:t>**“Anchor every negotiation on recoverable € value, frame price as a fraction of that, and never let the discussion drift back to software pricing.”**</a:t>
            </a:r>
          </a:p>
          <a:p>
            <a:endParaRPr lang="en-US" dirty="0"/>
          </a:p>
          <a:p>
            <a:r>
              <a:rPr lang="en-US" dirty="0"/>
              <a:t>***</a:t>
            </a:r>
          </a:p>
          <a:p>
            <a:endParaRPr lang="en-US" dirty="0"/>
          </a:p>
          <a:p>
            <a:r>
              <a:rPr lang="en-US" dirty="0"/>
              <a:t># 💡 If you want next (very powerful for you)</a:t>
            </a:r>
          </a:p>
          <a:p>
            <a:endParaRPr lang="en-US" dirty="0"/>
          </a:p>
          <a:p>
            <a:r>
              <a:rPr lang="en-US" dirty="0"/>
              <a:t>I can build:</a:t>
            </a:r>
          </a:p>
          <a:p>
            <a:endParaRPr lang="en-US" dirty="0"/>
          </a:p>
          <a:p>
            <a:r>
              <a:rPr lang="en-US" dirty="0"/>
              <a:t>✅ a **live CFO pitch deck (10 slides)**  </a:t>
            </a:r>
          </a:p>
          <a:p>
            <a:r>
              <a:rPr lang="en-US" dirty="0"/>
              <a:t>✅ a **value calculator you can actually use in meetings**  </a:t>
            </a:r>
          </a:p>
          <a:p>
            <a:r>
              <a:rPr lang="en-US" dirty="0"/>
              <a:t>✅ or a **scripted negotiation dialogue (real conversation simulation)**</a:t>
            </a:r>
          </a:p>
          <a:p>
            <a:endParaRPr lang="en-US" dirty="0"/>
          </a:p>
          <a:p>
            <a:r>
              <a:rPr lang="en-US" dirty="0"/>
              <a:t>Just tell me 👍</a:t>
            </a:r>
          </a:p>
        </p:txBody>
      </p:sp>
    </p:spTree>
    <p:extLst>
      <p:ext uri="{BB962C8B-B14F-4D97-AF65-F5344CB8AC3E}">
        <p14:creationId xmlns:p14="http://schemas.microsoft.com/office/powerpoint/2010/main" val="3215696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429B7-C325-7C85-09B0-5CF577A5CF5C}"/>
              </a:ext>
            </a:extLst>
          </p:cNvPr>
          <p:cNvSpPr>
            <a:spLocks noGrp="1"/>
          </p:cNvSpPr>
          <p:nvPr>
            <p:ph type="title"/>
          </p:nvPr>
        </p:nvSpPr>
        <p:spPr/>
        <p:txBody>
          <a:bodyPr/>
          <a:lstStyle/>
          <a:p>
            <a:r>
              <a:rPr lang="en-GB" dirty="0"/>
              <a:t>Value calculator</a:t>
            </a:r>
          </a:p>
        </p:txBody>
      </p:sp>
      <p:sp>
        <p:nvSpPr>
          <p:cNvPr id="3" name="TextBox 2">
            <a:extLst>
              <a:ext uri="{FF2B5EF4-FFF2-40B4-BE49-F238E27FC236}">
                <a16:creationId xmlns:a16="http://schemas.microsoft.com/office/drawing/2014/main" id="{ABB94DEA-1130-4976-AF60-58F43884E358}"/>
              </a:ext>
            </a:extLst>
          </p:cNvPr>
          <p:cNvSpPr txBox="1"/>
          <p:nvPr/>
        </p:nvSpPr>
        <p:spPr>
          <a:xfrm>
            <a:off x="685800" y="1665288"/>
            <a:ext cx="10515600" cy="117816868"/>
          </a:xfrm>
          <a:prstGeom prst="rect">
            <a:avLst/>
          </a:prstGeom>
          <a:solidFill>
            <a:schemeClr val="bg1"/>
          </a:solidFill>
        </p:spPr>
        <p:txBody>
          <a:bodyPr wrap="square" rtlCol="0">
            <a:spAutoFit/>
          </a:bodyPr>
          <a:lstStyle/>
          <a:p>
            <a:r>
              <a:rPr lang="en-US" dirty="0"/>
              <a:t>Absolutely — below is a **meeting-ready value calculator** you can use live with a CFO, procurement lead, or GC during a commercial discussion.</a:t>
            </a:r>
          </a:p>
          <a:p>
            <a:endParaRPr lang="en-US" dirty="0"/>
          </a:p>
          <a:p>
            <a:r>
              <a:rPr lang="en-US" dirty="0"/>
              <a:t>I’ve designed it so you can:</a:t>
            </a:r>
          </a:p>
          <a:p>
            <a:endParaRPr lang="en-US" dirty="0"/>
          </a:p>
          <a:p>
            <a:r>
              <a:rPr lang="en-US" dirty="0"/>
              <a:t>1. **estimate recoverable value quickly in a meeting**,</a:t>
            </a:r>
          </a:p>
          <a:p>
            <a:r>
              <a:rPr lang="en-US" dirty="0"/>
              <a:t>2. **translate that into ROI**, and</a:t>
            </a:r>
          </a:p>
          <a:p>
            <a:r>
              <a:rPr lang="en-US" dirty="0"/>
              <a:t>3. **defend pricing without drifting into feature talk**.</a:t>
            </a:r>
          </a:p>
          <a:p>
            <a:endParaRPr lang="en-US" dirty="0"/>
          </a:p>
          <a:p>
            <a:r>
              <a:rPr lang="en-US" dirty="0"/>
              <a:t>I’m grounding the baseline assumptions only on what we explicitly have from the webpage and web results:</a:t>
            </a:r>
          </a:p>
          <a:p>
            <a:endParaRPr lang="en-US" dirty="0"/>
          </a:p>
          <a:p>
            <a:r>
              <a:rPr lang="en-US" dirty="0"/>
              <a:t>* average contract value leakage of roughly **8–11%** [\[</a:t>
            </a:r>
            <a:r>
              <a:rPr lang="en-US" dirty="0" err="1"/>
              <a:t>topbusines</a:t>
            </a:r>
            <a:r>
              <a:rPr lang="en-US" dirty="0"/>
              <a:t>...ftware.com\]](https://topbusinesssoftware.com/categories/contract-lifecycle-management-clm/saas/), [\[guideflow.com\]](https://www.guideflow.com/blog/best-contract-lifecycle-management-software)</a:t>
            </a:r>
          </a:p>
          <a:p>
            <a:r>
              <a:rPr lang="en-US" dirty="0"/>
              <a:t>* around **30–40% of identified leakage can be closed under active management** [\[</a:t>
            </a:r>
            <a:r>
              <a:rPr lang="en-US" dirty="0" err="1"/>
              <a:t>topbusines</a:t>
            </a:r>
            <a:r>
              <a:rPr lang="en-US" dirty="0"/>
              <a:t>...ftware.com\]](https://topbusinesssoftware.com/categories/contract-lifecycle-management-clm/saas/)</a:t>
            </a:r>
          </a:p>
          <a:p>
            <a:r>
              <a:rPr lang="en-US" dirty="0"/>
              <a:t>* CLM buyers often face meaningful first-year total cost once implementation and integrations are included, so a calculator must separate subscription from implementation and connector costs [\[</a:t>
            </a:r>
            <a:r>
              <a:rPr lang="en-US" dirty="0" err="1"/>
              <a:t>concord.app</a:t>
            </a:r>
            <a:r>
              <a:rPr lang="en-US" dirty="0"/>
              <a:t>\]](https://www.concord.app/blog/clm-pricing-exposed-real-costs-hidden-fees-vendor-quotes), [\[hyperstart.com\]](https://www.hyperstart.com/blog/contract-management-software-pricing/)</a:t>
            </a:r>
          </a:p>
          <a:p>
            <a:endParaRPr lang="en-US" dirty="0"/>
          </a:p>
          <a:p>
            <a:r>
              <a:rPr lang="en-US" dirty="0"/>
              <a:t>***</a:t>
            </a:r>
          </a:p>
          <a:p>
            <a:endParaRPr lang="en-US" dirty="0"/>
          </a:p>
          <a:p>
            <a:r>
              <a:rPr lang="en-US" dirty="0"/>
              <a:t># CFO value calculator for meetings</a:t>
            </a:r>
          </a:p>
          <a:p>
            <a:endParaRPr lang="en-US" dirty="0"/>
          </a:p>
          <a:p>
            <a:r>
              <a:rPr lang="en-US" dirty="0"/>
              <a:t>## 1) The purpose of the calculator</a:t>
            </a:r>
          </a:p>
          <a:p>
            <a:endParaRPr lang="en-US" dirty="0"/>
          </a:p>
          <a:p>
            <a:r>
              <a:rPr lang="en-US" dirty="0"/>
              <a:t>Use this calculator to answer one question:</a:t>
            </a:r>
          </a:p>
          <a:p>
            <a:endParaRPr lang="en-US" dirty="0"/>
          </a:p>
          <a:p>
            <a:r>
              <a:rPr lang="en-US" dirty="0"/>
              <a:t>&gt; **“If we apply </a:t>
            </a:r>
            <a:r>
              <a:rPr lang="en-US" dirty="0" err="1"/>
              <a:t>Evaluetor</a:t>
            </a:r>
            <a:r>
              <a:rPr lang="en-US" dirty="0"/>
              <a:t> to your contract portfolio, what is the likely financial upside versus the investment?”**</a:t>
            </a:r>
          </a:p>
          <a:p>
            <a:endParaRPr lang="en-US" dirty="0"/>
          </a:p>
          <a:p>
            <a:r>
              <a:rPr lang="en-US" dirty="0"/>
              <a:t>This is the formula you want in the room:</a:t>
            </a:r>
          </a:p>
          <a:p>
            <a:endParaRPr lang="en-US" dirty="0"/>
          </a:p>
          <a:p>
            <a:r>
              <a:rPr lang="en-US" dirty="0"/>
              <a:t>* **Contract value under management**</a:t>
            </a:r>
          </a:p>
          <a:p>
            <a:r>
              <a:rPr lang="en-US" dirty="0"/>
              <a:t>* × **estimated leakage**</a:t>
            </a:r>
          </a:p>
          <a:p>
            <a:r>
              <a:rPr lang="en-US" dirty="0"/>
              <a:t>* × **recoverable share**</a:t>
            </a:r>
          </a:p>
          <a:p>
            <a:r>
              <a:rPr lang="en-US" dirty="0"/>
              <a:t>* \= **recoverable € value**</a:t>
            </a:r>
          </a:p>
          <a:p>
            <a:r>
              <a:rPr lang="en-US" dirty="0"/>
              <a:t>* minus **investment**</a:t>
            </a:r>
          </a:p>
          <a:p>
            <a:r>
              <a:rPr lang="en-US" dirty="0"/>
              <a:t>* \= **net value**</a:t>
            </a:r>
          </a:p>
          <a:p>
            <a:r>
              <a:rPr lang="en-US" dirty="0"/>
              <a:t>* and therefore **ROI multiple**</a:t>
            </a:r>
          </a:p>
          <a:p>
            <a:endParaRPr lang="en-US" dirty="0"/>
          </a:p>
          <a:p>
            <a:r>
              <a:rPr lang="en-US" dirty="0"/>
              <a:t>The webpage’s core commercial thesis is that contract value is lost after signature and that the main leakage happens during execution rather than negotiation. [\[</a:t>
            </a:r>
            <a:r>
              <a:rPr lang="en-US" dirty="0" err="1"/>
              <a:t>topbusines</a:t>
            </a:r>
            <a:r>
              <a:rPr lang="en-US" dirty="0"/>
              <a:t>...ftware.com\]](https://topbusinesssoftware.com/categories/contract-lifecycle-management-clm/saas/)</a:t>
            </a:r>
          </a:p>
          <a:p>
            <a:endParaRPr lang="en-US" dirty="0"/>
          </a:p>
          <a:p>
            <a:r>
              <a:rPr lang="en-US" dirty="0"/>
              <a:t>***</a:t>
            </a:r>
          </a:p>
          <a:p>
            <a:endParaRPr lang="en-US" dirty="0"/>
          </a:p>
          <a:p>
            <a:r>
              <a:rPr lang="en-US" dirty="0"/>
              <a:t># 2) The calculator inputs</a:t>
            </a:r>
          </a:p>
          <a:p>
            <a:endParaRPr lang="en-US" dirty="0"/>
          </a:p>
          <a:p>
            <a:r>
              <a:rPr lang="en-US" dirty="0"/>
              <a:t>## A. Required inputs</a:t>
            </a:r>
          </a:p>
          <a:p>
            <a:endParaRPr lang="en-US" dirty="0"/>
          </a:p>
          <a:p>
            <a:r>
              <a:rPr lang="en-US" dirty="0"/>
              <a:t>### 1. Annual contract value under management (ACVUM)</a:t>
            </a:r>
          </a:p>
          <a:p>
            <a:endParaRPr lang="en-US" dirty="0"/>
          </a:p>
          <a:p>
            <a:r>
              <a:rPr lang="en-US" dirty="0"/>
              <a:t>This is the total annual value of the relevant contract portfolio.</a:t>
            </a:r>
          </a:p>
          <a:p>
            <a:endParaRPr lang="en-US" dirty="0"/>
          </a:p>
          <a:p>
            <a:r>
              <a:rPr lang="en-US" dirty="0"/>
              <a:t>**Ask in the meeting:**</a:t>
            </a:r>
          </a:p>
          <a:p>
            <a:endParaRPr lang="en-US" dirty="0"/>
          </a:p>
          <a:p>
            <a:r>
              <a:rPr lang="en-US" dirty="0"/>
              <a:t>* “What is the annual value of the supplier/customer contracts you want visibility on?”</a:t>
            </a:r>
          </a:p>
          <a:p>
            <a:endParaRPr lang="en-US" dirty="0"/>
          </a:p>
          <a:p>
            <a:r>
              <a:rPr lang="en-US" dirty="0"/>
              <a:t>Examples:</a:t>
            </a:r>
          </a:p>
          <a:p>
            <a:endParaRPr lang="en-US" dirty="0"/>
          </a:p>
          <a:p>
            <a:r>
              <a:rPr lang="en-US" dirty="0"/>
              <a:t>* €20M</a:t>
            </a:r>
          </a:p>
          <a:p>
            <a:r>
              <a:rPr lang="en-US" dirty="0"/>
              <a:t>* €50M</a:t>
            </a:r>
          </a:p>
          <a:p>
            <a:r>
              <a:rPr lang="en-US" dirty="0"/>
              <a:t>* €150M</a:t>
            </a:r>
          </a:p>
          <a:p>
            <a:endParaRPr lang="en-US" dirty="0"/>
          </a:p>
          <a:p>
            <a:r>
              <a:rPr lang="en-US" dirty="0"/>
              <a:t>***</a:t>
            </a:r>
          </a:p>
          <a:p>
            <a:endParaRPr lang="en-US" dirty="0"/>
          </a:p>
          <a:p>
            <a:r>
              <a:rPr lang="en-US" dirty="0"/>
              <a:t>### 2. Leakage assumption</a:t>
            </a:r>
          </a:p>
          <a:p>
            <a:endParaRPr lang="en-US" dirty="0"/>
          </a:p>
          <a:p>
            <a:r>
              <a:rPr lang="en-US" dirty="0"/>
              <a:t>Use a conservative default range of **8–11%**. [\[</a:t>
            </a:r>
            <a:r>
              <a:rPr lang="en-US" dirty="0" err="1"/>
              <a:t>topbusines</a:t>
            </a:r>
            <a:r>
              <a:rPr lang="en-US" dirty="0"/>
              <a:t>...ftware.com\]](https://topbusinesssoftware.com/categories/contract-lifecycle-management-clm/saas/), [\[guideflow.com\]](https://www.guideflow.com/blog/best-contract-lifecycle-management-software)</a:t>
            </a:r>
          </a:p>
          <a:p>
            <a:endParaRPr lang="en-US" dirty="0"/>
          </a:p>
          <a:p>
            <a:r>
              <a:rPr lang="en-US" dirty="0"/>
              <a:t>**Suggested meeting default:**</a:t>
            </a:r>
          </a:p>
          <a:p>
            <a:endParaRPr lang="en-US" dirty="0"/>
          </a:p>
          <a:p>
            <a:r>
              <a:rPr lang="en-US" dirty="0"/>
              <a:t>* Low case: **8%**</a:t>
            </a:r>
          </a:p>
          <a:p>
            <a:r>
              <a:rPr lang="en-US" dirty="0"/>
              <a:t>* Base case: **9%**</a:t>
            </a:r>
          </a:p>
          <a:p>
            <a:r>
              <a:rPr lang="en-US" dirty="0"/>
              <a:t>* High case: **11%**</a:t>
            </a:r>
          </a:p>
          <a:p>
            <a:endParaRPr lang="en-US" dirty="0"/>
          </a:p>
          <a:p>
            <a:r>
              <a:rPr lang="en-US" dirty="0"/>
              <a:t>***</a:t>
            </a:r>
          </a:p>
          <a:p>
            <a:endParaRPr lang="en-US" dirty="0"/>
          </a:p>
          <a:p>
            <a:r>
              <a:rPr lang="en-US" dirty="0"/>
              <a:t>### 3. Recoverable share</a:t>
            </a:r>
          </a:p>
          <a:p>
            <a:endParaRPr lang="en-US" dirty="0"/>
          </a:p>
          <a:p>
            <a:r>
              <a:rPr lang="en-US" dirty="0"/>
              <a:t>Use **30–40%** of identified leakage as the recovery assumption. [\[</a:t>
            </a:r>
            <a:r>
              <a:rPr lang="en-US" dirty="0" err="1"/>
              <a:t>topbusines</a:t>
            </a:r>
            <a:r>
              <a:rPr lang="en-US" dirty="0"/>
              <a:t>...ftware.com\]](https://topbusinesssoftware.com/categories/contract-lifecycle-management-clm/saas/)</a:t>
            </a:r>
          </a:p>
          <a:p>
            <a:endParaRPr lang="en-US" dirty="0"/>
          </a:p>
          <a:p>
            <a:r>
              <a:rPr lang="en-US" dirty="0"/>
              <a:t>**Suggested meeting default:**</a:t>
            </a:r>
          </a:p>
          <a:p>
            <a:endParaRPr lang="en-US" dirty="0"/>
          </a:p>
          <a:p>
            <a:r>
              <a:rPr lang="en-US" dirty="0"/>
              <a:t>* Low case: **30%**</a:t>
            </a:r>
          </a:p>
          <a:p>
            <a:r>
              <a:rPr lang="en-US" dirty="0"/>
              <a:t>* Base case: **35%**</a:t>
            </a:r>
          </a:p>
          <a:p>
            <a:r>
              <a:rPr lang="en-US" dirty="0"/>
              <a:t>* High case: **40%**</a:t>
            </a:r>
          </a:p>
          <a:p>
            <a:endParaRPr lang="en-US" dirty="0"/>
          </a:p>
          <a:p>
            <a:r>
              <a:rPr lang="en-US" dirty="0"/>
              <a:t>***</a:t>
            </a:r>
          </a:p>
          <a:p>
            <a:endParaRPr lang="en-US" dirty="0"/>
          </a:p>
          <a:p>
            <a:r>
              <a:rPr lang="en-US" dirty="0"/>
              <a:t>### 4. </a:t>
            </a:r>
            <a:r>
              <a:rPr lang="en-US" dirty="0" err="1"/>
              <a:t>Evaluetor</a:t>
            </a:r>
            <a:r>
              <a:rPr lang="en-US" dirty="0"/>
              <a:t> commercial investment</a:t>
            </a:r>
          </a:p>
          <a:p>
            <a:endParaRPr lang="en-US" dirty="0"/>
          </a:p>
          <a:p>
            <a:r>
              <a:rPr lang="en-US" dirty="0"/>
              <a:t>Split this into three lines, because enterprise buyers think this way and web sources show total cost often includes software plus onboarding/integrations. [\[</a:t>
            </a:r>
            <a:r>
              <a:rPr lang="en-US" dirty="0" err="1"/>
              <a:t>concord.app</a:t>
            </a:r>
            <a:r>
              <a:rPr lang="en-US" dirty="0"/>
              <a:t>\]](https://www.concord.app/blog/clm-pricing-exposed-real-costs-hidden-fees-vendor-quotes), [\[hyperstart.com\]](https://www.hyperstart.com/blog/contract-management-software-pricing/)</a:t>
            </a:r>
          </a:p>
          <a:p>
            <a:endParaRPr lang="en-US" dirty="0"/>
          </a:p>
          <a:p>
            <a:r>
              <a:rPr lang="en-US" dirty="0"/>
              <a:t>Use:</a:t>
            </a:r>
          </a:p>
          <a:p>
            <a:endParaRPr lang="en-US" dirty="0"/>
          </a:p>
          <a:p>
            <a:r>
              <a:rPr lang="en-US" dirty="0"/>
              <a:t>* **Annual platform fee**</a:t>
            </a:r>
          </a:p>
          <a:p>
            <a:r>
              <a:rPr lang="en-US" dirty="0"/>
              <a:t>* **Implementation fee (year 1 only)**</a:t>
            </a:r>
          </a:p>
          <a:p>
            <a:r>
              <a:rPr lang="en-US" dirty="0"/>
              <a:t>* **Connector/integration fees**</a:t>
            </a:r>
          </a:p>
          <a:p>
            <a:endParaRPr lang="en-US" dirty="0"/>
          </a:p>
          <a:p>
            <a:r>
              <a:rPr lang="en-US" dirty="0"/>
              <a:t>***</a:t>
            </a:r>
          </a:p>
          <a:p>
            <a:endParaRPr lang="en-US" dirty="0"/>
          </a:p>
          <a:p>
            <a:r>
              <a:rPr lang="en-US" dirty="0"/>
              <a:t># 3) Core formula</a:t>
            </a:r>
          </a:p>
          <a:p>
            <a:endParaRPr lang="en-US" dirty="0"/>
          </a:p>
          <a:p>
            <a:r>
              <a:rPr lang="en-US" dirty="0"/>
              <a:t>## Formula 1 — Leakage value</a:t>
            </a:r>
          </a:p>
          <a:p>
            <a:endParaRPr lang="en-US" dirty="0"/>
          </a:p>
          <a:p>
            <a:r>
              <a:rPr lang="en-US" dirty="0"/>
              <a:t>```text</a:t>
            </a:r>
          </a:p>
          <a:p>
            <a:r>
              <a:rPr lang="en-US" dirty="0"/>
              <a:t>Leakage Value = Annual Contract Value × Leakage %</a:t>
            </a:r>
          </a:p>
          <a:p>
            <a:r>
              <a:rPr lang="en-US" dirty="0"/>
              <a:t>```</a:t>
            </a:r>
          </a:p>
          <a:p>
            <a:endParaRPr lang="en-US" dirty="0"/>
          </a:p>
          <a:p>
            <a:r>
              <a:rPr lang="en-US" dirty="0"/>
              <a:t>## Formula 2 — Recoverable value</a:t>
            </a:r>
          </a:p>
          <a:p>
            <a:endParaRPr lang="en-US" dirty="0"/>
          </a:p>
          <a:p>
            <a:r>
              <a:rPr lang="en-US" dirty="0"/>
              <a:t>```text</a:t>
            </a:r>
          </a:p>
          <a:p>
            <a:r>
              <a:rPr lang="en-US" dirty="0"/>
              <a:t>Recoverable Value = Leakage Value × Recoverable %</a:t>
            </a:r>
          </a:p>
          <a:p>
            <a:r>
              <a:rPr lang="en-US" dirty="0"/>
              <a:t>```</a:t>
            </a:r>
          </a:p>
          <a:p>
            <a:endParaRPr lang="en-US" dirty="0"/>
          </a:p>
          <a:p>
            <a:r>
              <a:rPr lang="en-US" dirty="0"/>
              <a:t>## Formula 3 — Year 1 total investment</a:t>
            </a:r>
          </a:p>
          <a:p>
            <a:endParaRPr lang="en-US" dirty="0"/>
          </a:p>
          <a:p>
            <a:r>
              <a:rPr lang="en-US" dirty="0"/>
              <a:t>```text</a:t>
            </a:r>
          </a:p>
          <a:p>
            <a:r>
              <a:rPr lang="en-US" dirty="0"/>
              <a:t>Year 1 Investment = Platform Fee + Implementation Fee + Connector Fees</a:t>
            </a:r>
          </a:p>
          <a:p>
            <a:r>
              <a:rPr lang="en-US" dirty="0"/>
              <a:t>```</a:t>
            </a:r>
          </a:p>
          <a:p>
            <a:endParaRPr lang="en-US" dirty="0"/>
          </a:p>
          <a:p>
            <a:r>
              <a:rPr lang="en-US" dirty="0"/>
              <a:t>## Formula 4 — Net year 1 value</a:t>
            </a:r>
          </a:p>
          <a:p>
            <a:endParaRPr lang="en-US" dirty="0"/>
          </a:p>
          <a:p>
            <a:r>
              <a:rPr lang="en-US" dirty="0"/>
              <a:t>```text</a:t>
            </a:r>
          </a:p>
          <a:p>
            <a:r>
              <a:rPr lang="en-US" dirty="0"/>
              <a:t>Net Year 1 Value = Recoverable Value - Year 1 Investment</a:t>
            </a:r>
          </a:p>
          <a:p>
            <a:r>
              <a:rPr lang="en-US" dirty="0"/>
              <a:t>```</a:t>
            </a:r>
          </a:p>
          <a:p>
            <a:endParaRPr lang="en-US" dirty="0"/>
          </a:p>
          <a:p>
            <a:r>
              <a:rPr lang="en-US" dirty="0"/>
              <a:t>## Formula 5 — ROI multiple</a:t>
            </a:r>
          </a:p>
          <a:p>
            <a:endParaRPr lang="en-US" dirty="0"/>
          </a:p>
          <a:p>
            <a:r>
              <a:rPr lang="en-US" dirty="0"/>
              <a:t>```text</a:t>
            </a:r>
          </a:p>
          <a:p>
            <a:r>
              <a:rPr lang="en-US" dirty="0"/>
              <a:t>ROI Multiple = Recoverable Value ÷ Year 1 Investment</a:t>
            </a:r>
          </a:p>
          <a:p>
            <a:r>
              <a:rPr lang="en-US" dirty="0"/>
              <a:t>```</a:t>
            </a:r>
          </a:p>
          <a:p>
            <a:endParaRPr lang="en-US" dirty="0"/>
          </a:p>
          <a:p>
            <a:r>
              <a:rPr lang="en-US" dirty="0"/>
              <a:t>## Formula 6 — Payback ratio</a:t>
            </a:r>
          </a:p>
          <a:p>
            <a:endParaRPr lang="en-US" dirty="0"/>
          </a:p>
          <a:p>
            <a:r>
              <a:rPr lang="en-US" dirty="0"/>
              <a:t>```text</a:t>
            </a:r>
          </a:p>
          <a:p>
            <a:r>
              <a:rPr lang="en-US" dirty="0"/>
              <a:t>Value-to-Cost Ratio = Recoverable Value : Year 1 Investment</a:t>
            </a:r>
          </a:p>
          <a:p>
            <a:r>
              <a:rPr lang="en-US" dirty="0"/>
              <a:t>```</a:t>
            </a:r>
          </a:p>
          <a:p>
            <a:endParaRPr lang="en-US" dirty="0"/>
          </a:p>
          <a:p>
            <a:r>
              <a:rPr lang="en-US" dirty="0"/>
              <a:t>***</a:t>
            </a:r>
          </a:p>
          <a:p>
            <a:endParaRPr lang="en-US" dirty="0"/>
          </a:p>
          <a:p>
            <a:r>
              <a:rPr lang="en-US" dirty="0"/>
              <a:t># 4) Meeting version — simple one-minute calculator</a:t>
            </a:r>
          </a:p>
          <a:p>
            <a:endParaRPr lang="en-US" dirty="0"/>
          </a:p>
          <a:p>
            <a:r>
              <a:rPr lang="en-US" dirty="0"/>
              <a:t>Use this live:</a:t>
            </a:r>
          </a:p>
          <a:p>
            <a:endParaRPr lang="en-US" dirty="0"/>
          </a:p>
          <a:p>
            <a:r>
              <a:rPr lang="en-US" dirty="0"/>
              <a:t>## Base case assumptions</a:t>
            </a:r>
          </a:p>
          <a:p>
            <a:endParaRPr lang="en-US" dirty="0"/>
          </a:p>
          <a:p>
            <a:r>
              <a:rPr lang="en-US" dirty="0"/>
              <a:t>* Leakage = **9%** [\[</a:t>
            </a:r>
            <a:r>
              <a:rPr lang="en-US" dirty="0" err="1"/>
              <a:t>topbusines</a:t>
            </a:r>
            <a:r>
              <a:rPr lang="en-US" dirty="0"/>
              <a:t>...ftware.com\]](https://topbusinesssoftware.com/categories/contract-lifecycle-management-clm/saas/), [\[guideflow.com\]](https://www.guideflow.com/blog/best-contract-lifecycle-management-software)</a:t>
            </a:r>
          </a:p>
          <a:p>
            <a:r>
              <a:rPr lang="en-US" dirty="0"/>
              <a:t>* Recoverable = **35%** [\[</a:t>
            </a:r>
            <a:r>
              <a:rPr lang="en-US" dirty="0" err="1"/>
              <a:t>topbusines</a:t>
            </a:r>
            <a:r>
              <a:rPr lang="en-US" dirty="0"/>
              <a:t>...ftware.com\]](https://topbusinesssoftware.com/categories/contract-lifecycle-management-clm/saas/)</a:t>
            </a:r>
          </a:p>
          <a:p>
            <a:endParaRPr lang="en-US" dirty="0"/>
          </a:p>
          <a:p>
            <a:r>
              <a:rPr lang="en-US" dirty="0"/>
              <a:t>### Shortcut</a:t>
            </a:r>
          </a:p>
          <a:p>
            <a:endParaRPr lang="en-US" dirty="0"/>
          </a:p>
          <a:p>
            <a:r>
              <a:rPr lang="en-US" dirty="0"/>
              <a:t>```text</a:t>
            </a:r>
          </a:p>
          <a:p>
            <a:r>
              <a:rPr lang="en-US" dirty="0"/>
              <a:t>Recoverable Value = Contract Value × 9% × 35%</a:t>
            </a:r>
          </a:p>
          <a:p>
            <a:r>
              <a:rPr lang="en-US" dirty="0"/>
              <a:t>Recoverable Value = Contract Value × 3.15%</a:t>
            </a:r>
          </a:p>
          <a:p>
            <a:r>
              <a:rPr lang="en-US" dirty="0"/>
              <a:t>```</a:t>
            </a:r>
          </a:p>
          <a:p>
            <a:endParaRPr lang="en-US" dirty="0"/>
          </a:p>
          <a:p>
            <a:r>
              <a:rPr lang="en-US" dirty="0"/>
              <a:t>👉 So your **fast meeting shortcut** is:</a:t>
            </a:r>
          </a:p>
          <a:p>
            <a:endParaRPr lang="en-US" dirty="0"/>
          </a:p>
          <a:p>
            <a:r>
              <a:rPr lang="en-US" dirty="0"/>
              <a:t>&gt; **Recoverable value ≈ 3.15% of annual contract value**</a:t>
            </a:r>
          </a:p>
          <a:p>
            <a:endParaRPr lang="en-US" dirty="0"/>
          </a:p>
          <a:p>
            <a:r>
              <a:rPr lang="en-US" dirty="0"/>
              <a:t>That is not a sourced market statistic by itself; it is simply the arithmetic result of the two sourced assumptions above. The assumptions come from the page and search results. [\[</a:t>
            </a:r>
            <a:r>
              <a:rPr lang="en-US" dirty="0" err="1"/>
              <a:t>topbusines</a:t>
            </a:r>
            <a:r>
              <a:rPr lang="en-US" dirty="0"/>
              <a:t>...ftware.com\]](https://topbusinesssoftware.com/categories/contract-lifecycle-management-clm/saas/), [\[guideflow.com\]](https://www.guideflow.com/blog/best-contract-lifecycle-management-software)</a:t>
            </a:r>
          </a:p>
          <a:p>
            <a:endParaRPr lang="en-US" dirty="0"/>
          </a:p>
          <a:p>
            <a:r>
              <a:rPr lang="en-US" dirty="0"/>
              <a:t>***</a:t>
            </a:r>
          </a:p>
          <a:p>
            <a:endParaRPr lang="en-US" dirty="0"/>
          </a:p>
          <a:p>
            <a:r>
              <a:rPr lang="en-US" dirty="0"/>
              <a:t># 5) Worked examples</a:t>
            </a:r>
          </a:p>
          <a:p>
            <a:endParaRPr lang="en-US" dirty="0"/>
          </a:p>
          <a:p>
            <a:r>
              <a:rPr lang="en-US" dirty="0"/>
              <a:t>## Example A — €20M portfolio</a:t>
            </a:r>
          </a:p>
          <a:p>
            <a:endParaRPr lang="en-US" dirty="0"/>
          </a:p>
          <a:p>
            <a:r>
              <a:rPr lang="en-US" dirty="0"/>
              <a:t>* Contract value = **€20M**</a:t>
            </a:r>
          </a:p>
          <a:p>
            <a:r>
              <a:rPr lang="en-US" dirty="0"/>
              <a:t>* Leakage at 9% = **€1.8M** [\[</a:t>
            </a:r>
            <a:r>
              <a:rPr lang="en-US" dirty="0" err="1"/>
              <a:t>topbusines</a:t>
            </a:r>
            <a:r>
              <a:rPr lang="en-US" dirty="0"/>
              <a:t>...ftware.com\]](https://topbusinesssoftware.com/categories/contract-lifecycle-management-clm/saas/), [\[guideflow.com\]](https://www.guideflow.com/blog/best-contract-lifecycle-management-software)</a:t>
            </a:r>
          </a:p>
          <a:p>
            <a:r>
              <a:rPr lang="en-US" dirty="0"/>
              <a:t>* Recoverable at 35% = **€630k** [\[</a:t>
            </a:r>
            <a:r>
              <a:rPr lang="en-US" dirty="0" err="1"/>
              <a:t>topbusines</a:t>
            </a:r>
            <a:r>
              <a:rPr lang="en-US" dirty="0"/>
              <a:t>...ftware.com\]](https://topbusinesssoftware.com/categories/contract-lifecycle-management-clm/saas/)</a:t>
            </a:r>
          </a:p>
          <a:p>
            <a:endParaRPr lang="en-US" dirty="0"/>
          </a:p>
          <a:p>
            <a:r>
              <a:rPr lang="en-US" dirty="0"/>
              <a:t>If pricing is:</a:t>
            </a:r>
          </a:p>
          <a:p>
            <a:endParaRPr lang="en-US" dirty="0"/>
          </a:p>
          <a:p>
            <a:r>
              <a:rPr lang="en-US" dirty="0"/>
              <a:t>* Platform = **€60k**</a:t>
            </a:r>
          </a:p>
          <a:p>
            <a:r>
              <a:rPr lang="en-US" dirty="0"/>
              <a:t>* Implementation = **€20k**</a:t>
            </a:r>
          </a:p>
          <a:p>
            <a:r>
              <a:rPr lang="en-US" dirty="0"/>
              <a:t>* Connectors = **€20k**</a:t>
            </a:r>
          </a:p>
          <a:p>
            <a:endParaRPr lang="en-US" dirty="0"/>
          </a:p>
          <a:p>
            <a:r>
              <a:rPr lang="en-US" dirty="0"/>
              <a:t>Then:</a:t>
            </a:r>
          </a:p>
          <a:p>
            <a:endParaRPr lang="en-US" dirty="0"/>
          </a:p>
          <a:p>
            <a:r>
              <a:rPr lang="en-US" dirty="0"/>
              <a:t>* Year 1 investment = **€100k**</a:t>
            </a:r>
          </a:p>
          <a:p>
            <a:r>
              <a:rPr lang="en-US" dirty="0"/>
              <a:t>* Net year 1 value = **€530k**</a:t>
            </a:r>
          </a:p>
          <a:p>
            <a:r>
              <a:rPr lang="en-US" dirty="0"/>
              <a:t>* ROI multiple = **6.3×**</a:t>
            </a:r>
          </a:p>
          <a:p>
            <a:endParaRPr lang="en-US" dirty="0"/>
          </a:p>
          <a:p>
            <a:r>
              <a:rPr lang="en-US" dirty="0"/>
              <a:t>***</a:t>
            </a:r>
          </a:p>
          <a:p>
            <a:endParaRPr lang="en-US" dirty="0"/>
          </a:p>
          <a:p>
            <a:r>
              <a:rPr lang="en-US" dirty="0"/>
              <a:t>## Example B — €50M portfolio</a:t>
            </a:r>
          </a:p>
          <a:p>
            <a:endParaRPr lang="en-US" dirty="0"/>
          </a:p>
          <a:p>
            <a:r>
              <a:rPr lang="en-US" dirty="0"/>
              <a:t>* Contract value = **€50M**</a:t>
            </a:r>
          </a:p>
          <a:p>
            <a:r>
              <a:rPr lang="en-US" dirty="0"/>
              <a:t>* Leakage at 9% = **€4.5M** [\[</a:t>
            </a:r>
            <a:r>
              <a:rPr lang="en-US" dirty="0" err="1"/>
              <a:t>topbusines</a:t>
            </a:r>
            <a:r>
              <a:rPr lang="en-US" dirty="0"/>
              <a:t>...ftware.com\]](https://topbusinesssoftware.com/categories/contract-lifecycle-management-clm/saas/), [\[guideflow.com\]](https://www.guideflow.com/blog/best-contract-lifecycle-management-software)</a:t>
            </a:r>
          </a:p>
          <a:p>
            <a:r>
              <a:rPr lang="en-US" dirty="0"/>
              <a:t>* Recoverable at 35% = **€1.575M** [\[</a:t>
            </a:r>
            <a:r>
              <a:rPr lang="en-US" dirty="0" err="1"/>
              <a:t>topbusines</a:t>
            </a:r>
            <a:r>
              <a:rPr lang="en-US" dirty="0"/>
              <a:t>...ftware.com\]](https://topbusinesssoftware.com/categories/contract-lifecycle-management-clm/saas/)</a:t>
            </a:r>
          </a:p>
          <a:p>
            <a:endParaRPr lang="en-US" dirty="0"/>
          </a:p>
          <a:p>
            <a:r>
              <a:rPr lang="en-US" dirty="0"/>
              <a:t>If pricing is:</a:t>
            </a:r>
          </a:p>
          <a:p>
            <a:endParaRPr lang="en-US" dirty="0"/>
          </a:p>
          <a:p>
            <a:r>
              <a:rPr lang="en-US" dirty="0"/>
              <a:t>* Platform = **€80k**</a:t>
            </a:r>
          </a:p>
          <a:p>
            <a:r>
              <a:rPr lang="en-US" dirty="0"/>
              <a:t>* Implementation = **€40k**</a:t>
            </a:r>
          </a:p>
          <a:p>
            <a:r>
              <a:rPr lang="en-US" dirty="0"/>
              <a:t>* Connectors = **€30k**</a:t>
            </a:r>
          </a:p>
          <a:p>
            <a:endParaRPr lang="en-US" dirty="0"/>
          </a:p>
          <a:p>
            <a:r>
              <a:rPr lang="en-US" dirty="0"/>
              <a:t>Then:</a:t>
            </a:r>
          </a:p>
          <a:p>
            <a:endParaRPr lang="en-US" dirty="0"/>
          </a:p>
          <a:p>
            <a:r>
              <a:rPr lang="en-US" dirty="0"/>
              <a:t>* Year 1 investment = **€150k**</a:t>
            </a:r>
          </a:p>
          <a:p>
            <a:r>
              <a:rPr lang="en-US" dirty="0"/>
              <a:t>* Net year 1 value = **€1.425M**</a:t>
            </a:r>
          </a:p>
          <a:p>
            <a:r>
              <a:rPr lang="en-US" dirty="0"/>
              <a:t>* ROI multiple = **10.5×**</a:t>
            </a:r>
          </a:p>
          <a:p>
            <a:endParaRPr lang="en-US" dirty="0"/>
          </a:p>
          <a:p>
            <a:r>
              <a:rPr lang="en-US" dirty="0"/>
              <a:t>***</a:t>
            </a:r>
          </a:p>
          <a:p>
            <a:endParaRPr lang="en-US" dirty="0"/>
          </a:p>
          <a:p>
            <a:r>
              <a:rPr lang="en-US" dirty="0"/>
              <a:t>## Example C — €150M portfolio</a:t>
            </a:r>
          </a:p>
          <a:p>
            <a:endParaRPr lang="en-US" dirty="0"/>
          </a:p>
          <a:p>
            <a:r>
              <a:rPr lang="en-US" dirty="0"/>
              <a:t>* Contract value = **€150M**</a:t>
            </a:r>
          </a:p>
          <a:p>
            <a:r>
              <a:rPr lang="en-US" dirty="0"/>
              <a:t>* Leakage at 9% = **€13.5M** [\[</a:t>
            </a:r>
            <a:r>
              <a:rPr lang="en-US" dirty="0" err="1"/>
              <a:t>topbusines</a:t>
            </a:r>
            <a:r>
              <a:rPr lang="en-US" dirty="0"/>
              <a:t>...ftware.com\]](https://topbusinesssoftware.com/categories/contract-lifecycle-management-clm/saas/), [\[guideflow.com\]](https://www.guideflow.com/blog/best-contract-lifecycle-management-software)</a:t>
            </a:r>
          </a:p>
          <a:p>
            <a:r>
              <a:rPr lang="en-US" dirty="0"/>
              <a:t>* Recoverable at 35% = **€4.725M** [\[</a:t>
            </a:r>
            <a:r>
              <a:rPr lang="en-US" dirty="0" err="1"/>
              <a:t>topbusines</a:t>
            </a:r>
            <a:r>
              <a:rPr lang="en-US" dirty="0"/>
              <a:t>...ftware.com\]](https://topbusinesssoftware.com/categories/contract-lifecycle-management-clm/saas/)</a:t>
            </a:r>
          </a:p>
          <a:p>
            <a:endParaRPr lang="en-US" dirty="0"/>
          </a:p>
          <a:p>
            <a:r>
              <a:rPr lang="en-US" dirty="0"/>
              <a:t>If pricing is:</a:t>
            </a:r>
          </a:p>
          <a:p>
            <a:endParaRPr lang="en-US" dirty="0"/>
          </a:p>
          <a:p>
            <a:r>
              <a:rPr lang="en-US" dirty="0"/>
              <a:t>* Platform = **€220k**</a:t>
            </a:r>
          </a:p>
          <a:p>
            <a:r>
              <a:rPr lang="en-US" dirty="0"/>
              <a:t>* Implementation = **€80k**</a:t>
            </a:r>
          </a:p>
          <a:p>
            <a:r>
              <a:rPr lang="en-US" dirty="0"/>
              <a:t>* Connectors = **€50k**</a:t>
            </a:r>
          </a:p>
          <a:p>
            <a:endParaRPr lang="en-US" dirty="0"/>
          </a:p>
          <a:p>
            <a:r>
              <a:rPr lang="en-US" dirty="0"/>
              <a:t>Then:</a:t>
            </a:r>
          </a:p>
          <a:p>
            <a:endParaRPr lang="en-US" dirty="0"/>
          </a:p>
          <a:p>
            <a:r>
              <a:rPr lang="en-US" dirty="0"/>
              <a:t>* Year 1 investment = **€350k**</a:t>
            </a:r>
          </a:p>
          <a:p>
            <a:r>
              <a:rPr lang="en-US" dirty="0"/>
              <a:t>* Net year 1 value = **€4.375M**</a:t>
            </a:r>
          </a:p>
          <a:p>
            <a:r>
              <a:rPr lang="en-US" dirty="0"/>
              <a:t>* ROI multiple = **13.5×**</a:t>
            </a:r>
          </a:p>
          <a:p>
            <a:endParaRPr lang="en-US" dirty="0"/>
          </a:p>
          <a:p>
            <a:r>
              <a:rPr lang="en-US" dirty="0"/>
              <a:t>***</a:t>
            </a:r>
          </a:p>
          <a:p>
            <a:endParaRPr lang="en-US" dirty="0"/>
          </a:p>
          <a:p>
            <a:r>
              <a:rPr lang="en-US" dirty="0"/>
              <a:t># 6) Board-ready calculator table</a:t>
            </a:r>
          </a:p>
          <a:p>
            <a:endParaRPr lang="en-US" dirty="0"/>
          </a:p>
          <a:p>
            <a:r>
              <a:rPr lang="en-US" dirty="0"/>
              <a:t>## Quick reference table (base case)</a:t>
            </a:r>
          </a:p>
          <a:p>
            <a:endParaRPr lang="en-US" dirty="0"/>
          </a:p>
          <a:p>
            <a:r>
              <a:rPr lang="en-US" dirty="0"/>
              <a:t>| Annual contract value | Leakage @ 9% | Recoverable @ 35% | Example year 1 investment | Net year 1 value | ROI multiple |</a:t>
            </a:r>
          </a:p>
          <a:p>
            <a:r>
              <a:rPr lang="en-US" dirty="0"/>
              <a:t>| --------------------- | -----------: | ----------------: | ------------------------: | ---------------: | -----------: |</a:t>
            </a:r>
          </a:p>
          <a:p>
            <a:r>
              <a:rPr lang="en-US" dirty="0"/>
              <a:t>| €10M                  |        €900k |             €315k |                      €80k |            €235k |         3.9× |</a:t>
            </a:r>
          </a:p>
          <a:p>
            <a:r>
              <a:rPr lang="en-US" dirty="0"/>
              <a:t>| €20M                  |        €1.8M |             €630k |                     €100k |            €530k |         6.3× |</a:t>
            </a:r>
          </a:p>
          <a:p>
            <a:r>
              <a:rPr lang="en-US" dirty="0"/>
              <a:t>| €50M                  |        €4.5M |           €1.575M |                     €150k |          €1.425M |        10.5× |</a:t>
            </a:r>
          </a:p>
          <a:p>
            <a:r>
              <a:rPr lang="en-US" dirty="0"/>
              <a:t>| €100M                 |        €9.0M |            €3.15M |                     €250k |            €2.9M |        12.6× |</a:t>
            </a:r>
          </a:p>
          <a:p>
            <a:r>
              <a:rPr lang="en-US" dirty="0"/>
              <a:t>| €150M                 |       €13.5M |           €4.725M |                     €350k |          €4.375M |        13.5× |</a:t>
            </a:r>
          </a:p>
          <a:p>
            <a:endParaRPr lang="en-US" dirty="0"/>
          </a:p>
          <a:p>
            <a:r>
              <a:rPr lang="en-US" dirty="0"/>
              <a:t>The leakage and recoverable percentages used in this table come from the webpage/search sources above. [\[</a:t>
            </a:r>
            <a:r>
              <a:rPr lang="en-US" dirty="0" err="1"/>
              <a:t>topbusines</a:t>
            </a:r>
            <a:r>
              <a:rPr lang="en-US" dirty="0"/>
              <a:t>...ftware.com\]](https://topbusinesssoftware.com/categories/contract-lifecycle-management-clm/saas/), [\[guideflow.com\]](https://www.guideflow.com/blog/best-contract-lifecycle-management-software)</a:t>
            </a:r>
          </a:p>
          <a:p>
            <a:endParaRPr lang="en-US" dirty="0"/>
          </a:p>
          <a:p>
            <a:r>
              <a:rPr lang="en-US" dirty="0"/>
              <a:t>***</a:t>
            </a:r>
          </a:p>
          <a:p>
            <a:endParaRPr lang="en-US" dirty="0"/>
          </a:p>
          <a:p>
            <a:r>
              <a:rPr lang="en-US" dirty="0"/>
              <a:t># 7) Sensitivity version for tough CFOs</a:t>
            </a:r>
          </a:p>
          <a:p>
            <a:endParaRPr lang="en-US" dirty="0"/>
          </a:p>
          <a:p>
            <a:r>
              <a:rPr lang="en-US" dirty="0"/>
              <a:t>A CFO will often ask for downside protection. Use a **three-case model**.</a:t>
            </a:r>
          </a:p>
          <a:p>
            <a:endParaRPr lang="en-US" dirty="0"/>
          </a:p>
          <a:p>
            <a:r>
              <a:rPr lang="en-US" dirty="0"/>
              <a:t>## Conservative case</a:t>
            </a:r>
          </a:p>
          <a:p>
            <a:endParaRPr lang="en-US" dirty="0"/>
          </a:p>
          <a:p>
            <a:r>
              <a:rPr lang="en-US" dirty="0"/>
              <a:t>* Leakage = **8%** [\[</a:t>
            </a:r>
            <a:r>
              <a:rPr lang="en-US" dirty="0" err="1"/>
              <a:t>topbusines</a:t>
            </a:r>
            <a:r>
              <a:rPr lang="en-US" dirty="0"/>
              <a:t>...ftware.com\]](https://topbusinesssoftware.com/categories/contract-lifecycle-management-clm/saas/), [\[guideflow.com\]](https://www.guideflow.com/blog/best-contract-lifecycle-management-software)</a:t>
            </a:r>
          </a:p>
          <a:p>
            <a:r>
              <a:rPr lang="en-US" dirty="0"/>
              <a:t>* Recoverable = **30%** [\[</a:t>
            </a:r>
            <a:r>
              <a:rPr lang="en-US" dirty="0" err="1"/>
              <a:t>topbusines</a:t>
            </a:r>
            <a:r>
              <a:rPr lang="en-US" dirty="0"/>
              <a:t>...ftware.com\]](https://topbusinesssoftware.com/categories/contract-lifecycle-management-clm/saas/)</a:t>
            </a:r>
          </a:p>
          <a:p>
            <a:endParaRPr lang="en-US" dirty="0"/>
          </a:p>
          <a:p>
            <a:r>
              <a:rPr lang="en-US" dirty="0"/>
              <a:t>Shortcut:</a:t>
            </a:r>
          </a:p>
          <a:p>
            <a:endParaRPr lang="en-US" dirty="0"/>
          </a:p>
          <a:p>
            <a:r>
              <a:rPr lang="en-US" dirty="0"/>
              <a:t>```text</a:t>
            </a:r>
          </a:p>
          <a:p>
            <a:r>
              <a:rPr lang="en-US" dirty="0"/>
              <a:t>Recoverable Value = Contract Value × 2.4%</a:t>
            </a:r>
          </a:p>
          <a:p>
            <a:r>
              <a:rPr lang="en-US" dirty="0"/>
              <a:t>```</a:t>
            </a:r>
          </a:p>
          <a:p>
            <a:endParaRPr lang="en-US" dirty="0"/>
          </a:p>
          <a:p>
            <a:r>
              <a:rPr lang="en-US" dirty="0"/>
              <a:t>## Base case</a:t>
            </a:r>
          </a:p>
          <a:p>
            <a:endParaRPr lang="en-US" dirty="0"/>
          </a:p>
          <a:p>
            <a:r>
              <a:rPr lang="en-US" dirty="0"/>
              <a:t>* Leakage = **9%**</a:t>
            </a:r>
          </a:p>
          <a:p>
            <a:r>
              <a:rPr lang="en-US" dirty="0"/>
              <a:t>* Recoverable = **35%**</a:t>
            </a:r>
          </a:p>
          <a:p>
            <a:endParaRPr lang="en-US" dirty="0"/>
          </a:p>
          <a:p>
            <a:r>
              <a:rPr lang="en-US" dirty="0"/>
              <a:t>Shortcut:</a:t>
            </a:r>
          </a:p>
          <a:p>
            <a:endParaRPr lang="en-US" dirty="0"/>
          </a:p>
          <a:p>
            <a:r>
              <a:rPr lang="en-US" dirty="0"/>
              <a:t>```text</a:t>
            </a:r>
          </a:p>
          <a:p>
            <a:r>
              <a:rPr lang="en-US" dirty="0"/>
              <a:t>Recoverable Value = Contract Value × 3.15%</a:t>
            </a:r>
          </a:p>
          <a:p>
            <a:r>
              <a:rPr lang="en-US" dirty="0"/>
              <a:t>```</a:t>
            </a:r>
          </a:p>
          <a:p>
            <a:endParaRPr lang="en-US" dirty="0"/>
          </a:p>
          <a:p>
            <a:r>
              <a:rPr lang="en-US" dirty="0"/>
              <a:t>## Upside case</a:t>
            </a:r>
          </a:p>
          <a:p>
            <a:endParaRPr lang="en-US" dirty="0"/>
          </a:p>
          <a:p>
            <a:r>
              <a:rPr lang="en-US" dirty="0"/>
              <a:t>* Leakage = **11%** [\[</a:t>
            </a:r>
            <a:r>
              <a:rPr lang="en-US" dirty="0" err="1"/>
              <a:t>topbusines</a:t>
            </a:r>
            <a:r>
              <a:rPr lang="en-US" dirty="0"/>
              <a:t>...ftware.com\]](https://topbusinesssoftware.com/categories/contract-lifecycle-management-clm/saas/), [\[guideflow.com\]](https://www.guideflow.com/blog/best-contract-lifecycle-management-software)</a:t>
            </a:r>
          </a:p>
          <a:p>
            <a:r>
              <a:rPr lang="en-US" dirty="0"/>
              <a:t>* Recoverable = **40%** [\[</a:t>
            </a:r>
            <a:r>
              <a:rPr lang="en-US" dirty="0" err="1"/>
              <a:t>topbusines</a:t>
            </a:r>
            <a:r>
              <a:rPr lang="en-US" dirty="0"/>
              <a:t>...ftware.com\]](https://topbusinesssoftware.com/categories/contract-lifecycle-management-clm/saas/)</a:t>
            </a:r>
          </a:p>
          <a:p>
            <a:endParaRPr lang="en-US" dirty="0"/>
          </a:p>
          <a:p>
            <a:r>
              <a:rPr lang="en-US" dirty="0"/>
              <a:t>Shortcut:</a:t>
            </a:r>
          </a:p>
          <a:p>
            <a:endParaRPr lang="en-US" dirty="0"/>
          </a:p>
          <a:p>
            <a:r>
              <a:rPr lang="en-US" dirty="0"/>
              <a:t>```text</a:t>
            </a:r>
          </a:p>
          <a:p>
            <a:r>
              <a:rPr lang="en-US" dirty="0"/>
              <a:t>Recoverable Value = Contract Value × 4.4%</a:t>
            </a:r>
          </a:p>
          <a:p>
            <a:r>
              <a:rPr lang="en-US" dirty="0"/>
              <a:t>```</a:t>
            </a:r>
          </a:p>
          <a:p>
            <a:endParaRPr lang="en-US" dirty="0"/>
          </a:p>
          <a:p>
            <a:r>
              <a:rPr lang="en-US" dirty="0"/>
              <a:t>### Example for €50M portfolio</a:t>
            </a:r>
          </a:p>
          <a:p>
            <a:endParaRPr lang="en-US" dirty="0"/>
          </a:p>
          <a:p>
            <a:r>
              <a:rPr lang="en-US" dirty="0"/>
              <a:t>| Scenario     | Recoverable % of portfolio | Recoverable value |</a:t>
            </a:r>
          </a:p>
          <a:p>
            <a:r>
              <a:rPr lang="en-US" dirty="0"/>
              <a:t>| ------------ | -------------------------: | ----------------: |</a:t>
            </a:r>
          </a:p>
          <a:p>
            <a:r>
              <a:rPr lang="en-US" dirty="0"/>
              <a:t>| Conservative |                       2.4% |             €1.2M |</a:t>
            </a:r>
          </a:p>
          <a:p>
            <a:r>
              <a:rPr lang="en-US" dirty="0"/>
              <a:t>| Base         |                      3.15% |           €1.575M |</a:t>
            </a:r>
          </a:p>
          <a:p>
            <a:r>
              <a:rPr lang="en-US" dirty="0"/>
              <a:t>| Upside       |                       4.4% |             €2.2M |</a:t>
            </a:r>
          </a:p>
          <a:p>
            <a:endParaRPr lang="en-US" dirty="0"/>
          </a:p>
          <a:p>
            <a:r>
              <a:rPr lang="en-US" dirty="0"/>
              <a:t>***</a:t>
            </a:r>
          </a:p>
          <a:p>
            <a:endParaRPr lang="en-US" dirty="0"/>
          </a:p>
          <a:p>
            <a:r>
              <a:rPr lang="en-US" dirty="0"/>
              <a:t># 8) Exact script to use in meetings</a:t>
            </a:r>
          </a:p>
          <a:p>
            <a:endParaRPr lang="en-US" dirty="0"/>
          </a:p>
          <a:p>
            <a:r>
              <a:rPr lang="en-US" dirty="0"/>
              <a:t>## CFO script</a:t>
            </a:r>
          </a:p>
          <a:p>
            <a:endParaRPr lang="en-US" dirty="0"/>
          </a:p>
          <a:p>
            <a:r>
              <a:rPr lang="en-US" dirty="0"/>
              <a:t>&gt; “Using a conservative benchmark, we assume 8–11% of contract value leaks after signature, and around 30–40% of that can be recovered with active management. On your €50M portfolio, that suggests a realistic recoverable range of roughly €1.2M to €2.2M. Against a first-year investment around €150k, that points to a strong value case.” [\[</a:t>
            </a:r>
            <a:r>
              <a:rPr lang="en-US" dirty="0" err="1"/>
              <a:t>topbusines</a:t>
            </a:r>
            <a:r>
              <a:rPr lang="en-US" dirty="0"/>
              <a:t>...ftware.com\]](https://topbusinesssoftware.com/categories/contract-lifecycle-management-clm/saas/), [\[guideflow.com\]](https://www.guideflow.com/blog/best-contract-lifecycle-management-software)</a:t>
            </a:r>
          </a:p>
          <a:p>
            <a:endParaRPr lang="en-US" dirty="0"/>
          </a:p>
          <a:p>
            <a:r>
              <a:rPr lang="en-US" dirty="0"/>
              <a:t>***</a:t>
            </a:r>
          </a:p>
          <a:p>
            <a:endParaRPr lang="en-US" dirty="0"/>
          </a:p>
          <a:p>
            <a:r>
              <a:rPr lang="en-US" dirty="0"/>
              <a:t># 9) A spreadsheet-ready template</a:t>
            </a:r>
          </a:p>
          <a:p>
            <a:endParaRPr lang="en-US" dirty="0"/>
          </a:p>
          <a:p>
            <a:r>
              <a:rPr lang="en-US" dirty="0"/>
              <a:t>You can paste this into Excel directly:</a:t>
            </a:r>
          </a:p>
          <a:p>
            <a:endParaRPr lang="en-US" dirty="0"/>
          </a:p>
          <a:p>
            <a:r>
              <a:rPr lang="en-US" dirty="0"/>
              <a:t>```text</a:t>
            </a:r>
          </a:p>
          <a:p>
            <a:r>
              <a:rPr lang="en-US" dirty="0"/>
              <a:t>A1: Annual Contract Value</a:t>
            </a:r>
          </a:p>
          <a:p>
            <a:r>
              <a:rPr lang="en-US" dirty="0"/>
              <a:t>B1: Leakage %</a:t>
            </a:r>
          </a:p>
          <a:p>
            <a:r>
              <a:rPr lang="en-US" dirty="0"/>
              <a:t>C1: Recoverable %</a:t>
            </a:r>
          </a:p>
          <a:p>
            <a:r>
              <a:rPr lang="en-US" dirty="0"/>
              <a:t>D1: Platform Fee</a:t>
            </a:r>
          </a:p>
          <a:p>
            <a:r>
              <a:rPr lang="en-US" dirty="0"/>
              <a:t>E1: Implementation Fee</a:t>
            </a:r>
          </a:p>
          <a:p>
            <a:r>
              <a:rPr lang="en-US" dirty="0"/>
              <a:t>F1: Connector Fees</a:t>
            </a:r>
          </a:p>
          <a:p>
            <a:r>
              <a:rPr lang="en-US" dirty="0"/>
              <a:t>G1: Leakage Value</a:t>
            </a:r>
          </a:p>
          <a:p>
            <a:r>
              <a:rPr lang="en-US" dirty="0"/>
              <a:t>H1: Recoverable Value</a:t>
            </a:r>
          </a:p>
          <a:p>
            <a:r>
              <a:rPr lang="en-US" dirty="0"/>
              <a:t>I1: Year 1 Investment</a:t>
            </a:r>
          </a:p>
          <a:p>
            <a:r>
              <a:rPr lang="en-US" dirty="0"/>
              <a:t>J1: Net Year 1 Value</a:t>
            </a:r>
          </a:p>
          <a:p>
            <a:r>
              <a:rPr lang="en-US" dirty="0"/>
              <a:t>K1: ROI Multiple</a:t>
            </a:r>
          </a:p>
          <a:p>
            <a:endParaRPr lang="en-US" dirty="0"/>
          </a:p>
          <a:p>
            <a:r>
              <a:rPr lang="en-US" dirty="0"/>
              <a:t>A2: 50000000</a:t>
            </a:r>
          </a:p>
          <a:p>
            <a:r>
              <a:rPr lang="en-US" dirty="0"/>
              <a:t>B2: 9%</a:t>
            </a:r>
          </a:p>
          <a:p>
            <a:r>
              <a:rPr lang="en-US" dirty="0"/>
              <a:t>C2: 35%</a:t>
            </a:r>
          </a:p>
          <a:p>
            <a:r>
              <a:rPr lang="en-US" dirty="0"/>
              <a:t>D2: 80000</a:t>
            </a:r>
          </a:p>
          <a:p>
            <a:r>
              <a:rPr lang="en-US" dirty="0"/>
              <a:t>E2: 40000</a:t>
            </a:r>
          </a:p>
          <a:p>
            <a:r>
              <a:rPr lang="en-US" dirty="0"/>
              <a:t>F2: 30000</a:t>
            </a:r>
          </a:p>
          <a:p>
            <a:r>
              <a:rPr lang="en-US" dirty="0"/>
              <a:t>G2: =A2*B2</a:t>
            </a:r>
          </a:p>
          <a:p>
            <a:r>
              <a:rPr lang="en-US" dirty="0"/>
              <a:t>H2: =G2*C2</a:t>
            </a:r>
          </a:p>
          <a:p>
            <a:r>
              <a:rPr lang="en-US" dirty="0"/>
              <a:t>I2: =D2+E2+F2</a:t>
            </a:r>
          </a:p>
          <a:p>
            <a:r>
              <a:rPr lang="en-US" dirty="0"/>
              <a:t>J2: =H2-I2</a:t>
            </a:r>
          </a:p>
          <a:p>
            <a:r>
              <a:rPr lang="en-US" dirty="0"/>
              <a:t>K2: =H2/I2</a:t>
            </a:r>
          </a:p>
          <a:p>
            <a:r>
              <a:rPr lang="en-US" dirty="0"/>
              <a:t>```</a:t>
            </a:r>
          </a:p>
          <a:p>
            <a:endParaRPr lang="en-US" dirty="0"/>
          </a:p>
          <a:p>
            <a:r>
              <a:rPr lang="en-US" dirty="0"/>
              <a:t>***</a:t>
            </a:r>
          </a:p>
          <a:p>
            <a:endParaRPr lang="en-US" dirty="0"/>
          </a:p>
          <a:p>
            <a:r>
              <a:rPr lang="en-US" dirty="0"/>
              <a:t># 10) Best practice for use in live meetings</a:t>
            </a:r>
          </a:p>
          <a:p>
            <a:endParaRPr lang="en-US" dirty="0"/>
          </a:p>
          <a:p>
            <a:r>
              <a:rPr lang="en-US" dirty="0"/>
              <a:t>## Do:</a:t>
            </a:r>
          </a:p>
          <a:p>
            <a:endParaRPr lang="en-US" dirty="0"/>
          </a:p>
          <a:p>
            <a:r>
              <a:rPr lang="en-US" dirty="0"/>
              <a:t>* start with **contract value**</a:t>
            </a:r>
          </a:p>
          <a:p>
            <a:r>
              <a:rPr lang="en-US" dirty="0"/>
              <a:t>* show **three scenarios**</a:t>
            </a:r>
          </a:p>
          <a:p>
            <a:r>
              <a:rPr lang="en-US" dirty="0"/>
              <a:t>* keep implementation separate from subscription</a:t>
            </a:r>
          </a:p>
          <a:p>
            <a:r>
              <a:rPr lang="en-US" dirty="0"/>
              <a:t>* </a:t>
            </a:r>
            <a:r>
              <a:rPr lang="en-US" dirty="0" err="1"/>
              <a:t>emphasise</a:t>
            </a:r>
            <a:r>
              <a:rPr lang="en-US" dirty="0"/>
              <a:t> **recoverable cash**, not “AI efficiency”</a:t>
            </a:r>
          </a:p>
          <a:p>
            <a:endParaRPr lang="en-US" dirty="0"/>
          </a:p>
          <a:p>
            <a:r>
              <a:rPr lang="en-US" dirty="0"/>
              <a:t>## Don’t:</a:t>
            </a:r>
          </a:p>
          <a:p>
            <a:endParaRPr lang="en-US" dirty="0"/>
          </a:p>
          <a:p>
            <a:r>
              <a:rPr lang="en-US" dirty="0"/>
              <a:t>* lead with “agents”, “models”, or “features”</a:t>
            </a:r>
          </a:p>
          <a:p>
            <a:r>
              <a:rPr lang="en-US" dirty="0"/>
              <a:t>* compare price to generic software </a:t>
            </a:r>
            <a:r>
              <a:rPr lang="en-US" dirty="0" err="1"/>
              <a:t>licences</a:t>
            </a:r>
            <a:endParaRPr lang="en-US" dirty="0"/>
          </a:p>
          <a:p>
            <a:r>
              <a:rPr lang="en-US" dirty="0"/>
              <a:t>* promise exact recovery unless you have customer-specific evidence</a:t>
            </a:r>
          </a:p>
          <a:p>
            <a:endParaRPr lang="en-US" dirty="0"/>
          </a:p>
          <a:p>
            <a:r>
              <a:rPr lang="en-US" dirty="0"/>
              <a:t>***</a:t>
            </a:r>
          </a:p>
          <a:p>
            <a:endParaRPr lang="en-US" dirty="0"/>
          </a:p>
          <a:p>
            <a:r>
              <a:rPr lang="en-US" dirty="0"/>
              <a:t># Bottom line</a:t>
            </a:r>
          </a:p>
          <a:p>
            <a:endParaRPr lang="en-US" dirty="0"/>
          </a:p>
          <a:p>
            <a:r>
              <a:rPr lang="en-US" dirty="0"/>
              <a:t>The best meeting calculator is this:</a:t>
            </a:r>
          </a:p>
          <a:p>
            <a:endParaRPr lang="en-US" dirty="0"/>
          </a:p>
          <a:p>
            <a:r>
              <a:rPr lang="en-US" dirty="0"/>
              <a:t>&gt; **Recoverable value ≈ 2.4% to 4.4% of annual contract value**, with a practical base case around **3.15%**, using the webpage’s leakage and recovery assumptions. [\[</a:t>
            </a:r>
            <a:r>
              <a:rPr lang="en-US" dirty="0" err="1"/>
              <a:t>topbusines</a:t>
            </a:r>
            <a:r>
              <a:rPr lang="en-US" dirty="0"/>
              <a:t>...ftware.com\]](https://topbusinesssoftware.com/categories/contract-lifecycle-management-clm/saas/), [\[guideflow.com\]](https://www.guideflow.com/blog/best-contract-lifecycle-management-software)</a:t>
            </a:r>
          </a:p>
          <a:p>
            <a:endParaRPr lang="en-US" dirty="0"/>
          </a:p>
          <a:p>
            <a:r>
              <a:rPr lang="en-US" dirty="0"/>
              <a:t>So if a prospect has **€50M** under management, your live meeting message is:</a:t>
            </a:r>
          </a:p>
          <a:p>
            <a:endParaRPr lang="en-US" dirty="0"/>
          </a:p>
          <a:p>
            <a:r>
              <a:rPr lang="en-US" dirty="0"/>
              <a:t>&gt; **“The likely recoverable value range is about €1.2M to €2.2M, with a base case of roughly €1.6M.”** [\[</a:t>
            </a:r>
            <a:r>
              <a:rPr lang="en-US" dirty="0" err="1"/>
              <a:t>topbusines</a:t>
            </a:r>
            <a:r>
              <a:rPr lang="en-US" dirty="0"/>
              <a:t>...ftware.com\]](https://topbusinesssoftware.com/categories/contract-lifecycle-management-clm/saas/), [\[guideflow.com\]](https://www.guideflow.com/blog/best-contract-lifecycle-management-software)</a:t>
            </a:r>
          </a:p>
          <a:p>
            <a:endParaRPr lang="en-US" dirty="0"/>
          </a:p>
          <a:p>
            <a:r>
              <a:rPr lang="en-US" dirty="0"/>
              <a:t>If you want, I can next turn this into either:</a:t>
            </a:r>
          </a:p>
          <a:p>
            <a:endParaRPr lang="en-US" dirty="0"/>
          </a:p>
          <a:p>
            <a:r>
              <a:rPr lang="en-US" dirty="0"/>
              <a:t>1. a **one-page CFO handout**,</a:t>
            </a:r>
          </a:p>
          <a:p>
            <a:r>
              <a:rPr lang="en-US" dirty="0"/>
              <a:t>2. a **proper Excel-style pricing/value model in a page**, or</a:t>
            </a:r>
          </a:p>
          <a:p>
            <a:r>
              <a:rPr lang="en-US" dirty="0"/>
              <a:t>3. a **meeting script with objection handling beside each calculator output**.</a:t>
            </a:r>
          </a:p>
        </p:txBody>
      </p:sp>
      <p:graphicFrame>
        <p:nvGraphicFramePr>
          <p:cNvPr id="4" name="Object 3">
            <a:extLst>
              <a:ext uri="{FF2B5EF4-FFF2-40B4-BE49-F238E27FC236}">
                <a16:creationId xmlns:a16="http://schemas.microsoft.com/office/drawing/2014/main" id="{A3066D29-AB8A-5B50-F15B-F7678FA53F2F}"/>
              </a:ext>
            </a:extLst>
          </p:cNvPr>
          <p:cNvGraphicFramePr>
            <a:graphicFrameLocks noChangeAspect="1"/>
          </p:cNvGraphicFramePr>
          <p:nvPr>
            <p:extLst>
              <p:ext uri="{D42A27DB-BD31-4B8C-83A1-F6EECF244321}">
                <p14:modId xmlns:p14="http://schemas.microsoft.com/office/powerpoint/2010/main" val="2908807286"/>
              </p:ext>
            </p:extLst>
          </p:nvPr>
        </p:nvGraphicFramePr>
        <p:xfrm>
          <a:off x="5854700" y="365125"/>
          <a:ext cx="2082800" cy="1757363"/>
        </p:xfrm>
        <a:graphic>
          <a:graphicData uri="http://schemas.openxmlformats.org/presentationml/2006/ole">
            <mc:AlternateContent xmlns:mc="http://schemas.openxmlformats.org/markup-compatibility/2006">
              <mc:Choice xmlns:v="urn:schemas-microsoft-com:vml" Requires="v">
                <p:oleObj name="Worksheet" showAsIcon="1" r:id="rId2" imgW="914324" imgH="771628" progId="Excel.Sheet.12">
                  <p:embed/>
                </p:oleObj>
              </mc:Choice>
              <mc:Fallback>
                <p:oleObj name="Worksheet" showAsIcon="1" r:id="rId2" imgW="914324" imgH="771628" progId="Excel.Sheet.12">
                  <p:embed/>
                  <p:pic>
                    <p:nvPicPr>
                      <p:cNvPr id="0" name=""/>
                      <p:cNvPicPr/>
                      <p:nvPr/>
                    </p:nvPicPr>
                    <p:blipFill>
                      <a:blip r:embed="rId3"/>
                      <a:stretch>
                        <a:fillRect/>
                      </a:stretch>
                    </p:blipFill>
                    <p:spPr>
                      <a:xfrm>
                        <a:off x="5854700" y="365125"/>
                        <a:ext cx="2082800" cy="1757363"/>
                      </a:xfrm>
                      <a:prstGeom prst="rect">
                        <a:avLst/>
                      </a:prstGeom>
                    </p:spPr>
                  </p:pic>
                </p:oleObj>
              </mc:Fallback>
            </mc:AlternateContent>
          </a:graphicData>
        </a:graphic>
      </p:graphicFrame>
    </p:spTree>
    <p:extLst>
      <p:ext uri="{BB962C8B-B14F-4D97-AF65-F5344CB8AC3E}">
        <p14:creationId xmlns:p14="http://schemas.microsoft.com/office/powerpoint/2010/main" val="4134582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4F506-46E7-F13A-6DBA-0C1371CC2506}"/>
              </a:ext>
            </a:extLst>
          </p:cNvPr>
          <p:cNvSpPr>
            <a:spLocks noGrp="1"/>
          </p:cNvSpPr>
          <p:nvPr>
            <p:ph type="title"/>
          </p:nvPr>
        </p:nvSpPr>
        <p:spPr>
          <a:xfrm>
            <a:off x="667512" y="1260124"/>
            <a:ext cx="4654296" cy="1004010"/>
          </a:xfrm>
        </p:spPr>
        <p:txBody>
          <a:bodyPr anchor="t">
            <a:normAutofit fontScale="90000"/>
          </a:bodyPr>
          <a:lstStyle/>
          <a:p>
            <a:r>
              <a:rPr lang="en-US" sz="3700"/>
              <a:t>One-Slide CFO Decision Framework</a:t>
            </a:r>
          </a:p>
        </p:txBody>
      </p:sp>
      <p:sp>
        <p:nvSpPr>
          <p:cNvPr id="4" name="Slide Number Placeholder 3">
            <a:extLst>
              <a:ext uri="{FF2B5EF4-FFF2-40B4-BE49-F238E27FC236}">
                <a16:creationId xmlns:a16="http://schemas.microsoft.com/office/drawing/2014/main" id="{DA0F726B-512B-18BB-13D3-559FC92776CF}"/>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10</a:t>
            </a:fld>
            <a:endParaRPr lang="en-US"/>
          </a:p>
        </p:txBody>
      </p:sp>
      <p:sp>
        <p:nvSpPr>
          <p:cNvPr id="5" name="Footer Placeholder 4">
            <a:extLst>
              <a:ext uri="{FF2B5EF4-FFF2-40B4-BE49-F238E27FC236}">
                <a16:creationId xmlns:a16="http://schemas.microsoft.com/office/drawing/2014/main" id="{2AFD186B-C5B5-9CED-EB58-9B3463AFA46F}"/>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B60FF753-745F-732A-D3B5-A2C8E7D49DB8}"/>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5/29/2026</a:t>
            </a:fld>
            <a:endParaRPr lang="en-US"/>
          </a:p>
        </p:txBody>
      </p:sp>
      <p:pic>
        <p:nvPicPr>
          <p:cNvPr id="8" name="Content Placeholder 7" descr="Sustainable investment and returns">
            <a:extLst>
              <a:ext uri="{FF2B5EF4-FFF2-40B4-BE49-F238E27FC236}">
                <a16:creationId xmlns:a16="http://schemas.microsoft.com/office/drawing/2014/main" id="{2C02C1B2-D531-4541-A8D5-9233B5AFB4ED}"/>
              </a:ext>
            </a:extLst>
          </p:cNvPr>
          <p:cNvPicPr>
            <a:picLocks noGrp="1" noChangeAspect="1"/>
          </p:cNvPicPr>
          <p:nvPr>
            <p:ph type="pic" sz="quarter" idx="13"/>
          </p:nvPr>
        </p:nvPicPr>
        <p:blipFill>
          <a:blip r:embed="rId3"/>
          <a:srcRect l="15945"/>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F532CFA3-6F2B-A514-596B-8E20F832024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fontScale="92500" lnSpcReduction="10000"/>
          </a:bodyPr>
          <a:lstStyle/>
          <a:p>
            <a:pPr marL="0" indent="0">
              <a:spcBef>
                <a:spcPts val="2500"/>
              </a:spcBef>
              <a:buFont typeface="Arial" panose="020B0604020202020204" pitchFamily="34" charset="0"/>
              <a:buNone/>
            </a:pPr>
            <a:r>
              <a:rPr lang="en-US" b="1"/>
              <a:t>Contract Portfolio Value</a:t>
            </a:r>
          </a:p>
          <a:p>
            <a:pPr marL="0" lvl="1" indent="0">
              <a:buFont typeface="Arial" panose="020B0604020202020204" pitchFamily="34" charset="0"/>
              <a:buNone/>
            </a:pPr>
            <a:r>
              <a:rPr lang="en-US"/>
              <a:t>Total contract portfolio value is estimated at €50 million, establishing the financial scope.</a:t>
            </a:r>
          </a:p>
          <a:p>
            <a:pPr marL="0" indent="0">
              <a:spcBef>
                <a:spcPts val="2500"/>
              </a:spcBef>
              <a:buFont typeface="Arial" panose="020B0604020202020204" pitchFamily="34" charset="0"/>
              <a:buNone/>
            </a:pPr>
            <a:r>
              <a:rPr lang="en-US" b="1"/>
              <a:t>Value Leakage Identification</a:t>
            </a:r>
          </a:p>
          <a:p>
            <a:pPr marL="0" lvl="1" indent="0">
              <a:buFont typeface="Arial" panose="020B0604020202020204" pitchFamily="34" charset="0"/>
              <a:buNone/>
            </a:pPr>
            <a:r>
              <a:rPr lang="en-US"/>
              <a:t>Value leakage of 9% results in €4.5 million lost yearly, primarily during contract execution.</a:t>
            </a:r>
          </a:p>
          <a:p>
            <a:pPr marL="0" indent="0">
              <a:spcBef>
                <a:spcPts val="2500"/>
              </a:spcBef>
              <a:buFont typeface="Arial" panose="020B0604020202020204" pitchFamily="34" charset="0"/>
              <a:buNone/>
            </a:pPr>
            <a:r>
              <a:rPr lang="en-US" b="1"/>
              <a:t>Recoverable Value</a:t>
            </a:r>
          </a:p>
          <a:p>
            <a:pPr marL="0" lvl="1" indent="0">
              <a:buFont typeface="Arial" panose="020B0604020202020204" pitchFamily="34" charset="0"/>
              <a:buNone/>
            </a:pPr>
            <a:r>
              <a:rPr lang="en-US"/>
              <a:t>35% of leakage is recoverable, equating to €1.6 million through active management.</a:t>
            </a:r>
          </a:p>
          <a:p>
            <a:pPr marL="0" indent="0">
              <a:spcBef>
                <a:spcPts val="2500"/>
              </a:spcBef>
              <a:buFont typeface="Arial" panose="020B0604020202020204" pitchFamily="34" charset="0"/>
              <a:buNone/>
            </a:pPr>
            <a:r>
              <a:rPr lang="en-US" b="1"/>
              <a:t>Investment and ROI</a:t>
            </a:r>
          </a:p>
          <a:p>
            <a:pPr marL="0" lvl="1" indent="0">
              <a:buFont typeface="Arial" panose="020B0604020202020204" pitchFamily="34" charset="0"/>
              <a:buNone/>
            </a:pPr>
            <a:r>
              <a:rPr lang="en-US"/>
              <a:t>Investment of €150,000 results in a net gain of €1.45 million, delivering 10.5x ROI.</a:t>
            </a:r>
          </a:p>
        </p:txBody>
      </p:sp>
    </p:spTree>
    <p:extLst>
      <p:ext uri="{BB962C8B-B14F-4D97-AF65-F5344CB8AC3E}">
        <p14:creationId xmlns:p14="http://schemas.microsoft.com/office/powerpoint/2010/main" val="2081019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8084</Words>
  <Application>Microsoft Office PowerPoint</Application>
  <PresentationFormat>Widescreen</PresentationFormat>
  <Paragraphs>1551</Paragraphs>
  <Slides>10</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5" baseType="lpstr">
      <vt:lpstr>Aptos</vt:lpstr>
      <vt:lpstr>Aptos Display</vt:lpstr>
      <vt:lpstr>Arial</vt:lpstr>
      <vt:lpstr>Office Theme</vt:lpstr>
      <vt:lpstr>Microsoft Excel Worksheet</vt:lpstr>
      <vt:lpstr>PowerPoint Presentation</vt:lpstr>
      <vt:lpstr>PowerPoint Presentation</vt:lpstr>
      <vt:lpstr>PowerPoint Presentation</vt:lpstr>
      <vt:lpstr>PowerPoint Presentation</vt:lpstr>
      <vt:lpstr>What did co-pilot read ….</vt:lpstr>
      <vt:lpstr>sharp, no-nonsense commercial critique of pricing and GTM</vt:lpstr>
      <vt:lpstr>Food for thought on pricing</vt:lpstr>
      <vt:lpstr>CFO Negotiating playbook</vt:lpstr>
      <vt:lpstr>Value calculator</vt:lpstr>
      <vt:lpstr>One-Slide CFO Decision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Steven-Laptop</dc:creator>
  <cp:lastModifiedBy>Steven-Laptop</cp:lastModifiedBy>
  <cp:revision>5</cp:revision>
  <dcterms:created xsi:type="dcterms:W3CDTF">2026-05-29T12:25:19Z</dcterms:created>
  <dcterms:modified xsi:type="dcterms:W3CDTF">2026-05-29T13:55:53Z</dcterms:modified>
</cp:coreProperties>
</file>