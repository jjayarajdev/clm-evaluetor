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24"/>
  </p:notesMasterIdLst>
  <p:handoutMasterIdLst>
    <p:handoutMasterId r:id="rId25"/>
  </p:handoutMasterIdLst>
  <p:sldIdLst>
    <p:sldId id="408" r:id="rId5"/>
    <p:sldId id="487" r:id="rId6"/>
    <p:sldId id="488" r:id="rId7"/>
    <p:sldId id="494" r:id="rId8"/>
    <p:sldId id="492" r:id="rId9"/>
    <p:sldId id="482" r:id="rId10"/>
    <p:sldId id="481" r:id="rId11"/>
    <p:sldId id="502" r:id="rId12"/>
    <p:sldId id="483" r:id="rId13"/>
    <p:sldId id="493" r:id="rId14"/>
    <p:sldId id="489" r:id="rId15"/>
    <p:sldId id="503" r:id="rId16"/>
    <p:sldId id="504" r:id="rId17"/>
    <p:sldId id="496" r:id="rId18"/>
    <p:sldId id="497" r:id="rId19"/>
    <p:sldId id="498" r:id="rId20"/>
    <p:sldId id="499" r:id="rId21"/>
    <p:sldId id="500" r:id="rId22"/>
    <p:sldId id="501" r:id="rId23"/>
  </p:sldIdLst>
  <p:sldSz cx="9144000" cy="6858000" type="screen4x3"/>
  <p:notesSz cx="9939338" cy="6807200"/>
  <p:defaultTextStyle>
    <a:defPPr>
      <a:defRPr lang="nl-NL"/>
    </a:defPPr>
    <a:lvl1pPr algn="l" rtl="0" fontAlgn="base">
      <a:spcBef>
        <a:spcPct val="0"/>
      </a:spcBef>
      <a:spcAft>
        <a:spcPct val="0"/>
      </a:spcAft>
      <a:defRPr sz="3600" kern="1200">
        <a:solidFill>
          <a:schemeClr val="tx2"/>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73">
          <p15:clr>
            <a:srgbClr val="A4A3A4"/>
          </p15:clr>
        </p15:guide>
        <p15:guide id="2">
          <p15:clr>
            <a:srgbClr val="A4A3A4"/>
          </p15:clr>
        </p15:guide>
      </p15:sldGuideLst>
    </p:ext>
    <p:ext uri="{2D200454-40CA-4A62-9FC3-DE9A4176ACB9}">
      <p15:notesGuideLst xmlns:p15="http://schemas.microsoft.com/office/powerpoint/2012/main">
        <p15:guide id="1" orient="horz" pos="2144">
          <p15:clr>
            <a:srgbClr val="A4A3A4"/>
          </p15:clr>
        </p15:guide>
        <p15:guide id="2" pos="313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 initials="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BEBE"/>
    <a:srgbClr val="A39B70"/>
    <a:srgbClr val="CCCC00"/>
    <a:srgbClr val="B32E19"/>
    <a:srgbClr val="CC6600"/>
    <a:srgbClr val="990033"/>
    <a:srgbClr val="A50021"/>
    <a:srgbClr val="CC0000"/>
    <a:srgbClr val="FF8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80" autoAdjust="0"/>
    <p:restoredTop sz="95565" autoAdjust="0"/>
  </p:normalViewPr>
  <p:slideViewPr>
    <p:cSldViewPr>
      <p:cViewPr varScale="1">
        <p:scale>
          <a:sx n="76" d="100"/>
          <a:sy n="76" d="100"/>
        </p:scale>
        <p:origin x="1476" y="90"/>
      </p:cViewPr>
      <p:guideLst>
        <p:guide orient="horz" pos="73"/>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4"/>
    </p:cViewPr>
  </p:sorterViewPr>
  <p:notesViewPr>
    <p:cSldViewPr snapToGrid="0">
      <p:cViewPr varScale="1">
        <p:scale>
          <a:sx n="55" d="100"/>
          <a:sy n="55" d="100"/>
        </p:scale>
        <p:origin x="-1830" y="-78"/>
      </p:cViewPr>
      <p:guideLst>
        <p:guide orient="horz" pos="2144"/>
        <p:guide pos="3132"/>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image" Target="../media/image4.jp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image" Target="../media/image4.jpg"/></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435A7-0475-488A-8C6D-901DE3BE7119}" type="doc">
      <dgm:prSet loTypeId="urn:microsoft.com/office/officeart/2005/8/layout/hList7" loCatId="list" qsTypeId="urn:microsoft.com/office/officeart/2005/8/quickstyle/simple3" qsCatId="simple" csTypeId="urn:microsoft.com/office/officeart/2005/8/colors/accent6_3" csCatId="accent6" phldr="1"/>
      <dgm:spPr/>
      <dgm:t>
        <a:bodyPr/>
        <a:lstStyle/>
        <a:p>
          <a:endParaRPr lang="en-GB"/>
        </a:p>
      </dgm:t>
    </dgm:pt>
    <dgm:pt modelId="{B1DB67C7-C5D7-49DB-A09F-AF5F02DF6C65}">
      <dgm:prSet custT="1"/>
      <dgm:spPr>
        <a:solidFill>
          <a:schemeClr val="bg1"/>
        </a:solidFill>
      </dgm:spPr>
      <dgm:t>
        <a:bodyPr/>
        <a:lstStyle/>
        <a:p>
          <a:pPr rtl="0"/>
          <a:r>
            <a:rPr lang="en-GB" sz="1400" i="1" dirty="0" smtClean="0">
              <a:latin typeface="Calibri" pitchFamily="34" charset="0"/>
              <a:cs typeface="Calibri" pitchFamily="34" charset="0"/>
            </a:rPr>
            <a:t>Evaluetor</a:t>
          </a:r>
          <a:r>
            <a:rPr lang="en-GB" sz="1400" i="1" dirty="0" smtClean="0">
              <a:latin typeface="Calibri"/>
              <a:cs typeface="Calibri"/>
            </a:rPr>
            <a:t>©</a:t>
          </a:r>
          <a:r>
            <a:rPr lang="en-GB" sz="1400" dirty="0" smtClean="0"/>
            <a:t>  </a:t>
          </a:r>
          <a:endParaRPr lang="nl-NL" sz="1400" dirty="0"/>
        </a:p>
      </dgm:t>
    </dgm:pt>
    <dgm:pt modelId="{62FB363C-6BDD-4B5D-969C-677457BA703B}" type="parTrans" cxnId="{650ABB87-B8DF-4A37-AE45-E73B1B464029}">
      <dgm:prSet/>
      <dgm:spPr/>
      <dgm:t>
        <a:bodyPr/>
        <a:lstStyle/>
        <a:p>
          <a:endParaRPr lang="en-GB"/>
        </a:p>
      </dgm:t>
    </dgm:pt>
    <dgm:pt modelId="{738ABC46-55AF-4C4B-A0F4-B08D19808FB6}" type="sibTrans" cxnId="{650ABB87-B8DF-4A37-AE45-E73B1B464029}">
      <dgm:prSet/>
      <dgm:spPr/>
      <dgm:t>
        <a:bodyPr/>
        <a:lstStyle/>
        <a:p>
          <a:endParaRPr lang="en-GB"/>
        </a:p>
      </dgm:t>
    </dgm:pt>
    <dgm:pt modelId="{0393C25F-5ACF-4490-80CB-12D35BC26901}">
      <dgm:prSet custT="1"/>
      <dgm:spPr>
        <a:solidFill>
          <a:schemeClr val="bg1"/>
        </a:solidFill>
      </dgm:spPr>
      <dgm:t>
        <a:bodyPr/>
        <a:lstStyle/>
        <a:p>
          <a:pPr rtl="0"/>
          <a:r>
            <a:rPr lang="en-GB" sz="1200" dirty="0" smtClean="0">
              <a:latin typeface="Calibri" pitchFamily="34" charset="0"/>
              <a:cs typeface="Calibri" pitchFamily="34" charset="0"/>
            </a:rPr>
            <a:t>Cloud based Software solution;</a:t>
          </a:r>
          <a:endParaRPr lang="nl-NL" sz="1200" dirty="0">
            <a:latin typeface="Calibri" pitchFamily="34" charset="0"/>
            <a:cs typeface="Calibri" pitchFamily="34" charset="0"/>
          </a:endParaRPr>
        </a:p>
      </dgm:t>
    </dgm:pt>
    <dgm:pt modelId="{6A2999B6-5A8C-4A31-AF58-446C4722EB15}" type="parTrans" cxnId="{A757CC64-85DB-46A6-8199-1582CA2E7636}">
      <dgm:prSet/>
      <dgm:spPr/>
      <dgm:t>
        <a:bodyPr/>
        <a:lstStyle/>
        <a:p>
          <a:endParaRPr lang="en-GB"/>
        </a:p>
      </dgm:t>
    </dgm:pt>
    <dgm:pt modelId="{87F51CBF-4610-4F88-9563-261A47A786EF}" type="sibTrans" cxnId="{A757CC64-85DB-46A6-8199-1582CA2E7636}">
      <dgm:prSet/>
      <dgm:spPr/>
      <dgm:t>
        <a:bodyPr/>
        <a:lstStyle/>
        <a:p>
          <a:endParaRPr lang="en-GB"/>
        </a:p>
      </dgm:t>
    </dgm:pt>
    <dgm:pt modelId="{3D77AFC0-CE94-4DB8-9F44-C12300454657}">
      <dgm:prSet custT="1"/>
      <dgm:spPr>
        <a:solidFill>
          <a:schemeClr val="bg1"/>
        </a:solidFill>
      </dgm:spPr>
      <dgm:t>
        <a:bodyPr/>
        <a:lstStyle/>
        <a:p>
          <a:pPr rtl="0"/>
          <a:r>
            <a:rPr lang="en-GB" sz="1200" dirty="0" smtClean="0">
              <a:latin typeface="Calibri" pitchFamily="34" charset="0"/>
              <a:cs typeface="Calibri" pitchFamily="34" charset="0"/>
            </a:rPr>
            <a:t>Secure processes in a workbench enabling integrated management</a:t>
          </a:r>
          <a:endParaRPr lang="nl-NL" sz="1200" dirty="0">
            <a:latin typeface="Calibri" pitchFamily="34" charset="0"/>
            <a:cs typeface="Calibri" pitchFamily="34" charset="0"/>
          </a:endParaRPr>
        </a:p>
      </dgm:t>
    </dgm:pt>
    <dgm:pt modelId="{AB0BEE21-BE8D-4899-A59D-97FD47F3FE4D}" type="parTrans" cxnId="{C57C0951-976E-4950-8F30-1376D100AA6C}">
      <dgm:prSet/>
      <dgm:spPr/>
      <dgm:t>
        <a:bodyPr/>
        <a:lstStyle/>
        <a:p>
          <a:endParaRPr lang="en-GB"/>
        </a:p>
      </dgm:t>
    </dgm:pt>
    <dgm:pt modelId="{812F865E-77AE-4E8F-AF7F-0D1C7C26918B}" type="sibTrans" cxnId="{C57C0951-976E-4950-8F30-1376D100AA6C}">
      <dgm:prSet/>
      <dgm:spPr/>
      <dgm:t>
        <a:bodyPr/>
        <a:lstStyle/>
        <a:p>
          <a:endParaRPr lang="en-GB"/>
        </a:p>
      </dgm:t>
    </dgm:pt>
    <dgm:pt modelId="{D0C0925A-97E2-4072-BC61-C78498E28121}">
      <dgm:prSet custT="1"/>
      <dgm:spPr>
        <a:solidFill>
          <a:schemeClr val="bg1"/>
        </a:solidFill>
      </dgm:spPr>
      <dgm:t>
        <a:bodyPr/>
        <a:lstStyle/>
        <a:p>
          <a:pPr rtl="0"/>
          <a:r>
            <a:rPr lang="en-GB" sz="1400" dirty="0" smtClean="0">
              <a:latin typeface="Calibri" pitchFamily="34" charset="0"/>
              <a:cs typeface="Calibri" pitchFamily="34" charset="0"/>
            </a:rPr>
            <a:t>Process templates</a:t>
          </a:r>
          <a:endParaRPr lang="nl-NL" sz="1400" dirty="0">
            <a:latin typeface="Calibri" pitchFamily="34" charset="0"/>
            <a:cs typeface="Calibri" pitchFamily="34" charset="0"/>
          </a:endParaRPr>
        </a:p>
      </dgm:t>
    </dgm:pt>
    <dgm:pt modelId="{8F7F501C-A0BE-4781-885D-50BAB057B17A}" type="parTrans" cxnId="{8F5F972B-C63B-46C5-BA2E-378F595F18C6}">
      <dgm:prSet/>
      <dgm:spPr/>
      <dgm:t>
        <a:bodyPr/>
        <a:lstStyle/>
        <a:p>
          <a:endParaRPr lang="en-GB"/>
        </a:p>
      </dgm:t>
    </dgm:pt>
    <dgm:pt modelId="{09ED19DB-9F11-43D4-9313-92C025B99D50}" type="sibTrans" cxnId="{8F5F972B-C63B-46C5-BA2E-378F595F18C6}">
      <dgm:prSet/>
      <dgm:spPr/>
      <dgm:t>
        <a:bodyPr/>
        <a:lstStyle/>
        <a:p>
          <a:endParaRPr lang="en-GB"/>
        </a:p>
      </dgm:t>
    </dgm:pt>
    <dgm:pt modelId="{1D2075A1-BC1D-4E85-8878-D420CC891F2B}">
      <dgm:prSet custT="1"/>
      <dgm:spPr>
        <a:solidFill>
          <a:schemeClr val="bg1"/>
        </a:solidFill>
      </dgm:spPr>
      <dgm:t>
        <a:bodyPr/>
        <a:lstStyle/>
        <a:p>
          <a:pPr rtl="0"/>
          <a:r>
            <a:rPr lang="en-GB" sz="1200" dirty="0" smtClean="0">
              <a:latin typeface="Calibri" pitchFamily="34" charset="0"/>
              <a:cs typeface="Calibri" pitchFamily="34" charset="0"/>
            </a:rPr>
            <a:t>We can lead or facilitate, your choice</a:t>
          </a:r>
          <a:endParaRPr lang="nl-NL" sz="1200" dirty="0">
            <a:latin typeface="Calibri" pitchFamily="34" charset="0"/>
            <a:cs typeface="Calibri" pitchFamily="34" charset="0"/>
          </a:endParaRPr>
        </a:p>
      </dgm:t>
    </dgm:pt>
    <dgm:pt modelId="{D0AA74FC-3433-46F8-954E-84C177828127}" type="parTrans" cxnId="{D663C07C-4AB8-417D-A7C4-E5A4F4B72EE8}">
      <dgm:prSet/>
      <dgm:spPr/>
      <dgm:t>
        <a:bodyPr/>
        <a:lstStyle/>
        <a:p>
          <a:endParaRPr lang="en-GB"/>
        </a:p>
      </dgm:t>
    </dgm:pt>
    <dgm:pt modelId="{C4DEA199-16A3-4320-AA20-657E47048A6F}" type="sibTrans" cxnId="{D663C07C-4AB8-417D-A7C4-E5A4F4B72EE8}">
      <dgm:prSet/>
      <dgm:spPr/>
      <dgm:t>
        <a:bodyPr/>
        <a:lstStyle/>
        <a:p>
          <a:endParaRPr lang="en-GB"/>
        </a:p>
      </dgm:t>
    </dgm:pt>
    <dgm:pt modelId="{1FBC67A1-4496-4C0A-A7C6-4AB48035F287}">
      <dgm:prSet custT="1"/>
      <dgm:spPr>
        <a:solidFill>
          <a:schemeClr val="bg1"/>
        </a:solidFill>
      </dgm:spPr>
      <dgm:t>
        <a:bodyPr/>
        <a:lstStyle/>
        <a:p>
          <a:pPr rtl="0"/>
          <a:r>
            <a:rPr lang="en-GB" sz="1200" dirty="0" smtClean="0">
              <a:latin typeface="Calibri" pitchFamily="34" charset="0"/>
              <a:cs typeface="Calibri" pitchFamily="34" charset="0"/>
            </a:rPr>
            <a:t>Using experience driven proven processes</a:t>
          </a:r>
          <a:endParaRPr lang="nl-NL" sz="1200" dirty="0">
            <a:latin typeface="Calibri" pitchFamily="34" charset="0"/>
            <a:cs typeface="Calibri" pitchFamily="34" charset="0"/>
          </a:endParaRPr>
        </a:p>
      </dgm:t>
    </dgm:pt>
    <dgm:pt modelId="{FA04C3B3-4FCB-408D-8EFE-04D4DEE52755}" type="parTrans" cxnId="{E412EAED-655B-4307-ABCA-982E6BFD9E43}">
      <dgm:prSet/>
      <dgm:spPr/>
      <dgm:t>
        <a:bodyPr/>
        <a:lstStyle/>
        <a:p>
          <a:endParaRPr lang="en-GB"/>
        </a:p>
      </dgm:t>
    </dgm:pt>
    <dgm:pt modelId="{63FC5E58-98D0-4865-8F2E-B4197CAE2F09}" type="sibTrans" cxnId="{E412EAED-655B-4307-ABCA-982E6BFD9E43}">
      <dgm:prSet/>
      <dgm:spPr/>
      <dgm:t>
        <a:bodyPr/>
        <a:lstStyle/>
        <a:p>
          <a:endParaRPr lang="en-GB"/>
        </a:p>
      </dgm:t>
    </dgm:pt>
    <dgm:pt modelId="{329117CA-61AD-4287-855E-D6C45A2DEFD6}">
      <dgm:prSet custT="1"/>
      <dgm:spPr>
        <a:solidFill>
          <a:schemeClr val="bg1"/>
        </a:solidFill>
      </dgm:spPr>
      <dgm:t>
        <a:bodyPr/>
        <a:lstStyle/>
        <a:p>
          <a:pPr rtl="0"/>
          <a:r>
            <a:rPr lang="en-GB" sz="1400" dirty="0" smtClean="0">
              <a:latin typeface="Calibri" pitchFamily="34" charset="0"/>
              <a:cs typeface="Calibri" pitchFamily="34" charset="0"/>
            </a:rPr>
            <a:t>Advisory group </a:t>
          </a:r>
          <a:endParaRPr lang="nl-NL" sz="1400" dirty="0">
            <a:latin typeface="Calibri" pitchFamily="34" charset="0"/>
            <a:cs typeface="Calibri" pitchFamily="34" charset="0"/>
          </a:endParaRPr>
        </a:p>
      </dgm:t>
    </dgm:pt>
    <dgm:pt modelId="{93A0880C-55F9-4313-B66C-80320A412633}" type="parTrans" cxnId="{E7F214F8-A5FF-4F81-ABD7-929DE85C2611}">
      <dgm:prSet/>
      <dgm:spPr/>
      <dgm:t>
        <a:bodyPr/>
        <a:lstStyle/>
        <a:p>
          <a:endParaRPr lang="en-GB"/>
        </a:p>
      </dgm:t>
    </dgm:pt>
    <dgm:pt modelId="{E7D175FA-0E14-40A5-88C6-8D8A9FAA42A3}" type="sibTrans" cxnId="{E7F214F8-A5FF-4F81-ABD7-929DE85C2611}">
      <dgm:prSet/>
      <dgm:spPr/>
      <dgm:t>
        <a:bodyPr/>
        <a:lstStyle/>
        <a:p>
          <a:endParaRPr lang="en-GB"/>
        </a:p>
      </dgm:t>
    </dgm:pt>
    <dgm:pt modelId="{C9D07E9B-4AC2-4E9E-8EAF-4A98D043FCDD}">
      <dgm:prSet custT="1"/>
      <dgm:spPr>
        <a:solidFill>
          <a:schemeClr val="bg1"/>
        </a:solidFill>
      </dgm:spPr>
      <dgm:t>
        <a:bodyPr/>
        <a:lstStyle/>
        <a:p>
          <a:pPr rtl="0"/>
          <a:r>
            <a:rPr lang="en-GB" sz="1200" dirty="0" smtClean="0">
              <a:latin typeface="Calibri" pitchFamily="34" charset="0"/>
              <a:cs typeface="Calibri" pitchFamily="34" charset="0"/>
            </a:rPr>
            <a:t>Strength in Knowledge</a:t>
          </a:r>
          <a:endParaRPr lang="nl-NL" sz="1200" dirty="0">
            <a:latin typeface="Calibri" pitchFamily="34" charset="0"/>
            <a:cs typeface="Calibri" pitchFamily="34" charset="0"/>
          </a:endParaRPr>
        </a:p>
      </dgm:t>
    </dgm:pt>
    <dgm:pt modelId="{6BB4660A-A515-49AD-B987-24E573C36F4B}" type="parTrans" cxnId="{6E12B46F-A69C-4AE3-91F8-E2782752E14D}">
      <dgm:prSet/>
      <dgm:spPr/>
      <dgm:t>
        <a:bodyPr/>
        <a:lstStyle/>
        <a:p>
          <a:endParaRPr lang="en-GB"/>
        </a:p>
      </dgm:t>
    </dgm:pt>
    <dgm:pt modelId="{B3E73469-1CCD-413B-89DB-872364260079}" type="sibTrans" cxnId="{6E12B46F-A69C-4AE3-91F8-E2782752E14D}">
      <dgm:prSet/>
      <dgm:spPr/>
      <dgm:t>
        <a:bodyPr/>
        <a:lstStyle/>
        <a:p>
          <a:endParaRPr lang="en-GB"/>
        </a:p>
      </dgm:t>
    </dgm:pt>
    <dgm:pt modelId="{C81E16B6-6393-4F27-BFFE-27D506E470D4}">
      <dgm:prSet custT="1"/>
      <dgm:spPr>
        <a:solidFill>
          <a:schemeClr val="bg1"/>
        </a:solidFill>
      </dgm:spPr>
      <dgm:t>
        <a:bodyPr/>
        <a:lstStyle/>
        <a:p>
          <a:pPr rtl="0"/>
          <a:r>
            <a:rPr lang="en-GB" sz="1200" dirty="0" smtClean="0">
              <a:latin typeface="Calibri" pitchFamily="34" charset="0"/>
              <a:cs typeface="Calibri" pitchFamily="34" charset="0"/>
            </a:rPr>
            <a:t>Experienced advisors that help your organisation with the process framework</a:t>
          </a:r>
          <a:endParaRPr lang="nl-NL" sz="1200" dirty="0">
            <a:latin typeface="Calibri" pitchFamily="34" charset="0"/>
            <a:cs typeface="Calibri" pitchFamily="34" charset="0"/>
          </a:endParaRPr>
        </a:p>
      </dgm:t>
    </dgm:pt>
    <dgm:pt modelId="{7E39D1C6-0BC3-4D0C-BAA5-78672D09CB25}" type="parTrans" cxnId="{D9C074C1-C542-45B2-8FBE-CAAA049D3201}">
      <dgm:prSet/>
      <dgm:spPr/>
      <dgm:t>
        <a:bodyPr/>
        <a:lstStyle/>
        <a:p>
          <a:endParaRPr lang="en-GB"/>
        </a:p>
      </dgm:t>
    </dgm:pt>
    <dgm:pt modelId="{150EBFC3-999A-4B41-B40C-73B1F6B6311B}" type="sibTrans" cxnId="{D9C074C1-C542-45B2-8FBE-CAAA049D3201}">
      <dgm:prSet/>
      <dgm:spPr/>
      <dgm:t>
        <a:bodyPr/>
        <a:lstStyle/>
        <a:p>
          <a:endParaRPr lang="en-GB"/>
        </a:p>
      </dgm:t>
    </dgm:pt>
    <dgm:pt modelId="{27759ACD-225B-4137-B750-90161F789C17}" type="pres">
      <dgm:prSet presAssocID="{7D9435A7-0475-488A-8C6D-901DE3BE7119}" presName="Name0" presStyleCnt="0">
        <dgm:presLayoutVars>
          <dgm:dir/>
          <dgm:resizeHandles val="exact"/>
        </dgm:presLayoutVars>
      </dgm:prSet>
      <dgm:spPr/>
      <dgm:t>
        <a:bodyPr/>
        <a:lstStyle/>
        <a:p>
          <a:endParaRPr lang="en-GB"/>
        </a:p>
      </dgm:t>
    </dgm:pt>
    <dgm:pt modelId="{CD3C5EFD-96AB-44A1-A226-DD6E22ACDCDB}" type="pres">
      <dgm:prSet presAssocID="{7D9435A7-0475-488A-8C6D-901DE3BE7119}" presName="fgShape" presStyleLbl="fgShp" presStyleIdx="0" presStyleCnt="1" custLinFactNeighborX="570" custLinFactNeighborY="10688"/>
      <dgm:spPr/>
      <dgm:t>
        <a:bodyPr/>
        <a:lstStyle/>
        <a:p>
          <a:endParaRPr lang="en-GB"/>
        </a:p>
      </dgm:t>
    </dgm:pt>
    <dgm:pt modelId="{581A66C9-9F44-446C-ABCF-81065E2A6066}" type="pres">
      <dgm:prSet presAssocID="{7D9435A7-0475-488A-8C6D-901DE3BE7119}" presName="linComp" presStyleCnt="0"/>
      <dgm:spPr/>
      <dgm:t>
        <a:bodyPr/>
        <a:lstStyle/>
        <a:p>
          <a:endParaRPr lang="en-GB"/>
        </a:p>
      </dgm:t>
    </dgm:pt>
    <dgm:pt modelId="{E25571E0-1AAD-4D92-A183-060116E81607}" type="pres">
      <dgm:prSet presAssocID="{B1DB67C7-C5D7-49DB-A09F-AF5F02DF6C65}" presName="compNode" presStyleCnt="0"/>
      <dgm:spPr/>
      <dgm:t>
        <a:bodyPr/>
        <a:lstStyle/>
        <a:p>
          <a:endParaRPr lang="en-GB"/>
        </a:p>
      </dgm:t>
    </dgm:pt>
    <dgm:pt modelId="{489C6B7A-4196-4F3C-A924-FAF2B67D0041}" type="pres">
      <dgm:prSet presAssocID="{B1DB67C7-C5D7-49DB-A09F-AF5F02DF6C65}" presName="bkgdShape" presStyleLbl="node1" presStyleIdx="0" presStyleCnt="3" custScaleX="112749"/>
      <dgm:spPr/>
      <dgm:t>
        <a:bodyPr/>
        <a:lstStyle/>
        <a:p>
          <a:endParaRPr lang="en-GB"/>
        </a:p>
      </dgm:t>
    </dgm:pt>
    <dgm:pt modelId="{14E15AC2-E0F8-415E-826F-F290B6DDA546}" type="pres">
      <dgm:prSet presAssocID="{B1DB67C7-C5D7-49DB-A09F-AF5F02DF6C65}" presName="nodeTx" presStyleLbl="node1" presStyleIdx="0" presStyleCnt="3">
        <dgm:presLayoutVars>
          <dgm:bulletEnabled val="1"/>
        </dgm:presLayoutVars>
      </dgm:prSet>
      <dgm:spPr/>
      <dgm:t>
        <a:bodyPr/>
        <a:lstStyle/>
        <a:p>
          <a:endParaRPr lang="en-GB"/>
        </a:p>
      </dgm:t>
    </dgm:pt>
    <dgm:pt modelId="{4D72C307-4FB0-4220-9110-38ED97476991}" type="pres">
      <dgm:prSet presAssocID="{B1DB67C7-C5D7-49DB-A09F-AF5F02DF6C65}" presName="invisiNode" presStyleLbl="node1" presStyleIdx="0" presStyleCnt="3"/>
      <dgm:spPr/>
      <dgm:t>
        <a:bodyPr/>
        <a:lstStyle/>
        <a:p>
          <a:endParaRPr lang="en-GB"/>
        </a:p>
      </dgm:t>
    </dgm:pt>
    <dgm:pt modelId="{DB6E4A5C-6849-43F1-8B62-68DD80E6AF35}" type="pres">
      <dgm:prSet presAssocID="{B1DB67C7-C5D7-49DB-A09F-AF5F02DF6C65}" presName="imagNode" presStyleLbl="fgImgPlace1" presStyleIdx="0" presStyleCnt="3" custLinFactNeighborX="-4942" custLinFactNeighborY="1865"/>
      <dgm:spPr>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dgm:spPr>
      <dgm:t>
        <a:bodyPr/>
        <a:lstStyle/>
        <a:p>
          <a:endParaRPr lang="en-GB"/>
        </a:p>
      </dgm:t>
    </dgm:pt>
    <dgm:pt modelId="{C463A83E-DD0B-45A6-8F5D-7762418DA70D}" type="pres">
      <dgm:prSet presAssocID="{738ABC46-55AF-4C4B-A0F4-B08D19808FB6}" presName="sibTrans" presStyleLbl="sibTrans2D1" presStyleIdx="0" presStyleCnt="0"/>
      <dgm:spPr/>
      <dgm:t>
        <a:bodyPr/>
        <a:lstStyle/>
        <a:p>
          <a:endParaRPr lang="en-GB"/>
        </a:p>
      </dgm:t>
    </dgm:pt>
    <dgm:pt modelId="{1F6A5949-C066-4017-BA77-FFB1B73AAD24}" type="pres">
      <dgm:prSet presAssocID="{D0C0925A-97E2-4072-BC61-C78498E28121}" presName="compNode" presStyleCnt="0"/>
      <dgm:spPr/>
      <dgm:t>
        <a:bodyPr/>
        <a:lstStyle/>
        <a:p>
          <a:endParaRPr lang="en-GB"/>
        </a:p>
      </dgm:t>
    </dgm:pt>
    <dgm:pt modelId="{339A440C-7902-4F70-8908-69AA8733F41E}" type="pres">
      <dgm:prSet presAssocID="{D0C0925A-97E2-4072-BC61-C78498E28121}" presName="bkgdShape" presStyleLbl="node1" presStyleIdx="1" presStyleCnt="3"/>
      <dgm:spPr/>
      <dgm:t>
        <a:bodyPr/>
        <a:lstStyle/>
        <a:p>
          <a:endParaRPr lang="en-GB"/>
        </a:p>
      </dgm:t>
    </dgm:pt>
    <dgm:pt modelId="{87234204-34C8-496C-A0E3-BDECD66B5C72}" type="pres">
      <dgm:prSet presAssocID="{D0C0925A-97E2-4072-BC61-C78498E28121}" presName="nodeTx" presStyleLbl="node1" presStyleIdx="1" presStyleCnt="3">
        <dgm:presLayoutVars>
          <dgm:bulletEnabled val="1"/>
        </dgm:presLayoutVars>
      </dgm:prSet>
      <dgm:spPr/>
      <dgm:t>
        <a:bodyPr/>
        <a:lstStyle/>
        <a:p>
          <a:endParaRPr lang="en-GB"/>
        </a:p>
      </dgm:t>
    </dgm:pt>
    <dgm:pt modelId="{6D928281-83F2-493D-A68B-5C91589A062C}" type="pres">
      <dgm:prSet presAssocID="{D0C0925A-97E2-4072-BC61-C78498E28121}" presName="invisiNode" presStyleLbl="node1" presStyleIdx="1" presStyleCnt="3"/>
      <dgm:spPr/>
      <dgm:t>
        <a:bodyPr/>
        <a:lstStyle/>
        <a:p>
          <a:endParaRPr lang="en-GB"/>
        </a:p>
      </dgm:t>
    </dgm:pt>
    <dgm:pt modelId="{64BF7552-B49D-4D37-9EF9-1B3A015F67FC}" type="pres">
      <dgm:prSet presAssocID="{D0C0925A-97E2-4072-BC61-C78498E28121}" presName="imagNod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dgm:spPr>
      <dgm:t>
        <a:bodyPr/>
        <a:lstStyle/>
        <a:p>
          <a:endParaRPr lang="en-GB"/>
        </a:p>
      </dgm:t>
    </dgm:pt>
    <dgm:pt modelId="{5F83E3DC-6F9F-4FA9-B39B-068F48D59B18}" type="pres">
      <dgm:prSet presAssocID="{09ED19DB-9F11-43D4-9313-92C025B99D50}" presName="sibTrans" presStyleLbl="sibTrans2D1" presStyleIdx="0" presStyleCnt="0"/>
      <dgm:spPr/>
      <dgm:t>
        <a:bodyPr/>
        <a:lstStyle/>
        <a:p>
          <a:endParaRPr lang="en-GB"/>
        </a:p>
      </dgm:t>
    </dgm:pt>
    <dgm:pt modelId="{1C6F3BCD-CD2A-43D1-BDAD-67E44E72F77F}" type="pres">
      <dgm:prSet presAssocID="{329117CA-61AD-4287-855E-D6C45A2DEFD6}" presName="compNode" presStyleCnt="0"/>
      <dgm:spPr/>
      <dgm:t>
        <a:bodyPr/>
        <a:lstStyle/>
        <a:p>
          <a:endParaRPr lang="en-GB"/>
        </a:p>
      </dgm:t>
    </dgm:pt>
    <dgm:pt modelId="{8BB923C1-78F4-4C58-9627-71F58786FCF6}" type="pres">
      <dgm:prSet presAssocID="{329117CA-61AD-4287-855E-D6C45A2DEFD6}" presName="bkgdShape" presStyleLbl="node1" presStyleIdx="2" presStyleCnt="3"/>
      <dgm:spPr/>
      <dgm:t>
        <a:bodyPr/>
        <a:lstStyle/>
        <a:p>
          <a:endParaRPr lang="en-GB"/>
        </a:p>
      </dgm:t>
    </dgm:pt>
    <dgm:pt modelId="{88ED7D67-C7C5-4285-BF95-804D71146D2C}" type="pres">
      <dgm:prSet presAssocID="{329117CA-61AD-4287-855E-D6C45A2DEFD6}" presName="nodeTx" presStyleLbl="node1" presStyleIdx="2" presStyleCnt="3">
        <dgm:presLayoutVars>
          <dgm:bulletEnabled val="1"/>
        </dgm:presLayoutVars>
      </dgm:prSet>
      <dgm:spPr/>
      <dgm:t>
        <a:bodyPr/>
        <a:lstStyle/>
        <a:p>
          <a:endParaRPr lang="en-GB"/>
        </a:p>
      </dgm:t>
    </dgm:pt>
    <dgm:pt modelId="{DD083872-07AF-424E-865A-8D2EA4DC6F5A}" type="pres">
      <dgm:prSet presAssocID="{329117CA-61AD-4287-855E-D6C45A2DEFD6}" presName="invisiNode" presStyleLbl="node1" presStyleIdx="2" presStyleCnt="3"/>
      <dgm:spPr/>
      <dgm:t>
        <a:bodyPr/>
        <a:lstStyle/>
        <a:p>
          <a:endParaRPr lang="en-GB"/>
        </a:p>
      </dgm:t>
    </dgm:pt>
    <dgm:pt modelId="{A8C4741D-4AB0-42D6-8C4B-38CB5BA2DD9D}" type="pres">
      <dgm:prSet presAssocID="{329117CA-61AD-4287-855E-D6C45A2DEFD6}"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t>
        <a:bodyPr/>
        <a:lstStyle/>
        <a:p>
          <a:endParaRPr lang="en-GB"/>
        </a:p>
      </dgm:t>
    </dgm:pt>
  </dgm:ptLst>
  <dgm:cxnLst>
    <dgm:cxn modelId="{BEACF9C1-810D-4790-8C68-98E3128BBBBF}" type="presOf" srcId="{C9D07E9B-4AC2-4E9E-8EAF-4A98D043FCDD}" destId="{88ED7D67-C7C5-4285-BF95-804D71146D2C}" srcOrd="1" destOrd="1" presId="urn:microsoft.com/office/officeart/2005/8/layout/hList7"/>
    <dgm:cxn modelId="{A92BEE47-185C-47DF-9E8B-6D157C1A37E4}" type="presOf" srcId="{3D77AFC0-CE94-4DB8-9F44-C12300454657}" destId="{14E15AC2-E0F8-415E-826F-F290B6DDA546}" srcOrd="1" destOrd="2" presId="urn:microsoft.com/office/officeart/2005/8/layout/hList7"/>
    <dgm:cxn modelId="{D663C07C-4AB8-417D-A7C4-E5A4F4B72EE8}" srcId="{D0C0925A-97E2-4072-BC61-C78498E28121}" destId="{1D2075A1-BC1D-4E85-8878-D420CC891F2B}" srcOrd="0" destOrd="0" parTransId="{D0AA74FC-3433-46F8-954E-84C177828127}" sibTransId="{C4DEA199-16A3-4320-AA20-657E47048A6F}"/>
    <dgm:cxn modelId="{A757CC64-85DB-46A6-8199-1582CA2E7636}" srcId="{B1DB67C7-C5D7-49DB-A09F-AF5F02DF6C65}" destId="{0393C25F-5ACF-4490-80CB-12D35BC26901}" srcOrd="0" destOrd="0" parTransId="{6A2999B6-5A8C-4A31-AF58-446C4722EB15}" sibTransId="{87F51CBF-4610-4F88-9563-261A47A786EF}"/>
    <dgm:cxn modelId="{E412EAED-655B-4307-ABCA-982E6BFD9E43}" srcId="{D0C0925A-97E2-4072-BC61-C78498E28121}" destId="{1FBC67A1-4496-4C0A-A7C6-4AB48035F287}" srcOrd="1" destOrd="0" parTransId="{FA04C3B3-4FCB-408D-8EFE-04D4DEE52755}" sibTransId="{63FC5E58-98D0-4865-8F2E-B4197CAE2F09}"/>
    <dgm:cxn modelId="{650ABB87-B8DF-4A37-AE45-E73B1B464029}" srcId="{7D9435A7-0475-488A-8C6D-901DE3BE7119}" destId="{B1DB67C7-C5D7-49DB-A09F-AF5F02DF6C65}" srcOrd="0" destOrd="0" parTransId="{62FB363C-6BDD-4B5D-969C-677457BA703B}" sibTransId="{738ABC46-55AF-4C4B-A0F4-B08D19808FB6}"/>
    <dgm:cxn modelId="{346BB0B6-E29C-4CD7-B6FA-C7EA3967A99D}" type="presOf" srcId="{329117CA-61AD-4287-855E-D6C45A2DEFD6}" destId="{8BB923C1-78F4-4C58-9627-71F58786FCF6}" srcOrd="0" destOrd="0" presId="urn:microsoft.com/office/officeart/2005/8/layout/hList7"/>
    <dgm:cxn modelId="{3AB92D32-D8C0-4CB6-A355-B4BE5633A6A7}" type="presOf" srcId="{C81E16B6-6393-4F27-BFFE-27D506E470D4}" destId="{8BB923C1-78F4-4C58-9627-71F58786FCF6}" srcOrd="0" destOrd="2" presId="urn:microsoft.com/office/officeart/2005/8/layout/hList7"/>
    <dgm:cxn modelId="{D45286A8-916B-431D-A70E-B17B21D704AF}" type="presOf" srcId="{C9D07E9B-4AC2-4E9E-8EAF-4A98D043FCDD}" destId="{8BB923C1-78F4-4C58-9627-71F58786FCF6}" srcOrd="0" destOrd="1" presId="urn:microsoft.com/office/officeart/2005/8/layout/hList7"/>
    <dgm:cxn modelId="{6E12B46F-A69C-4AE3-91F8-E2782752E14D}" srcId="{329117CA-61AD-4287-855E-D6C45A2DEFD6}" destId="{C9D07E9B-4AC2-4E9E-8EAF-4A98D043FCDD}" srcOrd="0" destOrd="0" parTransId="{6BB4660A-A515-49AD-B987-24E573C36F4B}" sibTransId="{B3E73469-1CCD-413B-89DB-872364260079}"/>
    <dgm:cxn modelId="{D71ACF0A-DA35-4688-AC6D-E729C0DC34B2}" type="presOf" srcId="{09ED19DB-9F11-43D4-9313-92C025B99D50}" destId="{5F83E3DC-6F9F-4FA9-B39B-068F48D59B18}" srcOrd="0" destOrd="0" presId="urn:microsoft.com/office/officeart/2005/8/layout/hList7"/>
    <dgm:cxn modelId="{2FF35C44-BCA6-4CE9-8FC1-7E31DC3500E3}" type="presOf" srcId="{3D77AFC0-CE94-4DB8-9F44-C12300454657}" destId="{489C6B7A-4196-4F3C-A924-FAF2B67D0041}" srcOrd="0" destOrd="2" presId="urn:microsoft.com/office/officeart/2005/8/layout/hList7"/>
    <dgm:cxn modelId="{98B15C8C-76F7-40F2-9E9E-D08A658DAC44}" type="presOf" srcId="{7D9435A7-0475-488A-8C6D-901DE3BE7119}" destId="{27759ACD-225B-4137-B750-90161F789C17}" srcOrd="0" destOrd="0" presId="urn:microsoft.com/office/officeart/2005/8/layout/hList7"/>
    <dgm:cxn modelId="{D9C074C1-C542-45B2-8FBE-CAAA049D3201}" srcId="{329117CA-61AD-4287-855E-D6C45A2DEFD6}" destId="{C81E16B6-6393-4F27-BFFE-27D506E470D4}" srcOrd="1" destOrd="0" parTransId="{7E39D1C6-0BC3-4D0C-BAA5-78672D09CB25}" sibTransId="{150EBFC3-999A-4B41-B40C-73B1F6B6311B}"/>
    <dgm:cxn modelId="{7A8F6A69-0E9C-4E33-8075-BBC517A881E5}" type="presOf" srcId="{1D2075A1-BC1D-4E85-8878-D420CC891F2B}" destId="{87234204-34C8-496C-A0E3-BDECD66B5C72}" srcOrd="1" destOrd="1" presId="urn:microsoft.com/office/officeart/2005/8/layout/hList7"/>
    <dgm:cxn modelId="{D151C118-5971-4AF1-80EF-35DFDDBEC33D}" type="presOf" srcId="{D0C0925A-97E2-4072-BC61-C78498E28121}" destId="{87234204-34C8-496C-A0E3-BDECD66B5C72}" srcOrd="1" destOrd="0" presId="urn:microsoft.com/office/officeart/2005/8/layout/hList7"/>
    <dgm:cxn modelId="{E6FC64A6-05BD-498D-9AB1-9E4E44AF44DA}" type="presOf" srcId="{0393C25F-5ACF-4490-80CB-12D35BC26901}" destId="{14E15AC2-E0F8-415E-826F-F290B6DDA546}" srcOrd="1" destOrd="1" presId="urn:microsoft.com/office/officeart/2005/8/layout/hList7"/>
    <dgm:cxn modelId="{E2CF89DF-AC2D-44A3-8AB1-001CE0BCE299}" type="presOf" srcId="{738ABC46-55AF-4C4B-A0F4-B08D19808FB6}" destId="{C463A83E-DD0B-45A6-8F5D-7762418DA70D}" srcOrd="0" destOrd="0" presId="urn:microsoft.com/office/officeart/2005/8/layout/hList7"/>
    <dgm:cxn modelId="{83A5C4C8-1DDA-498B-85F6-D88E2E8507A7}" type="presOf" srcId="{329117CA-61AD-4287-855E-D6C45A2DEFD6}" destId="{88ED7D67-C7C5-4285-BF95-804D71146D2C}" srcOrd="1" destOrd="0" presId="urn:microsoft.com/office/officeart/2005/8/layout/hList7"/>
    <dgm:cxn modelId="{E7F214F8-A5FF-4F81-ABD7-929DE85C2611}" srcId="{7D9435A7-0475-488A-8C6D-901DE3BE7119}" destId="{329117CA-61AD-4287-855E-D6C45A2DEFD6}" srcOrd="2" destOrd="0" parTransId="{93A0880C-55F9-4313-B66C-80320A412633}" sibTransId="{E7D175FA-0E14-40A5-88C6-8D8A9FAA42A3}"/>
    <dgm:cxn modelId="{320ABE9F-2E98-4881-B1F5-36BB22F05B8E}" type="presOf" srcId="{B1DB67C7-C5D7-49DB-A09F-AF5F02DF6C65}" destId="{14E15AC2-E0F8-415E-826F-F290B6DDA546}" srcOrd="1" destOrd="0" presId="urn:microsoft.com/office/officeart/2005/8/layout/hList7"/>
    <dgm:cxn modelId="{6AAA31A1-6504-47B2-9C07-E0CCA02CFF8E}" type="presOf" srcId="{1FBC67A1-4496-4C0A-A7C6-4AB48035F287}" destId="{87234204-34C8-496C-A0E3-BDECD66B5C72}" srcOrd="1" destOrd="2" presId="urn:microsoft.com/office/officeart/2005/8/layout/hList7"/>
    <dgm:cxn modelId="{79A37DEB-34A8-485D-9C50-839BF33D4E23}" type="presOf" srcId="{0393C25F-5ACF-4490-80CB-12D35BC26901}" destId="{489C6B7A-4196-4F3C-A924-FAF2B67D0041}" srcOrd="0" destOrd="1" presId="urn:microsoft.com/office/officeart/2005/8/layout/hList7"/>
    <dgm:cxn modelId="{C57C0951-976E-4950-8F30-1376D100AA6C}" srcId="{B1DB67C7-C5D7-49DB-A09F-AF5F02DF6C65}" destId="{3D77AFC0-CE94-4DB8-9F44-C12300454657}" srcOrd="1" destOrd="0" parTransId="{AB0BEE21-BE8D-4899-A59D-97FD47F3FE4D}" sibTransId="{812F865E-77AE-4E8F-AF7F-0D1C7C26918B}"/>
    <dgm:cxn modelId="{B08CEE45-3BE8-466C-94ED-06F28442DD86}" type="presOf" srcId="{B1DB67C7-C5D7-49DB-A09F-AF5F02DF6C65}" destId="{489C6B7A-4196-4F3C-A924-FAF2B67D0041}" srcOrd="0" destOrd="0" presId="urn:microsoft.com/office/officeart/2005/8/layout/hList7"/>
    <dgm:cxn modelId="{09858442-0274-469E-8269-5FFD4B25EA3F}" type="presOf" srcId="{1D2075A1-BC1D-4E85-8878-D420CC891F2B}" destId="{339A440C-7902-4F70-8908-69AA8733F41E}" srcOrd="0" destOrd="1" presId="urn:microsoft.com/office/officeart/2005/8/layout/hList7"/>
    <dgm:cxn modelId="{9BED53D3-A987-427C-8AD2-9CDDD22F7537}" type="presOf" srcId="{1FBC67A1-4496-4C0A-A7C6-4AB48035F287}" destId="{339A440C-7902-4F70-8908-69AA8733F41E}" srcOrd="0" destOrd="2" presId="urn:microsoft.com/office/officeart/2005/8/layout/hList7"/>
    <dgm:cxn modelId="{8F5F972B-C63B-46C5-BA2E-378F595F18C6}" srcId="{7D9435A7-0475-488A-8C6D-901DE3BE7119}" destId="{D0C0925A-97E2-4072-BC61-C78498E28121}" srcOrd="1" destOrd="0" parTransId="{8F7F501C-A0BE-4781-885D-50BAB057B17A}" sibTransId="{09ED19DB-9F11-43D4-9313-92C025B99D50}"/>
    <dgm:cxn modelId="{CC94023B-7726-4813-A19A-43DE6A0EF3DE}" type="presOf" srcId="{D0C0925A-97E2-4072-BC61-C78498E28121}" destId="{339A440C-7902-4F70-8908-69AA8733F41E}" srcOrd="0" destOrd="0" presId="urn:microsoft.com/office/officeart/2005/8/layout/hList7"/>
    <dgm:cxn modelId="{9543F92B-DBD9-409E-8D41-A40E9FC2F896}" type="presOf" srcId="{C81E16B6-6393-4F27-BFFE-27D506E470D4}" destId="{88ED7D67-C7C5-4285-BF95-804D71146D2C}" srcOrd="1" destOrd="2" presId="urn:microsoft.com/office/officeart/2005/8/layout/hList7"/>
    <dgm:cxn modelId="{A6F08502-4872-48F4-8323-F9E69F4EFF9F}" type="presParOf" srcId="{27759ACD-225B-4137-B750-90161F789C17}" destId="{CD3C5EFD-96AB-44A1-A226-DD6E22ACDCDB}" srcOrd="0" destOrd="0" presId="urn:microsoft.com/office/officeart/2005/8/layout/hList7"/>
    <dgm:cxn modelId="{6F803FFF-AB5B-4346-8819-F67921E790BD}" type="presParOf" srcId="{27759ACD-225B-4137-B750-90161F789C17}" destId="{581A66C9-9F44-446C-ABCF-81065E2A6066}" srcOrd="1" destOrd="0" presId="urn:microsoft.com/office/officeart/2005/8/layout/hList7"/>
    <dgm:cxn modelId="{6C5A2CAB-047B-4B77-8AFE-FECE60C0B25B}" type="presParOf" srcId="{581A66C9-9F44-446C-ABCF-81065E2A6066}" destId="{E25571E0-1AAD-4D92-A183-060116E81607}" srcOrd="0" destOrd="0" presId="urn:microsoft.com/office/officeart/2005/8/layout/hList7"/>
    <dgm:cxn modelId="{91B2D5E2-D1E6-4330-A816-34FCDD4229A5}" type="presParOf" srcId="{E25571E0-1AAD-4D92-A183-060116E81607}" destId="{489C6B7A-4196-4F3C-A924-FAF2B67D0041}" srcOrd="0" destOrd="0" presId="urn:microsoft.com/office/officeart/2005/8/layout/hList7"/>
    <dgm:cxn modelId="{AAFA31CA-D461-4BDD-BDD1-7085E530F4EF}" type="presParOf" srcId="{E25571E0-1AAD-4D92-A183-060116E81607}" destId="{14E15AC2-E0F8-415E-826F-F290B6DDA546}" srcOrd="1" destOrd="0" presId="urn:microsoft.com/office/officeart/2005/8/layout/hList7"/>
    <dgm:cxn modelId="{96A351A6-7E83-4247-8882-DB045EA93A86}" type="presParOf" srcId="{E25571E0-1AAD-4D92-A183-060116E81607}" destId="{4D72C307-4FB0-4220-9110-38ED97476991}" srcOrd="2" destOrd="0" presId="urn:microsoft.com/office/officeart/2005/8/layout/hList7"/>
    <dgm:cxn modelId="{5B696A53-F82F-4E5A-BC9B-8CEBC479B923}" type="presParOf" srcId="{E25571E0-1AAD-4D92-A183-060116E81607}" destId="{DB6E4A5C-6849-43F1-8B62-68DD80E6AF35}" srcOrd="3" destOrd="0" presId="urn:microsoft.com/office/officeart/2005/8/layout/hList7"/>
    <dgm:cxn modelId="{878A3823-E5AE-48F3-9ACA-3D7759419344}" type="presParOf" srcId="{581A66C9-9F44-446C-ABCF-81065E2A6066}" destId="{C463A83E-DD0B-45A6-8F5D-7762418DA70D}" srcOrd="1" destOrd="0" presId="urn:microsoft.com/office/officeart/2005/8/layout/hList7"/>
    <dgm:cxn modelId="{677CDB22-2CA8-4054-A0A2-7E195854069E}" type="presParOf" srcId="{581A66C9-9F44-446C-ABCF-81065E2A6066}" destId="{1F6A5949-C066-4017-BA77-FFB1B73AAD24}" srcOrd="2" destOrd="0" presId="urn:microsoft.com/office/officeart/2005/8/layout/hList7"/>
    <dgm:cxn modelId="{F36FD544-CE83-4357-8F17-73EE72EA53D7}" type="presParOf" srcId="{1F6A5949-C066-4017-BA77-FFB1B73AAD24}" destId="{339A440C-7902-4F70-8908-69AA8733F41E}" srcOrd="0" destOrd="0" presId="urn:microsoft.com/office/officeart/2005/8/layout/hList7"/>
    <dgm:cxn modelId="{D4DB69EF-B930-4BC4-8992-2668CC909D76}" type="presParOf" srcId="{1F6A5949-C066-4017-BA77-FFB1B73AAD24}" destId="{87234204-34C8-496C-A0E3-BDECD66B5C72}" srcOrd="1" destOrd="0" presId="urn:microsoft.com/office/officeart/2005/8/layout/hList7"/>
    <dgm:cxn modelId="{D02F8935-B907-4C39-8618-BEB836DDA17F}" type="presParOf" srcId="{1F6A5949-C066-4017-BA77-FFB1B73AAD24}" destId="{6D928281-83F2-493D-A68B-5C91589A062C}" srcOrd="2" destOrd="0" presId="urn:microsoft.com/office/officeart/2005/8/layout/hList7"/>
    <dgm:cxn modelId="{3110545E-A709-4014-B0D8-4E4E7A39E77C}" type="presParOf" srcId="{1F6A5949-C066-4017-BA77-FFB1B73AAD24}" destId="{64BF7552-B49D-4D37-9EF9-1B3A015F67FC}" srcOrd="3" destOrd="0" presId="urn:microsoft.com/office/officeart/2005/8/layout/hList7"/>
    <dgm:cxn modelId="{DDFE25EA-AFEC-433E-87B8-BAD70705F864}" type="presParOf" srcId="{581A66C9-9F44-446C-ABCF-81065E2A6066}" destId="{5F83E3DC-6F9F-4FA9-B39B-068F48D59B18}" srcOrd="3" destOrd="0" presId="urn:microsoft.com/office/officeart/2005/8/layout/hList7"/>
    <dgm:cxn modelId="{E1935FD9-EFA8-4555-9FEB-E28EEDDB5064}" type="presParOf" srcId="{581A66C9-9F44-446C-ABCF-81065E2A6066}" destId="{1C6F3BCD-CD2A-43D1-BDAD-67E44E72F77F}" srcOrd="4" destOrd="0" presId="urn:microsoft.com/office/officeart/2005/8/layout/hList7"/>
    <dgm:cxn modelId="{425BBC9A-5E78-4AF1-B030-A68CBBC16770}" type="presParOf" srcId="{1C6F3BCD-CD2A-43D1-BDAD-67E44E72F77F}" destId="{8BB923C1-78F4-4C58-9627-71F58786FCF6}" srcOrd="0" destOrd="0" presId="urn:microsoft.com/office/officeart/2005/8/layout/hList7"/>
    <dgm:cxn modelId="{D76BBC0A-9F21-4F44-A725-383A3ED8DB73}" type="presParOf" srcId="{1C6F3BCD-CD2A-43D1-BDAD-67E44E72F77F}" destId="{88ED7D67-C7C5-4285-BF95-804D71146D2C}" srcOrd="1" destOrd="0" presId="urn:microsoft.com/office/officeart/2005/8/layout/hList7"/>
    <dgm:cxn modelId="{3995388E-C05F-4E67-ACE0-70464CE995CC}" type="presParOf" srcId="{1C6F3BCD-CD2A-43D1-BDAD-67E44E72F77F}" destId="{DD083872-07AF-424E-865A-8D2EA4DC6F5A}" srcOrd="2" destOrd="0" presId="urn:microsoft.com/office/officeart/2005/8/layout/hList7"/>
    <dgm:cxn modelId="{C03B7FB6-4917-4ED7-AD2F-F214C5B99FEC}" type="presParOf" srcId="{1C6F3BCD-CD2A-43D1-BDAD-67E44E72F77F}" destId="{A8C4741D-4AB0-42D6-8C4B-38CB5BA2DD9D}" srcOrd="3" destOrd="0" presId="urn:microsoft.com/office/officeart/2005/8/layout/hList7"/>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C6B7A-4196-4F3C-A924-FAF2B67D0041}">
      <dsp:nvSpPr>
        <dsp:cNvPr id="0" name=""/>
        <dsp:cNvSpPr/>
      </dsp:nvSpPr>
      <dsp:spPr>
        <a:xfrm>
          <a:off x="2174" y="0"/>
          <a:ext cx="1929196"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i="1" kern="1200" dirty="0" smtClean="0">
              <a:latin typeface="Calibri" pitchFamily="34" charset="0"/>
              <a:cs typeface="Calibri" pitchFamily="34" charset="0"/>
            </a:rPr>
            <a:t>Evaluetor</a:t>
          </a:r>
          <a:r>
            <a:rPr lang="en-GB" sz="1400" i="1" kern="1200" dirty="0" smtClean="0">
              <a:latin typeface="Calibri"/>
              <a:cs typeface="Calibri"/>
            </a:rPr>
            <a:t>©</a:t>
          </a:r>
          <a:r>
            <a:rPr lang="en-GB" sz="1400" kern="1200" dirty="0" smtClean="0"/>
            <a:t>  </a:t>
          </a:r>
          <a:endParaRPr lang="nl-NL" sz="1400" kern="1200" dirty="0"/>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Cloud based Software solution;</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Secure processes in a workbench enabling integrated management</a:t>
          </a:r>
          <a:endParaRPr lang="nl-NL" sz="1200" kern="1200" dirty="0">
            <a:latin typeface="Calibri" pitchFamily="34" charset="0"/>
            <a:cs typeface="Calibri" pitchFamily="34" charset="0"/>
          </a:endParaRPr>
        </a:p>
      </dsp:txBody>
      <dsp:txXfrm>
        <a:off x="2174" y="1190846"/>
        <a:ext cx="1929196" cy="1190846"/>
      </dsp:txXfrm>
    </dsp:sp>
    <dsp:sp modelId="{DB6E4A5C-6849-43F1-8B62-68DD80E6AF35}">
      <dsp:nvSpPr>
        <dsp:cNvPr id="0" name=""/>
        <dsp:cNvSpPr/>
      </dsp:nvSpPr>
      <dsp:spPr>
        <a:xfrm>
          <a:off x="422088" y="197116"/>
          <a:ext cx="991379" cy="99137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339A440C-7902-4F70-8908-69AA8733F41E}">
      <dsp:nvSpPr>
        <dsp:cNvPr id="0" name=""/>
        <dsp:cNvSpPr/>
      </dsp:nvSpPr>
      <dsp:spPr>
        <a:xfrm>
          <a:off x="1982701" y="0"/>
          <a:ext cx="1711053"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kern="1200" dirty="0" smtClean="0">
              <a:latin typeface="Calibri" pitchFamily="34" charset="0"/>
              <a:cs typeface="Calibri" pitchFamily="34" charset="0"/>
            </a:rPr>
            <a:t>Process templates</a:t>
          </a:r>
          <a:endParaRPr lang="nl-NL" sz="14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We can lead or facilitate, your choice</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Using experience driven proven processes</a:t>
          </a:r>
          <a:endParaRPr lang="nl-NL" sz="1200" kern="1200" dirty="0">
            <a:latin typeface="Calibri" pitchFamily="34" charset="0"/>
            <a:cs typeface="Calibri" pitchFamily="34" charset="0"/>
          </a:endParaRPr>
        </a:p>
      </dsp:txBody>
      <dsp:txXfrm>
        <a:off x="1982701" y="1190846"/>
        <a:ext cx="1711053" cy="1190846"/>
      </dsp:txXfrm>
    </dsp:sp>
    <dsp:sp modelId="{64BF7552-B49D-4D37-9EF9-1B3A015F67FC}">
      <dsp:nvSpPr>
        <dsp:cNvPr id="0" name=""/>
        <dsp:cNvSpPr/>
      </dsp:nvSpPr>
      <dsp:spPr>
        <a:xfrm>
          <a:off x="2342538" y="178626"/>
          <a:ext cx="991379" cy="99137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8BB923C1-78F4-4C58-9627-71F58786FCF6}">
      <dsp:nvSpPr>
        <dsp:cNvPr id="0" name=""/>
        <dsp:cNvSpPr/>
      </dsp:nvSpPr>
      <dsp:spPr>
        <a:xfrm>
          <a:off x="3745087" y="0"/>
          <a:ext cx="1711053" cy="2977116"/>
        </a:xfrm>
        <a:prstGeom prst="roundRect">
          <a:avLst>
            <a:gd name="adj" fmla="val 10000"/>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622300" rtl="0">
            <a:lnSpc>
              <a:spcPct val="90000"/>
            </a:lnSpc>
            <a:spcBef>
              <a:spcPct val="0"/>
            </a:spcBef>
            <a:spcAft>
              <a:spcPct val="35000"/>
            </a:spcAft>
          </a:pPr>
          <a:r>
            <a:rPr lang="en-GB" sz="1400" kern="1200" dirty="0" smtClean="0">
              <a:latin typeface="Calibri" pitchFamily="34" charset="0"/>
              <a:cs typeface="Calibri" pitchFamily="34" charset="0"/>
            </a:rPr>
            <a:t>Advisory group </a:t>
          </a:r>
          <a:endParaRPr lang="nl-NL" sz="14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Strength in Knowledge</a:t>
          </a:r>
          <a:endParaRPr lang="nl-NL" sz="1200" kern="1200" dirty="0">
            <a:latin typeface="Calibri" pitchFamily="34" charset="0"/>
            <a:cs typeface="Calibri" pitchFamily="34" charset="0"/>
          </a:endParaRPr>
        </a:p>
        <a:p>
          <a:pPr marL="114300" lvl="1" indent="-114300" algn="l" defTabSz="533400" rtl="0">
            <a:lnSpc>
              <a:spcPct val="90000"/>
            </a:lnSpc>
            <a:spcBef>
              <a:spcPct val="0"/>
            </a:spcBef>
            <a:spcAft>
              <a:spcPct val="15000"/>
            </a:spcAft>
            <a:buChar char="••"/>
          </a:pPr>
          <a:r>
            <a:rPr lang="en-GB" sz="1200" kern="1200" dirty="0" smtClean="0">
              <a:latin typeface="Calibri" pitchFamily="34" charset="0"/>
              <a:cs typeface="Calibri" pitchFamily="34" charset="0"/>
            </a:rPr>
            <a:t>Experienced advisors that help your organisation with the process framework</a:t>
          </a:r>
          <a:endParaRPr lang="nl-NL" sz="1200" kern="1200" dirty="0">
            <a:latin typeface="Calibri" pitchFamily="34" charset="0"/>
            <a:cs typeface="Calibri" pitchFamily="34" charset="0"/>
          </a:endParaRPr>
        </a:p>
      </dsp:txBody>
      <dsp:txXfrm>
        <a:off x="3745087" y="1190846"/>
        <a:ext cx="1711053" cy="1190846"/>
      </dsp:txXfrm>
    </dsp:sp>
    <dsp:sp modelId="{A8C4741D-4AB0-42D6-8C4B-38CB5BA2DD9D}">
      <dsp:nvSpPr>
        <dsp:cNvPr id="0" name=""/>
        <dsp:cNvSpPr/>
      </dsp:nvSpPr>
      <dsp:spPr>
        <a:xfrm>
          <a:off x="4104924" y="178626"/>
          <a:ext cx="991379" cy="991379"/>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CD3C5EFD-96AB-44A1-A226-DD6E22ACDCDB}">
      <dsp:nvSpPr>
        <dsp:cNvPr id="0" name=""/>
        <dsp:cNvSpPr/>
      </dsp:nvSpPr>
      <dsp:spPr>
        <a:xfrm>
          <a:off x="246956" y="2429421"/>
          <a:ext cx="5021649" cy="446567"/>
        </a:xfrm>
        <a:prstGeom prst="leftRightArrow">
          <a:avLst/>
        </a:prstGeom>
        <a:gradFill rotWithShape="0">
          <a:gsLst>
            <a:gs pos="0">
              <a:schemeClr val="accent6">
                <a:tint val="40000"/>
                <a:hueOff val="0"/>
                <a:satOff val="0"/>
                <a:lumOff val="0"/>
                <a:alphaOff val="0"/>
                <a:tint val="50000"/>
                <a:satMod val="300000"/>
              </a:schemeClr>
            </a:gs>
            <a:gs pos="35000">
              <a:schemeClr val="accent6">
                <a:tint val="40000"/>
                <a:hueOff val="0"/>
                <a:satOff val="0"/>
                <a:lumOff val="0"/>
                <a:alphaOff val="0"/>
                <a:tint val="37000"/>
                <a:satMod val="300000"/>
              </a:schemeClr>
            </a:gs>
            <a:gs pos="100000">
              <a:schemeClr val="accent6">
                <a:tint val="40000"/>
                <a:hueOff val="0"/>
                <a:satOff val="0"/>
                <a:lumOff val="0"/>
                <a:alphaOff val="0"/>
                <a:tint val="15000"/>
                <a:satMod val="350000"/>
              </a:schemeClr>
            </a:gs>
          </a:gsLst>
          <a:lin ang="16200000" scaled="1"/>
        </a:gra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sz="quarter"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304F21E1-B84B-445F-AF94-B8B99478D897}" type="datetimeFigureOut">
              <a:rPr lang="nl-NL"/>
              <a:pPr>
                <a:defRPr/>
              </a:pPr>
              <a:t>2-5-2014</a:t>
            </a:fld>
            <a:endParaRPr lang="nl-NL" dirty="0"/>
          </a:p>
        </p:txBody>
      </p:sp>
      <p:sp>
        <p:nvSpPr>
          <p:cNvPr id="4" name="Footer Placeholder 3"/>
          <p:cNvSpPr>
            <a:spLocks noGrp="1"/>
          </p:cNvSpPr>
          <p:nvPr>
            <p:ph type="ftr" sz="quarter" idx="2"/>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5" name="Slide Number Placeholder 4"/>
          <p:cNvSpPr>
            <a:spLocks noGrp="1"/>
          </p:cNvSpPr>
          <p:nvPr>
            <p:ph type="sldNum" sz="quarter" idx="3"/>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0EBFF075-9AD7-46B0-8234-056A478056C3}" type="slidenum">
              <a:rPr lang="nl-NL"/>
              <a:pPr>
                <a:defRPr/>
              </a:pPr>
              <a:t>‹#›</a:t>
            </a:fld>
            <a:endParaRPr lang="nl-NL" dirty="0"/>
          </a:p>
        </p:txBody>
      </p:sp>
    </p:spTree>
    <p:extLst>
      <p:ext uri="{BB962C8B-B14F-4D97-AF65-F5344CB8AC3E}">
        <p14:creationId xmlns:p14="http://schemas.microsoft.com/office/powerpoint/2010/main" val="1899228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203573E3-390C-4614-B945-792B478042CC}" type="datetimeFigureOut">
              <a:rPr lang="nl-NL"/>
              <a:pPr>
                <a:defRPr/>
              </a:pPr>
              <a:t>2-5-2014</a:t>
            </a:fld>
            <a:endParaRPr lang="nl-NL" dirty="0"/>
          </a:p>
        </p:txBody>
      </p:sp>
      <p:sp>
        <p:nvSpPr>
          <p:cNvPr id="4" name="Slide Image Placeholder 3"/>
          <p:cNvSpPr>
            <a:spLocks noGrp="1" noRot="1" noChangeAspect="1"/>
          </p:cNvSpPr>
          <p:nvPr>
            <p:ph type="sldImg" idx="2"/>
          </p:nvPr>
        </p:nvSpPr>
        <p:spPr>
          <a:xfrm>
            <a:off x="3267075" y="511175"/>
            <a:ext cx="3405188" cy="2552700"/>
          </a:xfrm>
          <a:prstGeom prst="rect">
            <a:avLst/>
          </a:prstGeom>
          <a:noFill/>
          <a:ln w="12700">
            <a:solidFill>
              <a:prstClr val="black"/>
            </a:solidFill>
          </a:ln>
        </p:spPr>
        <p:txBody>
          <a:bodyPr vert="horz" lIns="88331" tIns="44166" rIns="88331" bIns="44166" rtlCol="0" anchor="ctr"/>
          <a:lstStyle/>
          <a:p>
            <a:pPr lvl="0"/>
            <a:endParaRPr lang="nl-NL" noProof="0" dirty="0"/>
          </a:p>
        </p:txBody>
      </p:sp>
      <p:sp>
        <p:nvSpPr>
          <p:cNvPr id="5" name="Notes Placeholder 4"/>
          <p:cNvSpPr>
            <a:spLocks noGrp="1"/>
          </p:cNvSpPr>
          <p:nvPr>
            <p:ph type="body" sz="quarter" idx="3"/>
          </p:nvPr>
        </p:nvSpPr>
        <p:spPr bwMode="auto">
          <a:xfrm>
            <a:off x="994633" y="3234535"/>
            <a:ext cx="7950077" cy="3061663"/>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nl-NL" noProof="0"/>
          </a:p>
        </p:txBody>
      </p:sp>
      <p:sp>
        <p:nvSpPr>
          <p:cNvPr id="6" name="Footer Placeholder 5"/>
          <p:cNvSpPr>
            <a:spLocks noGrp="1"/>
          </p:cNvSpPr>
          <p:nvPr>
            <p:ph type="ftr" sz="quarter" idx="4"/>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7" name="Slide Number Placeholder 6"/>
          <p:cNvSpPr>
            <a:spLocks noGrp="1"/>
          </p:cNvSpPr>
          <p:nvPr>
            <p:ph type="sldNum" sz="quarter" idx="5"/>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782D3967-6BDF-470F-A557-83BDF41E48D2}" type="slidenum">
              <a:rPr lang="nl-NL"/>
              <a:pPr>
                <a:defRPr/>
              </a:pPr>
              <a:t>‹#›</a:t>
            </a:fld>
            <a:endParaRPr lang="nl-NL" dirty="0"/>
          </a:p>
        </p:txBody>
      </p:sp>
    </p:spTree>
    <p:extLst>
      <p:ext uri="{BB962C8B-B14F-4D97-AF65-F5344CB8AC3E}">
        <p14:creationId xmlns:p14="http://schemas.microsoft.com/office/powerpoint/2010/main" val="20917765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p:cNvSpPr>
            <a:spLocks noGrp="1" noRot="1" noChangeAspect="1"/>
          </p:cNvSpPr>
          <p:nvPr>
            <p:ph type="sldImg"/>
          </p:nvPr>
        </p:nvSpPr>
        <p:spPr bwMode="auto">
          <a:noFill/>
          <a:ln>
            <a:solidFill>
              <a:srgbClr val="000000"/>
            </a:solidFill>
            <a:miter lim="800000"/>
            <a:headEnd/>
            <a:tailEnd/>
          </a:ln>
        </p:spPr>
      </p:sp>
      <p:sp>
        <p:nvSpPr>
          <p:cNvPr id="6146" name="Notes Placeholder 2"/>
          <p:cNvSpPr>
            <a:spLocks noGrp="1"/>
          </p:cNvSpPr>
          <p:nvPr>
            <p:ph type="body" idx="1"/>
          </p:nvPr>
        </p:nvSpPr>
        <p:spPr>
          <a:noFill/>
          <a:ln/>
        </p:spPr>
        <p:txBody>
          <a:bodyPr/>
          <a:lstStyle/>
          <a:p>
            <a:endParaRPr lang="en-US" dirty="0" smtClean="0"/>
          </a:p>
        </p:txBody>
      </p:sp>
      <p:sp>
        <p:nvSpPr>
          <p:cNvPr id="6147" name="Slide Number Placeholder 3"/>
          <p:cNvSpPr>
            <a:spLocks noGrp="1"/>
          </p:cNvSpPr>
          <p:nvPr>
            <p:ph type="sldNum" sz="quarter" idx="5"/>
          </p:nvPr>
        </p:nvSpPr>
        <p:spPr>
          <a:noFill/>
        </p:spPr>
        <p:txBody>
          <a:bodyPr/>
          <a:lstStyle/>
          <a:p>
            <a:pPr defTabSz="933450"/>
            <a:fld id="{33633C6B-5C36-4FB1-8798-DA18AAF95E74}" type="slidenum">
              <a:rPr lang="nl-NL" smtClean="0"/>
              <a:pPr defTabSz="933450"/>
              <a:t>1</a:t>
            </a:fld>
            <a:endParaRPr lang="nl-NL" dirty="0" smtClean="0"/>
          </a:p>
        </p:txBody>
      </p:sp>
    </p:spTree>
    <p:extLst>
      <p:ext uri="{BB962C8B-B14F-4D97-AF65-F5344CB8AC3E}">
        <p14:creationId xmlns:p14="http://schemas.microsoft.com/office/powerpoint/2010/main" val="31794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pPr>
              <a:defRPr/>
            </a:pPr>
            <a:fld id="{E3872CF6-E749-444A-A69E-80151135593C}" type="slidenum">
              <a:rPr lang="nl-NL" smtClean="0"/>
              <a:pPr>
                <a:defRPr/>
              </a:pPr>
              <a:t>12</a:t>
            </a:fld>
            <a:endParaRPr lang="nl-NL" dirty="0"/>
          </a:p>
        </p:txBody>
      </p:sp>
    </p:spTree>
    <p:extLst>
      <p:ext uri="{BB962C8B-B14F-4D97-AF65-F5344CB8AC3E}">
        <p14:creationId xmlns:p14="http://schemas.microsoft.com/office/powerpoint/2010/main" val="2603732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8"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37418" cy="4525963"/>
          </a:xfrm>
        </p:spPr>
        <p:txBody>
          <a:bodyPr/>
          <a:lstStyle>
            <a:lvl1pPr>
              <a:defRPr sz="2000"/>
            </a:lvl1pPr>
            <a:lvl2pPr>
              <a:defRPr sz="1800"/>
            </a:lvl2pPr>
            <a:lvl3pPr>
              <a:defRPr sz="1600"/>
            </a:lvl3pPr>
            <a:lvl4pPr>
              <a:defRPr sz="1400"/>
            </a:lvl4pPr>
            <a:lvl5pPr>
              <a:defRPr sz="1400"/>
            </a:lvl5p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GB" noProof="0"/>
          </a:p>
        </p:txBody>
      </p:sp>
      <p:sp>
        <p:nvSpPr>
          <p:cNvPr id="9"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10"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pPr>
              <a:defRPr/>
            </a:pPr>
            <a:fld id="{A14ED451-723F-4E8F-ACC5-3FD132FB63D8}" type="slidenum">
              <a:rPr lang="nl-NL"/>
              <a:pPr>
                <a:defRPr/>
              </a:pPr>
              <a:t>‹#›</a:t>
            </a:fld>
            <a:endParaRPr lang="nl-NL" dirty="0"/>
          </a:p>
        </p:txBody>
      </p:sp>
    </p:spTree>
    <p:extLst>
      <p:ext uri="{BB962C8B-B14F-4D97-AF65-F5344CB8AC3E}">
        <p14:creationId xmlns:p14="http://schemas.microsoft.com/office/powerpoint/2010/main" val="21699625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nl-NL" smtClean="0"/>
              <a:t>Titelstijl van model bewerken</a:t>
            </a:r>
            <a:endParaRPr lang="nl-NL"/>
          </a:p>
        </p:txBody>
      </p:sp>
      <p:sp>
        <p:nvSpPr>
          <p:cNvPr id="3" name="Sub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titelstijl van het model te bewerken</a:t>
            </a:r>
            <a:endParaRPr lang="nl-NL"/>
          </a:p>
        </p:txBody>
      </p:sp>
    </p:spTree>
    <p:extLst>
      <p:ext uri="{BB962C8B-B14F-4D97-AF65-F5344CB8AC3E}">
        <p14:creationId xmlns:p14="http://schemas.microsoft.com/office/powerpoint/2010/main" val="272264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27512" y="115888"/>
            <a:ext cx="8277101" cy="8103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smtClean="0"/>
              <a:t>Klik om het opmaakprofiel te bewerken</a:t>
            </a:r>
          </a:p>
        </p:txBody>
      </p:sp>
      <p:sp>
        <p:nvSpPr>
          <p:cNvPr id="1028" name="Rectangle 3"/>
          <p:cNvSpPr>
            <a:spLocks noGrp="1" noChangeArrowheads="1"/>
          </p:cNvSpPr>
          <p:nvPr>
            <p:ph type="body" idx="1"/>
          </p:nvPr>
        </p:nvSpPr>
        <p:spPr bwMode="auto">
          <a:xfrm>
            <a:off x="457200" y="1128156"/>
            <a:ext cx="8229600" cy="49980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err="1" smtClean="0"/>
              <a:t>Klik</a:t>
            </a:r>
            <a:r>
              <a:rPr lang="en-GB" noProof="0" dirty="0" smtClean="0"/>
              <a:t> </a:t>
            </a:r>
            <a:r>
              <a:rPr lang="en-GB" noProof="0" dirty="0" err="1" smtClean="0"/>
              <a:t>om</a:t>
            </a:r>
            <a:r>
              <a:rPr lang="en-GB" noProof="0" dirty="0" smtClean="0"/>
              <a:t> de </a:t>
            </a:r>
            <a:r>
              <a:rPr lang="en-GB" noProof="0" dirty="0" err="1" smtClean="0"/>
              <a:t>opmaakprofielen</a:t>
            </a:r>
            <a:r>
              <a:rPr lang="en-GB" noProof="0" dirty="0" smtClean="0"/>
              <a:t> van de </a:t>
            </a:r>
            <a:r>
              <a:rPr lang="en-GB" noProof="0" dirty="0" err="1" smtClean="0"/>
              <a:t>modeltekst</a:t>
            </a:r>
            <a:r>
              <a:rPr lang="en-GB" noProof="0" dirty="0" smtClean="0"/>
              <a:t> </a:t>
            </a:r>
            <a:r>
              <a:rPr lang="en-GB" noProof="0" dirty="0" err="1" smtClean="0"/>
              <a:t>te</a:t>
            </a:r>
            <a:r>
              <a:rPr lang="en-GB" noProof="0" dirty="0" smtClean="0"/>
              <a:t> </a:t>
            </a:r>
            <a:r>
              <a:rPr lang="en-GB" noProof="0" dirty="0" err="1" smtClean="0"/>
              <a:t>bewerken</a:t>
            </a:r>
            <a:endParaRPr lang="en-GB" noProof="0" dirty="0" smtClean="0"/>
          </a:p>
          <a:p>
            <a:pPr lvl="1"/>
            <a:r>
              <a:rPr lang="en-GB" noProof="0" dirty="0" err="1" smtClean="0"/>
              <a:t>Tweede</a:t>
            </a:r>
            <a:r>
              <a:rPr lang="en-GB" noProof="0" dirty="0" smtClean="0"/>
              <a:t> </a:t>
            </a:r>
            <a:r>
              <a:rPr lang="en-GB" noProof="0" dirty="0" err="1" smtClean="0"/>
              <a:t>niveau</a:t>
            </a:r>
            <a:endParaRPr lang="en-GB" noProof="0" dirty="0" smtClean="0"/>
          </a:p>
          <a:p>
            <a:pPr lvl="2"/>
            <a:r>
              <a:rPr lang="en-GB" noProof="0" dirty="0" err="1" smtClean="0"/>
              <a:t>Derde</a:t>
            </a:r>
            <a:r>
              <a:rPr lang="en-GB" noProof="0" dirty="0" smtClean="0"/>
              <a:t> </a:t>
            </a:r>
            <a:r>
              <a:rPr lang="en-GB" noProof="0" dirty="0" err="1" smtClean="0"/>
              <a:t>niveau</a:t>
            </a:r>
            <a:endParaRPr lang="en-GB" noProof="0" dirty="0" smtClean="0"/>
          </a:p>
          <a:p>
            <a:pPr lvl="3"/>
            <a:r>
              <a:rPr lang="en-GB" noProof="0" dirty="0" err="1" smtClean="0"/>
              <a:t>Vierde</a:t>
            </a:r>
            <a:r>
              <a:rPr lang="en-GB" noProof="0" dirty="0" smtClean="0"/>
              <a:t> </a:t>
            </a:r>
            <a:r>
              <a:rPr lang="en-GB" noProof="0" dirty="0" err="1" smtClean="0"/>
              <a:t>niveau</a:t>
            </a:r>
            <a:endParaRPr lang="en-GB" noProof="0" dirty="0" smtClean="0"/>
          </a:p>
          <a:p>
            <a:pPr lvl="4"/>
            <a:r>
              <a:rPr lang="en-GB" noProof="0" dirty="0" err="1" smtClean="0"/>
              <a:t>Vijfde</a:t>
            </a:r>
            <a:r>
              <a:rPr lang="en-GB" noProof="0" dirty="0" smtClean="0"/>
              <a:t> </a:t>
            </a:r>
            <a:r>
              <a:rPr lang="en-GB" noProof="0" dirty="0" err="1" smtClean="0"/>
              <a:t>niveau</a:t>
            </a:r>
            <a:endParaRPr lang="en-GB" noProof="0" dirty="0" smtClean="0"/>
          </a:p>
        </p:txBody>
      </p:sp>
      <p:sp>
        <p:nvSpPr>
          <p:cNvPr id="1030" name="Rectangle 6"/>
          <p:cNvSpPr>
            <a:spLocks noGrp="1" noChangeArrowheads="1"/>
          </p:cNvSpPr>
          <p:nvPr>
            <p:ph type="sldNum" sz="quarter" idx="4"/>
          </p:nvPr>
        </p:nvSpPr>
        <p:spPr bwMode="auto">
          <a:xfrm>
            <a:off x="8692737" y="320634"/>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6D293EA2-E07A-4E5F-B86E-DC3D3FFD0AED}" type="slidenum">
              <a:rPr lang="nl-NL" smtClean="0"/>
              <a:pPr>
                <a:defRPr/>
              </a:pPr>
              <a:t>‹#›</a:t>
            </a:fld>
            <a:endParaRPr lang="nl-NL" dirty="0"/>
          </a:p>
        </p:txBody>
      </p:sp>
      <p:sp>
        <p:nvSpPr>
          <p:cNvPr id="1033" name="Text Box 9"/>
          <p:cNvSpPr txBox="1">
            <a:spLocks noChangeArrowheads="1"/>
          </p:cNvSpPr>
          <p:nvPr/>
        </p:nvSpPr>
        <p:spPr bwMode="auto">
          <a:xfrm>
            <a:off x="3995738" y="3500438"/>
            <a:ext cx="1368425" cy="366712"/>
          </a:xfrm>
          <a:prstGeom prst="rect">
            <a:avLst/>
          </a:prstGeom>
          <a:noFill/>
          <a:ln w="9525">
            <a:noFill/>
            <a:miter lim="800000"/>
            <a:headEnd/>
            <a:tailEnd/>
          </a:ln>
          <a:effectLst/>
        </p:spPr>
        <p:txBody>
          <a:bodyPr>
            <a:spAutoFit/>
          </a:bodyPr>
          <a:lstStyle/>
          <a:p>
            <a:pPr>
              <a:spcBef>
                <a:spcPct val="50000"/>
              </a:spcBef>
              <a:defRPr/>
            </a:pPr>
            <a:endParaRPr lang="nl-NL" sz="1800" dirty="0">
              <a:solidFill>
                <a:schemeClr val="tx1"/>
              </a:solidFill>
              <a:latin typeface="Arial" charset="0"/>
            </a:endParaRPr>
          </a:p>
        </p:txBody>
      </p:sp>
      <p:cxnSp>
        <p:nvCxnSpPr>
          <p:cNvPr id="12" name="Straight Connector 11"/>
          <p:cNvCxnSpPr/>
          <p:nvPr/>
        </p:nvCxnSpPr>
        <p:spPr bwMode="auto">
          <a:xfrm>
            <a:off x="-1975" y="987466"/>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1036" name="Rectangle 12"/>
          <p:cNvSpPr>
            <a:spLocks noChangeArrowheads="1"/>
          </p:cNvSpPr>
          <p:nvPr/>
        </p:nvSpPr>
        <p:spPr bwMode="auto">
          <a:xfrm>
            <a:off x="1468050" y="6510628"/>
            <a:ext cx="6203950" cy="230832"/>
          </a:xfrm>
          <a:prstGeom prst="rect">
            <a:avLst/>
          </a:prstGeom>
          <a:noFill/>
          <a:ln w="9525">
            <a:noFill/>
            <a:miter lim="800000"/>
            <a:headEnd/>
            <a:tailEnd/>
          </a:ln>
          <a:effectLst/>
        </p:spPr>
        <p:txBody>
          <a:bodyPr anchor="ctr">
            <a:spAutoFit/>
          </a:bodyPr>
          <a:lstStyle/>
          <a:p>
            <a:pPr marL="0" marR="0" indent="0" algn="ctr" defTabSz="914400" rtl="0" eaLnBrk="1" fontAlgn="base" latinLnBrk="0" hangingPunct="1">
              <a:lnSpc>
                <a:spcPct val="100000"/>
              </a:lnSpc>
              <a:spcBef>
                <a:spcPct val="0"/>
              </a:spcBef>
              <a:spcAft>
                <a:spcPct val="0"/>
              </a:spcAft>
              <a:buClrTx/>
              <a:buSzTx/>
              <a:buFontTx/>
              <a:buNone/>
              <a:tabLst/>
              <a:defRPr/>
            </a:pPr>
            <a:r>
              <a:rPr lang="en-US" sz="900" b="1" i="1" dirty="0" smtClean="0">
                <a:solidFill>
                  <a:srgbClr val="002060"/>
                </a:solidFill>
                <a:effectLst>
                  <a:outerShdw blurRad="38100" dist="38100" dir="2700000" algn="tl">
                    <a:srgbClr val="C0C0C0"/>
                  </a:outerShdw>
                </a:effectLst>
                <a:latin typeface="Arial" charset="0"/>
              </a:rPr>
              <a:t>Complex Solutions Delivered Simply</a:t>
            </a:r>
            <a:r>
              <a:rPr lang="en-US" sz="900" b="1" i="1" noProof="0" dirty="0" smtClean="0">
                <a:solidFill>
                  <a:srgbClr val="DDDDDD"/>
                </a:solidFill>
                <a:effectLst>
                  <a:outerShdw blurRad="38100" dist="38100" dir="2700000" algn="tl">
                    <a:srgbClr val="C0C0C0"/>
                  </a:outerShdw>
                </a:effectLst>
              </a:rPr>
              <a:t>.</a:t>
            </a:r>
            <a:endParaRPr lang="en-US" sz="900" b="1" i="1" noProof="0" dirty="0">
              <a:solidFill>
                <a:srgbClr val="DDDDDD"/>
              </a:solidFill>
              <a:effectLst>
                <a:outerShdw blurRad="38100" dist="38100" dir="2700000" algn="tl">
                  <a:srgbClr val="C0C0C0"/>
                </a:outerShdw>
              </a:effectLst>
            </a:endParaRPr>
          </a:p>
        </p:txBody>
      </p:sp>
      <p:cxnSp>
        <p:nvCxnSpPr>
          <p:cNvPr id="13" name="Straight Connector 12"/>
          <p:cNvCxnSpPr/>
          <p:nvPr/>
        </p:nvCxnSpPr>
        <p:spPr bwMode="auto">
          <a:xfrm>
            <a:off x="-1975" y="6305500"/>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92350" y="6333822"/>
            <a:ext cx="1876425" cy="447675"/>
          </a:xfrm>
          <a:prstGeom prst="rect">
            <a:avLst/>
          </a:prstGeom>
        </p:spPr>
      </p:pic>
      <p:pic>
        <p:nvPicPr>
          <p:cNvPr id="10" name="Picture 9"/>
          <p:cNvPicPr>
            <a:picLocks noChangeAspect="1"/>
          </p:cNvPicPr>
          <p:nvPr userDrawn="1"/>
        </p:nvPicPr>
        <p:blipFill rotWithShape="1">
          <a:blip r:embed="rId7" cstate="print">
            <a:extLst>
              <a:ext uri="{28A0092B-C50C-407E-A947-70E740481C1C}">
                <a14:useLocalDpi xmlns:a14="http://schemas.microsoft.com/office/drawing/2010/main" val="0"/>
              </a:ext>
            </a:extLst>
          </a:blip>
          <a:srcRect l="1481" t="1" r="-4520" b="-3109"/>
          <a:stretch/>
        </p:blipFill>
        <p:spPr>
          <a:xfrm>
            <a:off x="179390" y="6309400"/>
            <a:ext cx="924916" cy="4965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hdr="0" ftr="0"/>
  <p:txStyles>
    <p:titleStyle>
      <a:lvl1pPr algn="ctr" rtl="0" eaLnBrk="0" fontAlgn="base" hangingPunct="0">
        <a:spcBef>
          <a:spcPct val="0"/>
        </a:spcBef>
        <a:spcAft>
          <a:spcPct val="0"/>
        </a:spcAft>
        <a:defRPr sz="1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p:titleStyle>
    <p:bodyStyle>
      <a:lvl1pPr marL="342900" indent="-342900" algn="l" rtl="0" eaLnBrk="0" fontAlgn="base" hangingPunct="0">
        <a:spcBef>
          <a:spcPct val="20000"/>
        </a:spcBef>
        <a:spcAft>
          <a:spcPct val="0"/>
        </a:spcAft>
        <a:buChar char="•"/>
        <a:defRPr sz="18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gif"/><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jpeg"/><Relationship Id="rId12" Type="http://schemas.openxmlformats.org/officeDocument/2006/relationships/image" Target="../media/image25.jpeg"/><Relationship Id="rId17" Type="http://schemas.openxmlformats.org/officeDocument/2006/relationships/image" Target="../media/image30.jpeg"/><Relationship Id="rId2" Type="http://schemas.openxmlformats.org/officeDocument/2006/relationships/image" Target="../media/image15.jpg"/><Relationship Id="rId16"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9.jpeg"/><Relationship Id="rId11" Type="http://schemas.openxmlformats.org/officeDocument/2006/relationships/image" Target="../media/image24.jpeg"/><Relationship Id="rId5" Type="http://schemas.openxmlformats.org/officeDocument/2006/relationships/image" Target="../media/image18.jpeg"/><Relationship Id="rId15" Type="http://schemas.openxmlformats.org/officeDocument/2006/relationships/image" Target="../media/image28.jpeg"/><Relationship Id="rId10" Type="http://schemas.openxmlformats.org/officeDocument/2006/relationships/image" Target="../media/image23.jpeg"/><Relationship Id="rId4" Type="http://schemas.openxmlformats.org/officeDocument/2006/relationships/image" Target="../media/image17.png"/><Relationship Id="rId9" Type="http://schemas.openxmlformats.org/officeDocument/2006/relationships/image" Target="../media/image22.jpeg"/><Relationship Id="rId14" Type="http://schemas.openxmlformats.org/officeDocument/2006/relationships/image" Target="../media/image27.jpeg"/></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Steven.Visser@senority.n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hyperlink" Target="http://www.senority.n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38389" y="1085550"/>
            <a:ext cx="4739246" cy="4832092"/>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lang="en-US" sz="2800" dirty="0" smtClean="0"/>
              <a:t>&lt;Prospect Name&gt;</a:t>
            </a:r>
          </a:p>
          <a:p>
            <a:pPr algn="ctr"/>
            <a:endParaRPr lang="en-US" sz="2800" dirty="0"/>
          </a:p>
          <a:p>
            <a:pPr algn="ctr"/>
            <a:endParaRPr lang="en-US" sz="2800" dirty="0" smtClean="0"/>
          </a:p>
          <a:p>
            <a:pPr algn="ctr"/>
            <a:endParaRPr lang="pt-BR" sz="2800" dirty="0" smtClean="0">
              <a:solidFill>
                <a:schemeClr val="tx1"/>
              </a:solidFill>
              <a:latin typeface="Calibri" pitchFamily="34" charset="0"/>
              <a:cs typeface="Calibri" pitchFamily="34" charset="0"/>
            </a:endParaRPr>
          </a:p>
          <a:p>
            <a:pPr algn="ctr"/>
            <a:endParaRPr lang="pt-BR" sz="2800" dirty="0">
              <a:solidFill>
                <a:schemeClr val="tx1"/>
              </a:solidFill>
              <a:latin typeface="Calibri" pitchFamily="34" charset="0"/>
              <a:cs typeface="Calibri" pitchFamily="34" charset="0"/>
            </a:endParaRPr>
          </a:p>
          <a:p>
            <a:pPr algn="ctr"/>
            <a:endParaRPr lang="pt-BR" sz="2800" dirty="0" smtClean="0">
              <a:solidFill>
                <a:schemeClr val="tx1"/>
              </a:solidFill>
              <a:latin typeface="Calibri" pitchFamily="34" charset="0"/>
              <a:cs typeface="Calibri" pitchFamily="34" charset="0"/>
            </a:endParaRPr>
          </a:p>
          <a:p>
            <a:pPr algn="ctr"/>
            <a:endParaRPr lang="pt-BR" sz="2800" dirty="0">
              <a:solidFill>
                <a:schemeClr val="tx1"/>
              </a:solidFill>
              <a:latin typeface="Calibri" pitchFamily="34" charset="0"/>
              <a:cs typeface="Calibri" pitchFamily="34" charset="0"/>
            </a:endParaRPr>
          </a:p>
          <a:p>
            <a:pPr algn="ctr"/>
            <a:endParaRPr lang="pt-BR" sz="2800" dirty="0" smtClean="0">
              <a:solidFill>
                <a:schemeClr val="tx1"/>
              </a:solidFill>
              <a:latin typeface="Calibri" pitchFamily="34" charset="0"/>
              <a:cs typeface="Calibri" pitchFamily="34" charset="0"/>
            </a:endParaRPr>
          </a:p>
          <a:p>
            <a:pPr algn="ctr"/>
            <a:endParaRPr lang="pt-BR" sz="2800" dirty="0">
              <a:solidFill>
                <a:schemeClr val="tx1"/>
              </a:solidFill>
              <a:latin typeface="Calibri" pitchFamily="34" charset="0"/>
              <a:cs typeface="Calibri" pitchFamily="34" charset="0"/>
            </a:endParaRPr>
          </a:p>
          <a:p>
            <a:pPr algn="ctr"/>
            <a:r>
              <a:rPr lang="pt-BR" sz="2800" dirty="0" smtClean="0">
                <a:solidFill>
                  <a:schemeClr val="tx1"/>
                </a:solidFill>
                <a:latin typeface="Calibri" pitchFamily="34" charset="0"/>
                <a:cs typeface="Calibri" pitchFamily="34" charset="0"/>
              </a:rPr>
              <a:t>Electronic Contracts </a:t>
            </a:r>
          </a:p>
          <a:p>
            <a:pPr algn="ctr"/>
            <a:r>
              <a:rPr lang="pt-BR" sz="2800" dirty="0" smtClean="0">
                <a:solidFill>
                  <a:schemeClr val="tx1"/>
                </a:solidFill>
                <a:latin typeface="Calibri" pitchFamily="34" charset="0"/>
                <a:cs typeface="Calibri" pitchFamily="34" charset="0"/>
              </a:rPr>
              <a:t> </a:t>
            </a:r>
            <a:r>
              <a:rPr lang="pt-BR" sz="2000" i="1" dirty="0" smtClean="0">
                <a:solidFill>
                  <a:schemeClr val="tx1"/>
                </a:solidFill>
                <a:latin typeface="Calibri" pitchFamily="34" charset="0"/>
                <a:cs typeface="Calibri" pitchFamily="34" charset="0"/>
              </a:rPr>
              <a:t>increasing the return on your contract base</a:t>
            </a:r>
            <a:endParaRPr lang="en-US" sz="1800" i="1" dirty="0" smtClean="0">
              <a:solidFill>
                <a:schemeClr val="tx1"/>
              </a:solidFill>
              <a:latin typeface="Calibri" pitchFamily="34" charset="0"/>
              <a:cs typeface="Calibri" pitchFamily="34" charset="0"/>
            </a:endParaRPr>
          </a:p>
        </p:txBody>
      </p:sp>
      <p:pic>
        <p:nvPicPr>
          <p:cNvPr id="5" name="Afbeelding 4" descr="shutterstock_81622726-525x350 copy.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660" y="1700760"/>
            <a:ext cx="4968690" cy="3312460"/>
          </a:xfrm>
          <a:prstGeom prst="rect">
            <a:avLst/>
          </a:prstGeom>
        </p:spPr>
      </p:pic>
    </p:spTree>
    <p:extLst>
      <p:ext uri="{BB962C8B-B14F-4D97-AF65-F5344CB8AC3E}">
        <p14:creationId xmlns:p14="http://schemas.microsoft.com/office/powerpoint/2010/main" val="2903803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smtClean="0">
                <a:solidFill>
                  <a:schemeClr val="tx1"/>
                </a:solidFill>
                <a:ea typeface="+mn-ea"/>
              </a:rPr>
              <a:t>Introducing Senority </a:t>
            </a:r>
            <a:endParaRPr lang="en-GB" sz="2800" dirty="0">
              <a:solidFill>
                <a:schemeClr val="tx1"/>
              </a:solidFill>
              <a:ea typeface="+mn-ea"/>
            </a:endParaRPr>
          </a:p>
        </p:txBody>
      </p:sp>
      <p:sp>
        <p:nvSpPr>
          <p:cNvPr id="6" name="Content Placeholder 5"/>
          <p:cNvSpPr>
            <a:spLocks noGrp="1"/>
          </p:cNvSpPr>
          <p:nvPr>
            <p:ph idx="4294967295"/>
          </p:nvPr>
        </p:nvSpPr>
        <p:spPr>
          <a:xfrm>
            <a:off x="0" y="1004811"/>
            <a:ext cx="9144000" cy="2184400"/>
          </a:xfrm>
        </p:spPr>
        <p:txBody>
          <a:bodyPr/>
          <a:lstStyle/>
          <a:p>
            <a:pPr marL="457200" lvl="1" indent="0" algn="ctr">
              <a:buNone/>
            </a:pPr>
            <a:r>
              <a:rPr lang="en-GB" dirty="0" smtClean="0">
                <a:latin typeface="Calibri" pitchFamily="34" charset="0"/>
                <a:ea typeface="+mn-ea"/>
                <a:cs typeface="Calibri" pitchFamily="34" charset="0"/>
              </a:rPr>
              <a:t>Founded </a:t>
            </a:r>
            <a:r>
              <a:rPr lang="en-GB" dirty="0">
                <a:latin typeface="Calibri" pitchFamily="34" charset="0"/>
                <a:ea typeface="+mn-ea"/>
                <a:cs typeface="Calibri" pitchFamily="34" charset="0"/>
              </a:rPr>
              <a:t>by a group of people with deep experience in the services industry who collectively have been challenged over the years because there is no simple "solution" that can help complex client supplier relationships </a:t>
            </a:r>
            <a:endParaRPr lang="en-GB" dirty="0" smtClean="0">
              <a:latin typeface="Calibri" pitchFamily="34" charset="0"/>
              <a:ea typeface="+mn-ea"/>
              <a:cs typeface="Calibri" pitchFamily="34" charset="0"/>
            </a:endParaRPr>
          </a:p>
          <a:p>
            <a:pPr marL="457200" lvl="1" indent="0" algn="ctr">
              <a:buNone/>
            </a:pPr>
            <a:endParaRPr lang="en-GB" sz="800" dirty="0">
              <a:latin typeface="Calibri" pitchFamily="34" charset="0"/>
              <a:ea typeface="+mn-ea"/>
              <a:cs typeface="Calibri" pitchFamily="34" charset="0"/>
            </a:endParaRPr>
          </a:p>
          <a:p>
            <a:pPr marL="457200" lvl="1" indent="0" algn="ctr">
              <a:buNone/>
            </a:pPr>
            <a:r>
              <a:rPr lang="en-GB" dirty="0">
                <a:latin typeface="Calibri" pitchFamily="34" charset="0"/>
                <a:ea typeface="+mn-ea"/>
                <a:cs typeface="Calibri" pitchFamily="34" charset="0"/>
              </a:rPr>
              <a:t>We have identified the gap, validated the demand, determined the scope and </a:t>
            </a:r>
            <a:r>
              <a:rPr lang="en-GB" dirty="0" smtClean="0">
                <a:latin typeface="Calibri" pitchFamily="34" charset="0"/>
                <a:ea typeface="+mn-ea"/>
                <a:cs typeface="Calibri" pitchFamily="34" charset="0"/>
              </a:rPr>
              <a:t>mobilised industry </a:t>
            </a:r>
            <a:r>
              <a:rPr lang="en-GB" dirty="0">
                <a:latin typeface="Calibri" pitchFamily="34" charset="0"/>
                <a:ea typeface="+mn-ea"/>
                <a:cs typeface="Calibri" pitchFamily="34" charset="0"/>
              </a:rPr>
              <a:t>experts and developed </a:t>
            </a:r>
            <a:r>
              <a:rPr lang="en-GB" i="1" dirty="0" smtClean="0">
                <a:latin typeface="Calibri" pitchFamily="34" charset="0"/>
                <a:ea typeface="+mn-ea"/>
                <a:cs typeface="Calibri" pitchFamily="34" charset="0"/>
              </a:rPr>
              <a:t>Evaluetor</a:t>
            </a:r>
            <a:r>
              <a:rPr lang="en-GB" i="1" baseline="30000" dirty="0" smtClean="0">
                <a:latin typeface="Calibri" pitchFamily="34" charset="0"/>
                <a:ea typeface="+mn-ea"/>
                <a:cs typeface="Calibri" pitchFamily="34" charset="0"/>
              </a:rPr>
              <a:t>© </a:t>
            </a:r>
          </a:p>
          <a:p>
            <a:pPr marL="457200" lvl="1" indent="0" algn="ctr">
              <a:buNone/>
            </a:pPr>
            <a:endParaRPr lang="en-GB" sz="1050" baseline="30000" dirty="0">
              <a:latin typeface="Calibri" pitchFamily="34" charset="0"/>
              <a:ea typeface="+mn-ea"/>
              <a:cs typeface="Calibri" pitchFamily="34" charset="0"/>
            </a:endParaRPr>
          </a:p>
          <a:p>
            <a:pPr marL="457200" lvl="1" indent="0" algn="ctr">
              <a:buNone/>
            </a:pPr>
            <a:r>
              <a:rPr lang="en-GB" dirty="0">
                <a:latin typeface="Calibri" pitchFamily="34" charset="0"/>
                <a:ea typeface="+mn-ea"/>
                <a:cs typeface="Calibri" pitchFamily="34" charset="0"/>
              </a:rPr>
              <a:t>We </a:t>
            </a:r>
            <a:r>
              <a:rPr lang="en-GB" dirty="0" smtClean="0">
                <a:latin typeface="Calibri" pitchFamily="34" charset="0"/>
                <a:ea typeface="+mn-ea"/>
                <a:cs typeface="Calibri" pitchFamily="34" charset="0"/>
              </a:rPr>
              <a:t>have created </a:t>
            </a:r>
            <a:r>
              <a:rPr lang="en-GB" dirty="0">
                <a:latin typeface="Calibri" pitchFamily="34" charset="0"/>
                <a:ea typeface="+mn-ea"/>
                <a:cs typeface="Calibri" pitchFamily="34" charset="0"/>
              </a:rPr>
              <a:t>a solution that consists of 3 </a:t>
            </a:r>
            <a:r>
              <a:rPr lang="en-GB" dirty="0" smtClean="0">
                <a:latin typeface="Calibri" pitchFamily="34" charset="0"/>
                <a:ea typeface="+mn-ea"/>
                <a:cs typeface="Calibri" pitchFamily="34" charset="0"/>
              </a:rPr>
              <a:t>pillars</a:t>
            </a:r>
            <a:endParaRPr lang="en-GB" dirty="0">
              <a:latin typeface="Calibri" pitchFamily="34" charset="0"/>
              <a:ea typeface="+mn-ea"/>
              <a:cs typeface="Calibri" pitchFamily="34" charset="0"/>
            </a:endParaRPr>
          </a:p>
          <a:p>
            <a:pPr lvl="3"/>
            <a:endParaRPr lang="en-GB" dirty="0" smtClean="0"/>
          </a:p>
          <a:p>
            <a:pPr marL="914400" lvl="2" indent="0">
              <a:buNone/>
            </a:pPr>
            <a:endParaRPr lang="en-GB" sz="1600" dirty="0" smtClean="0"/>
          </a:p>
        </p:txBody>
      </p:sp>
      <p:sp>
        <p:nvSpPr>
          <p:cNvPr id="5" name="Slide Number Placeholder 4"/>
          <p:cNvSpPr>
            <a:spLocks noGrp="1"/>
          </p:cNvSpPr>
          <p:nvPr>
            <p:ph type="sldNum" sz="quarter" idx="4294967295"/>
          </p:nvPr>
        </p:nvSpPr>
        <p:spPr>
          <a:xfrm>
            <a:off x="7010400" y="7235825"/>
            <a:ext cx="2133600" cy="268288"/>
          </a:xfrm>
        </p:spPr>
        <p:txBody>
          <a:bodyPr/>
          <a:lstStyle/>
          <a:p>
            <a:pPr>
              <a:defRPr/>
            </a:pPr>
            <a:fld id="{D5F246EE-A698-40F2-9104-E597CE2CF7A1}" type="slidenum">
              <a:rPr lang="nl-NL" smtClean="0"/>
              <a:pPr>
                <a:defRPr/>
              </a:pPr>
              <a:t>2</a:t>
            </a:fld>
            <a:endParaRPr lang="nl-NL" dirty="0"/>
          </a:p>
        </p:txBody>
      </p:sp>
      <p:graphicFrame>
        <p:nvGraphicFramePr>
          <p:cNvPr id="7" name="Diagram 6"/>
          <p:cNvGraphicFramePr/>
          <p:nvPr>
            <p:extLst>
              <p:ext uri="{D42A27DB-BD31-4B8C-83A1-F6EECF244321}">
                <p14:modId xmlns:p14="http://schemas.microsoft.com/office/powerpoint/2010/main" val="3682604115"/>
              </p:ext>
            </p:extLst>
          </p:nvPr>
        </p:nvGraphicFramePr>
        <p:xfrm>
          <a:off x="1842843" y="2996940"/>
          <a:ext cx="5458315" cy="2977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83960" y="5567784"/>
            <a:ext cx="707667" cy="174537"/>
          </a:xfrm>
          <a:prstGeom prst="rect">
            <a:avLst/>
          </a:prstGeom>
        </p:spPr>
      </p:pic>
    </p:spTree>
    <p:extLst>
      <p:ext uri="{BB962C8B-B14F-4D97-AF65-F5344CB8AC3E}">
        <p14:creationId xmlns:p14="http://schemas.microsoft.com/office/powerpoint/2010/main" val="36663027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252670" y="0"/>
            <a:ext cx="9649340" cy="141272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chemeClr val="tx2"/>
              </a:solidFill>
              <a:effectLst/>
              <a:latin typeface="Verdana" pitchFamily="34" charset="0"/>
              <a:cs typeface="Arial" charset="0"/>
            </a:endParaRPr>
          </a:p>
        </p:txBody>
      </p:sp>
      <p:pic>
        <p:nvPicPr>
          <p:cNvPr id="7" name="Picture 6"/>
          <p:cNvPicPr>
            <a:picLocks noChangeAspect="1"/>
          </p:cNvPicPr>
          <p:nvPr/>
        </p:nvPicPr>
        <p:blipFill>
          <a:blip r:embed="rId2"/>
          <a:stretch>
            <a:fillRect/>
          </a:stretch>
        </p:blipFill>
        <p:spPr>
          <a:xfrm>
            <a:off x="827480" y="-1035620"/>
            <a:ext cx="9234344" cy="7321463"/>
          </a:xfrm>
          <a:prstGeom prst="rect">
            <a:avLst/>
          </a:prstGeom>
        </p:spPr>
      </p:pic>
    </p:spTree>
    <p:extLst>
      <p:ext uri="{BB962C8B-B14F-4D97-AF65-F5344CB8AC3E}">
        <p14:creationId xmlns:p14="http://schemas.microsoft.com/office/powerpoint/2010/main" val="29845807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loud Callout 19"/>
          <p:cNvSpPr/>
          <p:nvPr/>
        </p:nvSpPr>
        <p:spPr bwMode="auto">
          <a:xfrm>
            <a:off x="937813" y="1556094"/>
            <a:ext cx="7594737" cy="4392609"/>
          </a:xfrm>
          <a:prstGeom prst="cloudCallout">
            <a:avLst>
              <a:gd name="adj1" fmla="val 10330"/>
              <a:gd name="adj2" fmla="val 45301"/>
            </a:avLst>
          </a:prstGeom>
          <a:solidFill>
            <a:schemeClr val="bg1">
              <a:alpha val="0"/>
            </a:schemeClr>
          </a:solidFill>
          <a:ln w="9525" cap="flat" cmpd="sng" algn="ctr">
            <a:solidFill>
              <a:schemeClr val="accent5">
                <a:lumMod val="75000"/>
              </a:schemeClr>
            </a:solidFill>
            <a:prstDash val="solid"/>
            <a:round/>
            <a:headEnd type="none" w="med" len="med"/>
            <a:tailEnd type="none" w="med" len="med"/>
          </a:ln>
          <a:effectLst>
            <a:glow rad="101600">
              <a:schemeClr val="bg1">
                <a:lumMod val="75000"/>
                <a:alpha val="60000"/>
              </a:schemeClr>
            </a:glo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chemeClr val="tx2"/>
              </a:solidFill>
              <a:effectLst/>
              <a:latin typeface="Verdana" pitchFamily="34" charset="0"/>
              <a:cs typeface="Arial" charset="0"/>
            </a:endParaRPr>
          </a:p>
        </p:txBody>
      </p:sp>
      <p:pic>
        <p:nvPicPr>
          <p:cNvPr id="52" name="Picture 51"/>
          <p:cNvPicPr>
            <a:picLocks noChangeAspect="1"/>
          </p:cNvPicPr>
          <p:nvPr/>
        </p:nvPicPr>
        <p:blipFill rotWithShape="1">
          <a:blip r:embed="rId2">
            <a:extLst>
              <a:ext uri="{28A0092B-C50C-407E-A947-70E740481C1C}">
                <a14:useLocalDpi xmlns:a14="http://schemas.microsoft.com/office/drawing/2010/main" val="0"/>
              </a:ext>
            </a:extLst>
          </a:blip>
          <a:srcRect l="1481" r="-4520" b="-50934"/>
          <a:stretch/>
        </p:blipFill>
        <p:spPr>
          <a:xfrm>
            <a:off x="2309527" y="2372576"/>
            <a:ext cx="1510260" cy="421740"/>
          </a:xfrm>
          <a:prstGeom prst="rect">
            <a:avLst/>
          </a:prstGeom>
        </p:spPr>
      </p:pic>
      <p:sp>
        <p:nvSpPr>
          <p:cNvPr id="3" name="Title 2"/>
          <p:cNvSpPr>
            <a:spLocks noGrp="1"/>
          </p:cNvSpPr>
          <p:nvPr>
            <p:ph type="title"/>
          </p:nvPr>
        </p:nvSpPr>
        <p:spPr/>
        <p:txBody>
          <a:bodyPr/>
          <a:lstStyle/>
          <a:p>
            <a:r>
              <a:rPr lang="en-US" dirty="0" smtClean="0"/>
              <a:t>Supporting the lifecycle</a:t>
            </a:r>
            <a:endParaRPr lang="en-US" dirty="0"/>
          </a:p>
        </p:txBody>
      </p:sp>
      <p:sp>
        <p:nvSpPr>
          <p:cNvPr id="17" name="Rectangle 16"/>
          <p:cNvSpPr/>
          <p:nvPr/>
        </p:nvSpPr>
        <p:spPr bwMode="auto">
          <a:xfrm>
            <a:off x="649773" y="4869200"/>
            <a:ext cx="1008140" cy="288040"/>
          </a:xfrm>
          <a:prstGeom prst="rect">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Contracting</a:t>
            </a:r>
          </a:p>
        </p:txBody>
      </p:sp>
      <p:sp>
        <p:nvSpPr>
          <p:cNvPr id="18" name="Rectangle 17"/>
          <p:cNvSpPr/>
          <p:nvPr/>
        </p:nvSpPr>
        <p:spPr bwMode="auto">
          <a:xfrm>
            <a:off x="7411191" y="4869200"/>
            <a:ext cx="1197662" cy="288040"/>
          </a:xfrm>
          <a:prstGeom prst="rect">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Close/renewal</a:t>
            </a:r>
          </a:p>
        </p:txBody>
      </p:sp>
      <p:sp>
        <p:nvSpPr>
          <p:cNvPr id="19" name="Rectangle 18"/>
          <p:cNvSpPr/>
          <p:nvPr/>
        </p:nvSpPr>
        <p:spPr bwMode="auto">
          <a:xfrm>
            <a:off x="1657913" y="4869200"/>
            <a:ext cx="5753278" cy="288040"/>
          </a:xfrm>
          <a:prstGeom prst="rect">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execution</a:t>
            </a:r>
          </a:p>
        </p:txBody>
      </p:sp>
      <p:sp>
        <p:nvSpPr>
          <p:cNvPr id="31" name="Flowchart: Multidocument 30"/>
          <p:cNvSpPr/>
          <p:nvPr/>
        </p:nvSpPr>
        <p:spPr bwMode="auto">
          <a:xfrm>
            <a:off x="649773" y="3541864"/>
            <a:ext cx="1008140" cy="1008140"/>
          </a:xfrm>
          <a:prstGeom prst="flowChartMultidocumen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contract</a:t>
            </a:r>
          </a:p>
        </p:txBody>
      </p:sp>
      <p:sp>
        <p:nvSpPr>
          <p:cNvPr id="35" name="Flowchart: Multidocument 34"/>
          <p:cNvSpPr/>
          <p:nvPr/>
        </p:nvSpPr>
        <p:spPr bwMode="auto">
          <a:xfrm>
            <a:off x="7524410" y="3541202"/>
            <a:ext cx="1008140" cy="1008140"/>
          </a:xfrm>
          <a:prstGeom prst="flowChartMultidocumen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contract</a:t>
            </a:r>
          </a:p>
        </p:txBody>
      </p:sp>
      <p:sp>
        <p:nvSpPr>
          <p:cNvPr id="48" name="Rounded Rectangle 47"/>
          <p:cNvSpPr/>
          <p:nvPr/>
        </p:nvSpPr>
        <p:spPr bwMode="auto">
          <a:xfrm>
            <a:off x="737466" y="1381832"/>
            <a:ext cx="7695487" cy="751689"/>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CLIENT</a:t>
            </a:r>
          </a:p>
        </p:txBody>
      </p:sp>
      <p:sp>
        <p:nvSpPr>
          <p:cNvPr id="49" name="Rounded Rectangle 48"/>
          <p:cNvSpPr/>
          <p:nvPr/>
        </p:nvSpPr>
        <p:spPr bwMode="auto">
          <a:xfrm>
            <a:off x="749370" y="5402114"/>
            <a:ext cx="7683583" cy="808963"/>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sz="1100" dirty="0">
                <a:solidFill>
                  <a:schemeClr val="tx2"/>
                </a:solidFill>
                <a:latin typeface="Verdana" pitchFamily="34" charset="0"/>
                <a:cs typeface="Arial" charset="0"/>
              </a:rPr>
              <a:t>SUPPLIER</a:t>
            </a:r>
          </a:p>
        </p:txBody>
      </p:sp>
      <p:sp>
        <p:nvSpPr>
          <p:cNvPr id="40" name="Explosion 1 39"/>
          <p:cNvSpPr/>
          <p:nvPr/>
        </p:nvSpPr>
        <p:spPr bwMode="auto">
          <a:xfrm>
            <a:off x="1912497" y="2780003"/>
            <a:ext cx="115216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2"/>
                </a:solidFill>
                <a:effectLst/>
                <a:latin typeface="Verdana" pitchFamily="34" charset="0"/>
                <a:cs typeface="Arial" charset="0"/>
              </a:rPr>
              <a:t>Scope change</a:t>
            </a:r>
          </a:p>
        </p:txBody>
      </p:sp>
      <p:sp>
        <p:nvSpPr>
          <p:cNvPr id="41" name="Explosion 1 40"/>
          <p:cNvSpPr/>
          <p:nvPr/>
        </p:nvSpPr>
        <p:spPr bwMode="auto">
          <a:xfrm>
            <a:off x="3154843" y="3759951"/>
            <a:ext cx="116892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800" dirty="0"/>
              <a:t>dispute</a:t>
            </a:r>
          </a:p>
        </p:txBody>
      </p:sp>
      <p:sp>
        <p:nvSpPr>
          <p:cNvPr id="42" name="Explosion 1 41"/>
          <p:cNvSpPr/>
          <p:nvPr/>
        </p:nvSpPr>
        <p:spPr bwMode="auto">
          <a:xfrm>
            <a:off x="2014663" y="3706737"/>
            <a:ext cx="116892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800" dirty="0"/>
              <a:t>Add-on</a:t>
            </a:r>
          </a:p>
        </p:txBody>
      </p:sp>
      <p:sp>
        <p:nvSpPr>
          <p:cNvPr id="43" name="Explosion 1 42"/>
          <p:cNvSpPr/>
          <p:nvPr/>
        </p:nvSpPr>
        <p:spPr bwMode="auto">
          <a:xfrm>
            <a:off x="4369610" y="2894173"/>
            <a:ext cx="1163571"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800" dirty="0"/>
              <a:t>complaint</a:t>
            </a:r>
          </a:p>
        </p:txBody>
      </p:sp>
      <p:sp>
        <p:nvSpPr>
          <p:cNvPr id="44" name="Explosion 1 43"/>
          <p:cNvSpPr/>
          <p:nvPr/>
        </p:nvSpPr>
        <p:spPr bwMode="auto">
          <a:xfrm>
            <a:off x="4260432" y="3752399"/>
            <a:ext cx="1163571"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dirty="0"/>
              <a:t>Legislation change</a:t>
            </a:r>
          </a:p>
        </p:txBody>
      </p:sp>
      <p:sp>
        <p:nvSpPr>
          <p:cNvPr id="45" name="Explosion 1 44"/>
          <p:cNvSpPr/>
          <p:nvPr/>
        </p:nvSpPr>
        <p:spPr bwMode="auto">
          <a:xfrm>
            <a:off x="3167567" y="2837161"/>
            <a:ext cx="116892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2"/>
                </a:solidFill>
                <a:effectLst/>
                <a:latin typeface="Verdana" pitchFamily="34" charset="0"/>
                <a:cs typeface="Arial" charset="0"/>
              </a:rPr>
              <a:t>dissatisfaction</a:t>
            </a:r>
          </a:p>
        </p:txBody>
      </p:sp>
      <p:sp>
        <p:nvSpPr>
          <p:cNvPr id="46" name="Explosion 1 45"/>
          <p:cNvSpPr/>
          <p:nvPr/>
        </p:nvSpPr>
        <p:spPr bwMode="auto">
          <a:xfrm>
            <a:off x="5474535" y="2574977"/>
            <a:ext cx="115216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2"/>
                </a:solidFill>
                <a:effectLst/>
                <a:latin typeface="Verdana" pitchFamily="34" charset="0"/>
                <a:cs typeface="Arial" charset="0"/>
              </a:rPr>
              <a:t>Scope change</a:t>
            </a:r>
          </a:p>
        </p:txBody>
      </p:sp>
      <p:sp>
        <p:nvSpPr>
          <p:cNvPr id="47" name="Explosion 1 46"/>
          <p:cNvSpPr/>
          <p:nvPr/>
        </p:nvSpPr>
        <p:spPr bwMode="auto">
          <a:xfrm>
            <a:off x="5529602" y="3772112"/>
            <a:ext cx="1152160" cy="1048293"/>
          </a:xfrm>
          <a:prstGeom prst="irregularSeal1">
            <a:avLst/>
          </a:prstGeom>
          <a:gradFill>
            <a:gsLst>
              <a:gs pos="0">
                <a:schemeClr val="accent3">
                  <a:tint val="50000"/>
                  <a:satMod val="300000"/>
                  <a:alpha val="49000"/>
                </a:schemeClr>
              </a:gs>
              <a:gs pos="50000">
                <a:schemeClr val="accent3">
                  <a:tint val="37000"/>
                  <a:satMod val="300000"/>
                  <a:alpha val="34000"/>
                </a:schemeClr>
              </a:gs>
              <a:gs pos="100000">
                <a:schemeClr val="accent3">
                  <a:tint val="15000"/>
                  <a:satMod val="350000"/>
                </a:schemeClr>
              </a:gs>
            </a:gsLs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2"/>
                </a:solidFill>
                <a:effectLst/>
                <a:latin typeface="Verdana" pitchFamily="34" charset="0"/>
                <a:cs typeface="Arial" charset="0"/>
              </a:rPr>
              <a:t>New requirement</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0715" y="2264219"/>
            <a:ext cx="511344" cy="442243"/>
          </a:xfrm>
          <a:prstGeom prst="rect">
            <a:avLst/>
          </a:prstGeom>
        </p:spPr>
      </p:pic>
    </p:spTree>
    <p:extLst>
      <p:ext uri="{BB962C8B-B14F-4D97-AF65-F5344CB8AC3E}">
        <p14:creationId xmlns:p14="http://schemas.microsoft.com/office/powerpoint/2010/main" val="4674522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37507" y="90489"/>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lnSpc>
                <a:spcPct val="150000"/>
              </a:lnSpc>
            </a:pPr>
            <a:r>
              <a:rPr lang="en-GB" kern="0" dirty="0" smtClean="0"/>
              <a:t>Contract Execution &amp; Governance</a:t>
            </a:r>
            <a:endParaRPr lang="en-GB" kern="0" dirty="0"/>
          </a:p>
        </p:txBody>
      </p:sp>
      <p:pic>
        <p:nvPicPr>
          <p:cNvPr id="8" name="Afbeelding 7" descr="Screen Shot 2014-03-12 at 11.38.06.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46801" y="3789050"/>
            <a:ext cx="5897199" cy="2454114"/>
          </a:xfrm>
          <a:prstGeom prst="rect">
            <a:avLst/>
          </a:prstGeom>
        </p:spPr>
      </p:pic>
      <p:sp>
        <p:nvSpPr>
          <p:cNvPr id="4" name="Content Placeholder 4"/>
          <p:cNvSpPr>
            <a:spLocks noGrp="1"/>
          </p:cNvSpPr>
          <p:nvPr>
            <p:ph idx="1"/>
          </p:nvPr>
        </p:nvSpPr>
        <p:spPr>
          <a:xfrm>
            <a:off x="167142" y="980661"/>
            <a:ext cx="8221388" cy="3456480"/>
          </a:xfrm>
        </p:spPr>
        <p:txBody>
          <a:bodyPr/>
          <a:lstStyle/>
          <a:p>
            <a:pPr>
              <a:lnSpc>
                <a:spcPct val="150000"/>
              </a:lnSpc>
            </a:pPr>
            <a:r>
              <a:rPr lang="en-GB" dirty="0" smtClean="0"/>
              <a:t>Increased Value from your contracts</a:t>
            </a:r>
          </a:p>
          <a:p>
            <a:pPr lvl="1">
              <a:lnSpc>
                <a:spcPct val="150000"/>
              </a:lnSpc>
            </a:pPr>
            <a:r>
              <a:rPr lang="en-GB" dirty="0" smtClean="0"/>
              <a:t>Online access and control of all your Contract Documents</a:t>
            </a:r>
          </a:p>
          <a:p>
            <a:pPr lvl="1">
              <a:lnSpc>
                <a:spcPct val="150000"/>
              </a:lnSpc>
            </a:pPr>
            <a:r>
              <a:rPr lang="en-GB" dirty="0" smtClean="0"/>
              <a:t>Proactive alerts of Risks to those responsible in your business</a:t>
            </a:r>
          </a:p>
          <a:p>
            <a:pPr lvl="1">
              <a:lnSpc>
                <a:spcPct val="150000"/>
              </a:lnSpc>
            </a:pPr>
            <a:r>
              <a:rPr lang="en-GB" dirty="0"/>
              <a:t>P</a:t>
            </a:r>
            <a:r>
              <a:rPr lang="en-GB" dirty="0" smtClean="0"/>
              <a:t>roactive management of commitments realising the full potential Value</a:t>
            </a:r>
          </a:p>
          <a:p>
            <a:pPr lvl="1">
              <a:lnSpc>
                <a:spcPct val="150000"/>
              </a:lnSpc>
            </a:pPr>
            <a:r>
              <a:rPr lang="en-GB" dirty="0" smtClean="0"/>
              <a:t>Contract content </a:t>
            </a:r>
            <a:r>
              <a:rPr lang="en-GB" dirty="0" smtClean="0"/>
              <a:t>selectively pushed </a:t>
            </a:r>
            <a:r>
              <a:rPr lang="en-GB" dirty="0" smtClean="0"/>
              <a:t>out to your </a:t>
            </a:r>
            <a:r>
              <a:rPr lang="en-GB" dirty="0" smtClean="0"/>
              <a:t>business management </a:t>
            </a:r>
            <a:endParaRPr lang="en-GB" dirty="0" smtClean="0"/>
          </a:p>
          <a:p>
            <a:pPr lvl="1">
              <a:lnSpc>
                <a:spcPct val="150000"/>
              </a:lnSpc>
            </a:pPr>
            <a:r>
              <a:rPr lang="en-GB" dirty="0" smtClean="0"/>
              <a:t>Avoid problem resolution cost</a:t>
            </a:r>
          </a:p>
          <a:p>
            <a:pPr marL="0" indent="0">
              <a:lnSpc>
                <a:spcPct val="150000"/>
              </a:lnSpc>
              <a:buNone/>
            </a:pPr>
            <a:endParaRPr lang="en-GB" dirty="0"/>
          </a:p>
        </p:txBody>
      </p:sp>
    </p:spTree>
    <p:extLst>
      <p:ext uri="{BB962C8B-B14F-4D97-AF65-F5344CB8AC3E}">
        <p14:creationId xmlns:p14="http://schemas.microsoft.com/office/powerpoint/2010/main" val="2108540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37507" y="90489"/>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lnSpc>
                <a:spcPct val="150000"/>
              </a:lnSpc>
            </a:pPr>
            <a:r>
              <a:rPr lang="en-GB" kern="0" dirty="0"/>
              <a:t>Allen &amp; </a:t>
            </a:r>
            <a:r>
              <a:rPr lang="en-GB" kern="0" dirty="0" err="1"/>
              <a:t>Overy</a:t>
            </a:r>
            <a:r>
              <a:rPr lang="en-GB" kern="0" dirty="0"/>
              <a:t> E*Contract </a:t>
            </a:r>
            <a:r>
              <a:rPr lang="en-GB" kern="0" dirty="0" smtClean="0"/>
              <a:t>Services</a:t>
            </a:r>
            <a:endParaRPr lang="en-GB" kern="0" dirty="0"/>
          </a:p>
        </p:txBody>
      </p:sp>
      <p:pic>
        <p:nvPicPr>
          <p:cNvPr id="4" name="Afbeelding 3" descr="Partnership.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210" y="1340710"/>
            <a:ext cx="2821668" cy="1872260"/>
          </a:xfrm>
          <a:prstGeom prst="rect">
            <a:avLst/>
          </a:prstGeom>
        </p:spPr>
      </p:pic>
      <p:sp>
        <p:nvSpPr>
          <p:cNvPr id="6" name="Content Placeholder 4"/>
          <p:cNvSpPr txBox="1">
            <a:spLocks/>
          </p:cNvSpPr>
          <p:nvPr/>
        </p:nvSpPr>
        <p:spPr bwMode="auto">
          <a:xfrm>
            <a:off x="237506" y="1124680"/>
            <a:ext cx="5728929" cy="42485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8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nSpc>
                <a:spcPct val="150000"/>
              </a:lnSpc>
              <a:spcBef>
                <a:spcPts val="0"/>
              </a:spcBef>
              <a:spcAft>
                <a:spcPts val="0"/>
              </a:spcAft>
            </a:pPr>
            <a:r>
              <a:rPr lang="en-GB" sz="1800" kern="0" dirty="0" smtClean="0"/>
              <a:t>Option to deliver </a:t>
            </a:r>
            <a:r>
              <a:rPr lang="en-GB" sz="1800" kern="0" dirty="0"/>
              <a:t>Electronic </a:t>
            </a:r>
            <a:r>
              <a:rPr lang="en-GB" sz="1800" kern="0" dirty="0" smtClean="0"/>
              <a:t>contracts, using Evaluetor</a:t>
            </a:r>
          </a:p>
          <a:p>
            <a:pPr lvl="1">
              <a:lnSpc>
                <a:spcPct val="150000"/>
              </a:lnSpc>
              <a:spcBef>
                <a:spcPts val="0"/>
              </a:spcBef>
              <a:spcAft>
                <a:spcPts val="0"/>
              </a:spcAft>
            </a:pPr>
            <a:r>
              <a:rPr lang="en-GB" sz="1600" kern="0" dirty="0" smtClean="0"/>
              <a:t>Contract clauses translated in commitments </a:t>
            </a:r>
            <a:r>
              <a:rPr lang="en-GB" sz="1600" kern="0" dirty="0" smtClean="0"/>
              <a:t>in </a:t>
            </a:r>
            <a:r>
              <a:rPr lang="en-GB" sz="1600" kern="0" dirty="0" smtClean="0"/>
              <a:t>business terms</a:t>
            </a:r>
          </a:p>
          <a:p>
            <a:pPr lvl="1">
              <a:lnSpc>
                <a:spcPct val="150000"/>
              </a:lnSpc>
              <a:spcBef>
                <a:spcPts val="0"/>
              </a:spcBef>
              <a:spcAft>
                <a:spcPts val="0"/>
              </a:spcAft>
            </a:pPr>
            <a:r>
              <a:rPr lang="en-GB" sz="1600" kern="0" dirty="0" smtClean="0"/>
              <a:t>Commitment follow up assigned to governance teams</a:t>
            </a:r>
          </a:p>
          <a:p>
            <a:pPr lvl="1">
              <a:lnSpc>
                <a:spcPct val="150000"/>
              </a:lnSpc>
              <a:spcBef>
                <a:spcPts val="0"/>
              </a:spcBef>
              <a:spcAft>
                <a:spcPts val="0"/>
              </a:spcAft>
            </a:pPr>
            <a:r>
              <a:rPr lang="en-GB" sz="1600" kern="0" dirty="0" smtClean="0"/>
              <a:t>Control cycles defined on commitments to assure frequent monitoring and </a:t>
            </a:r>
            <a:r>
              <a:rPr lang="en-GB" sz="1600" kern="0" dirty="0" smtClean="0"/>
              <a:t>compliance </a:t>
            </a:r>
            <a:endParaRPr lang="en-GB" sz="1600" kern="0" dirty="0" smtClean="0"/>
          </a:p>
          <a:p>
            <a:pPr>
              <a:lnSpc>
                <a:spcPct val="150000"/>
              </a:lnSpc>
              <a:spcBef>
                <a:spcPts val="0"/>
              </a:spcBef>
              <a:spcAft>
                <a:spcPts val="0"/>
              </a:spcAft>
            </a:pPr>
            <a:r>
              <a:rPr lang="en-GB" sz="1800" kern="0" dirty="0" smtClean="0"/>
              <a:t>Contract Monitoring Services</a:t>
            </a:r>
          </a:p>
          <a:p>
            <a:pPr lvl="1">
              <a:lnSpc>
                <a:spcPct val="150000"/>
              </a:lnSpc>
              <a:spcBef>
                <a:spcPts val="0"/>
              </a:spcBef>
              <a:spcAft>
                <a:spcPts val="0"/>
              </a:spcAft>
            </a:pPr>
            <a:r>
              <a:rPr lang="en-GB" sz="1600" kern="0" dirty="0" smtClean="0"/>
              <a:t>Advising on the Contract Management process, using the control information in </a:t>
            </a:r>
            <a:r>
              <a:rPr lang="en-GB" sz="1600" kern="0" dirty="0" smtClean="0"/>
              <a:t>Evaluetor</a:t>
            </a:r>
          </a:p>
          <a:p>
            <a:pPr lvl="1">
              <a:lnSpc>
                <a:spcPct val="150000"/>
              </a:lnSpc>
              <a:spcBef>
                <a:spcPts val="0"/>
              </a:spcBef>
              <a:spcAft>
                <a:spcPts val="0"/>
              </a:spcAft>
            </a:pPr>
            <a:r>
              <a:rPr lang="en-GB" sz="1600" kern="0" dirty="0" smtClean="0"/>
              <a:t>Real-time Legal analytics</a:t>
            </a:r>
            <a:endParaRPr lang="en-GB" sz="1600" kern="0" dirty="0" smtClean="0"/>
          </a:p>
          <a:p>
            <a:pPr>
              <a:lnSpc>
                <a:spcPct val="150000"/>
              </a:lnSpc>
              <a:spcBef>
                <a:spcPts val="0"/>
              </a:spcBef>
              <a:spcAft>
                <a:spcPts val="0"/>
              </a:spcAft>
            </a:pPr>
            <a:r>
              <a:rPr lang="en-GB" sz="1800" kern="0" dirty="0" smtClean="0"/>
              <a:t>Contract Risk Management Services</a:t>
            </a:r>
          </a:p>
          <a:p>
            <a:pPr lvl="1">
              <a:lnSpc>
                <a:spcPct val="150000"/>
              </a:lnSpc>
              <a:spcBef>
                <a:spcPts val="0"/>
              </a:spcBef>
              <a:spcAft>
                <a:spcPts val="0"/>
              </a:spcAft>
            </a:pPr>
            <a:r>
              <a:rPr lang="en-GB" sz="1600" kern="0" dirty="0" smtClean="0"/>
              <a:t>Using the risk management information in Evaluetor to create risk assessments</a:t>
            </a:r>
            <a:endParaRPr lang="en-GB" sz="1600" kern="0" dirty="0"/>
          </a:p>
        </p:txBody>
      </p:sp>
      <p:sp>
        <p:nvSpPr>
          <p:cNvPr id="7" name="Rectangle 6"/>
          <p:cNvSpPr/>
          <p:nvPr/>
        </p:nvSpPr>
        <p:spPr>
          <a:xfrm rot="19445441">
            <a:off x="6148238" y="4123277"/>
            <a:ext cx="2175597" cy="923330"/>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Draft</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663641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12"/>
          </p:nvPr>
        </p:nvSpPr>
        <p:spPr/>
        <p:txBody>
          <a:bodyPr/>
          <a:lstStyle/>
          <a:p>
            <a:pPr>
              <a:defRPr/>
            </a:pPr>
            <a:fld id="{A14ED451-723F-4E8F-ACC5-3FD132FB63D8}" type="slidenum">
              <a:rPr lang="nl-NL" smtClean="0"/>
              <a:pPr>
                <a:defRPr/>
              </a:pPr>
              <a:t>7</a:t>
            </a:fld>
            <a:endParaRPr lang="nl-NL" dirty="0"/>
          </a:p>
        </p:txBody>
      </p:sp>
      <p:sp>
        <p:nvSpPr>
          <p:cNvPr id="4" name="Title 2"/>
          <p:cNvSpPr txBox="1">
            <a:spLocks/>
          </p:cNvSpPr>
          <p:nvPr/>
        </p:nvSpPr>
        <p:spPr>
          <a:xfrm>
            <a:off x="237507" y="-27480"/>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spcAft>
                <a:spcPts val="0"/>
              </a:spcAft>
            </a:pPr>
            <a:r>
              <a:rPr lang="en-GB" kern="0" dirty="0" smtClean="0"/>
              <a:t>Translate your Contract </a:t>
            </a:r>
            <a:r>
              <a:rPr lang="en-GB" kern="0" dirty="0"/>
              <a:t>D</a:t>
            </a:r>
            <a:r>
              <a:rPr lang="en-GB" kern="0" dirty="0" smtClean="0"/>
              <a:t>ocuments into </a:t>
            </a:r>
          </a:p>
          <a:p>
            <a:pPr>
              <a:spcAft>
                <a:spcPts val="0"/>
              </a:spcAft>
            </a:pPr>
            <a:r>
              <a:rPr lang="en-GB" kern="0" dirty="0" smtClean="0"/>
              <a:t>manageable Commitments, Actions and Alerts</a:t>
            </a:r>
            <a:endParaRPr lang="en-GB" kern="0" dirty="0"/>
          </a:p>
        </p:txBody>
      </p:sp>
      <p:pic>
        <p:nvPicPr>
          <p:cNvPr id="5" name="Afbeelding 4"/>
          <p:cNvPicPr>
            <a:picLocks noChangeAspect="1"/>
          </p:cNvPicPr>
          <p:nvPr/>
        </p:nvPicPr>
        <p:blipFill>
          <a:blip r:embed="rId2"/>
          <a:stretch>
            <a:fillRect/>
          </a:stretch>
        </p:blipFill>
        <p:spPr>
          <a:xfrm>
            <a:off x="7352919" y="1484730"/>
            <a:ext cx="1782935" cy="2307860"/>
          </a:xfrm>
          <a:prstGeom prst="rect">
            <a:avLst/>
          </a:prstGeom>
        </p:spPr>
      </p:pic>
      <p:pic>
        <p:nvPicPr>
          <p:cNvPr id="7" name="Picture 6"/>
          <p:cNvPicPr>
            <a:picLocks noChangeAspect="1"/>
          </p:cNvPicPr>
          <p:nvPr/>
        </p:nvPicPr>
        <p:blipFill>
          <a:blip r:embed="rId3"/>
          <a:stretch>
            <a:fillRect/>
          </a:stretch>
        </p:blipFill>
        <p:spPr>
          <a:xfrm>
            <a:off x="107380" y="1592745"/>
            <a:ext cx="7047655" cy="4104570"/>
          </a:xfrm>
          <a:prstGeom prst="rect">
            <a:avLst/>
          </a:prstGeom>
        </p:spPr>
      </p:pic>
    </p:spTree>
    <p:extLst>
      <p:ext uri="{BB962C8B-B14F-4D97-AF65-F5344CB8AC3E}">
        <p14:creationId xmlns:p14="http://schemas.microsoft.com/office/powerpoint/2010/main" val="2103829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bwMode="auto">
          <a:xfrm>
            <a:off x="107380" y="1628750"/>
            <a:ext cx="4248590" cy="4536630"/>
          </a:xfrm>
          <a:prstGeom prst="roundRect">
            <a:avLst/>
          </a:prstGeom>
          <a:blipFill dpi="0" rotWithShape="1">
            <a:blip r:embed="rId2"/>
            <a:srcRect/>
            <a:stretch>
              <a:fillRect/>
            </a:stretch>
          </a:blipFill>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Calibri" pitchFamily="34" charset="0"/>
              <a:cs typeface="Calibri" pitchFamily="34" charset="0"/>
            </a:endParaRPr>
          </a:p>
        </p:txBody>
      </p:sp>
      <p:sp>
        <p:nvSpPr>
          <p:cNvPr id="5" name="Rounded Rectangle 4"/>
          <p:cNvSpPr/>
          <p:nvPr/>
        </p:nvSpPr>
        <p:spPr bwMode="auto">
          <a:xfrm>
            <a:off x="4355970" y="1628750"/>
            <a:ext cx="4752659" cy="4536630"/>
          </a:xfrm>
          <a:prstGeom prst="roundRect">
            <a:avLst/>
          </a:prstGeom>
          <a:blipFill dpi="0" rotWithShape="1">
            <a:blip r:embed="rId2"/>
            <a:srcRect/>
            <a:stretch>
              <a:fillRect/>
            </a:stretch>
          </a:blipFill>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sp>
        <p:nvSpPr>
          <p:cNvPr id="3" name="Title 2"/>
          <p:cNvSpPr>
            <a:spLocks noGrp="1"/>
          </p:cNvSpPr>
          <p:nvPr>
            <p:ph type="title"/>
          </p:nvPr>
        </p:nvSpPr>
        <p:spPr>
          <a:xfrm>
            <a:off x="1681366" y="90489"/>
            <a:ext cx="5987064" cy="890172"/>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2800" dirty="0"/>
              <a:t>How the information comes together</a:t>
            </a:r>
            <a:endParaRPr lang="en-GB" sz="2800" dirty="0">
              <a:solidFill>
                <a:srgbClr val="002060"/>
              </a:solidFill>
            </a:endParaRPr>
          </a:p>
        </p:txBody>
      </p:sp>
      <p:grpSp>
        <p:nvGrpSpPr>
          <p:cNvPr id="8" name="Group 7"/>
          <p:cNvGrpSpPr/>
          <p:nvPr/>
        </p:nvGrpSpPr>
        <p:grpSpPr>
          <a:xfrm>
            <a:off x="179897" y="1136673"/>
            <a:ext cx="8753340" cy="4800683"/>
            <a:chOff x="179897" y="1136673"/>
            <a:chExt cx="8753340" cy="4800683"/>
          </a:xfrm>
        </p:grpSpPr>
        <p:sp>
          <p:nvSpPr>
            <p:cNvPr id="9" name="Freeform 8"/>
            <p:cNvSpPr/>
            <p:nvPr/>
          </p:nvSpPr>
          <p:spPr>
            <a:xfrm>
              <a:off x="7280307" y="2875843"/>
              <a:ext cx="215599" cy="2702180"/>
            </a:xfrm>
            <a:custGeom>
              <a:avLst/>
              <a:gdLst/>
              <a:ahLst/>
              <a:cxnLst/>
              <a:rect l="0" t="0" r="0" b="0"/>
              <a:pathLst>
                <a:path>
                  <a:moveTo>
                    <a:pt x="0" y="0"/>
                  </a:moveTo>
                  <a:lnTo>
                    <a:pt x="0" y="2702180"/>
                  </a:lnTo>
                  <a:lnTo>
                    <a:pt x="215599" y="2702180"/>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9"/>
            <p:cNvSpPr/>
            <p:nvPr/>
          </p:nvSpPr>
          <p:spPr>
            <a:xfrm>
              <a:off x="7280307" y="2875843"/>
              <a:ext cx="215599" cy="1681676"/>
            </a:xfrm>
            <a:custGeom>
              <a:avLst/>
              <a:gdLst/>
              <a:ahLst/>
              <a:cxnLst/>
              <a:rect l="0" t="0" r="0" b="0"/>
              <a:pathLst>
                <a:path>
                  <a:moveTo>
                    <a:pt x="0" y="0"/>
                  </a:moveTo>
                  <a:lnTo>
                    <a:pt x="0" y="1681676"/>
                  </a:lnTo>
                  <a:lnTo>
                    <a:pt x="215599" y="168167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Freeform 10"/>
            <p:cNvSpPr/>
            <p:nvPr/>
          </p:nvSpPr>
          <p:spPr>
            <a:xfrm>
              <a:off x="7280307" y="2875843"/>
              <a:ext cx="215599" cy="661171"/>
            </a:xfrm>
            <a:custGeom>
              <a:avLst/>
              <a:gdLst/>
              <a:ahLst/>
              <a:cxnLst/>
              <a:rect l="0" t="0" r="0" b="0"/>
              <a:pathLst>
                <a:path>
                  <a:moveTo>
                    <a:pt x="0" y="0"/>
                  </a:moveTo>
                  <a:lnTo>
                    <a:pt x="0" y="661171"/>
                  </a:lnTo>
                  <a:lnTo>
                    <a:pt x="215599" y="661171"/>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11"/>
            <p:cNvSpPr/>
            <p:nvPr/>
          </p:nvSpPr>
          <p:spPr>
            <a:xfrm>
              <a:off x="4376901" y="1855338"/>
              <a:ext cx="3478338" cy="301839"/>
            </a:xfrm>
            <a:custGeom>
              <a:avLst/>
              <a:gdLst/>
              <a:ahLst/>
              <a:cxnLst/>
              <a:rect l="0" t="0" r="0" b="0"/>
              <a:pathLst>
                <a:path>
                  <a:moveTo>
                    <a:pt x="0" y="0"/>
                  </a:moveTo>
                  <a:lnTo>
                    <a:pt x="0" y="150919"/>
                  </a:lnTo>
                  <a:lnTo>
                    <a:pt x="3478338" y="150919"/>
                  </a:lnTo>
                  <a:lnTo>
                    <a:pt x="3478338" y="30183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Freeform 12"/>
            <p:cNvSpPr/>
            <p:nvPr/>
          </p:nvSpPr>
          <p:spPr>
            <a:xfrm>
              <a:off x="5541138" y="2875843"/>
              <a:ext cx="215599" cy="1681676"/>
            </a:xfrm>
            <a:custGeom>
              <a:avLst/>
              <a:gdLst/>
              <a:ahLst/>
              <a:cxnLst/>
              <a:rect l="0" t="0" r="0" b="0"/>
              <a:pathLst>
                <a:path>
                  <a:moveTo>
                    <a:pt x="0" y="0"/>
                  </a:moveTo>
                  <a:lnTo>
                    <a:pt x="0" y="1681676"/>
                  </a:lnTo>
                  <a:lnTo>
                    <a:pt x="215599" y="168167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13"/>
            <p:cNvSpPr/>
            <p:nvPr/>
          </p:nvSpPr>
          <p:spPr>
            <a:xfrm>
              <a:off x="5541138" y="2875843"/>
              <a:ext cx="215599" cy="661171"/>
            </a:xfrm>
            <a:custGeom>
              <a:avLst/>
              <a:gdLst/>
              <a:ahLst/>
              <a:cxnLst/>
              <a:rect l="0" t="0" r="0" b="0"/>
              <a:pathLst>
                <a:path>
                  <a:moveTo>
                    <a:pt x="0" y="0"/>
                  </a:moveTo>
                  <a:lnTo>
                    <a:pt x="0" y="661171"/>
                  </a:lnTo>
                  <a:lnTo>
                    <a:pt x="215599" y="661171"/>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14"/>
            <p:cNvSpPr/>
            <p:nvPr/>
          </p:nvSpPr>
          <p:spPr>
            <a:xfrm>
              <a:off x="4376901" y="1855338"/>
              <a:ext cx="1739169" cy="301839"/>
            </a:xfrm>
            <a:custGeom>
              <a:avLst/>
              <a:gdLst/>
              <a:ahLst/>
              <a:cxnLst/>
              <a:rect l="0" t="0" r="0" b="0"/>
              <a:pathLst>
                <a:path>
                  <a:moveTo>
                    <a:pt x="0" y="0"/>
                  </a:moveTo>
                  <a:lnTo>
                    <a:pt x="0" y="150919"/>
                  </a:lnTo>
                  <a:lnTo>
                    <a:pt x="1739169" y="150919"/>
                  </a:lnTo>
                  <a:lnTo>
                    <a:pt x="1739169" y="30183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Freeform 15"/>
            <p:cNvSpPr/>
            <p:nvPr/>
          </p:nvSpPr>
          <p:spPr>
            <a:xfrm>
              <a:off x="3801969" y="2875843"/>
              <a:ext cx="215599" cy="661171"/>
            </a:xfrm>
            <a:custGeom>
              <a:avLst/>
              <a:gdLst/>
              <a:ahLst/>
              <a:cxnLst/>
              <a:rect l="0" t="0" r="0" b="0"/>
              <a:pathLst>
                <a:path>
                  <a:moveTo>
                    <a:pt x="0" y="0"/>
                  </a:moveTo>
                  <a:lnTo>
                    <a:pt x="0" y="661171"/>
                  </a:lnTo>
                  <a:lnTo>
                    <a:pt x="215599" y="661171"/>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7" name="Freeform 16"/>
            <p:cNvSpPr/>
            <p:nvPr/>
          </p:nvSpPr>
          <p:spPr>
            <a:xfrm>
              <a:off x="4331181" y="1855338"/>
              <a:ext cx="91440" cy="301839"/>
            </a:xfrm>
            <a:custGeom>
              <a:avLst/>
              <a:gdLst/>
              <a:ahLst/>
              <a:cxnLst/>
              <a:rect l="0" t="0" r="0" b="0"/>
              <a:pathLst>
                <a:path>
                  <a:moveTo>
                    <a:pt x="45720" y="0"/>
                  </a:moveTo>
                  <a:lnTo>
                    <a:pt x="45720" y="30183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8" name="Freeform 17"/>
            <p:cNvSpPr/>
            <p:nvPr/>
          </p:nvSpPr>
          <p:spPr>
            <a:xfrm>
              <a:off x="2062799" y="2875843"/>
              <a:ext cx="215599" cy="1681676"/>
            </a:xfrm>
            <a:custGeom>
              <a:avLst/>
              <a:gdLst/>
              <a:ahLst/>
              <a:cxnLst/>
              <a:rect l="0" t="0" r="0" b="0"/>
              <a:pathLst>
                <a:path>
                  <a:moveTo>
                    <a:pt x="0" y="0"/>
                  </a:moveTo>
                  <a:lnTo>
                    <a:pt x="0" y="1681676"/>
                  </a:lnTo>
                  <a:lnTo>
                    <a:pt x="215599" y="168167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9" name="Freeform 18"/>
            <p:cNvSpPr/>
            <p:nvPr/>
          </p:nvSpPr>
          <p:spPr>
            <a:xfrm>
              <a:off x="2062799" y="2875843"/>
              <a:ext cx="215599" cy="661171"/>
            </a:xfrm>
            <a:custGeom>
              <a:avLst/>
              <a:gdLst/>
              <a:ahLst/>
              <a:cxnLst/>
              <a:rect l="0" t="0" r="0" b="0"/>
              <a:pathLst>
                <a:path>
                  <a:moveTo>
                    <a:pt x="0" y="0"/>
                  </a:moveTo>
                  <a:lnTo>
                    <a:pt x="0" y="661171"/>
                  </a:lnTo>
                  <a:lnTo>
                    <a:pt x="215599" y="661171"/>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0" name="Freeform 19"/>
            <p:cNvSpPr/>
            <p:nvPr/>
          </p:nvSpPr>
          <p:spPr>
            <a:xfrm>
              <a:off x="2637731" y="1855338"/>
              <a:ext cx="1739169" cy="301839"/>
            </a:xfrm>
            <a:custGeom>
              <a:avLst/>
              <a:gdLst/>
              <a:ahLst/>
              <a:cxnLst/>
              <a:rect l="0" t="0" r="0" b="0"/>
              <a:pathLst>
                <a:path>
                  <a:moveTo>
                    <a:pt x="1739169" y="0"/>
                  </a:moveTo>
                  <a:lnTo>
                    <a:pt x="1739169" y="150919"/>
                  </a:lnTo>
                  <a:lnTo>
                    <a:pt x="0" y="150919"/>
                  </a:lnTo>
                  <a:lnTo>
                    <a:pt x="0" y="30183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1" name="Freeform 20"/>
            <p:cNvSpPr/>
            <p:nvPr/>
          </p:nvSpPr>
          <p:spPr>
            <a:xfrm>
              <a:off x="323630" y="2875843"/>
              <a:ext cx="215599" cy="1681676"/>
            </a:xfrm>
            <a:custGeom>
              <a:avLst/>
              <a:gdLst/>
              <a:ahLst/>
              <a:cxnLst/>
              <a:rect l="0" t="0" r="0" b="0"/>
              <a:pathLst>
                <a:path>
                  <a:moveTo>
                    <a:pt x="0" y="0"/>
                  </a:moveTo>
                  <a:lnTo>
                    <a:pt x="0" y="1681676"/>
                  </a:lnTo>
                  <a:lnTo>
                    <a:pt x="215599" y="168167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2" name="Freeform 21"/>
            <p:cNvSpPr/>
            <p:nvPr/>
          </p:nvSpPr>
          <p:spPr>
            <a:xfrm>
              <a:off x="323630" y="2875843"/>
              <a:ext cx="215599" cy="661171"/>
            </a:xfrm>
            <a:custGeom>
              <a:avLst/>
              <a:gdLst/>
              <a:ahLst/>
              <a:cxnLst/>
              <a:rect l="0" t="0" r="0" b="0"/>
              <a:pathLst>
                <a:path>
                  <a:moveTo>
                    <a:pt x="0" y="0"/>
                  </a:moveTo>
                  <a:lnTo>
                    <a:pt x="0" y="661171"/>
                  </a:lnTo>
                  <a:lnTo>
                    <a:pt x="215599" y="661171"/>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3" name="Freeform 22"/>
            <p:cNvSpPr/>
            <p:nvPr/>
          </p:nvSpPr>
          <p:spPr>
            <a:xfrm>
              <a:off x="898562" y="1855338"/>
              <a:ext cx="3478338" cy="301839"/>
            </a:xfrm>
            <a:custGeom>
              <a:avLst/>
              <a:gdLst/>
              <a:ahLst/>
              <a:cxnLst/>
              <a:rect l="0" t="0" r="0" b="0"/>
              <a:pathLst>
                <a:path>
                  <a:moveTo>
                    <a:pt x="3478338" y="0"/>
                  </a:moveTo>
                  <a:lnTo>
                    <a:pt x="3478338" y="150919"/>
                  </a:lnTo>
                  <a:lnTo>
                    <a:pt x="0" y="150919"/>
                  </a:lnTo>
                  <a:lnTo>
                    <a:pt x="0" y="30183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4" name="Freeform 23"/>
            <p:cNvSpPr/>
            <p:nvPr/>
          </p:nvSpPr>
          <p:spPr>
            <a:xfrm>
              <a:off x="3658236" y="1136673"/>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Evaluetor Dashboard</a:t>
              </a:r>
              <a:endParaRPr lang="en-GB" sz="1000" kern="1200" dirty="0"/>
            </a:p>
          </p:txBody>
        </p:sp>
        <p:sp>
          <p:nvSpPr>
            <p:cNvPr id="25" name="Rectangle 24"/>
            <p:cNvSpPr/>
            <p:nvPr/>
          </p:nvSpPr>
          <p:spPr>
            <a:xfrm>
              <a:off x="3730102" y="1208540"/>
              <a:ext cx="431199" cy="574932"/>
            </a:xfrm>
            <a:prstGeom prst="rect">
              <a:avLst/>
            </a:prstGeom>
            <a:blipFill>
              <a:blip r:embed="rId3" cstate="print">
                <a:extLst>
                  <a:ext uri="{28A0092B-C50C-407E-A947-70E740481C1C}">
                    <a14:useLocalDpi xmlns:a14="http://schemas.microsoft.com/office/drawing/2010/main" val="0"/>
                  </a:ext>
                </a:extLst>
              </a:blip>
              <a:srcRect/>
              <a:stretch>
                <a:fillRect l="-114000" r="-114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26" name="Freeform 25"/>
            <p:cNvSpPr/>
            <p:nvPr/>
          </p:nvSpPr>
          <p:spPr>
            <a:xfrm>
              <a:off x="179897" y="2157178"/>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Account Team Score</a:t>
              </a:r>
              <a:endParaRPr lang="en-GB" sz="1000" kern="1200" dirty="0"/>
            </a:p>
          </p:txBody>
        </p:sp>
        <p:sp>
          <p:nvSpPr>
            <p:cNvPr id="27" name="Rectangle 26"/>
            <p:cNvSpPr/>
            <p:nvPr/>
          </p:nvSpPr>
          <p:spPr>
            <a:xfrm>
              <a:off x="251764" y="2229044"/>
              <a:ext cx="431199" cy="574932"/>
            </a:xfrm>
            <a:prstGeom prst="rect">
              <a:avLst/>
            </a:prstGeom>
            <a:blipFill>
              <a:blip r:embed="rId4" cstate="print">
                <a:extLst>
                  <a:ext uri="{28A0092B-C50C-407E-A947-70E740481C1C}">
                    <a14:useLocalDpi xmlns:a14="http://schemas.microsoft.com/office/drawing/2010/main" val="0"/>
                  </a:ext>
                </a:extLst>
              </a:blip>
              <a:srcRect/>
              <a:stretch>
                <a:fillRect l="-39000" r="-39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28" name="Freeform 27"/>
            <p:cNvSpPr/>
            <p:nvPr/>
          </p:nvSpPr>
          <p:spPr>
            <a:xfrm>
              <a:off x="539230" y="3177682"/>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Account Staff</a:t>
              </a:r>
              <a:endParaRPr lang="en-GB" sz="1000" kern="1200" dirty="0"/>
            </a:p>
          </p:txBody>
        </p:sp>
        <p:sp>
          <p:nvSpPr>
            <p:cNvPr id="29" name="Rectangle 28"/>
            <p:cNvSpPr/>
            <p:nvPr/>
          </p:nvSpPr>
          <p:spPr>
            <a:xfrm>
              <a:off x="611096" y="3249548"/>
              <a:ext cx="431199" cy="574932"/>
            </a:xfrm>
            <a:prstGeom prst="rect">
              <a:avLst/>
            </a:prstGeom>
            <a:blipFill>
              <a:blip r:embed="rId5">
                <a:extLst>
                  <a:ext uri="{28A0092B-C50C-407E-A947-70E740481C1C}">
                    <a14:useLocalDpi xmlns:a14="http://schemas.microsoft.com/office/drawing/2010/main" val="0"/>
                  </a:ext>
                </a:extLst>
              </a:blip>
              <a:srcRect/>
              <a:stretch>
                <a:fillRect l="-74000" r="-74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30" name="Freeform 29"/>
            <p:cNvSpPr/>
            <p:nvPr/>
          </p:nvSpPr>
          <p:spPr>
            <a:xfrm>
              <a:off x="539230" y="4198186"/>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Delivery Staff</a:t>
              </a:r>
              <a:endParaRPr lang="en-GB" sz="1000" kern="1200" dirty="0"/>
            </a:p>
          </p:txBody>
        </p:sp>
        <p:sp>
          <p:nvSpPr>
            <p:cNvPr id="31" name="Rectangle 30"/>
            <p:cNvSpPr/>
            <p:nvPr/>
          </p:nvSpPr>
          <p:spPr>
            <a:xfrm>
              <a:off x="611096" y="4270053"/>
              <a:ext cx="431199" cy="574932"/>
            </a:xfrm>
            <a:prstGeom prst="rect">
              <a:avLst/>
            </a:prstGeom>
            <a:blipFill>
              <a:blip r:embed="rId6">
                <a:extLst>
                  <a:ext uri="{28A0092B-C50C-407E-A947-70E740481C1C}">
                    <a14:useLocalDpi xmlns:a14="http://schemas.microsoft.com/office/drawing/2010/main" val="0"/>
                  </a:ext>
                </a:extLst>
              </a:blip>
              <a:srcRect/>
              <a:stretch>
                <a:fillRect t="-5000" b="-5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32" name="Freeform 31"/>
            <p:cNvSpPr/>
            <p:nvPr/>
          </p:nvSpPr>
          <p:spPr>
            <a:xfrm>
              <a:off x="1919066" y="2157178"/>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Client Score</a:t>
              </a:r>
              <a:endParaRPr lang="en-GB" sz="1000" kern="1200" dirty="0"/>
            </a:p>
          </p:txBody>
        </p:sp>
        <p:sp>
          <p:nvSpPr>
            <p:cNvPr id="33" name="Rectangle 32"/>
            <p:cNvSpPr/>
            <p:nvPr/>
          </p:nvSpPr>
          <p:spPr>
            <a:xfrm>
              <a:off x="1990933" y="2229044"/>
              <a:ext cx="431199" cy="574932"/>
            </a:xfrm>
            <a:prstGeom prst="rect">
              <a:avLst/>
            </a:prstGeom>
            <a:blipFill>
              <a:blip r:embed="rId7">
                <a:extLst>
                  <a:ext uri="{28A0092B-C50C-407E-A947-70E740481C1C}">
                    <a14:useLocalDpi xmlns:a14="http://schemas.microsoft.com/office/drawing/2010/main" val="0"/>
                  </a:ext>
                </a:extLst>
              </a:blip>
              <a:srcRect/>
              <a:stretch>
                <a:fillRect l="-50000" r="-50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34" name="Freeform 33"/>
            <p:cNvSpPr/>
            <p:nvPr/>
          </p:nvSpPr>
          <p:spPr>
            <a:xfrm>
              <a:off x="2278399" y="3177682"/>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Client Interview</a:t>
              </a:r>
              <a:endParaRPr lang="en-GB" sz="1000" kern="1200" dirty="0"/>
            </a:p>
          </p:txBody>
        </p:sp>
        <p:sp>
          <p:nvSpPr>
            <p:cNvPr id="35" name="Rectangle 34"/>
            <p:cNvSpPr/>
            <p:nvPr/>
          </p:nvSpPr>
          <p:spPr>
            <a:xfrm>
              <a:off x="2350265" y="3249548"/>
              <a:ext cx="431199" cy="574932"/>
            </a:xfrm>
            <a:prstGeom prst="rect">
              <a:avLst/>
            </a:prstGeom>
            <a:blipFill>
              <a:blip r:embed="rId8">
                <a:extLst>
                  <a:ext uri="{28A0092B-C50C-407E-A947-70E740481C1C}">
                    <a14:useLocalDpi xmlns:a14="http://schemas.microsoft.com/office/drawing/2010/main" val="0"/>
                  </a:ext>
                </a:extLst>
              </a:blip>
              <a:srcRect/>
              <a:stretch>
                <a:fillRect l="-50000" r="-50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36" name="Freeform 35"/>
            <p:cNvSpPr/>
            <p:nvPr/>
          </p:nvSpPr>
          <p:spPr>
            <a:xfrm>
              <a:off x="2278399" y="4198186"/>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Web based Survey</a:t>
              </a:r>
              <a:endParaRPr lang="en-GB" sz="1000" kern="1200" dirty="0"/>
            </a:p>
          </p:txBody>
        </p:sp>
        <p:sp>
          <p:nvSpPr>
            <p:cNvPr id="37" name="Rectangle 36"/>
            <p:cNvSpPr/>
            <p:nvPr/>
          </p:nvSpPr>
          <p:spPr>
            <a:xfrm>
              <a:off x="2350265" y="4270053"/>
              <a:ext cx="431199" cy="574932"/>
            </a:xfrm>
            <a:prstGeom prst="rect">
              <a:avLst/>
            </a:prstGeom>
            <a:blipFill>
              <a:blip r:embed="rId9">
                <a:extLst>
                  <a:ext uri="{28A0092B-C50C-407E-A947-70E740481C1C}">
                    <a14:useLocalDpi xmlns:a14="http://schemas.microsoft.com/office/drawing/2010/main" val="0"/>
                  </a:ext>
                </a:extLst>
              </a:blip>
              <a:srcRect/>
              <a:stretch>
                <a:fillRect l="-31000" r="-31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38" name="Freeform 37"/>
            <p:cNvSpPr/>
            <p:nvPr/>
          </p:nvSpPr>
          <p:spPr>
            <a:xfrm>
              <a:off x="3658236" y="2157178"/>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Improvement</a:t>
              </a:r>
            </a:p>
            <a:p>
              <a:pPr lvl="0" algn="ctr" defTabSz="444500">
                <a:lnSpc>
                  <a:spcPct val="90000"/>
                </a:lnSpc>
                <a:spcBef>
                  <a:spcPct val="0"/>
                </a:spcBef>
                <a:spcAft>
                  <a:spcPct val="35000"/>
                </a:spcAft>
              </a:pPr>
              <a:r>
                <a:rPr lang="en-GB" sz="1000" kern="1200" dirty="0" smtClean="0"/>
                <a:t>Plan Status</a:t>
              </a:r>
              <a:endParaRPr lang="en-GB" sz="1000" kern="1200" dirty="0"/>
            </a:p>
          </p:txBody>
        </p:sp>
        <p:sp>
          <p:nvSpPr>
            <p:cNvPr id="39" name="Rectangle 38"/>
            <p:cNvSpPr/>
            <p:nvPr/>
          </p:nvSpPr>
          <p:spPr>
            <a:xfrm>
              <a:off x="3730102" y="2229044"/>
              <a:ext cx="431199" cy="574932"/>
            </a:xfrm>
            <a:prstGeom prst="rect">
              <a:avLst/>
            </a:prstGeom>
            <a:blipFill>
              <a:blip r:embed="rId10">
                <a:extLst>
                  <a:ext uri="{28A0092B-C50C-407E-A947-70E740481C1C}">
                    <a14:useLocalDpi xmlns:a14="http://schemas.microsoft.com/office/drawing/2010/main" val="0"/>
                  </a:ext>
                </a:extLst>
              </a:blip>
              <a:srcRect/>
              <a:stretch>
                <a:fillRect l="-51000" r="-51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40" name="Freeform 39"/>
            <p:cNvSpPr/>
            <p:nvPr/>
          </p:nvSpPr>
          <p:spPr>
            <a:xfrm>
              <a:off x="4017568" y="3177682"/>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Go to Green status collection</a:t>
              </a:r>
            </a:p>
          </p:txBody>
        </p:sp>
        <p:sp>
          <p:nvSpPr>
            <p:cNvPr id="41" name="Rectangle 40"/>
            <p:cNvSpPr/>
            <p:nvPr/>
          </p:nvSpPr>
          <p:spPr>
            <a:xfrm>
              <a:off x="4089435" y="3249548"/>
              <a:ext cx="431199" cy="574932"/>
            </a:xfrm>
            <a:prstGeom prst="rect">
              <a:avLst/>
            </a:prstGeom>
            <a:blipFill>
              <a:blip r:embed="rId11">
                <a:extLst>
                  <a:ext uri="{28A0092B-C50C-407E-A947-70E740481C1C}">
                    <a14:useLocalDpi xmlns:a14="http://schemas.microsoft.com/office/drawing/2010/main" val="0"/>
                  </a:ext>
                </a:extLst>
              </a:blip>
              <a:srcRect/>
              <a:stretch>
                <a:fillRect l="-7000" r="-7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42" name="Freeform 41"/>
            <p:cNvSpPr/>
            <p:nvPr/>
          </p:nvSpPr>
          <p:spPr>
            <a:xfrm>
              <a:off x="5397405" y="2157178"/>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Delivery Performance</a:t>
              </a:r>
              <a:endParaRPr lang="en-GB" sz="1000" kern="1200" dirty="0"/>
            </a:p>
          </p:txBody>
        </p:sp>
        <p:sp>
          <p:nvSpPr>
            <p:cNvPr id="43" name="Rectangle 42"/>
            <p:cNvSpPr/>
            <p:nvPr/>
          </p:nvSpPr>
          <p:spPr>
            <a:xfrm>
              <a:off x="5469272" y="2229044"/>
              <a:ext cx="431199" cy="574932"/>
            </a:xfrm>
            <a:prstGeom prst="rect">
              <a:avLst/>
            </a:prstGeom>
            <a:blipFill>
              <a:blip r:embed="rId12">
                <a:extLst>
                  <a:ext uri="{28A0092B-C50C-407E-A947-70E740481C1C}">
                    <a14:useLocalDpi xmlns:a14="http://schemas.microsoft.com/office/drawing/2010/main" val="0"/>
                  </a:ext>
                </a:extLst>
              </a:blip>
              <a:srcRect/>
              <a:stretch>
                <a:fillRect l="-109000" r="-109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44" name="Freeform 43"/>
            <p:cNvSpPr/>
            <p:nvPr/>
          </p:nvSpPr>
          <p:spPr>
            <a:xfrm>
              <a:off x="5756738" y="3177682"/>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Services Metric collection (SLA)</a:t>
              </a:r>
              <a:endParaRPr lang="en-GB" sz="1000" kern="1200" dirty="0"/>
            </a:p>
          </p:txBody>
        </p:sp>
        <p:sp>
          <p:nvSpPr>
            <p:cNvPr id="45" name="Rectangle 44"/>
            <p:cNvSpPr/>
            <p:nvPr/>
          </p:nvSpPr>
          <p:spPr>
            <a:xfrm>
              <a:off x="5828604" y="3249548"/>
              <a:ext cx="431199" cy="574932"/>
            </a:xfrm>
            <a:prstGeom prst="rect">
              <a:avLst/>
            </a:prstGeom>
            <a:blipFill>
              <a:blip r:embed="rId13" cstate="print">
                <a:extLst>
                  <a:ext uri="{28A0092B-C50C-407E-A947-70E740481C1C}">
                    <a14:useLocalDpi xmlns:a14="http://schemas.microsoft.com/office/drawing/2010/main" val="0"/>
                  </a:ext>
                </a:extLst>
              </a:blip>
              <a:srcRect/>
              <a:stretch>
                <a:fillRect l="-17000" r="-17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46" name="Freeform 45"/>
            <p:cNvSpPr/>
            <p:nvPr/>
          </p:nvSpPr>
          <p:spPr>
            <a:xfrm>
              <a:off x="5756738" y="4198186"/>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Project</a:t>
              </a:r>
            </a:p>
            <a:p>
              <a:pPr lvl="0" algn="ctr" defTabSz="444500">
                <a:lnSpc>
                  <a:spcPct val="90000"/>
                </a:lnSpc>
                <a:spcBef>
                  <a:spcPct val="0"/>
                </a:spcBef>
                <a:spcAft>
                  <a:spcPct val="35000"/>
                </a:spcAft>
              </a:pPr>
              <a:r>
                <a:rPr lang="en-GB" sz="1000" kern="1200" dirty="0" smtClean="0"/>
                <a:t>Metric</a:t>
              </a:r>
            </a:p>
            <a:p>
              <a:pPr lvl="0" algn="ctr" defTabSz="444500">
                <a:lnSpc>
                  <a:spcPct val="90000"/>
                </a:lnSpc>
                <a:spcBef>
                  <a:spcPct val="0"/>
                </a:spcBef>
                <a:spcAft>
                  <a:spcPct val="35000"/>
                </a:spcAft>
              </a:pPr>
              <a:r>
                <a:rPr lang="en-GB" sz="1000" kern="1200" dirty="0" smtClean="0"/>
                <a:t>Collection</a:t>
              </a:r>
            </a:p>
          </p:txBody>
        </p:sp>
        <p:sp>
          <p:nvSpPr>
            <p:cNvPr id="47" name="Rectangle 46"/>
            <p:cNvSpPr/>
            <p:nvPr/>
          </p:nvSpPr>
          <p:spPr>
            <a:xfrm>
              <a:off x="5828604" y="4270053"/>
              <a:ext cx="431199" cy="574932"/>
            </a:xfrm>
            <a:prstGeom prst="rect">
              <a:avLst/>
            </a:prstGeom>
            <a:blipFill>
              <a:blip r:embed="rId14">
                <a:extLst>
                  <a:ext uri="{28A0092B-C50C-407E-A947-70E740481C1C}">
                    <a14:useLocalDpi xmlns:a14="http://schemas.microsoft.com/office/drawing/2010/main" val="0"/>
                  </a:ext>
                </a:extLst>
              </a:blip>
              <a:srcRect/>
              <a:stretch>
                <a:fillRect l="-18000" r="-18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48" name="Freeform 47"/>
            <p:cNvSpPr/>
            <p:nvPr/>
          </p:nvSpPr>
          <p:spPr>
            <a:xfrm>
              <a:off x="7136574" y="2157178"/>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 performance</a:t>
              </a:r>
              <a:endParaRPr lang="en-GB" sz="1000" kern="1200" dirty="0"/>
            </a:p>
          </p:txBody>
        </p:sp>
        <p:sp>
          <p:nvSpPr>
            <p:cNvPr id="49" name="Rectangle 48"/>
            <p:cNvSpPr/>
            <p:nvPr/>
          </p:nvSpPr>
          <p:spPr>
            <a:xfrm>
              <a:off x="7208441" y="2229044"/>
              <a:ext cx="431199" cy="574932"/>
            </a:xfrm>
            <a:prstGeom prst="rect">
              <a:avLst/>
            </a:prstGeom>
            <a:blipFill>
              <a:blip r:embed="rId15" cstate="print">
                <a:extLst>
                  <a:ext uri="{28A0092B-C50C-407E-A947-70E740481C1C}">
                    <a14:useLocalDpi xmlns:a14="http://schemas.microsoft.com/office/drawing/2010/main" val="0"/>
                  </a:ext>
                </a:extLst>
              </a:blip>
              <a:srcRect/>
              <a:stretch>
                <a:fillRect l="-3000" r="-3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50" name="Freeform 49"/>
            <p:cNvSpPr/>
            <p:nvPr/>
          </p:nvSpPr>
          <p:spPr>
            <a:xfrm>
              <a:off x="7495907" y="3177682"/>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Alerts</a:t>
              </a:r>
              <a:endParaRPr lang="en-GB" sz="1000" kern="1200" dirty="0"/>
            </a:p>
          </p:txBody>
        </p:sp>
        <p:sp>
          <p:nvSpPr>
            <p:cNvPr id="51" name="Rectangle 50"/>
            <p:cNvSpPr/>
            <p:nvPr/>
          </p:nvSpPr>
          <p:spPr>
            <a:xfrm>
              <a:off x="7567773" y="3249548"/>
              <a:ext cx="431199" cy="574932"/>
            </a:xfrm>
            <a:prstGeom prst="rect">
              <a:avLst/>
            </a:prstGeom>
            <a:blipFill>
              <a:blip r:embed="rId16" cstate="print">
                <a:extLst>
                  <a:ext uri="{28A0092B-C50C-407E-A947-70E740481C1C}">
                    <a14:useLocalDpi xmlns:a14="http://schemas.microsoft.com/office/drawing/2010/main" val="0"/>
                  </a:ext>
                </a:extLst>
              </a:blip>
              <a:srcRect/>
              <a:stretch>
                <a:fillRect l="-16000" r="-16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52" name="Freeform 51"/>
            <p:cNvSpPr/>
            <p:nvPr/>
          </p:nvSpPr>
          <p:spPr>
            <a:xfrm>
              <a:off x="7495907" y="4198186"/>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Contracting (client &amp; supplier)</a:t>
              </a:r>
              <a:endParaRPr lang="en-GB" sz="1000" kern="1200" dirty="0"/>
            </a:p>
          </p:txBody>
        </p:sp>
        <p:sp>
          <p:nvSpPr>
            <p:cNvPr id="53" name="Rectangle 52"/>
            <p:cNvSpPr/>
            <p:nvPr/>
          </p:nvSpPr>
          <p:spPr>
            <a:xfrm>
              <a:off x="7567773" y="4270053"/>
              <a:ext cx="431199" cy="574932"/>
            </a:xfrm>
            <a:prstGeom prst="rect">
              <a:avLst/>
            </a:prstGeom>
            <a:blipFill>
              <a:blip r:embed="rId17">
                <a:extLst>
                  <a:ext uri="{28A0092B-C50C-407E-A947-70E740481C1C}">
                    <a14:useLocalDpi xmlns:a14="http://schemas.microsoft.com/office/drawing/2010/main" val="0"/>
                  </a:ext>
                </a:extLst>
              </a:blip>
              <a:srcRect/>
              <a:stretch>
                <a:fillRect l="-57000" r="-57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sp>
          <p:nvSpPr>
            <p:cNvPr id="54" name="Freeform 53"/>
            <p:cNvSpPr/>
            <p:nvPr/>
          </p:nvSpPr>
          <p:spPr>
            <a:xfrm>
              <a:off x="7495907" y="5218691"/>
              <a:ext cx="1437330" cy="718665"/>
            </a:xfrm>
            <a:custGeom>
              <a:avLst/>
              <a:gdLst>
                <a:gd name="connsiteX0" fmla="*/ 0 w 1437330"/>
                <a:gd name="connsiteY0" fmla="*/ 0 h 718665"/>
                <a:gd name="connsiteX1" fmla="*/ 1437330 w 1437330"/>
                <a:gd name="connsiteY1" fmla="*/ 0 h 718665"/>
                <a:gd name="connsiteX2" fmla="*/ 1437330 w 1437330"/>
                <a:gd name="connsiteY2" fmla="*/ 718665 h 718665"/>
                <a:gd name="connsiteX3" fmla="*/ 0 w 1437330"/>
                <a:gd name="connsiteY3" fmla="*/ 718665 h 718665"/>
                <a:gd name="connsiteX4" fmla="*/ 0 w 1437330"/>
                <a:gd name="connsiteY4" fmla="*/ 0 h 71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330" h="718665">
                  <a:moveTo>
                    <a:pt x="0" y="0"/>
                  </a:moveTo>
                  <a:lnTo>
                    <a:pt x="1437330" y="0"/>
                  </a:lnTo>
                  <a:lnTo>
                    <a:pt x="1437330" y="718665"/>
                  </a:lnTo>
                  <a:lnTo>
                    <a:pt x="0" y="718665"/>
                  </a:lnTo>
                  <a:lnTo>
                    <a:pt x="0" y="0"/>
                  </a:lnTo>
                  <a:close/>
                </a:path>
              </a:pathLst>
            </a:cu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Contracts</a:t>
              </a:r>
            </a:p>
            <a:p>
              <a:pPr lvl="0" algn="ctr" defTabSz="444500">
                <a:lnSpc>
                  <a:spcPct val="90000"/>
                </a:lnSpc>
                <a:spcBef>
                  <a:spcPct val="0"/>
                </a:spcBef>
                <a:spcAft>
                  <a:spcPct val="35000"/>
                </a:spcAft>
              </a:pPr>
              <a:r>
                <a:rPr lang="en-GB" sz="1000" kern="1200" dirty="0" smtClean="0"/>
                <a:t>Upload</a:t>
              </a:r>
              <a:endParaRPr lang="en-GB" sz="1000" kern="1200" dirty="0"/>
            </a:p>
          </p:txBody>
        </p:sp>
        <p:sp>
          <p:nvSpPr>
            <p:cNvPr id="55" name="Rectangle 54"/>
            <p:cNvSpPr/>
            <p:nvPr/>
          </p:nvSpPr>
          <p:spPr>
            <a:xfrm>
              <a:off x="7567773" y="5290557"/>
              <a:ext cx="431199" cy="574932"/>
            </a:xfrm>
            <a:prstGeom prst="rect">
              <a:avLst/>
            </a:prstGeom>
            <a:blipFill>
              <a:blip r:embed="rId18" cstate="print">
                <a:extLst>
                  <a:ext uri="{28A0092B-C50C-407E-A947-70E740481C1C}">
                    <a14:useLocalDpi xmlns:a14="http://schemas.microsoft.com/office/drawing/2010/main" val="0"/>
                  </a:ext>
                </a:extLst>
              </a:blip>
              <a:srcRect/>
              <a:stretch>
                <a:fillRect l="-62000" r="-62000"/>
              </a:stretch>
            </a:blipFill>
          </p:spPr>
          <p:style>
            <a:lnRef idx="0">
              <a:schemeClr val="accent1">
                <a:shade val="80000"/>
                <a:hueOff val="0"/>
                <a:satOff val="0"/>
                <a:lumOff val="0"/>
                <a:alphaOff val="0"/>
              </a:schemeClr>
            </a:lnRef>
            <a:fillRef idx="1">
              <a:scrgbClr r="0" g="0" b="0"/>
            </a:fillRef>
            <a:effectRef idx="3">
              <a:schemeClr val="accent1">
                <a:tint val="40000"/>
                <a:hueOff val="0"/>
                <a:satOff val="0"/>
                <a:lumOff val="0"/>
                <a:alphaOff val="0"/>
              </a:schemeClr>
            </a:effectRef>
            <a:fontRef idx="minor">
              <a:schemeClr val="lt1">
                <a:hueOff val="0"/>
                <a:satOff val="0"/>
                <a:lumOff val="0"/>
                <a:alphaOff val="0"/>
              </a:schemeClr>
            </a:fontRef>
          </p:style>
        </p:sp>
      </p:grpSp>
      <p:sp>
        <p:nvSpPr>
          <p:cNvPr id="6" name="TextBox 5"/>
          <p:cNvSpPr txBox="1"/>
          <p:nvPr/>
        </p:nvSpPr>
        <p:spPr>
          <a:xfrm>
            <a:off x="1288642" y="1628750"/>
            <a:ext cx="1267078" cy="461665"/>
          </a:xfrm>
          <a:prstGeom prst="rect">
            <a:avLst/>
          </a:prstGeom>
          <a:noFill/>
        </p:spPr>
        <p:txBody>
          <a:bodyPr wrap="none" rtlCol="0">
            <a:spAutoFit/>
          </a:bodyPr>
          <a:lstStyle/>
          <a:p>
            <a:r>
              <a:rPr lang="en-GB" sz="1200" dirty="0">
                <a:latin typeface="Calibri" pitchFamily="34" charset="0"/>
                <a:cs typeface="Calibri" pitchFamily="34" charset="0"/>
              </a:rPr>
              <a:t>Perception based</a:t>
            </a:r>
          </a:p>
          <a:p>
            <a:endParaRPr lang="en-GB" sz="1200" dirty="0"/>
          </a:p>
        </p:txBody>
      </p:sp>
      <p:sp>
        <p:nvSpPr>
          <p:cNvPr id="7" name="TextBox 6"/>
          <p:cNvSpPr txBox="1"/>
          <p:nvPr/>
        </p:nvSpPr>
        <p:spPr>
          <a:xfrm>
            <a:off x="6013128" y="1624505"/>
            <a:ext cx="849015" cy="461665"/>
          </a:xfrm>
          <a:prstGeom prst="rect">
            <a:avLst/>
          </a:prstGeom>
          <a:noFill/>
        </p:spPr>
        <p:txBody>
          <a:bodyPr wrap="none" rtlCol="0">
            <a:spAutoFit/>
          </a:bodyPr>
          <a:lstStyle/>
          <a:p>
            <a:r>
              <a:rPr lang="en-GB" sz="1200" dirty="0" smtClean="0">
                <a:latin typeface="Calibri" pitchFamily="34" charset="0"/>
                <a:cs typeface="Calibri" pitchFamily="34" charset="0"/>
              </a:rPr>
              <a:t>Fact based</a:t>
            </a:r>
            <a:endParaRPr lang="en-GB" sz="1200" dirty="0">
              <a:latin typeface="Calibri" pitchFamily="34" charset="0"/>
              <a:cs typeface="Calibri" pitchFamily="34" charset="0"/>
            </a:endParaRPr>
          </a:p>
          <a:p>
            <a:endParaRPr lang="en-GB" sz="1200" dirty="0"/>
          </a:p>
        </p:txBody>
      </p:sp>
    </p:spTree>
    <p:extLst>
      <p:ext uri="{BB962C8B-B14F-4D97-AF65-F5344CB8AC3E}">
        <p14:creationId xmlns:p14="http://schemas.microsoft.com/office/powerpoint/2010/main" val="24313001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37507" y="90489"/>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lnSpc>
                <a:spcPct val="150000"/>
              </a:lnSpc>
            </a:pPr>
            <a:r>
              <a:rPr lang="en-GB" kern="0" dirty="0" smtClean="0"/>
              <a:t>Manage Commitments, Actions and Alerts from your Contracts</a:t>
            </a:r>
            <a:endParaRPr lang="en-GB" kern="0" dirty="0"/>
          </a:p>
        </p:txBody>
      </p:sp>
      <p:pic>
        <p:nvPicPr>
          <p:cNvPr id="12" name="Afbeelding 11" descr="Screen Shot 2014-03-07 at 12.10.4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9" y="1700760"/>
            <a:ext cx="9144000" cy="3405164"/>
          </a:xfrm>
          <a:prstGeom prst="rect">
            <a:avLst/>
          </a:prstGeom>
        </p:spPr>
      </p:pic>
    </p:spTree>
    <p:extLst>
      <p:ext uri="{BB962C8B-B14F-4D97-AF65-F5344CB8AC3E}">
        <p14:creationId xmlns:p14="http://schemas.microsoft.com/office/powerpoint/2010/main" val="2533954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37507" y="90489"/>
            <a:ext cx="8443356" cy="788286"/>
          </a:xfrm>
          <a:prstGeom prst="rect">
            <a:avLst/>
          </a:prstGeom>
        </p:spPr>
        <p:txBody>
          <a:bodyPr/>
          <a:lstStyle>
            <a:lvl1pPr algn="ctr" rtl="0" eaLnBrk="0" fontAlgn="base" hangingPunct="0">
              <a:spcBef>
                <a:spcPct val="0"/>
              </a:spcBef>
              <a:spcAft>
                <a:spcPct val="0"/>
              </a:spcAft>
              <a:defRPr sz="24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a:lnSpc>
                <a:spcPct val="150000"/>
              </a:lnSpc>
            </a:pPr>
            <a:r>
              <a:rPr lang="en-GB" kern="0" dirty="0" smtClean="0"/>
              <a:t>Zoom in to details</a:t>
            </a:r>
            <a:endParaRPr lang="en-GB" kern="0" dirty="0"/>
          </a:p>
        </p:txBody>
      </p:sp>
      <p:pic>
        <p:nvPicPr>
          <p:cNvPr id="2" name="Afbeelding 1" descr="Screen Shot 2014-03-12 at 11.45.53.png"/>
          <p:cNvPicPr>
            <a:picLocks noChangeAspect="1"/>
          </p:cNvPicPr>
          <p:nvPr/>
        </p:nvPicPr>
        <p:blipFill rotWithShape="1">
          <a:blip r:embed="rId2">
            <a:extLst>
              <a:ext uri="{28A0092B-C50C-407E-A947-70E740481C1C}">
                <a14:useLocalDpi xmlns:a14="http://schemas.microsoft.com/office/drawing/2010/main" val="0"/>
              </a:ext>
            </a:extLst>
          </a:blip>
          <a:srcRect b="18385"/>
          <a:stretch/>
        </p:blipFill>
        <p:spPr>
          <a:xfrm>
            <a:off x="539440" y="1078101"/>
            <a:ext cx="8532550" cy="4943260"/>
          </a:xfrm>
          <a:prstGeom prst="rect">
            <a:avLst/>
          </a:prstGeom>
        </p:spPr>
      </p:pic>
    </p:spTree>
    <p:extLst>
      <p:ext uri="{BB962C8B-B14F-4D97-AF65-F5344CB8AC3E}">
        <p14:creationId xmlns:p14="http://schemas.microsoft.com/office/powerpoint/2010/main" val="533890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sz="3200" dirty="0"/>
              <a:t> </a:t>
            </a:r>
            <a:r>
              <a:rPr lang="en-GB" sz="2800" i="1" dirty="0" smtClean="0">
                <a:solidFill>
                  <a:schemeClr val="accent5">
                    <a:lumMod val="25000"/>
                  </a:schemeClr>
                </a:solidFill>
              </a:rPr>
              <a:t>Evaluetor</a:t>
            </a:r>
            <a:r>
              <a:rPr lang="en-GB" sz="2800" baseline="30000" dirty="0" smtClean="0"/>
              <a:t>©</a:t>
            </a:r>
            <a:r>
              <a:rPr lang="en-GB" sz="2800" dirty="0"/>
              <a:t> </a:t>
            </a:r>
            <a:r>
              <a:rPr lang="en-US" sz="2800" dirty="0" smtClean="0"/>
              <a:t> </a:t>
            </a:r>
            <a:r>
              <a:rPr lang="en-GB" sz="2800" i="1" dirty="0">
                <a:solidFill>
                  <a:schemeClr val="accent5">
                    <a:lumMod val="25000"/>
                  </a:schemeClr>
                </a:solidFill>
              </a:rPr>
              <a:t>Value delivered</a:t>
            </a:r>
          </a:p>
        </p:txBody>
      </p:sp>
      <p:sp>
        <p:nvSpPr>
          <p:cNvPr id="5" name="Slide Number Placeholder 4"/>
          <p:cNvSpPr>
            <a:spLocks noGrp="1"/>
          </p:cNvSpPr>
          <p:nvPr>
            <p:ph type="sldNum" sz="quarter" idx="4294967295"/>
          </p:nvPr>
        </p:nvSpPr>
        <p:spPr>
          <a:xfrm>
            <a:off x="7010400" y="7235825"/>
            <a:ext cx="2133600" cy="268288"/>
          </a:xfrm>
        </p:spPr>
        <p:txBody>
          <a:bodyPr/>
          <a:lstStyle/>
          <a:p>
            <a:pPr>
              <a:defRPr/>
            </a:pPr>
            <a:fld id="{D5F246EE-A698-40F2-9104-E597CE2CF7A1}" type="slidenum">
              <a:rPr lang="nl-NL" smtClean="0"/>
              <a:pPr>
                <a:defRPr/>
              </a:pPr>
              <a:t>11</a:t>
            </a:fld>
            <a:endParaRPr lang="nl-NL" dirty="0"/>
          </a:p>
        </p:txBody>
      </p:sp>
      <p:sp>
        <p:nvSpPr>
          <p:cNvPr id="28" name="Freeform 27"/>
          <p:cNvSpPr/>
          <p:nvPr/>
        </p:nvSpPr>
        <p:spPr>
          <a:xfrm>
            <a:off x="539440" y="173230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GB" sz="1400" dirty="0">
                <a:ln w="18415" cmpd="sng">
                  <a:prstDash val="solid"/>
                </a:ln>
                <a:solidFill>
                  <a:schemeClr val="tx1"/>
                </a:solidFill>
                <a:latin typeface="Calibri" pitchFamily="34" charset="0"/>
                <a:cs typeface="Calibri" pitchFamily="34" charset="0"/>
              </a:rPr>
              <a:t>Increase return on contract base </a:t>
            </a:r>
          </a:p>
          <a:p>
            <a:pPr algn="ctr"/>
            <a:r>
              <a:rPr lang="en-GB" sz="1400" dirty="0">
                <a:ln w="18415" cmpd="sng">
                  <a:prstDash val="solid"/>
                </a:ln>
                <a:solidFill>
                  <a:schemeClr val="tx1"/>
                </a:solidFill>
                <a:latin typeface="Calibri" pitchFamily="34" charset="0"/>
                <a:cs typeface="Calibri" pitchFamily="34" charset="0"/>
              </a:rPr>
              <a:t>by 3-5</a:t>
            </a:r>
            <a:r>
              <a:rPr lang="en-GB" sz="1400" dirty="0" smtClean="0">
                <a:ln w="18415" cmpd="sng">
                  <a:prstDash val="solid"/>
                </a:ln>
                <a:solidFill>
                  <a:schemeClr val="tx1"/>
                </a:solidFill>
                <a:latin typeface="Calibri" pitchFamily="34" charset="0"/>
                <a:cs typeface="Calibri" pitchFamily="34" charset="0"/>
              </a:rPr>
              <a:t>%</a:t>
            </a:r>
            <a:endParaRPr lang="nl-NL" sz="1400" dirty="0">
              <a:ln w="18415" cmpd="sng">
                <a:prstDash val="solid"/>
              </a:ln>
              <a:solidFill>
                <a:schemeClr val="tx1"/>
              </a:solidFill>
              <a:latin typeface="Calibri" pitchFamily="34" charset="0"/>
              <a:cs typeface="Calibri" pitchFamily="34" charset="0"/>
            </a:endParaRPr>
          </a:p>
        </p:txBody>
      </p:sp>
      <p:sp>
        <p:nvSpPr>
          <p:cNvPr id="29" name="Freeform 28"/>
          <p:cNvSpPr/>
          <p:nvPr/>
        </p:nvSpPr>
        <p:spPr>
          <a:xfrm>
            <a:off x="539440" y="266843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GB" sz="1400" dirty="0">
                <a:ln w="18415" cmpd="sng">
                  <a:prstDash val="solid"/>
                </a:ln>
                <a:solidFill>
                  <a:schemeClr val="tx1"/>
                </a:solidFill>
                <a:latin typeface="Calibri" pitchFamily="34" charset="0"/>
                <a:cs typeface="Calibri" pitchFamily="34" charset="0"/>
              </a:rPr>
              <a:t>Increase renewal rate </a:t>
            </a:r>
            <a:endParaRPr lang="en-GB" sz="1400" dirty="0" smtClean="0">
              <a:ln w="18415" cmpd="sng">
                <a:prstDash val="solid"/>
              </a:ln>
              <a:solidFill>
                <a:schemeClr val="tx1"/>
              </a:solidFill>
              <a:latin typeface="Calibri" pitchFamily="34" charset="0"/>
              <a:cs typeface="Calibri" pitchFamily="34" charset="0"/>
            </a:endParaRPr>
          </a:p>
          <a:p>
            <a:pPr algn="ctr"/>
            <a:r>
              <a:rPr lang="en-GB" sz="1400" dirty="0" smtClean="0">
                <a:ln w="18415" cmpd="sng">
                  <a:prstDash val="solid"/>
                </a:ln>
                <a:solidFill>
                  <a:schemeClr val="tx1"/>
                </a:solidFill>
                <a:latin typeface="Calibri" pitchFamily="34" charset="0"/>
                <a:cs typeface="Calibri" pitchFamily="34" charset="0"/>
              </a:rPr>
              <a:t>and </a:t>
            </a:r>
          </a:p>
          <a:p>
            <a:pPr algn="ctr"/>
            <a:r>
              <a:rPr lang="en-GB" sz="1400" dirty="0" smtClean="0">
                <a:ln w="18415" cmpd="sng">
                  <a:prstDash val="solid"/>
                </a:ln>
                <a:solidFill>
                  <a:schemeClr val="tx1"/>
                </a:solidFill>
                <a:latin typeface="Calibri" pitchFamily="34" charset="0"/>
                <a:cs typeface="Calibri" pitchFamily="34" charset="0"/>
              </a:rPr>
              <a:t>Contract extensions</a:t>
            </a:r>
            <a:endParaRPr lang="en-GB" sz="1400" dirty="0">
              <a:ln w="18415" cmpd="sng">
                <a:prstDash val="solid"/>
              </a:ln>
              <a:solidFill>
                <a:schemeClr val="tx1"/>
              </a:solidFill>
              <a:latin typeface="Calibri" pitchFamily="34" charset="0"/>
              <a:cs typeface="Calibri" pitchFamily="34" charset="0"/>
            </a:endParaRPr>
          </a:p>
        </p:txBody>
      </p:sp>
      <p:sp>
        <p:nvSpPr>
          <p:cNvPr id="30" name="Freeform 29"/>
          <p:cNvSpPr/>
          <p:nvPr/>
        </p:nvSpPr>
        <p:spPr>
          <a:xfrm>
            <a:off x="539440" y="360456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GB" sz="1400" dirty="0">
                <a:ln w="18415" cmpd="sng">
                  <a:prstDash val="solid"/>
                </a:ln>
                <a:solidFill>
                  <a:schemeClr val="tx1"/>
                </a:solidFill>
                <a:latin typeface="Calibri" pitchFamily="34" charset="0"/>
                <a:cs typeface="Calibri" pitchFamily="34" charset="0"/>
              </a:rPr>
              <a:t>Improve margins (decrease costs</a:t>
            </a:r>
            <a:r>
              <a:rPr lang="en-GB" sz="1400" dirty="0" smtClean="0">
                <a:ln w="18415" cmpd="sng">
                  <a:prstDash val="solid"/>
                </a:ln>
                <a:solidFill>
                  <a:schemeClr val="tx1"/>
                </a:solidFill>
                <a:latin typeface="Calibri" pitchFamily="34" charset="0"/>
                <a:cs typeface="Calibri" pitchFamily="34" charset="0"/>
              </a:rPr>
              <a:t>)</a:t>
            </a:r>
            <a:endParaRPr lang="en-GB" sz="1400" dirty="0">
              <a:ln w="18415" cmpd="sng">
                <a:prstDash val="solid"/>
              </a:ln>
              <a:solidFill>
                <a:schemeClr val="tx1"/>
              </a:solidFill>
              <a:latin typeface="Calibri" pitchFamily="34" charset="0"/>
              <a:cs typeface="Calibri" pitchFamily="34" charset="0"/>
            </a:endParaRPr>
          </a:p>
        </p:txBody>
      </p:sp>
      <p:sp>
        <p:nvSpPr>
          <p:cNvPr id="31" name="Freeform 30"/>
          <p:cNvSpPr/>
          <p:nvPr/>
        </p:nvSpPr>
        <p:spPr>
          <a:xfrm>
            <a:off x="539440" y="4566148"/>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GB" sz="1400" dirty="0">
                <a:ln w="18415" cmpd="sng">
                  <a:prstDash val="solid"/>
                </a:ln>
                <a:solidFill>
                  <a:schemeClr val="tx1"/>
                </a:solidFill>
                <a:latin typeface="Calibri" pitchFamily="34" charset="0"/>
                <a:cs typeface="Calibri" pitchFamily="34" charset="0"/>
              </a:rPr>
              <a:t>Increase </a:t>
            </a:r>
            <a:r>
              <a:rPr lang="en-GB" sz="1400" dirty="0" smtClean="0">
                <a:ln w="18415" cmpd="sng">
                  <a:prstDash val="solid"/>
                </a:ln>
                <a:solidFill>
                  <a:schemeClr val="tx1"/>
                </a:solidFill>
                <a:latin typeface="Calibri" pitchFamily="34" charset="0"/>
                <a:cs typeface="Calibri" pitchFamily="34" charset="0"/>
              </a:rPr>
              <a:t>revenue</a:t>
            </a:r>
            <a:endParaRPr lang="en-GB" sz="1400" dirty="0">
              <a:ln w="18415" cmpd="sng">
                <a:prstDash val="solid"/>
              </a:ln>
              <a:solidFill>
                <a:schemeClr val="tx1"/>
              </a:solidFill>
              <a:latin typeface="Calibri" pitchFamily="34" charset="0"/>
              <a:cs typeface="Calibri" pitchFamily="34" charset="0"/>
            </a:endParaRPr>
          </a:p>
        </p:txBody>
      </p:sp>
      <p:sp>
        <p:nvSpPr>
          <p:cNvPr id="24" name="Freeform 23"/>
          <p:cNvSpPr/>
          <p:nvPr/>
        </p:nvSpPr>
        <p:spPr>
          <a:xfrm>
            <a:off x="3398034" y="173230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GB" sz="1400" dirty="0">
                <a:ln w="18415" cmpd="sng">
                  <a:prstDash val="solid"/>
                </a:ln>
                <a:solidFill>
                  <a:schemeClr val="tx1"/>
                </a:solidFill>
                <a:latin typeface="Calibri" pitchFamily="34" charset="0"/>
                <a:cs typeface="Calibri" pitchFamily="34" charset="0"/>
              </a:rPr>
              <a:t>Jointly developed with Allen &amp; </a:t>
            </a:r>
            <a:r>
              <a:rPr lang="en-GB" sz="1400" dirty="0" err="1" smtClean="0">
                <a:ln w="18415" cmpd="sng">
                  <a:prstDash val="solid"/>
                </a:ln>
                <a:solidFill>
                  <a:schemeClr val="tx1"/>
                </a:solidFill>
                <a:latin typeface="Calibri" pitchFamily="34" charset="0"/>
                <a:cs typeface="Calibri" pitchFamily="34" charset="0"/>
              </a:rPr>
              <a:t>Overy</a:t>
            </a:r>
            <a:endParaRPr lang="nl-NL" sz="1400" dirty="0">
              <a:ln w="18415" cmpd="sng">
                <a:prstDash val="solid"/>
              </a:ln>
              <a:solidFill>
                <a:schemeClr val="tx1"/>
              </a:solidFill>
              <a:latin typeface="Calibri" pitchFamily="34" charset="0"/>
              <a:cs typeface="Calibri" pitchFamily="34" charset="0"/>
            </a:endParaRPr>
          </a:p>
        </p:txBody>
      </p:sp>
      <p:sp>
        <p:nvSpPr>
          <p:cNvPr id="25" name="Freeform 24"/>
          <p:cNvSpPr/>
          <p:nvPr/>
        </p:nvSpPr>
        <p:spPr>
          <a:xfrm>
            <a:off x="3398034" y="266843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US" sz="1400" dirty="0" smtClean="0">
                <a:ln w="18415" cmpd="sng">
                  <a:prstDash val="solid"/>
                </a:ln>
                <a:solidFill>
                  <a:schemeClr val="tx1"/>
                </a:solidFill>
                <a:latin typeface="Calibri" pitchFamily="34" charset="0"/>
                <a:cs typeface="Calibri" pitchFamily="34" charset="0"/>
              </a:rPr>
              <a:t>Trusted Transparent relationship</a:t>
            </a:r>
          </a:p>
          <a:p>
            <a:pPr algn="ctr"/>
            <a:endParaRPr lang="en-US" sz="1200" dirty="0">
              <a:ln w="18415" cmpd="sng">
                <a:prstDash val="solid"/>
              </a:ln>
              <a:solidFill>
                <a:schemeClr val="tx1"/>
              </a:solidFill>
              <a:latin typeface="Calibri" pitchFamily="34" charset="0"/>
              <a:cs typeface="Calibri" pitchFamily="34" charset="0"/>
            </a:endParaRPr>
          </a:p>
          <a:p>
            <a:pPr algn="ctr"/>
            <a:r>
              <a:rPr lang="en-US" sz="1400" dirty="0" smtClean="0">
                <a:ln w="18415" cmpd="sng">
                  <a:prstDash val="solid"/>
                </a:ln>
                <a:solidFill>
                  <a:schemeClr val="tx1"/>
                </a:solidFill>
                <a:latin typeface="Calibri" pitchFamily="34" charset="0"/>
                <a:cs typeface="Calibri" pitchFamily="34" charset="0"/>
              </a:rPr>
              <a:t>Avoid transition costs</a:t>
            </a:r>
            <a:endParaRPr lang="nl-NL" sz="1400" dirty="0">
              <a:ln w="18415" cmpd="sng">
                <a:prstDash val="solid"/>
              </a:ln>
              <a:solidFill>
                <a:schemeClr val="tx1"/>
              </a:solidFill>
              <a:latin typeface="Calibri" pitchFamily="34" charset="0"/>
              <a:cs typeface="Calibri" pitchFamily="34" charset="0"/>
            </a:endParaRPr>
          </a:p>
        </p:txBody>
      </p:sp>
      <p:sp>
        <p:nvSpPr>
          <p:cNvPr id="26" name="Freeform 25"/>
          <p:cNvSpPr/>
          <p:nvPr/>
        </p:nvSpPr>
        <p:spPr>
          <a:xfrm>
            <a:off x="3398034" y="360456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US" sz="1400" dirty="0" smtClean="0">
                <a:ln w="18415" cmpd="sng">
                  <a:prstDash val="solid"/>
                </a:ln>
                <a:solidFill>
                  <a:schemeClr val="tx1"/>
                </a:solidFill>
                <a:latin typeface="Calibri" pitchFamily="34" charset="0"/>
                <a:cs typeface="Calibri" pitchFamily="34" charset="0"/>
              </a:rPr>
              <a:t>Pro-actively action commitments and avoid omissions</a:t>
            </a:r>
            <a:endParaRPr lang="en-US" sz="1400" dirty="0">
              <a:ln w="18415" cmpd="sng">
                <a:prstDash val="solid"/>
              </a:ln>
              <a:solidFill>
                <a:schemeClr val="tx1"/>
              </a:solidFill>
              <a:latin typeface="Calibri" pitchFamily="34" charset="0"/>
              <a:cs typeface="Calibri" pitchFamily="34" charset="0"/>
            </a:endParaRPr>
          </a:p>
        </p:txBody>
      </p:sp>
      <p:sp>
        <p:nvSpPr>
          <p:cNvPr id="45" name="Freeform 44"/>
          <p:cNvSpPr/>
          <p:nvPr/>
        </p:nvSpPr>
        <p:spPr>
          <a:xfrm>
            <a:off x="3398034" y="4566148"/>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US" sz="1400" dirty="0">
                <a:ln w="18415" cmpd="sng">
                  <a:prstDash val="solid"/>
                </a:ln>
                <a:solidFill>
                  <a:schemeClr val="tx1"/>
                </a:solidFill>
                <a:latin typeface="Calibri" pitchFamily="34" charset="0"/>
                <a:cs typeface="Calibri" pitchFamily="34" charset="0"/>
              </a:rPr>
              <a:t>G</a:t>
            </a:r>
            <a:r>
              <a:rPr lang="en-US" sz="1400" dirty="0" smtClean="0">
                <a:ln w="18415" cmpd="sng">
                  <a:prstDash val="solid"/>
                </a:ln>
                <a:solidFill>
                  <a:schemeClr val="tx1"/>
                </a:solidFill>
                <a:latin typeface="Calibri" pitchFamily="34" charset="0"/>
                <a:cs typeface="Calibri" pitchFamily="34" charset="0"/>
              </a:rPr>
              <a:t>rowth </a:t>
            </a:r>
            <a:r>
              <a:rPr lang="en-US" sz="1400" dirty="0">
                <a:ln w="18415" cmpd="sng">
                  <a:prstDash val="solid"/>
                </a:ln>
                <a:solidFill>
                  <a:schemeClr val="tx1"/>
                </a:solidFill>
                <a:latin typeface="Calibri" pitchFamily="34" charset="0"/>
                <a:cs typeface="Calibri" pitchFamily="34" charset="0"/>
              </a:rPr>
              <a:t>of add-on business within the existing customer </a:t>
            </a:r>
            <a:r>
              <a:rPr lang="en-US" sz="1400" dirty="0" smtClean="0">
                <a:ln w="18415" cmpd="sng">
                  <a:prstDash val="solid"/>
                </a:ln>
                <a:solidFill>
                  <a:schemeClr val="tx1"/>
                </a:solidFill>
                <a:latin typeface="Calibri" pitchFamily="34" charset="0"/>
                <a:cs typeface="Calibri" pitchFamily="34" charset="0"/>
              </a:rPr>
              <a:t>portfolio</a:t>
            </a:r>
            <a:endParaRPr lang="nl-NL" sz="1400" dirty="0">
              <a:ln w="18415" cmpd="sng">
                <a:prstDash val="solid"/>
              </a:ln>
              <a:solidFill>
                <a:schemeClr val="tx1"/>
              </a:solidFill>
              <a:latin typeface="Calibri" pitchFamily="34" charset="0"/>
              <a:cs typeface="Calibri" pitchFamily="34" charset="0"/>
            </a:endParaRPr>
          </a:p>
        </p:txBody>
      </p:sp>
    </p:spTree>
    <p:extLst>
      <p:ext uri="{BB962C8B-B14F-4D97-AF65-F5344CB8AC3E}">
        <p14:creationId xmlns:p14="http://schemas.microsoft.com/office/powerpoint/2010/main" val="12805033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sz="2800" dirty="0"/>
              <a:t>Contact</a:t>
            </a:r>
          </a:p>
        </p:txBody>
      </p:sp>
      <p:sp>
        <p:nvSpPr>
          <p:cNvPr id="6" name="TextBox 5"/>
          <p:cNvSpPr txBox="1"/>
          <p:nvPr/>
        </p:nvSpPr>
        <p:spPr>
          <a:xfrm>
            <a:off x="261257" y="2416629"/>
            <a:ext cx="184731" cy="646331"/>
          </a:xfrm>
          <a:prstGeom prst="rect">
            <a:avLst/>
          </a:prstGeom>
          <a:noFill/>
        </p:spPr>
        <p:txBody>
          <a:bodyPr wrap="none" rtlCol="0">
            <a:spAutoFit/>
          </a:bodyPr>
          <a:lstStyle/>
          <a:p>
            <a:endParaRPr lang="nl-NL" dirty="0"/>
          </a:p>
        </p:txBody>
      </p:sp>
      <p:sp>
        <p:nvSpPr>
          <p:cNvPr id="8" name="Rectangle 7"/>
          <p:cNvSpPr/>
          <p:nvPr/>
        </p:nvSpPr>
        <p:spPr>
          <a:xfrm>
            <a:off x="436664" y="2432936"/>
            <a:ext cx="3058886" cy="2462213"/>
          </a:xfrm>
          <a:prstGeom prst="rect">
            <a:avLst/>
          </a:prstGeom>
        </p:spPr>
        <p:txBody>
          <a:bodyPr wrap="square">
            <a:spAutoFit/>
          </a:bodyPr>
          <a:lstStyle/>
          <a:p>
            <a:r>
              <a:rPr lang="en-US" sz="1100" b="1" i="1" dirty="0" smtClean="0">
                <a:solidFill>
                  <a:schemeClr val="bg2">
                    <a:lumMod val="75000"/>
                  </a:schemeClr>
                </a:solidFill>
              </a:rPr>
              <a:t>Steven E. Visser</a:t>
            </a:r>
          </a:p>
          <a:p>
            <a:r>
              <a:rPr lang="en-US" sz="1100" b="1" i="1" dirty="0" smtClean="0">
                <a:solidFill>
                  <a:schemeClr val="bg2">
                    <a:lumMod val="75000"/>
                  </a:schemeClr>
                </a:solidFill>
              </a:rPr>
              <a:t/>
            </a:r>
            <a:br>
              <a:rPr lang="en-US" sz="1100" b="1" i="1" dirty="0" smtClean="0">
                <a:solidFill>
                  <a:schemeClr val="bg2">
                    <a:lumMod val="75000"/>
                  </a:schemeClr>
                </a:solidFill>
              </a:rPr>
            </a:br>
            <a:r>
              <a:rPr lang="en-US" sz="1100" b="1" i="1" dirty="0" smtClean="0">
                <a:solidFill>
                  <a:schemeClr val="bg2">
                    <a:lumMod val="75000"/>
                  </a:schemeClr>
                </a:solidFill>
              </a:rPr>
              <a:t>Managing Partner - Senority</a:t>
            </a:r>
            <a:br>
              <a:rPr lang="en-US" sz="1100" b="1" i="1" dirty="0" smtClean="0">
                <a:solidFill>
                  <a:schemeClr val="bg2">
                    <a:lumMod val="75000"/>
                  </a:schemeClr>
                </a:solidFill>
              </a:rPr>
            </a:br>
            <a:r>
              <a:rPr lang="en-US" sz="1100" b="1" i="1" dirty="0" smtClean="0">
                <a:solidFill>
                  <a:schemeClr val="bg2">
                    <a:lumMod val="75000"/>
                  </a:schemeClr>
                </a:solidFill>
              </a:rPr>
              <a:t/>
            </a:r>
            <a:br>
              <a:rPr lang="en-US" sz="1100" b="1" i="1" dirty="0" smtClean="0">
                <a:solidFill>
                  <a:schemeClr val="bg2">
                    <a:lumMod val="75000"/>
                  </a:schemeClr>
                </a:solidFill>
              </a:rPr>
            </a:br>
            <a:r>
              <a:rPr lang="en-US" sz="1100" i="1" dirty="0" smtClean="0">
                <a:solidFill>
                  <a:schemeClr val="bg2">
                    <a:lumMod val="75000"/>
                  </a:schemeClr>
                </a:solidFill>
              </a:rPr>
              <a:t>Boompjes 680</a:t>
            </a:r>
            <a:br>
              <a:rPr lang="en-US" sz="1100" i="1" dirty="0" smtClean="0">
                <a:solidFill>
                  <a:schemeClr val="bg2">
                    <a:lumMod val="75000"/>
                  </a:schemeClr>
                </a:solidFill>
              </a:rPr>
            </a:br>
            <a:r>
              <a:rPr lang="en-US" sz="1100" i="1" dirty="0" smtClean="0">
                <a:solidFill>
                  <a:schemeClr val="bg2">
                    <a:lumMod val="75000"/>
                  </a:schemeClr>
                </a:solidFill>
              </a:rPr>
              <a:t>3011 XZ Rotterdam</a:t>
            </a:r>
          </a:p>
          <a:p>
            <a:r>
              <a:rPr lang="en-US" sz="1100" i="1" dirty="0" smtClean="0">
                <a:solidFill>
                  <a:schemeClr val="bg2">
                    <a:lumMod val="75000"/>
                  </a:schemeClr>
                </a:solidFill>
              </a:rPr>
              <a:t>The Netherlands</a:t>
            </a:r>
            <a:br>
              <a:rPr lang="en-US" sz="1100" i="1" dirty="0" smtClean="0">
                <a:solidFill>
                  <a:schemeClr val="bg2">
                    <a:lumMod val="75000"/>
                  </a:schemeClr>
                </a:solidFill>
              </a:rPr>
            </a:br>
            <a:r>
              <a:rPr lang="en-US" sz="1100" i="1" dirty="0" smtClean="0">
                <a:solidFill>
                  <a:schemeClr val="bg2">
                    <a:lumMod val="75000"/>
                  </a:schemeClr>
                </a:solidFill>
              </a:rPr>
              <a:t>Tel: +31 (0) 10 217 0118</a:t>
            </a:r>
            <a:br>
              <a:rPr lang="en-US" sz="1100" i="1" dirty="0" smtClean="0">
                <a:solidFill>
                  <a:schemeClr val="bg2">
                    <a:lumMod val="75000"/>
                  </a:schemeClr>
                </a:solidFill>
              </a:rPr>
            </a:br>
            <a:r>
              <a:rPr lang="en-US" sz="1100" i="1" dirty="0" smtClean="0">
                <a:solidFill>
                  <a:schemeClr val="bg2">
                    <a:lumMod val="75000"/>
                  </a:schemeClr>
                </a:solidFill>
              </a:rPr>
              <a:t>Fax: +31 (0) 10 213 0133</a:t>
            </a:r>
            <a:br>
              <a:rPr lang="en-US" sz="1100" i="1" dirty="0" smtClean="0">
                <a:solidFill>
                  <a:schemeClr val="bg2">
                    <a:lumMod val="75000"/>
                  </a:schemeClr>
                </a:solidFill>
              </a:rPr>
            </a:br>
            <a:r>
              <a:rPr lang="en-US" sz="1100" i="1" dirty="0" smtClean="0">
                <a:solidFill>
                  <a:schemeClr val="bg2">
                    <a:lumMod val="75000"/>
                  </a:schemeClr>
                </a:solidFill>
              </a:rPr>
              <a:t>Mobile: +31 (0) 631003495</a:t>
            </a:r>
            <a:r>
              <a:rPr lang="en-US" sz="1100" dirty="0" smtClean="0">
                <a:solidFill>
                  <a:schemeClr val="bg2">
                    <a:lumMod val="75000"/>
                  </a:schemeClr>
                </a:solidFill>
              </a:rPr>
              <a:t/>
            </a:r>
            <a:br>
              <a:rPr lang="en-US" sz="1100" dirty="0" smtClean="0">
                <a:solidFill>
                  <a:schemeClr val="bg2">
                    <a:lumMod val="75000"/>
                  </a:schemeClr>
                </a:solidFill>
              </a:rPr>
            </a:br>
            <a:r>
              <a:rPr lang="en-US" sz="1100" i="1" dirty="0" smtClean="0">
                <a:solidFill>
                  <a:schemeClr val="bg2">
                    <a:lumMod val="75000"/>
                  </a:schemeClr>
                </a:solidFill>
              </a:rPr>
              <a:t/>
            </a:r>
            <a:br>
              <a:rPr lang="en-US" sz="1100" i="1" dirty="0" smtClean="0">
                <a:solidFill>
                  <a:schemeClr val="bg2">
                    <a:lumMod val="75000"/>
                  </a:schemeClr>
                </a:solidFill>
              </a:rPr>
            </a:br>
            <a:r>
              <a:rPr lang="en-US" sz="1100" i="1" u="sng" dirty="0" smtClean="0">
                <a:solidFill>
                  <a:schemeClr val="bg2">
                    <a:lumMod val="75000"/>
                  </a:schemeClr>
                </a:solidFill>
                <a:hlinkClick r:id="rId3"/>
              </a:rPr>
              <a:t>Steven.Visser@senority.nl</a:t>
            </a:r>
            <a:r>
              <a:rPr lang="en-US" sz="1100" i="1" dirty="0" smtClean="0">
                <a:solidFill>
                  <a:schemeClr val="bg2">
                    <a:lumMod val="75000"/>
                  </a:schemeClr>
                </a:solidFill>
              </a:rPr>
              <a:t> </a:t>
            </a:r>
            <a:br>
              <a:rPr lang="en-US" sz="1100" i="1" dirty="0" smtClean="0">
                <a:solidFill>
                  <a:schemeClr val="bg2">
                    <a:lumMod val="75000"/>
                  </a:schemeClr>
                </a:solidFill>
              </a:rPr>
            </a:br>
            <a:r>
              <a:rPr lang="en-US" sz="1100" i="1" u="sng" dirty="0" smtClean="0">
                <a:solidFill>
                  <a:schemeClr val="bg2">
                    <a:lumMod val="75000"/>
                  </a:schemeClr>
                </a:solidFill>
                <a:hlinkClick r:id="rId4"/>
              </a:rPr>
              <a:t>www.Senority.nl</a:t>
            </a:r>
            <a:r>
              <a:rPr lang="en-US" sz="1100" i="1" dirty="0" smtClean="0">
                <a:solidFill>
                  <a:schemeClr val="bg2">
                    <a:lumMod val="75000"/>
                  </a:schemeClr>
                </a:solidFill>
              </a:rPr>
              <a:t> </a:t>
            </a:r>
            <a:br>
              <a:rPr lang="en-US" sz="1100" i="1" dirty="0" smtClean="0">
                <a:solidFill>
                  <a:schemeClr val="bg2">
                    <a:lumMod val="75000"/>
                  </a:schemeClr>
                </a:solidFill>
              </a:rPr>
            </a:br>
            <a:endParaRPr lang="nl-NL" sz="1100" dirty="0">
              <a:solidFill>
                <a:schemeClr val="bg2">
                  <a:lumMod val="75000"/>
                </a:schemeClr>
              </a:solidFill>
            </a:endParaRPr>
          </a:p>
        </p:txBody>
      </p:sp>
      <p:sp>
        <p:nvSpPr>
          <p:cNvPr id="10" name="Rectangle 9"/>
          <p:cNvSpPr/>
          <p:nvPr/>
        </p:nvSpPr>
        <p:spPr bwMode="auto">
          <a:xfrm>
            <a:off x="3951514" y="1970314"/>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4400" b="0" i="0" u="none" strike="noStrike" cap="none" normalizeH="0" baseline="0" dirty="0" smtClean="0">
              <a:ln>
                <a:noFill/>
              </a:ln>
              <a:solidFill>
                <a:schemeClr val="tx2"/>
              </a:solidFill>
              <a:effectLst/>
              <a:latin typeface="Verdana" pitchFamily="34" charset="0"/>
              <a:cs typeface="Arial" charset="0"/>
            </a:endParaRPr>
          </a:p>
        </p:txBody>
      </p:sp>
      <p:pic>
        <p:nvPicPr>
          <p:cNvPr id="11" name="Picture 10" descr="CRW_1570-PS-2 copy.jpg"/>
          <p:cNvPicPr>
            <a:picLocks noChangeAspect="1"/>
          </p:cNvPicPr>
          <p:nvPr/>
        </p:nvPicPr>
        <p:blipFill>
          <a:blip r:embed="rId5" cstate="print"/>
          <a:stretch>
            <a:fillRect/>
          </a:stretch>
        </p:blipFill>
        <p:spPr>
          <a:xfrm>
            <a:off x="5508130" y="2432936"/>
            <a:ext cx="3290853" cy="2193902"/>
          </a:xfrm>
          <a:prstGeom prst="rect">
            <a:avLst/>
          </a:prstGeom>
        </p:spPr>
      </p:pic>
    </p:spTree>
    <p:extLst>
      <p:ext uri="{BB962C8B-B14F-4D97-AF65-F5344CB8AC3E}">
        <p14:creationId xmlns:p14="http://schemas.microsoft.com/office/powerpoint/2010/main" val="40474263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A14ED451-723F-4E8F-ACC5-3FD132FB63D8}" type="slidenum">
              <a:rPr lang="nl-NL" smtClean="0"/>
              <a:pPr>
                <a:defRPr/>
              </a:pPr>
              <a:t>13</a:t>
            </a:fld>
            <a:endParaRPr lang="nl-NL" dirty="0"/>
          </a:p>
        </p:txBody>
      </p:sp>
      <p:sp>
        <p:nvSpPr>
          <p:cNvPr id="3" name="TextBox 2"/>
          <p:cNvSpPr txBox="1"/>
          <p:nvPr/>
        </p:nvSpPr>
        <p:spPr>
          <a:xfrm>
            <a:off x="7020340" y="1484730"/>
            <a:ext cx="1622560" cy="400110"/>
          </a:xfrm>
          <a:prstGeom prst="rect">
            <a:avLst/>
          </a:prstGeom>
          <a:noFill/>
        </p:spPr>
        <p:txBody>
          <a:bodyPr wrap="none" rtlCol="0">
            <a:spAutoFit/>
          </a:bodyPr>
          <a:lstStyle/>
          <a:p>
            <a:r>
              <a:rPr lang="en-US" sz="2000" dirty="0" smtClean="0"/>
              <a:t>appendices</a:t>
            </a:r>
            <a:endParaRPr lang="en-US" sz="2000" dirty="0"/>
          </a:p>
        </p:txBody>
      </p:sp>
    </p:spTree>
    <p:extLst>
      <p:ext uri="{BB962C8B-B14F-4D97-AF65-F5344CB8AC3E}">
        <p14:creationId xmlns:p14="http://schemas.microsoft.com/office/powerpoint/2010/main" val="3840962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l-NL" sz="3200" dirty="0">
                <a:solidFill>
                  <a:srgbClr val="002060"/>
                </a:solidFill>
              </a:rPr>
              <a:t>Evaluetor Concept</a:t>
            </a:r>
          </a:p>
        </p:txBody>
      </p:sp>
      <p:sp>
        <p:nvSpPr>
          <p:cNvPr id="2" name="Rounded Rectangle 1"/>
          <p:cNvSpPr/>
          <p:nvPr/>
        </p:nvSpPr>
        <p:spPr bwMode="auto">
          <a:xfrm>
            <a:off x="1835620" y="2132820"/>
            <a:ext cx="4176580" cy="432060"/>
          </a:xfrm>
          <a:prstGeom prst="roundRect">
            <a:avLst/>
          </a:prstGeom>
          <a:ln>
            <a:solidFill>
              <a:schemeClr val="tx1"/>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Expectations</a:t>
            </a:r>
          </a:p>
        </p:txBody>
      </p:sp>
      <p:sp>
        <p:nvSpPr>
          <p:cNvPr id="5" name="Rounded Rectangle 4"/>
          <p:cNvSpPr/>
          <p:nvPr/>
        </p:nvSpPr>
        <p:spPr bwMode="auto">
          <a:xfrm>
            <a:off x="1835620" y="2876923"/>
            <a:ext cx="4176580" cy="432060"/>
          </a:xfrm>
          <a:prstGeom prst="roundRect">
            <a:avLst/>
          </a:prstGeom>
          <a:ln>
            <a:solidFill>
              <a:schemeClr val="tx1"/>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Contract</a:t>
            </a:r>
          </a:p>
        </p:txBody>
      </p:sp>
      <p:sp>
        <p:nvSpPr>
          <p:cNvPr id="6" name="Rounded Rectangle 5"/>
          <p:cNvSpPr/>
          <p:nvPr/>
        </p:nvSpPr>
        <p:spPr bwMode="auto">
          <a:xfrm>
            <a:off x="1835620" y="3621026"/>
            <a:ext cx="4176580" cy="432060"/>
          </a:xfrm>
          <a:prstGeom prst="roundRect">
            <a:avLst/>
          </a:prstGeom>
          <a:ln>
            <a:solidFill>
              <a:schemeClr val="tx1"/>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Performance</a:t>
            </a:r>
          </a:p>
        </p:txBody>
      </p:sp>
      <p:sp>
        <p:nvSpPr>
          <p:cNvPr id="7" name="Rounded Rectangle 6"/>
          <p:cNvSpPr/>
          <p:nvPr/>
        </p:nvSpPr>
        <p:spPr bwMode="auto">
          <a:xfrm>
            <a:off x="1835620" y="4365130"/>
            <a:ext cx="4176580" cy="432060"/>
          </a:xfrm>
          <a:prstGeom prst="roundRect">
            <a:avLst/>
          </a:prstGeom>
          <a:ln>
            <a:solidFill>
              <a:schemeClr val="tx1"/>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2"/>
                </a:solidFill>
                <a:effectLst/>
                <a:latin typeface="Verdana" pitchFamily="34" charset="0"/>
                <a:cs typeface="Arial" charset="0"/>
              </a:rPr>
              <a:t>Reporting</a:t>
            </a:r>
          </a:p>
        </p:txBody>
      </p:sp>
      <p:sp>
        <p:nvSpPr>
          <p:cNvPr id="11" name="Left Arrow 10"/>
          <p:cNvSpPr/>
          <p:nvPr/>
        </p:nvSpPr>
        <p:spPr bwMode="auto">
          <a:xfrm>
            <a:off x="6259870" y="2564880"/>
            <a:ext cx="1656230" cy="312043"/>
          </a:xfrm>
          <a:prstGeom prst="left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lvl="0" algn="ctr"/>
            <a:r>
              <a:rPr lang="en-US" sz="1100" dirty="0" smtClean="0"/>
              <a:t>Commercial gap</a:t>
            </a:r>
            <a:endParaRPr lang="nl-NL" sz="1100" dirty="0"/>
          </a:p>
        </p:txBody>
      </p:sp>
      <p:sp>
        <p:nvSpPr>
          <p:cNvPr id="13" name="Left Arrow 12"/>
          <p:cNvSpPr/>
          <p:nvPr/>
        </p:nvSpPr>
        <p:spPr bwMode="auto">
          <a:xfrm>
            <a:off x="6259870" y="3320985"/>
            <a:ext cx="1656230" cy="312043"/>
          </a:xfrm>
          <a:prstGeom prst="left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lvl="0" algn="ctr"/>
            <a:r>
              <a:rPr lang="en-US" sz="1100" dirty="0" smtClean="0"/>
              <a:t>Delivery gap</a:t>
            </a:r>
            <a:endParaRPr lang="nl-NL" sz="1100" dirty="0"/>
          </a:p>
        </p:txBody>
      </p:sp>
      <p:sp>
        <p:nvSpPr>
          <p:cNvPr id="14" name="Left Arrow 13"/>
          <p:cNvSpPr/>
          <p:nvPr/>
        </p:nvSpPr>
        <p:spPr bwMode="auto">
          <a:xfrm>
            <a:off x="6259870" y="4077090"/>
            <a:ext cx="1656230" cy="312043"/>
          </a:xfrm>
          <a:prstGeom prst="left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lvl="0" algn="ctr"/>
            <a:r>
              <a:rPr lang="en-US" sz="1100" dirty="0" smtClean="0"/>
              <a:t>Information gap</a:t>
            </a:r>
            <a:endParaRPr lang="nl-NL" sz="1100" dirty="0"/>
          </a:p>
        </p:txBody>
      </p:sp>
    </p:spTree>
    <p:extLst>
      <p:ext uri="{BB962C8B-B14F-4D97-AF65-F5344CB8AC3E}">
        <p14:creationId xmlns:p14="http://schemas.microsoft.com/office/powerpoint/2010/main" val="243793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ppt_x"/>
                                          </p:val>
                                        </p:tav>
                                        <p:tav tm="100000">
                                          <p:val>
                                            <p:strVal val="#ppt_x"/>
                                          </p:val>
                                        </p:tav>
                                      </p:tavLst>
                                    </p:anim>
                                    <p:anim calcmode="lin" valueType="num">
                                      <p:cBhvr additive="base">
                                        <p:cTn id="8" dur="1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500" fill="hold"/>
                                        <p:tgtEl>
                                          <p:spTgt spid="2"/>
                                        </p:tgtEl>
                                        <p:attrNameLst>
                                          <p:attrName>ppt_x</p:attrName>
                                        </p:attrNameLst>
                                      </p:cBhvr>
                                      <p:tavLst>
                                        <p:tav tm="0">
                                          <p:val>
                                            <p:strVal val="#ppt_x"/>
                                          </p:val>
                                        </p:tav>
                                        <p:tav tm="100000">
                                          <p:val>
                                            <p:strVal val="#ppt_x"/>
                                          </p:val>
                                        </p:tav>
                                      </p:tavLst>
                                    </p:anim>
                                    <p:anim calcmode="lin" valueType="num">
                                      <p:cBhvr additive="base">
                                        <p:cTn id="14" dur="1500" fill="hold"/>
                                        <p:tgtEl>
                                          <p:spTgt spid="2"/>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1500" fill="hold"/>
                                        <p:tgtEl>
                                          <p:spTgt spid="11"/>
                                        </p:tgtEl>
                                        <p:attrNameLst>
                                          <p:attrName>ppt_x</p:attrName>
                                        </p:attrNameLst>
                                      </p:cBhvr>
                                      <p:tavLst>
                                        <p:tav tm="0">
                                          <p:val>
                                            <p:strVal val="#ppt_x"/>
                                          </p:val>
                                        </p:tav>
                                        <p:tav tm="100000">
                                          <p:val>
                                            <p:strVal val="#ppt_x"/>
                                          </p:val>
                                        </p:tav>
                                      </p:tavLst>
                                    </p:anim>
                                    <p:anim calcmode="lin" valueType="num">
                                      <p:cBhvr additive="base">
                                        <p:cTn id="19"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1500" fill="hold"/>
                                        <p:tgtEl>
                                          <p:spTgt spid="6"/>
                                        </p:tgtEl>
                                        <p:attrNameLst>
                                          <p:attrName>ppt_x</p:attrName>
                                        </p:attrNameLst>
                                      </p:cBhvr>
                                      <p:tavLst>
                                        <p:tav tm="0">
                                          <p:val>
                                            <p:strVal val="#ppt_x"/>
                                          </p:val>
                                        </p:tav>
                                        <p:tav tm="100000">
                                          <p:val>
                                            <p:strVal val="#ppt_x"/>
                                          </p:val>
                                        </p:tav>
                                      </p:tavLst>
                                    </p:anim>
                                    <p:anim calcmode="lin" valueType="num">
                                      <p:cBhvr additive="base">
                                        <p:cTn id="25" dur="1500" fill="hold"/>
                                        <p:tgtEl>
                                          <p:spTgt spid="6"/>
                                        </p:tgtEl>
                                        <p:attrNameLst>
                                          <p:attrName>ppt_y</p:attrName>
                                        </p:attrNameLst>
                                      </p:cBhvr>
                                      <p:tavLst>
                                        <p:tav tm="0">
                                          <p:val>
                                            <p:strVal val="1+#ppt_h/2"/>
                                          </p:val>
                                        </p:tav>
                                        <p:tav tm="100000">
                                          <p:val>
                                            <p:strVal val="#ppt_y"/>
                                          </p:val>
                                        </p:tav>
                                      </p:tavLst>
                                    </p:anim>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1500" fill="hold"/>
                                        <p:tgtEl>
                                          <p:spTgt spid="13"/>
                                        </p:tgtEl>
                                        <p:attrNameLst>
                                          <p:attrName>ppt_x</p:attrName>
                                        </p:attrNameLst>
                                      </p:cBhvr>
                                      <p:tavLst>
                                        <p:tav tm="0">
                                          <p:val>
                                            <p:strVal val="#ppt_x"/>
                                          </p:val>
                                        </p:tav>
                                        <p:tav tm="100000">
                                          <p:val>
                                            <p:strVal val="#ppt_x"/>
                                          </p:val>
                                        </p:tav>
                                      </p:tavLst>
                                    </p:anim>
                                    <p:anim calcmode="lin" valueType="num">
                                      <p:cBhvr additive="base">
                                        <p:cTn id="30" dur="1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1500" fill="hold"/>
                                        <p:tgtEl>
                                          <p:spTgt spid="7"/>
                                        </p:tgtEl>
                                        <p:attrNameLst>
                                          <p:attrName>ppt_x</p:attrName>
                                        </p:attrNameLst>
                                      </p:cBhvr>
                                      <p:tavLst>
                                        <p:tav tm="0">
                                          <p:val>
                                            <p:strVal val="#ppt_x"/>
                                          </p:val>
                                        </p:tav>
                                        <p:tav tm="100000">
                                          <p:val>
                                            <p:strVal val="#ppt_x"/>
                                          </p:val>
                                        </p:tav>
                                      </p:tavLst>
                                    </p:anim>
                                    <p:anim calcmode="lin" valueType="num">
                                      <p:cBhvr additive="base">
                                        <p:cTn id="36" dur="1500" fill="hold"/>
                                        <p:tgtEl>
                                          <p:spTgt spid="7"/>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1500" fill="hold"/>
                                        <p:tgtEl>
                                          <p:spTgt spid="14"/>
                                        </p:tgtEl>
                                        <p:attrNameLst>
                                          <p:attrName>ppt_x</p:attrName>
                                        </p:attrNameLst>
                                      </p:cBhvr>
                                      <p:tavLst>
                                        <p:tav tm="0">
                                          <p:val>
                                            <p:strVal val="#ppt_x"/>
                                          </p:val>
                                        </p:tav>
                                        <p:tav tm="100000">
                                          <p:val>
                                            <p:strVal val="#ppt_x"/>
                                          </p:val>
                                        </p:tav>
                                      </p:tavLst>
                                    </p:anim>
                                    <p:anim calcmode="lin" valueType="num">
                                      <p:cBhvr additive="base">
                                        <p:cTn id="41"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11"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3200" dirty="0" smtClean="0">
                <a:solidFill>
                  <a:srgbClr val="002060"/>
                </a:solidFill>
              </a:rPr>
              <a:t>Evaluetor.. Closing the Gap</a:t>
            </a:r>
            <a:endParaRPr lang="en-GB" sz="3200" dirty="0">
              <a:solidFill>
                <a:srgbClr val="002060"/>
              </a:solidFill>
            </a:endParaRPr>
          </a:p>
        </p:txBody>
      </p:sp>
      <p:pic>
        <p:nvPicPr>
          <p:cNvPr id="8" name="Picture 7"/>
          <p:cNvPicPr>
            <a:picLocks noChangeAspect="1"/>
          </p:cNvPicPr>
          <p:nvPr/>
        </p:nvPicPr>
        <p:blipFill>
          <a:blip r:embed="rId2"/>
          <a:stretch>
            <a:fillRect/>
          </a:stretch>
        </p:blipFill>
        <p:spPr>
          <a:xfrm>
            <a:off x="1187530" y="2084580"/>
            <a:ext cx="5780270" cy="1920500"/>
          </a:xfrm>
          <a:prstGeom prst="rect">
            <a:avLst/>
          </a:prstGeom>
        </p:spPr>
      </p:pic>
    </p:spTree>
    <p:extLst>
      <p:ext uri="{BB962C8B-B14F-4D97-AF65-F5344CB8AC3E}">
        <p14:creationId xmlns:p14="http://schemas.microsoft.com/office/powerpoint/2010/main" val="28262985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4116775" y="6436428"/>
            <a:ext cx="449287" cy="451262"/>
          </a:xfrm>
        </p:spPr>
        <p:txBody>
          <a:bodyPr/>
          <a:lstStyle/>
          <a:p>
            <a:fld id="{A4D095F7-83A9-4B4F-983F-FBBDF20DF49D}" type="slidenum">
              <a:rPr lang="nl-NL" smtClean="0"/>
              <a:t>16</a:t>
            </a:fld>
            <a:endParaRPr lang="nl-NL" dirty="0"/>
          </a:p>
        </p:txBody>
      </p:sp>
      <p:sp>
        <p:nvSpPr>
          <p:cNvPr id="7" name="Titel 2"/>
          <p:cNvSpPr txBox="1">
            <a:spLocks/>
          </p:cNvSpPr>
          <p:nvPr/>
        </p:nvSpPr>
        <p:spPr bwMode="auto">
          <a:xfrm>
            <a:off x="324000" y="90489"/>
            <a:ext cx="8443356" cy="788286"/>
          </a:xfrm>
          <a:prstGeom prst="rect">
            <a:avLst/>
          </a:prstGeom>
          <a:noFill/>
          <a:ln w="9525">
            <a:noFill/>
            <a:miter lim="800000"/>
            <a:headEnd/>
            <a:tailEnd/>
          </a:ln>
        </p:spPr>
        <p:txBody>
          <a:bodyPr vert="horz" wrap="square" lIns="14400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pPr marL="396000" indent="-457200" defTabSz="876300">
              <a:buBlip>
                <a:blip r:embed="rId2"/>
              </a:buBlip>
            </a:pPr>
            <a:r>
              <a:rPr lang="en-US" i="1" dirty="0" smtClean="0"/>
              <a:t>Evaluetor</a:t>
            </a:r>
            <a:endParaRPr lang="en-US" sz="2000" i="1" dirty="0"/>
          </a:p>
        </p:txBody>
      </p:sp>
      <p:sp>
        <p:nvSpPr>
          <p:cNvPr id="11" name="Rechthoek 10"/>
          <p:cNvSpPr/>
          <p:nvPr/>
        </p:nvSpPr>
        <p:spPr bwMode="auto">
          <a:xfrm>
            <a:off x="1835620" y="162875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Contract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sp>
        <p:nvSpPr>
          <p:cNvPr id="40" name="Rechthoek 39"/>
          <p:cNvSpPr/>
          <p:nvPr/>
        </p:nvSpPr>
        <p:spPr bwMode="auto">
          <a:xfrm>
            <a:off x="1835620" y="465317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Service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sp>
        <p:nvSpPr>
          <p:cNvPr id="49" name="Rechthoek 48"/>
          <p:cNvSpPr/>
          <p:nvPr/>
        </p:nvSpPr>
        <p:spPr bwMode="auto">
          <a:xfrm>
            <a:off x="1835620" y="3140960"/>
            <a:ext cx="1728240" cy="57608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Relationship</a:t>
            </a:r>
            <a:endParaRPr lang="en-GB" sz="1400" dirty="0">
              <a:solidFill>
                <a:schemeClr val="tx1"/>
              </a:solidFill>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Management</a:t>
            </a:r>
          </a:p>
        </p:txBody>
      </p:sp>
      <p:sp>
        <p:nvSpPr>
          <p:cNvPr id="2" name="Rechthoek 1"/>
          <p:cNvSpPr/>
          <p:nvPr/>
        </p:nvSpPr>
        <p:spPr bwMode="auto">
          <a:xfrm>
            <a:off x="4572000" y="3068950"/>
            <a:ext cx="194427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Management</a:t>
            </a:r>
            <a:endParaRPr kumimoji="0" lang="en-GB" sz="1400" b="0" i="0" u="none" strike="noStrike" cap="none" normalizeH="0" baseline="0" dirty="0" smtClean="0">
              <a:ln>
                <a:noFill/>
              </a:ln>
              <a:solidFill>
                <a:schemeClr val="tx1"/>
              </a:solidFill>
              <a:effectLst/>
            </a:endParaRPr>
          </a:p>
        </p:txBody>
      </p:sp>
      <p:cxnSp>
        <p:nvCxnSpPr>
          <p:cNvPr id="4" name="Gebogen verbindingslijn 3"/>
          <p:cNvCxnSpPr>
            <a:stCxn id="11" idx="3"/>
            <a:endCxn id="2" idx="1"/>
          </p:cNvCxnSpPr>
          <p:nvPr/>
        </p:nvCxnSpPr>
        <p:spPr bwMode="auto">
          <a:xfrm>
            <a:off x="3563860" y="1916790"/>
            <a:ext cx="1008140" cy="151221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32" name="Gebogen verbindingslijn 31"/>
          <p:cNvCxnSpPr>
            <a:endCxn id="2" idx="1"/>
          </p:cNvCxnSpPr>
          <p:nvPr/>
        </p:nvCxnSpPr>
        <p:spPr bwMode="auto">
          <a:xfrm>
            <a:off x="3563860" y="3429000"/>
            <a:ext cx="1008140" cy="127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57" name="Gebogen verbindingslijn 56"/>
          <p:cNvCxnSpPr>
            <a:stCxn id="40" idx="3"/>
            <a:endCxn id="2" idx="1"/>
          </p:cNvCxnSpPr>
          <p:nvPr/>
        </p:nvCxnSpPr>
        <p:spPr bwMode="auto">
          <a:xfrm flipV="1">
            <a:off x="3563860" y="3429000"/>
            <a:ext cx="1008140" cy="1512210"/>
          </a:xfrm>
          <a:prstGeom prst="bentConnector3">
            <a:avLst/>
          </a:prstGeom>
          <a:noFill/>
          <a:ln w="9525" cap="flat" cmpd="sng" algn="ctr">
            <a:solidFill>
              <a:schemeClr val="bg1">
                <a:lumMod val="50000"/>
              </a:schemeClr>
            </a:solidFill>
            <a:prstDash val="solid"/>
            <a:round/>
            <a:headEnd type="none" w="med" len="med"/>
            <a:tailEnd type="arrow"/>
          </a:ln>
          <a:effectLst/>
        </p:spPr>
      </p:cxnSp>
    </p:spTree>
    <p:extLst>
      <p:ext uri="{BB962C8B-B14F-4D97-AF65-F5344CB8AC3E}">
        <p14:creationId xmlns:p14="http://schemas.microsoft.com/office/powerpoint/2010/main" val="34077016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hoek 20"/>
          <p:cNvSpPr/>
          <p:nvPr/>
        </p:nvSpPr>
        <p:spPr bwMode="auto">
          <a:xfrm>
            <a:off x="251400" y="292493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2"/>
              </a:solidFill>
              <a:effectLst/>
            </a:endParaRPr>
          </a:p>
        </p:txBody>
      </p:sp>
      <p:sp>
        <p:nvSpPr>
          <p:cNvPr id="20" name="Rechthoek 19"/>
          <p:cNvSpPr/>
          <p:nvPr/>
        </p:nvSpPr>
        <p:spPr bwMode="auto">
          <a:xfrm>
            <a:off x="179390" y="299694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2"/>
              </a:solidFill>
              <a:effectLst/>
            </a:endParaRPr>
          </a:p>
        </p:txBody>
      </p:sp>
      <p:sp>
        <p:nvSpPr>
          <p:cNvPr id="4"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Contract Management</a:t>
            </a:r>
          </a:p>
        </p:txBody>
      </p:sp>
      <p:sp>
        <p:nvSpPr>
          <p:cNvPr id="19" name="Rechthoek 18"/>
          <p:cNvSpPr/>
          <p:nvPr/>
        </p:nvSpPr>
        <p:spPr bwMode="auto">
          <a:xfrm>
            <a:off x="107380" y="306895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Commitments</a:t>
            </a:r>
            <a:endParaRPr kumimoji="0" lang="en-GB" sz="1400" b="0" i="0" u="none" strike="noStrike" cap="none" normalizeH="0" baseline="0" dirty="0" smtClean="0">
              <a:ln>
                <a:noFill/>
              </a:ln>
              <a:solidFill>
                <a:schemeClr val="tx2"/>
              </a:solidFill>
              <a:effectLst/>
            </a:endParaRPr>
          </a:p>
        </p:txBody>
      </p:sp>
      <p:sp>
        <p:nvSpPr>
          <p:cNvPr id="12" name="Ring 11"/>
          <p:cNvSpPr/>
          <p:nvPr/>
        </p:nvSpPr>
        <p:spPr bwMode="auto">
          <a:xfrm>
            <a:off x="3491850" y="2204830"/>
            <a:ext cx="2232310" cy="2160300"/>
          </a:xfrm>
          <a:prstGeom prst="donu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2"/>
                </a:solidFill>
                <a:effectLst/>
              </a:rPr>
              <a:t>Control</a:t>
            </a:r>
          </a:p>
          <a:p>
            <a:pPr marL="0" marR="0" indent="0" algn="ctr" defTabSz="914400" rtl="0" eaLnBrk="1" fontAlgn="base" latinLnBrk="0" hangingPunct="1">
              <a:lnSpc>
                <a:spcPct val="100000"/>
              </a:lnSpc>
              <a:spcBef>
                <a:spcPct val="0"/>
              </a:spcBef>
              <a:spcAft>
                <a:spcPct val="0"/>
              </a:spcAft>
              <a:buClrTx/>
              <a:buSzTx/>
              <a:buFontTx/>
              <a:buNone/>
              <a:tabLst/>
            </a:pPr>
            <a:r>
              <a:rPr lang="en-GB" sz="1800" dirty="0" smtClean="0">
                <a:solidFill>
                  <a:schemeClr val="tx1"/>
                </a:solidFill>
              </a:rPr>
              <a:t>Cycle</a:t>
            </a:r>
            <a:endParaRPr kumimoji="0" lang="en-GB" sz="1800" b="0" i="0" u="none" strike="noStrike" cap="none" normalizeH="0" baseline="0" dirty="0" smtClean="0">
              <a:ln>
                <a:noFill/>
              </a:ln>
              <a:solidFill>
                <a:schemeClr val="tx1"/>
              </a:solidFill>
              <a:effectLst/>
            </a:endParaRPr>
          </a:p>
        </p:txBody>
      </p:sp>
      <p:cxnSp>
        <p:nvCxnSpPr>
          <p:cNvPr id="23" name="Rechte verbindingslijn met pijl 22"/>
          <p:cNvCxnSpPr>
            <a:stCxn id="21" idx="3"/>
            <a:endCxn id="12" idx="2"/>
          </p:cNvCxnSpPr>
          <p:nvPr/>
        </p:nvCxnSpPr>
        <p:spPr bwMode="auto">
          <a:xfrm>
            <a:off x="2267680" y="3284980"/>
            <a:ext cx="1224170" cy="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26" name="Rechthoek 25"/>
          <p:cNvSpPr/>
          <p:nvPr/>
        </p:nvSpPr>
        <p:spPr bwMode="auto">
          <a:xfrm>
            <a:off x="6732300" y="2924930"/>
            <a:ext cx="2016280" cy="720100"/>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tx2"/>
                </a:solidFill>
                <a:effectLst/>
              </a:rPr>
              <a:t>Management</a:t>
            </a:r>
            <a:endParaRPr kumimoji="0" lang="en-GB" sz="1400" b="0" i="0" u="none" strike="noStrike" cap="none" normalizeH="0" baseline="0" dirty="0" smtClean="0">
              <a:ln>
                <a:noFill/>
              </a:ln>
              <a:solidFill>
                <a:schemeClr val="tx2"/>
              </a:solidFill>
              <a:effectLst/>
            </a:endParaRPr>
          </a:p>
        </p:txBody>
      </p:sp>
      <p:cxnSp>
        <p:nvCxnSpPr>
          <p:cNvPr id="28" name="Rechte verbindingslijn met pijl 27"/>
          <p:cNvCxnSpPr>
            <a:stCxn id="12" idx="6"/>
            <a:endCxn id="26" idx="1"/>
          </p:cNvCxnSpPr>
          <p:nvPr/>
        </p:nvCxnSpPr>
        <p:spPr bwMode="auto">
          <a:xfrm>
            <a:off x="5724160" y="3284980"/>
            <a:ext cx="1008140" cy="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33" name="Tekstvak 32"/>
          <p:cNvSpPr txBox="1"/>
          <p:nvPr/>
        </p:nvSpPr>
        <p:spPr>
          <a:xfrm>
            <a:off x="4095685" y="1268700"/>
            <a:ext cx="1024639" cy="584775"/>
          </a:xfrm>
          <a:prstGeom prst="rect">
            <a:avLst/>
          </a:prstGeom>
          <a:noFill/>
        </p:spPr>
        <p:txBody>
          <a:bodyPr wrap="none" rtlCol="0">
            <a:spAutoFit/>
          </a:bodyPr>
          <a:lstStyle/>
          <a:p>
            <a:pPr algn="ctr"/>
            <a:r>
              <a:rPr lang="en-GB" sz="1600" dirty="0" smtClean="0"/>
              <a:t>Status</a:t>
            </a:r>
          </a:p>
          <a:p>
            <a:pPr algn="ctr"/>
            <a:r>
              <a:rPr lang="en-GB" sz="1600" dirty="0" smtClean="0"/>
              <a:t>Updates</a:t>
            </a:r>
            <a:endParaRPr lang="en-GB" sz="1600" dirty="0"/>
          </a:p>
        </p:txBody>
      </p:sp>
      <p:sp>
        <p:nvSpPr>
          <p:cNvPr id="34" name="Tekstvak 33"/>
          <p:cNvSpPr txBox="1"/>
          <p:nvPr/>
        </p:nvSpPr>
        <p:spPr>
          <a:xfrm>
            <a:off x="3765467" y="4437140"/>
            <a:ext cx="1685077" cy="1631216"/>
          </a:xfrm>
          <a:prstGeom prst="rect">
            <a:avLst/>
          </a:prstGeom>
          <a:noFill/>
        </p:spPr>
        <p:txBody>
          <a:bodyPr wrap="none" rtlCol="0">
            <a:spAutoFit/>
          </a:bodyPr>
          <a:lstStyle/>
          <a:p>
            <a:r>
              <a:rPr lang="en-GB" sz="1600" dirty="0" smtClean="0"/>
              <a:t>Frequency:</a:t>
            </a:r>
          </a:p>
          <a:p>
            <a:pPr marL="342900" indent="-342900">
              <a:buFont typeface="Arial"/>
              <a:buChar char="•"/>
            </a:pPr>
            <a:r>
              <a:rPr lang="en-GB" sz="1600" dirty="0" smtClean="0"/>
              <a:t>Daily</a:t>
            </a:r>
          </a:p>
          <a:p>
            <a:pPr marL="342900" indent="-342900">
              <a:buFont typeface="Arial"/>
              <a:buChar char="•"/>
            </a:pPr>
            <a:r>
              <a:rPr lang="en-GB" sz="1600" dirty="0" smtClean="0"/>
              <a:t>Weekly</a:t>
            </a:r>
          </a:p>
          <a:p>
            <a:pPr marL="342900" indent="-342900">
              <a:buFont typeface="Arial"/>
              <a:buChar char="•"/>
            </a:pPr>
            <a:r>
              <a:rPr lang="en-GB" sz="1600" dirty="0" smtClean="0"/>
              <a:t>Monthly</a:t>
            </a:r>
          </a:p>
          <a:p>
            <a:pPr marL="342900" indent="-342900">
              <a:buFont typeface="Arial"/>
              <a:buChar char="•"/>
            </a:pPr>
            <a:r>
              <a:rPr lang="en-GB" sz="1600" dirty="0" smtClean="0"/>
              <a:t>Once</a:t>
            </a:r>
          </a:p>
          <a:p>
            <a:pPr marL="342900" indent="-342900">
              <a:buFont typeface="Arial"/>
              <a:buChar char="•"/>
            </a:pPr>
            <a:r>
              <a:rPr lang="en-GB" sz="1600" dirty="0" smtClean="0"/>
              <a:t>Alert based</a:t>
            </a:r>
          </a:p>
        </p:txBody>
      </p:sp>
      <p:sp>
        <p:nvSpPr>
          <p:cNvPr id="35" name="Ezelsoor 34"/>
          <p:cNvSpPr/>
          <p:nvPr/>
        </p:nvSpPr>
        <p:spPr bwMode="auto">
          <a:xfrm>
            <a:off x="467430" y="1124680"/>
            <a:ext cx="1296180" cy="1440200"/>
          </a:xfrm>
          <a:prstGeom prst="foldedCorner">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2"/>
                </a:solidFill>
                <a:effectLst/>
                <a:latin typeface="Verdana" pitchFamily="34" charset="0"/>
                <a:cs typeface="Arial" charset="0"/>
              </a:rPr>
              <a:t>Contracts</a:t>
            </a: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cxnSp>
        <p:nvCxnSpPr>
          <p:cNvPr id="37" name="Rechte verbindingslijn met pijl 36"/>
          <p:cNvCxnSpPr/>
          <p:nvPr/>
        </p:nvCxnSpPr>
        <p:spPr bwMode="auto">
          <a:xfrm>
            <a:off x="1115520" y="2564880"/>
            <a:ext cx="0" cy="360050"/>
          </a:xfrm>
          <a:prstGeom prst="straightConnector1">
            <a:avLst/>
          </a:prstGeom>
          <a:noFill/>
          <a:ln w="9525" cap="flat" cmpd="sng" algn="ctr">
            <a:solidFill>
              <a:schemeClr val="bg1">
                <a:lumMod val="50000"/>
              </a:schemeClr>
            </a:solidFill>
            <a:prstDash val="solid"/>
            <a:round/>
            <a:headEnd type="none" w="med" len="med"/>
            <a:tailEnd type="arrow"/>
          </a:ln>
          <a:effectLst/>
        </p:spPr>
      </p:cxnSp>
      <p:sp>
        <p:nvSpPr>
          <p:cNvPr id="38" name="Tekstvak 37"/>
          <p:cNvSpPr txBox="1"/>
          <p:nvPr/>
        </p:nvSpPr>
        <p:spPr>
          <a:xfrm>
            <a:off x="2411700" y="2852920"/>
            <a:ext cx="967382" cy="400110"/>
          </a:xfrm>
          <a:prstGeom prst="rect">
            <a:avLst/>
          </a:prstGeom>
          <a:noFill/>
        </p:spPr>
        <p:txBody>
          <a:bodyPr wrap="none" rtlCol="0">
            <a:spAutoFit/>
          </a:bodyPr>
          <a:lstStyle/>
          <a:p>
            <a:r>
              <a:rPr lang="en-GB" sz="2000" dirty="0" smtClean="0"/>
              <a:t>Active</a:t>
            </a:r>
            <a:endParaRPr lang="en-GB" sz="2000" dirty="0"/>
          </a:p>
        </p:txBody>
      </p:sp>
      <p:sp>
        <p:nvSpPr>
          <p:cNvPr id="3" name="Verbindingslijn naar een andere pagina 2"/>
          <p:cNvSpPr/>
          <p:nvPr/>
        </p:nvSpPr>
        <p:spPr bwMode="auto">
          <a:xfrm>
            <a:off x="395420" y="4437140"/>
            <a:ext cx="1440199" cy="1224170"/>
          </a:xfrm>
          <a:prstGeom prst="flowChartOffpageConnector">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1600" dirty="0" smtClean="0">
                <a:solidFill>
                  <a:schemeClr val="tx1"/>
                </a:solidFill>
              </a:rPr>
              <a:t>Operations</a:t>
            </a:r>
            <a:endParaRPr kumimoji="0" lang="en-GB" sz="1600" b="0" i="0" u="none" strike="noStrike" cap="none" normalizeH="0" baseline="0" dirty="0" smtClean="0">
              <a:ln>
                <a:noFill/>
              </a:ln>
              <a:solidFill>
                <a:schemeClr val="tx1"/>
              </a:solidFill>
              <a:effectLst/>
            </a:endParaRPr>
          </a:p>
        </p:txBody>
      </p:sp>
      <p:cxnSp>
        <p:nvCxnSpPr>
          <p:cNvPr id="6" name="Rechte verbindingslijn met pijl 5"/>
          <p:cNvCxnSpPr/>
          <p:nvPr/>
        </p:nvCxnSpPr>
        <p:spPr bwMode="auto">
          <a:xfrm flipV="1">
            <a:off x="1115520" y="3789050"/>
            <a:ext cx="0" cy="648090"/>
          </a:xfrm>
          <a:prstGeom prst="straightConnector1">
            <a:avLst/>
          </a:prstGeom>
          <a:noFill/>
          <a:ln w="9525" cap="flat" cmpd="sng" algn="ctr">
            <a:solidFill>
              <a:schemeClr val="bg1">
                <a:lumMod val="50000"/>
              </a:schemeClr>
            </a:solidFill>
            <a:prstDash val="solid"/>
            <a:round/>
            <a:headEnd type="none" w="med" len="med"/>
            <a:tailEnd type="arrow"/>
          </a:ln>
          <a:effectLst/>
        </p:spPr>
      </p:cxnSp>
      <p:pic>
        <p:nvPicPr>
          <p:cNvPr id="2" name="Picture 1"/>
          <p:cNvPicPr>
            <a:picLocks noChangeAspect="1"/>
          </p:cNvPicPr>
          <p:nvPr/>
        </p:nvPicPr>
        <p:blipFill>
          <a:blip r:embed="rId2"/>
          <a:stretch>
            <a:fillRect/>
          </a:stretch>
        </p:blipFill>
        <p:spPr>
          <a:xfrm>
            <a:off x="5450544" y="1261181"/>
            <a:ext cx="574065" cy="676676"/>
          </a:xfrm>
          <a:prstGeom prst="rect">
            <a:avLst/>
          </a:prstGeom>
        </p:spPr>
      </p:pic>
    </p:spTree>
    <p:extLst>
      <p:ext uri="{BB962C8B-B14F-4D97-AF65-F5344CB8AC3E}">
        <p14:creationId xmlns:p14="http://schemas.microsoft.com/office/powerpoint/2010/main" val="16975075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4116775" y="6436428"/>
            <a:ext cx="449287" cy="451262"/>
          </a:xfrm>
        </p:spPr>
        <p:txBody>
          <a:bodyPr/>
          <a:lstStyle/>
          <a:p>
            <a:fld id="{A4D095F7-83A9-4B4F-983F-FBBDF20DF49D}" type="slidenum">
              <a:rPr lang="nl-NL" smtClean="0"/>
              <a:t>18</a:t>
            </a:fld>
            <a:endParaRPr lang="nl-NL" dirty="0"/>
          </a:p>
        </p:txBody>
      </p:sp>
      <p:sp>
        <p:nvSpPr>
          <p:cNvPr id="7"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Relationship Management</a:t>
            </a:r>
            <a:endParaRPr lang="en-US" sz="2000" dirty="0"/>
          </a:p>
        </p:txBody>
      </p:sp>
      <p:grpSp>
        <p:nvGrpSpPr>
          <p:cNvPr id="18" name="Group 17"/>
          <p:cNvGrpSpPr/>
          <p:nvPr/>
        </p:nvGrpSpPr>
        <p:grpSpPr>
          <a:xfrm>
            <a:off x="1007505" y="1340710"/>
            <a:ext cx="7128990" cy="4597960"/>
            <a:chOff x="179390" y="1340710"/>
            <a:chExt cx="7128990" cy="4597960"/>
          </a:xfrm>
        </p:grpSpPr>
        <p:sp>
          <p:nvSpPr>
            <p:cNvPr id="12" name="Rechthoek 11"/>
            <p:cNvSpPr/>
            <p:nvPr/>
          </p:nvSpPr>
          <p:spPr bwMode="auto">
            <a:xfrm>
              <a:off x="3059790" y="1916790"/>
              <a:ext cx="1368190" cy="86412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Account Manager</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Summary</a:t>
              </a:r>
              <a:endParaRPr kumimoji="0" lang="en-GB" sz="1200" b="0" i="0" u="none" strike="noStrike" cap="none" normalizeH="0" baseline="0" dirty="0" smtClean="0">
                <a:ln>
                  <a:noFill/>
                </a:ln>
                <a:solidFill>
                  <a:schemeClr val="tx1"/>
                </a:solidFill>
                <a:effectLst/>
              </a:endParaRPr>
            </a:p>
          </p:txBody>
        </p:sp>
        <p:sp>
          <p:nvSpPr>
            <p:cNvPr id="70" name="Rechthoek 69"/>
            <p:cNvSpPr/>
            <p:nvPr/>
          </p:nvSpPr>
          <p:spPr bwMode="auto">
            <a:xfrm>
              <a:off x="179390" y="3933070"/>
              <a:ext cx="2376330" cy="200560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KPI</a:t>
              </a:r>
              <a:r>
                <a:rPr kumimoji="0" lang="en-GB" sz="1400" b="0" i="0" u="none" strike="noStrike" cap="none" normalizeH="0" dirty="0" smtClean="0">
                  <a:ln>
                    <a:noFill/>
                  </a:ln>
                  <a:solidFill>
                    <a:schemeClr val="tx1"/>
                  </a:solidFill>
                  <a:effectLst/>
                </a:rPr>
                <a:t> Scoring</a:t>
              </a:r>
            </a:p>
            <a:p>
              <a:pPr marL="0" marR="0" indent="0" defTabSz="914400" rtl="0" eaLnBrk="1" fontAlgn="base" latinLnBrk="0" hangingPunct="1">
                <a:lnSpc>
                  <a:spcPct val="100000"/>
                </a:lnSpc>
                <a:spcBef>
                  <a:spcPct val="0"/>
                </a:spcBef>
                <a:spcAft>
                  <a:spcPct val="0"/>
                </a:spcAft>
                <a:buClrTx/>
                <a:buSzTx/>
                <a:buFontTx/>
                <a:buNone/>
                <a:tabLst/>
              </a:pPr>
              <a:r>
                <a:rPr lang="en-GB" sz="1400" baseline="0" dirty="0" smtClean="0">
                  <a:solidFill>
                    <a:schemeClr val="tx1"/>
                  </a:solidFill>
                </a:rPr>
                <a:t>Client </a:t>
              </a:r>
              <a:r>
                <a:rPr lang="en-GB" sz="1400" dirty="0" smtClean="0">
                  <a:solidFill>
                    <a:schemeClr val="tx1"/>
                  </a:solidFill>
                </a:rPr>
                <a:t>team</a:t>
              </a:r>
              <a:endParaRPr kumimoji="0" lang="en-GB" sz="1400" b="0" i="0" u="none" strike="noStrike" cap="none" normalizeH="0" baseline="0" dirty="0" smtClean="0">
                <a:ln>
                  <a:noFill/>
                </a:ln>
                <a:solidFill>
                  <a:schemeClr val="tx1"/>
                </a:solidFill>
                <a:effectLst/>
              </a:endParaRPr>
            </a:p>
          </p:txBody>
        </p:sp>
        <p:sp>
          <p:nvSpPr>
            <p:cNvPr id="6" name="Rechthoek 5"/>
            <p:cNvSpPr/>
            <p:nvPr/>
          </p:nvSpPr>
          <p:spPr bwMode="auto">
            <a:xfrm>
              <a:off x="179390" y="1340710"/>
              <a:ext cx="2376330" cy="200560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KPI</a:t>
              </a:r>
              <a:r>
                <a:rPr kumimoji="0" lang="en-GB" sz="1200" b="0" i="0" u="none" strike="noStrike" cap="none" normalizeH="0" dirty="0" smtClean="0">
                  <a:ln>
                    <a:noFill/>
                  </a:ln>
                  <a:solidFill>
                    <a:schemeClr val="tx1"/>
                  </a:solidFill>
                  <a:effectLst/>
                </a:rPr>
                <a:t> Scoring</a:t>
              </a:r>
            </a:p>
            <a:p>
              <a:pPr marL="0" marR="0" indent="0" defTabSz="914400" rtl="0" eaLnBrk="1" fontAlgn="base" latinLnBrk="0" hangingPunct="1">
                <a:lnSpc>
                  <a:spcPct val="100000"/>
                </a:lnSpc>
                <a:spcBef>
                  <a:spcPct val="0"/>
                </a:spcBef>
                <a:spcAft>
                  <a:spcPct val="0"/>
                </a:spcAft>
                <a:buClrTx/>
                <a:buSzTx/>
                <a:buFontTx/>
                <a:buNone/>
                <a:tabLst/>
              </a:pPr>
              <a:r>
                <a:rPr lang="en-GB" sz="1200" baseline="0" dirty="0" smtClean="0">
                  <a:solidFill>
                    <a:schemeClr val="tx1"/>
                  </a:solidFill>
                </a:rPr>
                <a:t>Delivery</a:t>
              </a:r>
              <a:r>
                <a:rPr lang="en-GB" sz="1200" dirty="0" smtClean="0">
                  <a:solidFill>
                    <a:schemeClr val="tx1"/>
                  </a:solidFill>
                </a:rPr>
                <a:t> team</a:t>
              </a:r>
              <a:endParaRPr kumimoji="0" lang="en-GB" sz="1200" b="0" i="0" u="none" strike="noStrike" cap="none" normalizeH="0" baseline="0" dirty="0" smtClean="0">
                <a:ln>
                  <a:noFill/>
                </a:ln>
                <a:solidFill>
                  <a:schemeClr val="tx1"/>
                </a:solidFill>
                <a:effectLst/>
              </a:endParaRPr>
            </a:p>
          </p:txBody>
        </p:sp>
        <p:sp>
          <p:nvSpPr>
            <p:cNvPr id="61" name="Rechthoek 60"/>
            <p:cNvSpPr/>
            <p:nvPr/>
          </p:nvSpPr>
          <p:spPr bwMode="auto">
            <a:xfrm>
              <a:off x="5580140" y="3429000"/>
              <a:ext cx="1728240" cy="57608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Management</a:t>
              </a:r>
              <a:endParaRPr kumimoji="0" lang="en-GB" sz="1200" b="0" i="0" u="none" strike="noStrike" cap="none" normalizeH="0" baseline="0" dirty="0" smtClean="0">
                <a:ln>
                  <a:noFill/>
                </a:ln>
                <a:solidFill>
                  <a:schemeClr val="tx1"/>
                </a:solidFill>
                <a:effectLst/>
              </a:endParaRPr>
            </a:p>
          </p:txBody>
        </p:sp>
        <p:pic>
          <p:nvPicPr>
            <p:cNvPr id="63" name="Picture 9"/>
            <p:cNvPicPr>
              <a:picLocks noChangeAspect="1" noChangeArrowheads="1"/>
            </p:cNvPicPr>
            <p:nvPr/>
          </p:nvPicPr>
          <p:blipFill>
            <a:blip r:embed="rId2" cstate="print"/>
            <a:srcRect/>
            <a:stretch>
              <a:fillRect/>
            </a:stretch>
          </p:blipFill>
          <p:spPr bwMode="auto">
            <a:xfrm>
              <a:off x="1665307" y="1409549"/>
              <a:ext cx="749297" cy="285749"/>
            </a:xfrm>
            <a:prstGeom prst="rect">
              <a:avLst/>
            </a:prstGeom>
            <a:noFill/>
            <a:ln w="9525">
              <a:noFill/>
              <a:miter lim="800000"/>
              <a:headEnd/>
              <a:tailEnd/>
            </a:ln>
          </p:spPr>
        </p:pic>
        <p:pic>
          <p:nvPicPr>
            <p:cNvPr id="64" name="Picture 9"/>
            <p:cNvPicPr>
              <a:picLocks noChangeAspect="1" noChangeArrowheads="1"/>
            </p:cNvPicPr>
            <p:nvPr/>
          </p:nvPicPr>
          <p:blipFill>
            <a:blip r:embed="rId2" cstate="print"/>
            <a:srcRect/>
            <a:stretch>
              <a:fillRect/>
            </a:stretch>
          </p:blipFill>
          <p:spPr bwMode="auto">
            <a:xfrm>
              <a:off x="1665307" y="2580500"/>
              <a:ext cx="749297" cy="285749"/>
            </a:xfrm>
            <a:prstGeom prst="rect">
              <a:avLst/>
            </a:prstGeom>
            <a:noFill/>
            <a:ln w="9525">
              <a:noFill/>
              <a:miter lim="800000"/>
              <a:headEnd/>
              <a:tailEnd/>
            </a:ln>
          </p:spPr>
        </p:pic>
        <p:pic>
          <p:nvPicPr>
            <p:cNvPr id="65" name="Picture 9"/>
            <p:cNvPicPr>
              <a:picLocks noChangeAspect="1" noChangeArrowheads="1"/>
            </p:cNvPicPr>
            <p:nvPr/>
          </p:nvPicPr>
          <p:blipFill>
            <a:blip r:embed="rId2" cstate="print"/>
            <a:srcRect/>
            <a:stretch>
              <a:fillRect/>
            </a:stretch>
          </p:blipFill>
          <p:spPr bwMode="auto">
            <a:xfrm>
              <a:off x="1665307" y="2191771"/>
              <a:ext cx="749297" cy="285749"/>
            </a:xfrm>
            <a:prstGeom prst="rect">
              <a:avLst/>
            </a:prstGeom>
            <a:noFill/>
            <a:ln w="9525">
              <a:noFill/>
              <a:miter lim="800000"/>
              <a:headEnd/>
              <a:tailEnd/>
            </a:ln>
          </p:spPr>
        </p:pic>
        <p:pic>
          <p:nvPicPr>
            <p:cNvPr id="68" name="Picture 10"/>
            <p:cNvPicPr>
              <a:picLocks noChangeAspect="1" noChangeArrowheads="1"/>
            </p:cNvPicPr>
            <p:nvPr/>
          </p:nvPicPr>
          <p:blipFill>
            <a:blip r:embed="rId3" cstate="print"/>
            <a:srcRect/>
            <a:stretch>
              <a:fillRect/>
            </a:stretch>
          </p:blipFill>
          <p:spPr bwMode="auto">
            <a:xfrm>
              <a:off x="1670498" y="1798278"/>
              <a:ext cx="738914" cy="290513"/>
            </a:xfrm>
            <a:prstGeom prst="rect">
              <a:avLst/>
            </a:prstGeom>
            <a:noFill/>
            <a:ln w="9525">
              <a:noFill/>
              <a:miter lim="800000"/>
              <a:headEnd/>
              <a:tailEnd/>
            </a:ln>
          </p:spPr>
        </p:pic>
        <p:pic>
          <p:nvPicPr>
            <p:cNvPr id="69" name="Picture 10"/>
            <p:cNvPicPr>
              <a:picLocks noChangeAspect="1" noChangeArrowheads="1"/>
            </p:cNvPicPr>
            <p:nvPr/>
          </p:nvPicPr>
          <p:blipFill>
            <a:blip r:embed="rId3" cstate="print"/>
            <a:srcRect/>
            <a:stretch>
              <a:fillRect/>
            </a:stretch>
          </p:blipFill>
          <p:spPr bwMode="auto">
            <a:xfrm>
              <a:off x="1670498" y="2969229"/>
              <a:ext cx="738914" cy="290513"/>
            </a:xfrm>
            <a:prstGeom prst="rect">
              <a:avLst/>
            </a:prstGeom>
            <a:noFill/>
            <a:ln w="9525">
              <a:noFill/>
              <a:miter lim="800000"/>
              <a:headEnd/>
              <a:tailEnd/>
            </a:ln>
          </p:spPr>
        </p:pic>
        <p:pic>
          <p:nvPicPr>
            <p:cNvPr id="72" name="Picture 2"/>
            <p:cNvPicPr>
              <a:picLocks noChangeAspect="1" noChangeArrowheads="1"/>
            </p:cNvPicPr>
            <p:nvPr/>
          </p:nvPicPr>
          <p:blipFill>
            <a:blip r:embed="rId4" cstate="print"/>
            <a:srcRect/>
            <a:stretch>
              <a:fillRect/>
            </a:stretch>
          </p:blipFill>
          <p:spPr bwMode="auto">
            <a:xfrm>
              <a:off x="4067930" y="4725180"/>
              <a:ext cx="357190" cy="408217"/>
            </a:xfrm>
            <a:prstGeom prst="rect">
              <a:avLst/>
            </a:prstGeom>
            <a:noFill/>
            <a:ln w="9525">
              <a:noFill/>
              <a:miter lim="800000"/>
              <a:headEnd/>
              <a:tailEnd/>
            </a:ln>
          </p:spPr>
        </p:pic>
        <p:sp>
          <p:nvSpPr>
            <p:cNvPr id="74" name="Rechthoek 73"/>
            <p:cNvSpPr/>
            <p:nvPr/>
          </p:nvSpPr>
          <p:spPr bwMode="auto">
            <a:xfrm>
              <a:off x="3059790" y="4509150"/>
              <a:ext cx="1368190" cy="864120"/>
            </a:xfrm>
            <a:prstGeom prst="rect">
              <a:avLst/>
            </a:prstGeom>
            <a:ln>
              <a:solidFill>
                <a:schemeClr val="bg1">
                  <a:lumMod val="50000"/>
                </a:schemeClr>
              </a:solidFill>
              <a:headEnd type="none" w="med" len="med"/>
              <a:tailEnd type="none" w="med" len="med"/>
            </a:ln>
            <a:effectLst>
              <a:innerShdw blurRad="63500" dist="50800" dir="162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Contract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1"/>
                  </a:solidFill>
                  <a:effectLst/>
                </a:rPr>
                <a:t>Manager   </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Summary</a:t>
              </a:r>
              <a:endParaRPr kumimoji="0" lang="en-GB" sz="1200" b="0" i="0" u="none" strike="noStrike" cap="none" normalizeH="0" baseline="0" dirty="0" smtClean="0">
                <a:ln>
                  <a:noFill/>
                </a:ln>
                <a:solidFill>
                  <a:schemeClr val="tx1"/>
                </a:solidFill>
                <a:effectLst/>
              </a:endParaRPr>
            </a:p>
          </p:txBody>
        </p:sp>
        <p:cxnSp>
          <p:nvCxnSpPr>
            <p:cNvPr id="14" name="Rechte verbindingslijn met pijl 13"/>
            <p:cNvCxnSpPr>
              <a:stCxn id="6" idx="3"/>
              <a:endCxn id="12" idx="1"/>
            </p:cNvCxnSpPr>
            <p:nvPr/>
          </p:nvCxnSpPr>
          <p:spPr bwMode="auto">
            <a:xfrm>
              <a:off x="2555720" y="2343510"/>
              <a:ext cx="504070" cy="534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16" name="Rechte verbindingslijn met pijl 15"/>
            <p:cNvCxnSpPr>
              <a:stCxn id="70" idx="3"/>
              <a:endCxn id="74" idx="1"/>
            </p:cNvCxnSpPr>
            <p:nvPr/>
          </p:nvCxnSpPr>
          <p:spPr bwMode="auto">
            <a:xfrm>
              <a:off x="2555720" y="4935870"/>
              <a:ext cx="504070" cy="534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22" name="Rechte verbindingslijn met pijl 21"/>
            <p:cNvCxnSpPr>
              <a:stCxn id="12" idx="3"/>
              <a:endCxn id="61" idx="1"/>
            </p:cNvCxnSpPr>
            <p:nvPr/>
          </p:nvCxnSpPr>
          <p:spPr bwMode="auto">
            <a:xfrm>
              <a:off x="4427980" y="2348850"/>
              <a:ext cx="1152160" cy="1368190"/>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cxnSp>
          <p:nvCxnSpPr>
            <p:cNvPr id="24" name="Rechte verbindingslijn met pijl 23"/>
            <p:cNvCxnSpPr>
              <a:stCxn id="72" idx="3"/>
              <a:endCxn id="61" idx="1"/>
            </p:cNvCxnSpPr>
            <p:nvPr/>
          </p:nvCxnSpPr>
          <p:spPr bwMode="auto">
            <a:xfrm flipV="1">
              <a:off x="4425120" y="3717040"/>
              <a:ext cx="1155020" cy="1212249"/>
            </a:xfrm>
            <a:prstGeom prst="straightConnector1">
              <a:avLst/>
            </a:prstGeom>
            <a:noFill/>
            <a:ln w="9525" cap="flat" cmpd="sng" algn="ctr">
              <a:solidFill>
                <a:schemeClr val="bg1">
                  <a:lumMod val="50000"/>
                </a:schemeClr>
              </a:solidFill>
              <a:prstDash val="solid"/>
              <a:round/>
              <a:headEnd type="none" w="med" len="med"/>
              <a:tailEnd type="arrow"/>
            </a:ln>
            <a:effectLst>
              <a:innerShdw blurRad="63500" dist="50800" dir="16200000">
                <a:prstClr val="black">
                  <a:alpha val="50000"/>
                </a:prstClr>
              </a:innerShdw>
            </a:effectLst>
          </p:spPr>
        </p:cxnSp>
        <p:sp>
          <p:nvSpPr>
            <p:cNvPr id="33" name="Ring 32"/>
            <p:cNvSpPr/>
            <p:nvPr/>
          </p:nvSpPr>
          <p:spPr bwMode="auto">
            <a:xfrm>
              <a:off x="2987780" y="2924930"/>
              <a:ext cx="1512210" cy="1440200"/>
            </a:xfrm>
            <a:prstGeom prst="donu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smtClean="0">
                  <a:ln>
                    <a:noFill/>
                  </a:ln>
                  <a:solidFill>
                    <a:schemeClr val="tx2"/>
                  </a:solidFill>
                  <a:effectLst/>
                </a:rPr>
                <a:t>Control</a:t>
              </a:r>
            </a:p>
            <a:p>
              <a:pPr marL="0" marR="0" indent="0" algn="ctr" defTabSz="914400" rtl="0" eaLnBrk="1" fontAlgn="base" latinLnBrk="0" hangingPunct="1">
                <a:lnSpc>
                  <a:spcPct val="100000"/>
                </a:lnSpc>
                <a:spcBef>
                  <a:spcPct val="0"/>
                </a:spcBef>
                <a:spcAft>
                  <a:spcPct val="0"/>
                </a:spcAft>
                <a:buClrTx/>
                <a:buSzTx/>
                <a:buFontTx/>
                <a:buNone/>
                <a:tabLst/>
              </a:pPr>
              <a:r>
                <a:rPr lang="en-GB" sz="1200" dirty="0" smtClean="0">
                  <a:solidFill>
                    <a:schemeClr val="tx1"/>
                  </a:solidFill>
                </a:rPr>
                <a:t>Cycle</a:t>
              </a:r>
              <a:endParaRPr kumimoji="0" lang="en-GB" sz="1200" b="0" i="0" u="none" strike="noStrike" cap="none" normalizeH="0" baseline="0" dirty="0" smtClean="0">
                <a:ln>
                  <a:noFill/>
                </a:ln>
                <a:solidFill>
                  <a:schemeClr val="tx1"/>
                </a:solidFill>
                <a:effectLst/>
              </a:endParaRPr>
            </a:p>
          </p:txBody>
        </p:sp>
        <p:pic>
          <p:nvPicPr>
            <p:cNvPr id="9" name="Picture 8"/>
            <p:cNvPicPr>
              <a:picLocks noChangeAspect="1"/>
            </p:cNvPicPr>
            <p:nvPr/>
          </p:nvPicPr>
          <p:blipFill>
            <a:blip r:embed="rId5"/>
            <a:stretch>
              <a:fillRect/>
            </a:stretch>
          </p:blipFill>
          <p:spPr>
            <a:xfrm flipH="1">
              <a:off x="4211950" y="4726067"/>
              <a:ext cx="152048" cy="433845"/>
            </a:xfrm>
            <a:prstGeom prst="rect">
              <a:avLst/>
            </a:prstGeom>
          </p:spPr>
        </p:pic>
        <p:pic>
          <p:nvPicPr>
            <p:cNvPr id="10" name="Picture 9"/>
            <p:cNvPicPr>
              <a:picLocks noChangeAspect="1"/>
            </p:cNvPicPr>
            <p:nvPr/>
          </p:nvPicPr>
          <p:blipFill>
            <a:blip r:embed="rId6"/>
            <a:stretch>
              <a:fillRect/>
            </a:stretch>
          </p:blipFill>
          <p:spPr>
            <a:xfrm flipH="1">
              <a:off x="4211950" y="2163923"/>
              <a:ext cx="156103" cy="443982"/>
            </a:xfrm>
            <a:prstGeom prst="rect">
              <a:avLst/>
            </a:prstGeom>
          </p:spPr>
        </p:pic>
        <p:pic>
          <p:nvPicPr>
            <p:cNvPr id="11" name="Picture 10"/>
            <p:cNvPicPr>
              <a:picLocks noChangeAspect="1"/>
            </p:cNvPicPr>
            <p:nvPr/>
          </p:nvPicPr>
          <p:blipFill>
            <a:blip r:embed="rId7"/>
            <a:stretch>
              <a:fillRect/>
            </a:stretch>
          </p:blipFill>
          <p:spPr>
            <a:xfrm flipH="1">
              <a:off x="7084305" y="3497076"/>
              <a:ext cx="162185" cy="439927"/>
            </a:xfrm>
            <a:prstGeom prst="rect">
              <a:avLst/>
            </a:prstGeom>
          </p:spPr>
        </p:pic>
        <p:pic>
          <p:nvPicPr>
            <p:cNvPr id="38" name="Picture 9"/>
            <p:cNvPicPr>
              <a:picLocks noChangeAspect="1" noChangeArrowheads="1"/>
            </p:cNvPicPr>
            <p:nvPr/>
          </p:nvPicPr>
          <p:blipFill>
            <a:blip r:embed="rId2" cstate="print"/>
            <a:srcRect/>
            <a:stretch>
              <a:fillRect/>
            </a:stretch>
          </p:blipFill>
          <p:spPr bwMode="auto">
            <a:xfrm>
              <a:off x="1635806" y="3975164"/>
              <a:ext cx="749297" cy="285749"/>
            </a:xfrm>
            <a:prstGeom prst="rect">
              <a:avLst/>
            </a:prstGeom>
            <a:noFill/>
            <a:ln w="9525">
              <a:noFill/>
              <a:miter lim="800000"/>
              <a:headEnd/>
              <a:tailEnd/>
            </a:ln>
          </p:spPr>
        </p:pic>
        <p:pic>
          <p:nvPicPr>
            <p:cNvPr id="40" name="Picture 9"/>
            <p:cNvPicPr>
              <a:picLocks noChangeAspect="1" noChangeArrowheads="1"/>
            </p:cNvPicPr>
            <p:nvPr/>
          </p:nvPicPr>
          <p:blipFill>
            <a:blip r:embed="rId2" cstate="print"/>
            <a:srcRect/>
            <a:stretch>
              <a:fillRect/>
            </a:stretch>
          </p:blipFill>
          <p:spPr bwMode="auto">
            <a:xfrm>
              <a:off x="1635806" y="5146115"/>
              <a:ext cx="749297" cy="285749"/>
            </a:xfrm>
            <a:prstGeom prst="rect">
              <a:avLst/>
            </a:prstGeom>
            <a:noFill/>
            <a:ln w="9525">
              <a:noFill/>
              <a:miter lim="800000"/>
              <a:headEnd/>
              <a:tailEnd/>
            </a:ln>
          </p:spPr>
        </p:pic>
        <p:pic>
          <p:nvPicPr>
            <p:cNvPr id="42" name="Picture 9"/>
            <p:cNvPicPr>
              <a:picLocks noChangeAspect="1" noChangeArrowheads="1"/>
            </p:cNvPicPr>
            <p:nvPr/>
          </p:nvPicPr>
          <p:blipFill>
            <a:blip r:embed="rId2" cstate="print"/>
            <a:srcRect/>
            <a:stretch>
              <a:fillRect/>
            </a:stretch>
          </p:blipFill>
          <p:spPr bwMode="auto">
            <a:xfrm>
              <a:off x="1635806" y="4757386"/>
              <a:ext cx="749297" cy="285749"/>
            </a:xfrm>
            <a:prstGeom prst="rect">
              <a:avLst/>
            </a:prstGeom>
            <a:noFill/>
            <a:ln w="9525">
              <a:noFill/>
              <a:miter lim="800000"/>
              <a:headEnd/>
              <a:tailEnd/>
            </a:ln>
          </p:spPr>
        </p:pic>
        <p:pic>
          <p:nvPicPr>
            <p:cNvPr id="43" name="Picture 10"/>
            <p:cNvPicPr>
              <a:picLocks noChangeAspect="1" noChangeArrowheads="1"/>
            </p:cNvPicPr>
            <p:nvPr/>
          </p:nvPicPr>
          <p:blipFill>
            <a:blip r:embed="rId3" cstate="print"/>
            <a:srcRect/>
            <a:stretch>
              <a:fillRect/>
            </a:stretch>
          </p:blipFill>
          <p:spPr bwMode="auto">
            <a:xfrm>
              <a:off x="1640997" y="4363893"/>
              <a:ext cx="738914" cy="290513"/>
            </a:xfrm>
            <a:prstGeom prst="rect">
              <a:avLst/>
            </a:prstGeom>
            <a:noFill/>
            <a:ln w="9525">
              <a:noFill/>
              <a:miter lim="800000"/>
              <a:headEnd/>
              <a:tailEnd/>
            </a:ln>
          </p:spPr>
        </p:pic>
        <p:pic>
          <p:nvPicPr>
            <p:cNvPr id="44" name="Picture 10"/>
            <p:cNvPicPr>
              <a:picLocks noChangeAspect="1" noChangeArrowheads="1"/>
            </p:cNvPicPr>
            <p:nvPr/>
          </p:nvPicPr>
          <p:blipFill>
            <a:blip r:embed="rId3" cstate="print"/>
            <a:srcRect/>
            <a:stretch>
              <a:fillRect/>
            </a:stretch>
          </p:blipFill>
          <p:spPr bwMode="auto">
            <a:xfrm>
              <a:off x="1640997" y="5534844"/>
              <a:ext cx="738914" cy="290513"/>
            </a:xfrm>
            <a:prstGeom prst="rect">
              <a:avLst/>
            </a:prstGeom>
            <a:noFill/>
            <a:ln w="9525">
              <a:noFill/>
              <a:miter lim="800000"/>
              <a:headEnd/>
              <a:tailEnd/>
            </a:ln>
          </p:spPr>
        </p:pic>
      </p:grpSp>
    </p:spTree>
    <p:extLst>
      <p:ext uri="{BB962C8B-B14F-4D97-AF65-F5344CB8AC3E}">
        <p14:creationId xmlns:p14="http://schemas.microsoft.com/office/powerpoint/2010/main" val="4790483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4294967295"/>
          </p:nvPr>
        </p:nvSpPr>
        <p:spPr>
          <a:xfrm>
            <a:off x="3684715" y="6436428"/>
            <a:ext cx="449287" cy="451262"/>
          </a:xfrm>
        </p:spPr>
        <p:txBody>
          <a:bodyPr/>
          <a:lstStyle/>
          <a:p>
            <a:fld id="{A4D095F7-83A9-4B4F-983F-FBBDF20DF49D}" type="slidenum">
              <a:rPr lang="nl-NL" smtClean="0"/>
              <a:t>19</a:t>
            </a:fld>
            <a:endParaRPr lang="nl-NL" dirty="0"/>
          </a:p>
        </p:txBody>
      </p:sp>
      <p:sp>
        <p:nvSpPr>
          <p:cNvPr id="7" name="Titel 2"/>
          <p:cNvSpPr txBox="1">
            <a:spLocks/>
          </p:cNvSpPr>
          <p:nvPr/>
        </p:nvSpPr>
        <p:spPr bwMode="auto">
          <a:xfrm>
            <a:off x="237507" y="90489"/>
            <a:ext cx="8443356" cy="7882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a:lstStyle>
          <a:p>
            <a:r>
              <a:rPr lang="en-US" dirty="0" smtClean="0"/>
              <a:t>Improvement Management</a:t>
            </a:r>
            <a:endParaRPr lang="en-US" sz="2000" dirty="0"/>
          </a:p>
        </p:txBody>
      </p:sp>
      <p:sp>
        <p:nvSpPr>
          <p:cNvPr id="11" name="Rechthoek 10"/>
          <p:cNvSpPr/>
          <p:nvPr/>
        </p:nvSpPr>
        <p:spPr bwMode="auto">
          <a:xfrm>
            <a:off x="683460" y="12686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10" name="Rechthoek 9"/>
          <p:cNvSpPr/>
          <p:nvPr/>
        </p:nvSpPr>
        <p:spPr bwMode="auto">
          <a:xfrm>
            <a:off x="539440" y="141271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9" name="Rechthoek 8"/>
          <p:cNvSpPr/>
          <p:nvPr/>
        </p:nvSpPr>
        <p:spPr bwMode="auto">
          <a:xfrm>
            <a:off x="395420" y="15567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 name="Rechthoek 7"/>
          <p:cNvSpPr/>
          <p:nvPr/>
        </p:nvSpPr>
        <p:spPr bwMode="auto">
          <a:xfrm>
            <a:off x="251400" y="17007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Commitment</a:t>
            </a:r>
          </a:p>
        </p:txBody>
      </p:sp>
      <p:sp>
        <p:nvSpPr>
          <p:cNvPr id="40" name="Rechthoek 39"/>
          <p:cNvSpPr/>
          <p:nvPr/>
        </p:nvSpPr>
        <p:spPr bwMode="auto">
          <a:xfrm>
            <a:off x="683460" y="48691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2" name="Rechthoek 41"/>
          <p:cNvSpPr/>
          <p:nvPr/>
        </p:nvSpPr>
        <p:spPr bwMode="auto">
          <a:xfrm>
            <a:off x="539440" y="501321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3" name="Rechthoek 42"/>
          <p:cNvSpPr/>
          <p:nvPr/>
        </p:nvSpPr>
        <p:spPr bwMode="auto">
          <a:xfrm>
            <a:off x="395420" y="51572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4" name="Rechthoek 43"/>
          <p:cNvSpPr/>
          <p:nvPr/>
        </p:nvSpPr>
        <p:spPr bwMode="auto">
          <a:xfrm>
            <a:off x="251400" y="53012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GB" sz="1400" dirty="0">
                <a:solidFill>
                  <a:schemeClr val="tx1"/>
                </a:solidFill>
              </a:rPr>
              <a:t>Improvement</a:t>
            </a:r>
          </a:p>
          <a:p>
            <a:pPr algn="ctr"/>
            <a:r>
              <a:rPr lang="en-GB" sz="1400" dirty="0">
                <a:solidFill>
                  <a:schemeClr val="tx1"/>
                </a:solidFill>
              </a:rPr>
              <a:t>Actions</a:t>
            </a:r>
          </a:p>
        </p:txBody>
      </p:sp>
      <p:sp>
        <p:nvSpPr>
          <p:cNvPr id="48" name="Rechthoek 47"/>
          <p:cNvSpPr/>
          <p:nvPr/>
        </p:nvSpPr>
        <p:spPr bwMode="auto">
          <a:xfrm>
            <a:off x="683460" y="249286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49" name="Rechthoek 48"/>
          <p:cNvSpPr/>
          <p:nvPr/>
        </p:nvSpPr>
        <p:spPr bwMode="auto">
          <a:xfrm>
            <a:off x="539440" y="263688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0" name="Rechthoek 49"/>
          <p:cNvSpPr/>
          <p:nvPr/>
        </p:nvSpPr>
        <p:spPr bwMode="auto">
          <a:xfrm>
            <a:off x="395420" y="278090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1" name="Rechthoek 50"/>
          <p:cNvSpPr/>
          <p:nvPr/>
        </p:nvSpPr>
        <p:spPr bwMode="auto">
          <a:xfrm>
            <a:off x="251400" y="292492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Relationship</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KPI’s</a:t>
            </a:r>
            <a:endParaRPr kumimoji="0" lang="en-GB" sz="1400" b="0" i="0" u="none" strike="noStrike" cap="none" normalizeH="0" baseline="0" dirty="0" smtClean="0">
              <a:ln>
                <a:noFill/>
              </a:ln>
              <a:solidFill>
                <a:schemeClr val="tx1"/>
              </a:solidFill>
              <a:effectLst/>
            </a:endParaRPr>
          </a:p>
        </p:txBody>
      </p:sp>
      <p:cxnSp>
        <p:nvCxnSpPr>
          <p:cNvPr id="4" name="Gebogen verbindingslijn 3"/>
          <p:cNvCxnSpPr>
            <a:stCxn id="11" idx="3"/>
            <a:endCxn id="37" idx="1"/>
          </p:cNvCxnSpPr>
          <p:nvPr/>
        </p:nvCxnSpPr>
        <p:spPr bwMode="auto">
          <a:xfrm>
            <a:off x="2411700" y="1556739"/>
            <a:ext cx="1008140" cy="720100"/>
          </a:xfrm>
          <a:prstGeom prst="bentConnector3">
            <a:avLst/>
          </a:prstGeom>
          <a:noFill/>
          <a:ln w="9525" cap="flat" cmpd="sng" algn="ctr">
            <a:solidFill>
              <a:schemeClr val="bg1">
                <a:lumMod val="50000"/>
              </a:schemeClr>
            </a:solidFill>
            <a:prstDash val="solid"/>
            <a:round/>
            <a:headEnd type="none" w="med" len="med"/>
            <a:tailEnd type="arrow"/>
          </a:ln>
          <a:effectLst/>
        </p:spPr>
      </p:cxnSp>
      <p:sp>
        <p:nvSpPr>
          <p:cNvPr id="58" name="Rechthoek 57"/>
          <p:cNvSpPr/>
          <p:nvPr/>
        </p:nvSpPr>
        <p:spPr bwMode="auto">
          <a:xfrm>
            <a:off x="7308380" y="299694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59" name="Rechthoek 58"/>
          <p:cNvSpPr/>
          <p:nvPr/>
        </p:nvSpPr>
        <p:spPr bwMode="auto">
          <a:xfrm>
            <a:off x="7164360" y="314096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60" name="Rechthoek 59"/>
          <p:cNvSpPr/>
          <p:nvPr/>
        </p:nvSpPr>
        <p:spPr bwMode="auto">
          <a:xfrm>
            <a:off x="7020340" y="328498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61" name="Rechthoek 60"/>
          <p:cNvSpPr/>
          <p:nvPr/>
        </p:nvSpPr>
        <p:spPr bwMode="auto">
          <a:xfrm>
            <a:off x="6876320" y="3429000"/>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Improvement</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Actions</a:t>
            </a:r>
            <a:endParaRPr kumimoji="0" lang="en-GB" sz="1400" b="0" i="0" u="none" strike="noStrike" cap="none" normalizeH="0" baseline="0" dirty="0" smtClean="0">
              <a:ln>
                <a:noFill/>
              </a:ln>
              <a:solidFill>
                <a:schemeClr val="tx1"/>
              </a:solidFill>
              <a:effectLst/>
            </a:endParaRPr>
          </a:p>
        </p:txBody>
      </p:sp>
      <p:sp>
        <p:nvSpPr>
          <p:cNvPr id="67" name="Tekstvak 66"/>
          <p:cNvSpPr txBox="1"/>
          <p:nvPr/>
        </p:nvSpPr>
        <p:spPr>
          <a:xfrm>
            <a:off x="6074824" y="3501010"/>
            <a:ext cx="775924" cy="430887"/>
          </a:xfrm>
          <a:prstGeom prst="rect">
            <a:avLst/>
          </a:prstGeom>
          <a:noFill/>
          <a:ln>
            <a:noFill/>
          </a:ln>
        </p:spPr>
        <p:txBody>
          <a:bodyPr wrap="none" rtlCol="0">
            <a:spAutoFit/>
          </a:bodyPr>
          <a:lstStyle/>
          <a:p>
            <a:pPr algn="ctr"/>
            <a:r>
              <a:rPr lang="en-GB" sz="1100" dirty="0" smtClean="0">
                <a:solidFill>
                  <a:schemeClr val="tx1"/>
                </a:solidFill>
              </a:rPr>
              <a:t>New</a:t>
            </a:r>
          </a:p>
          <a:p>
            <a:pPr algn="ctr"/>
            <a:r>
              <a:rPr lang="en-GB" sz="1100" dirty="0" smtClean="0">
                <a:solidFill>
                  <a:schemeClr val="tx1"/>
                </a:solidFill>
              </a:rPr>
              <a:t>Updated</a:t>
            </a:r>
            <a:endParaRPr lang="en-GB" sz="1100" dirty="0">
              <a:solidFill>
                <a:schemeClr val="tx1"/>
              </a:solidFill>
            </a:endParaRPr>
          </a:p>
        </p:txBody>
      </p:sp>
      <p:cxnSp>
        <p:nvCxnSpPr>
          <p:cNvPr id="6" name="Gebogen verbindingslijn 5"/>
          <p:cNvCxnSpPr>
            <a:stCxn id="61" idx="2"/>
            <a:endCxn id="44" idx="2"/>
          </p:cNvCxnSpPr>
          <p:nvPr/>
        </p:nvCxnSpPr>
        <p:spPr bwMode="auto">
          <a:xfrm rot="5400000">
            <a:off x="3491851" y="1628749"/>
            <a:ext cx="1872259" cy="6624920"/>
          </a:xfrm>
          <a:prstGeom prst="bentConnector3">
            <a:avLst>
              <a:gd name="adj1" fmla="val 112210"/>
            </a:avLst>
          </a:prstGeom>
          <a:noFill/>
          <a:ln w="9525" cap="flat" cmpd="sng" algn="ctr">
            <a:solidFill>
              <a:schemeClr val="bg1">
                <a:lumMod val="50000"/>
              </a:schemeClr>
            </a:solidFill>
            <a:prstDash val="solid"/>
            <a:round/>
            <a:headEnd type="none" w="med" len="med"/>
            <a:tailEnd type="arrow"/>
          </a:ln>
          <a:effectLst/>
        </p:spPr>
      </p:cxnSp>
      <p:sp>
        <p:nvSpPr>
          <p:cNvPr id="37" name="Rechthoek 36"/>
          <p:cNvSpPr/>
          <p:nvPr/>
        </p:nvSpPr>
        <p:spPr bwMode="auto">
          <a:xfrm>
            <a:off x="3419840" y="19887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A</a:t>
            </a:r>
            <a:endParaRPr kumimoji="0" lang="en-GB" sz="1400" b="0" i="0" u="none" strike="noStrike" cap="none" normalizeH="0" baseline="0" dirty="0" smtClean="0">
              <a:ln>
                <a:noFill/>
              </a:ln>
              <a:solidFill>
                <a:schemeClr val="tx1"/>
              </a:solidFill>
              <a:effectLst/>
            </a:endParaRPr>
          </a:p>
        </p:txBody>
      </p:sp>
      <p:sp>
        <p:nvSpPr>
          <p:cNvPr id="39" name="Rechthoek 38"/>
          <p:cNvSpPr/>
          <p:nvPr/>
        </p:nvSpPr>
        <p:spPr bwMode="auto">
          <a:xfrm>
            <a:off x="3419840" y="27088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B</a:t>
            </a:r>
            <a:endParaRPr kumimoji="0" lang="en-GB" sz="1400" b="0" i="0" u="none" strike="noStrike" cap="none" normalizeH="0" baseline="0" dirty="0" smtClean="0">
              <a:ln>
                <a:noFill/>
              </a:ln>
              <a:solidFill>
                <a:schemeClr val="tx1"/>
              </a:solidFill>
              <a:effectLst/>
            </a:endParaRPr>
          </a:p>
        </p:txBody>
      </p:sp>
      <p:sp>
        <p:nvSpPr>
          <p:cNvPr id="41" name="Rechthoek 40"/>
          <p:cNvSpPr/>
          <p:nvPr/>
        </p:nvSpPr>
        <p:spPr bwMode="auto">
          <a:xfrm>
            <a:off x="3419840" y="34289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C</a:t>
            </a:r>
            <a:endParaRPr kumimoji="0" lang="en-GB" sz="1400" b="0" i="0" u="none" strike="noStrike" cap="none" normalizeH="0" baseline="0" dirty="0" smtClean="0">
              <a:ln>
                <a:noFill/>
              </a:ln>
              <a:solidFill>
                <a:schemeClr val="tx1"/>
              </a:solidFill>
              <a:effectLst/>
            </a:endParaRPr>
          </a:p>
        </p:txBody>
      </p:sp>
      <p:sp>
        <p:nvSpPr>
          <p:cNvPr id="55" name="Rechthoek 54"/>
          <p:cNvSpPr/>
          <p:nvPr/>
        </p:nvSpPr>
        <p:spPr bwMode="auto">
          <a:xfrm>
            <a:off x="3419840" y="41490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D</a:t>
            </a:r>
            <a:endParaRPr kumimoji="0" lang="en-GB" sz="1400" b="0" i="0" u="none" strike="noStrike" cap="none" normalizeH="0" baseline="0" dirty="0" smtClean="0">
              <a:ln>
                <a:noFill/>
              </a:ln>
              <a:solidFill>
                <a:schemeClr val="tx1"/>
              </a:solidFill>
              <a:effectLst/>
            </a:endParaRPr>
          </a:p>
        </p:txBody>
      </p:sp>
      <p:sp>
        <p:nvSpPr>
          <p:cNvPr id="56" name="Rechthoek 55"/>
          <p:cNvSpPr/>
          <p:nvPr/>
        </p:nvSpPr>
        <p:spPr bwMode="auto">
          <a:xfrm>
            <a:off x="3419840" y="4869199"/>
            <a:ext cx="201628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Governance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Team E</a:t>
            </a:r>
            <a:endParaRPr kumimoji="0" lang="en-GB" sz="1400" b="0" i="0" u="none" strike="noStrike" cap="none" normalizeH="0" baseline="0" dirty="0" smtClean="0">
              <a:ln>
                <a:noFill/>
              </a:ln>
              <a:solidFill>
                <a:schemeClr val="tx1"/>
              </a:solidFill>
              <a:effectLst/>
            </a:endParaRPr>
          </a:p>
        </p:txBody>
      </p:sp>
      <p:sp>
        <p:nvSpPr>
          <p:cNvPr id="79" name="Rechthoek 78"/>
          <p:cNvSpPr/>
          <p:nvPr/>
        </p:nvSpPr>
        <p:spPr bwMode="auto">
          <a:xfrm>
            <a:off x="683460" y="371703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0" name="Rechthoek 79"/>
          <p:cNvSpPr/>
          <p:nvPr/>
        </p:nvSpPr>
        <p:spPr bwMode="auto">
          <a:xfrm>
            <a:off x="539440" y="386105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1" name="Rechthoek 80"/>
          <p:cNvSpPr/>
          <p:nvPr/>
        </p:nvSpPr>
        <p:spPr bwMode="auto">
          <a:xfrm>
            <a:off x="395420" y="400507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dirty="0" smtClean="0">
              <a:ln>
                <a:noFill/>
              </a:ln>
              <a:solidFill>
                <a:schemeClr val="tx1"/>
              </a:solidFill>
              <a:effectLst/>
            </a:endParaRPr>
          </a:p>
        </p:txBody>
      </p:sp>
      <p:sp>
        <p:nvSpPr>
          <p:cNvPr id="82" name="Rechthoek 81"/>
          <p:cNvSpPr/>
          <p:nvPr/>
        </p:nvSpPr>
        <p:spPr bwMode="auto">
          <a:xfrm>
            <a:off x="251400" y="4149099"/>
            <a:ext cx="1728240" cy="576080"/>
          </a:xfrm>
          <a:prstGeom prst="rect">
            <a:avLst/>
          </a:prstGeom>
          <a:ln>
            <a:solidFill>
              <a:schemeClr val="bg1">
                <a:lumMod val="50000"/>
              </a:schemeClr>
            </a:solidFill>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rPr>
              <a:t>Service</a:t>
            </a:r>
          </a:p>
          <a:p>
            <a:pPr marL="0" marR="0" indent="0" algn="ctr" defTabSz="914400" rtl="0" eaLnBrk="1" fontAlgn="base" latinLnBrk="0" hangingPunct="1">
              <a:lnSpc>
                <a:spcPct val="100000"/>
              </a:lnSpc>
              <a:spcBef>
                <a:spcPct val="0"/>
              </a:spcBef>
              <a:spcAft>
                <a:spcPct val="0"/>
              </a:spcAft>
              <a:buClrTx/>
              <a:buSzTx/>
              <a:buFontTx/>
              <a:buNone/>
              <a:tabLst/>
            </a:pPr>
            <a:r>
              <a:rPr lang="en-GB" sz="1400" dirty="0" smtClean="0">
                <a:solidFill>
                  <a:schemeClr val="tx1"/>
                </a:solidFill>
              </a:rPr>
              <a:t>KPI’s</a:t>
            </a:r>
            <a:endParaRPr kumimoji="0" lang="en-GB" sz="1400" b="0" i="0" u="none" strike="noStrike" cap="none" normalizeH="0" baseline="0" dirty="0" smtClean="0">
              <a:ln>
                <a:noFill/>
              </a:ln>
              <a:solidFill>
                <a:schemeClr val="tx1"/>
              </a:solidFill>
              <a:effectLst/>
            </a:endParaRPr>
          </a:p>
        </p:txBody>
      </p:sp>
      <p:cxnSp>
        <p:nvCxnSpPr>
          <p:cNvPr id="14" name="Gebogen verbindingslijn 13"/>
          <p:cNvCxnSpPr>
            <a:stCxn id="11" idx="3"/>
            <a:endCxn id="39" idx="1"/>
          </p:cNvCxnSpPr>
          <p:nvPr/>
        </p:nvCxnSpPr>
        <p:spPr bwMode="auto">
          <a:xfrm>
            <a:off x="2411700" y="1556739"/>
            <a:ext cx="1008140" cy="14402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16" name="Gebogen verbindingslijn 15"/>
          <p:cNvCxnSpPr>
            <a:stCxn id="11" idx="3"/>
            <a:endCxn id="41" idx="1"/>
          </p:cNvCxnSpPr>
          <p:nvPr/>
        </p:nvCxnSpPr>
        <p:spPr bwMode="auto">
          <a:xfrm>
            <a:off x="2411700" y="1556739"/>
            <a:ext cx="1008140" cy="21603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18" name="Gebogen verbindingslijn 17"/>
          <p:cNvCxnSpPr>
            <a:stCxn id="11" idx="3"/>
            <a:endCxn id="55" idx="1"/>
          </p:cNvCxnSpPr>
          <p:nvPr/>
        </p:nvCxnSpPr>
        <p:spPr bwMode="auto">
          <a:xfrm>
            <a:off x="2411700" y="1556739"/>
            <a:ext cx="1008140" cy="28804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0" name="Gebogen verbindingslijn 19"/>
          <p:cNvCxnSpPr>
            <a:stCxn id="11" idx="3"/>
            <a:endCxn id="56" idx="1"/>
          </p:cNvCxnSpPr>
          <p:nvPr/>
        </p:nvCxnSpPr>
        <p:spPr bwMode="auto">
          <a:xfrm>
            <a:off x="2411700" y="1556739"/>
            <a:ext cx="1008140" cy="36005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2" name="Gebogen verbindingslijn 21"/>
          <p:cNvCxnSpPr>
            <a:stCxn id="48" idx="3"/>
            <a:endCxn id="39" idx="1"/>
          </p:cNvCxnSpPr>
          <p:nvPr/>
        </p:nvCxnSpPr>
        <p:spPr bwMode="auto">
          <a:xfrm>
            <a:off x="2411700" y="2780909"/>
            <a:ext cx="1008140" cy="21603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4" name="Gebogen verbindingslijn 23"/>
          <p:cNvCxnSpPr>
            <a:stCxn id="79" idx="3"/>
            <a:endCxn id="41" idx="1"/>
          </p:cNvCxnSpPr>
          <p:nvPr/>
        </p:nvCxnSpPr>
        <p:spPr bwMode="auto">
          <a:xfrm flipV="1">
            <a:off x="2411700" y="3717039"/>
            <a:ext cx="1008140" cy="28804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6" name="Gebogen verbindingslijn 25"/>
          <p:cNvCxnSpPr>
            <a:stCxn id="40" idx="3"/>
            <a:endCxn id="55" idx="1"/>
          </p:cNvCxnSpPr>
          <p:nvPr/>
        </p:nvCxnSpPr>
        <p:spPr bwMode="auto">
          <a:xfrm flipV="1">
            <a:off x="2411700" y="4437139"/>
            <a:ext cx="1008140" cy="720100"/>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28" name="Gebogen verbindingslijn 27"/>
          <p:cNvCxnSpPr>
            <a:stCxn id="37" idx="3"/>
            <a:endCxn id="61" idx="1"/>
          </p:cNvCxnSpPr>
          <p:nvPr/>
        </p:nvCxnSpPr>
        <p:spPr bwMode="auto">
          <a:xfrm>
            <a:off x="5436120" y="2276839"/>
            <a:ext cx="1440200" cy="144020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0" name="Gebogen verbindingslijn 89"/>
          <p:cNvCxnSpPr>
            <a:stCxn id="39" idx="3"/>
            <a:endCxn id="61" idx="1"/>
          </p:cNvCxnSpPr>
          <p:nvPr/>
        </p:nvCxnSpPr>
        <p:spPr bwMode="auto">
          <a:xfrm>
            <a:off x="5436120" y="2996939"/>
            <a:ext cx="1440200" cy="72010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2" name="Gebogen verbindingslijn 91"/>
          <p:cNvCxnSpPr>
            <a:stCxn id="41" idx="3"/>
            <a:endCxn id="61" idx="1"/>
          </p:cNvCxnSpPr>
          <p:nvPr/>
        </p:nvCxnSpPr>
        <p:spPr bwMode="auto">
          <a:xfrm>
            <a:off x="5436120" y="3717039"/>
            <a:ext cx="1440200" cy="1"/>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4" name="Gebogen verbindingslijn 93"/>
          <p:cNvCxnSpPr>
            <a:stCxn id="55" idx="3"/>
            <a:endCxn id="61" idx="1"/>
          </p:cNvCxnSpPr>
          <p:nvPr/>
        </p:nvCxnSpPr>
        <p:spPr bwMode="auto">
          <a:xfrm flipV="1">
            <a:off x="5436120" y="3717040"/>
            <a:ext cx="1440200" cy="720099"/>
          </a:xfrm>
          <a:prstGeom prst="bentConnector3">
            <a:avLst/>
          </a:prstGeom>
          <a:noFill/>
          <a:ln w="9525" cap="flat" cmpd="sng" algn="ctr">
            <a:solidFill>
              <a:schemeClr val="bg1">
                <a:lumMod val="50000"/>
              </a:schemeClr>
            </a:solidFill>
            <a:prstDash val="solid"/>
            <a:round/>
            <a:headEnd type="none" w="med" len="med"/>
            <a:tailEnd type="arrow"/>
          </a:ln>
          <a:effectLst/>
        </p:spPr>
      </p:cxnSp>
      <p:cxnSp>
        <p:nvCxnSpPr>
          <p:cNvPr id="96" name="Gebogen verbindingslijn 95"/>
          <p:cNvCxnSpPr>
            <a:stCxn id="56" idx="3"/>
            <a:endCxn id="61" idx="1"/>
          </p:cNvCxnSpPr>
          <p:nvPr/>
        </p:nvCxnSpPr>
        <p:spPr bwMode="auto">
          <a:xfrm flipV="1">
            <a:off x="5436120" y="3717040"/>
            <a:ext cx="1440200" cy="1440199"/>
          </a:xfrm>
          <a:prstGeom prst="bentConnector3">
            <a:avLst/>
          </a:prstGeom>
          <a:noFill/>
          <a:ln w="9525" cap="flat" cmpd="sng" algn="ctr">
            <a:solidFill>
              <a:schemeClr val="bg1">
                <a:lumMod val="50000"/>
              </a:schemeClr>
            </a:solidFill>
            <a:prstDash val="solid"/>
            <a:round/>
            <a:headEnd type="none" w="med" len="med"/>
            <a:tailEnd type="arrow"/>
          </a:ln>
          <a:effectLst/>
        </p:spPr>
      </p:cxnSp>
      <p:pic>
        <p:nvPicPr>
          <p:cNvPr id="2" name="Picture 1"/>
          <p:cNvPicPr>
            <a:picLocks noChangeAspect="1"/>
          </p:cNvPicPr>
          <p:nvPr/>
        </p:nvPicPr>
        <p:blipFill>
          <a:blip r:embed="rId2"/>
          <a:stretch>
            <a:fillRect/>
          </a:stretch>
        </p:blipFill>
        <p:spPr>
          <a:xfrm>
            <a:off x="5048552" y="2085967"/>
            <a:ext cx="323278" cy="381743"/>
          </a:xfrm>
          <a:prstGeom prst="rect">
            <a:avLst/>
          </a:prstGeom>
          <a:solidFill>
            <a:schemeClr val="bg1">
              <a:lumMod val="75000"/>
              <a:alpha val="31000"/>
            </a:schemeClr>
          </a:solidFill>
          <a:ln>
            <a:solidFill>
              <a:schemeClr val="bg1"/>
            </a:solidFill>
          </a:ln>
        </p:spPr>
      </p:pic>
      <p:pic>
        <p:nvPicPr>
          <p:cNvPr id="86" name="Picture 85"/>
          <p:cNvPicPr>
            <a:picLocks noChangeAspect="1"/>
          </p:cNvPicPr>
          <p:nvPr/>
        </p:nvPicPr>
        <p:blipFill>
          <a:blip r:embed="rId2"/>
          <a:stretch>
            <a:fillRect/>
          </a:stretch>
        </p:blipFill>
        <p:spPr>
          <a:xfrm>
            <a:off x="5048552" y="2799777"/>
            <a:ext cx="323278" cy="381743"/>
          </a:xfrm>
          <a:prstGeom prst="rect">
            <a:avLst/>
          </a:prstGeom>
          <a:solidFill>
            <a:schemeClr val="bg1">
              <a:lumMod val="75000"/>
              <a:alpha val="31000"/>
            </a:schemeClr>
          </a:solidFill>
          <a:ln>
            <a:solidFill>
              <a:schemeClr val="bg1"/>
            </a:solidFill>
          </a:ln>
        </p:spPr>
      </p:pic>
      <p:pic>
        <p:nvPicPr>
          <p:cNvPr id="87" name="Picture 86"/>
          <p:cNvPicPr>
            <a:picLocks noChangeAspect="1"/>
          </p:cNvPicPr>
          <p:nvPr/>
        </p:nvPicPr>
        <p:blipFill>
          <a:blip r:embed="rId2"/>
          <a:stretch>
            <a:fillRect/>
          </a:stretch>
        </p:blipFill>
        <p:spPr>
          <a:xfrm>
            <a:off x="5048552" y="3513587"/>
            <a:ext cx="323278" cy="381743"/>
          </a:xfrm>
          <a:prstGeom prst="rect">
            <a:avLst/>
          </a:prstGeom>
          <a:solidFill>
            <a:schemeClr val="bg1">
              <a:lumMod val="75000"/>
              <a:alpha val="31000"/>
            </a:schemeClr>
          </a:solidFill>
          <a:ln>
            <a:solidFill>
              <a:schemeClr val="bg1"/>
            </a:solidFill>
          </a:ln>
        </p:spPr>
      </p:pic>
      <p:pic>
        <p:nvPicPr>
          <p:cNvPr id="88" name="Picture 87"/>
          <p:cNvPicPr>
            <a:picLocks noChangeAspect="1"/>
          </p:cNvPicPr>
          <p:nvPr/>
        </p:nvPicPr>
        <p:blipFill>
          <a:blip r:embed="rId2"/>
          <a:stretch>
            <a:fillRect/>
          </a:stretch>
        </p:blipFill>
        <p:spPr>
          <a:xfrm>
            <a:off x="5048552" y="4227397"/>
            <a:ext cx="323278" cy="381743"/>
          </a:xfrm>
          <a:prstGeom prst="rect">
            <a:avLst/>
          </a:prstGeom>
          <a:solidFill>
            <a:schemeClr val="bg1">
              <a:lumMod val="75000"/>
              <a:alpha val="31000"/>
            </a:schemeClr>
          </a:solidFill>
          <a:ln>
            <a:solidFill>
              <a:schemeClr val="bg1"/>
            </a:solidFill>
          </a:ln>
        </p:spPr>
      </p:pic>
      <p:pic>
        <p:nvPicPr>
          <p:cNvPr id="89" name="Picture 88"/>
          <p:cNvPicPr>
            <a:picLocks noChangeAspect="1"/>
          </p:cNvPicPr>
          <p:nvPr/>
        </p:nvPicPr>
        <p:blipFill>
          <a:blip r:embed="rId2"/>
          <a:stretch>
            <a:fillRect/>
          </a:stretch>
        </p:blipFill>
        <p:spPr>
          <a:xfrm>
            <a:off x="5048552" y="4941209"/>
            <a:ext cx="323278" cy="381743"/>
          </a:xfrm>
          <a:prstGeom prst="rect">
            <a:avLst/>
          </a:prstGeom>
          <a:solidFill>
            <a:schemeClr val="bg1">
              <a:lumMod val="75000"/>
              <a:alpha val="31000"/>
            </a:schemeClr>
          </a:solidFill>
          <a:ln>
            <a:solidFill>
              <a:schemeClr val="bg1"/>
            </a:solidFill>
          </a:ln>
        </p:spPr>
      </p:pic>
      <p:pic>
        <p:nvPicPr>
          <p:cNvPr id="91" name="Picture 90"/>
          <p:cNvPicPr>
            <a:picLocks noChangeAspect="1"/>
          </p:cNvPicPr>
          <p:nvPr/>
        </p:nvPicPr>
        <p:blipFill>
          <a:blip r:embed="rId2"/>
          <a:stretch>
            <a:fillRect/>
          </a:stretch>
        </p:blipFill>
        <p:spPr>
          <a:xfrm>
            <a:off x="1989930" y="1788019"/>
            <a:ext cx="323278" cy="381743"/>
          </a:xfrm>
          <a:prstGeom prst="rect">
            <a:avLst/>
          </a:prstGeom>
          <a:solidFill>
            <a:schemeClr val="bg1">
              <a:lumMod val="75000"/>
              <a:alpha val="31000"/>
            </a:schemeClr>
          </a:solidFill>
          <a:ln>
            <a:solidFill>
              <a:schemeClr val="bg1"/>
            </a:solidFill>
          </a:ln>
        </p:spPr>
      </p:pic>
      <p:pic>
        <p:nvPicPr>
          <p:cNvPr id="93" name="Picture 92"/>
          <p:cNvPicPr>
            <a:picLocks noChangeAspect="1"/>
          </p:cNvPicPr>
          <p:nvPr/>
        </p:nvPicPr>
        <p:blipFill>
          <a:blip r:embed="rId2"/>
          <a:stretch>
            <a:fillRect/>
          </a:stretch>
        </p:blipFill>
        <p:spPr>
          <a:xfrm>
            <a:off x="1989930" y="2984258"/>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pic>
        <p:nvPicPr>
          <p:cNvPr id="95" name="Picture 94"/>
          <p:cNvPicPr>
            <a:picLocks noChangeAspect="1"/>
          </p:cNvPicPr>
          <p:nvPr/>
        </p:nvPicPr>
        <p:blipFill>
          <a:blip r:embed="rId2"/>
          <a:stretch>
            <a:fillRect/>
          </a:stretch>
        </p:blipFill>
        <p:spPr>
          <a:xfrm>
            <a:off x="1989930" y="4180497"/>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pic>
        <p:nvPicPr>
          <p:cNvPr id="97" name="Picture 96"/>
          <p:cNvPicPr>
            <a:picLocks noChangeAspect="1"/>
          </p:cNvPicPr>
          <p:nvPr/>
        </p:nvPicPr>
        <p:blipFill>
          <a:blip r:embed="rId2"/>
          <a:stretch>
            <a:fillRect/>
          </a:stretch>
        </p:blipFill>
        <p:spPr>
          <a:xfrm>
            <a:off x="1989930" y="5376735"/>
            <a:ext cx="323278" cy="381743"/>
          </a:xfrm>
          <a:prstGeom prst="rect">
            <a:avLst/>
          </a:prstGeom>
          <a:solidFill>
            <a:schemeClr val="bg1">
              <a:lumMod val="75000"/>
              <a:alpha val="31000"/>
            </a:schemeClr>
          </a:solidFill>
          <a:ln>
            <a:solidFill>
              <a:schemeClr val="bg1"/>
            </a:solidFill>
          </a:ln>
        </p:spPr>
        <p:style>
          <a:lnRef idx="0">
            <a:schemeClr val="accent3"/>
          </a:lnRef>
          <a:fillRef idx="3">
            <a:schemeClr val="accent3"/>
          </a:fillRef>
          <a:effectRef idx="3">
            <a:schemeClr val="accent3"/>
          </a:effectRef>
          <a:fontRef idx="minor">
            <a:schemeClr val="lt1"/>
          </a:fontRef>
        </p:style>
      </p:pic>
    </p:spTree>
    <p:extLst>
      <p:ext uri="{BB962C8B-B14F-4D97-AF65-F5344CB8AC3E}">
        <p14:creationId xmlns:p14="http://schemas.microsoft.com/office/powerpoint/2010/main" val="1697865495"/>
      </p:ext>
    </p:extLst>
  </p:cSld>
  <p:clrMapOvr>
    <a:masterClrMapping/>
  </p:clrMapOvr>
  <p:timing>
    <p:tnLst>
      <p:par>
        <p:cTn id="1" dur="indefinite" restart="never" nodeType="tmRoot"/>
      </p:par>
    </p:tnLst>
  </p:timing>
</p:sld>
</file>

<file path=ppt/theme/theme1.xml><?xml version="1.0" encoding="utf-8"?>
<a:theme xmlns:a="http://schemas.openxmlformats.org/drawingml/2006/main" name="Informatcis Presentation">
  <a:themeElements>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nformatcis Presentatio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5">
              <a:lumMod val="75000"/>
            </a:schemeClr>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100" b="0" i="0" u="none" strike="noStrike" cap="none" normalizeH="0" baseline="0" dirty="0" smtClean="0">
            <a:ln>
              <a:noFill/>
            </a:ln>
            <a:solidFill>
              <a:schemeClr val="tx2"/>
            </a:solidFill>
            <a:effectLst/>
            <a:latin typeface="Verdana" pitchFamily="34" charset="0"/>
            <a:cs typeface="Arial" charset="0"/>
          </a:defRPr>
        </a:defPPr>
      </a:lstStyle>
    </a:spDef>
    <a:lnDef>
      <a:spPr bwMode="auto">
        <a:noFill/>
        <a:ln w="9525" cap="flat" cmpd="sng" algn="ctr">
          <a:solidFill>
            <a:schemeClr val="accent2">
              <a:lumMod val="75000"/>
            </a:schemeClr>
          </a:solidFill>
          <a:prstDash val="solid"/>
          <a:round/>
          <a:headEnd type="none" w="med" len="med"/>
          <a:tailEnd type="none"/>
        </a:ln>
        <a:effectLst/>
      </a:spPr>
      <a:bodyPr/>
      <a:lstStyle/>
    </a:lnDef>
  </a:objectDefaults>
  <a:extraClrSchemeLst>
    <a:extraClrScheme>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formatcis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formatcis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formatcis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formatcis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formatcis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formatcis Presentat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formatcis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formatcis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formatcis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formatcis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formatcis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66A54743C2BC48B3424399F3CA9005" ma:contentTypeVersion="6" ma:contentTypeDescription="Create a new document." ma:contentTypeScope="" ma:versionID="aa284a500ef9047c2fd9f1e6bdf1283e">
  <xsd:schema xmlns:xsd="http://www.w3.org/2001/XMLSchema" xmlns:xs="http://www.w3.org/2001/XMLSchema" xmlns:p="http://schemas.microsoft.com/office/2006/metadata/properties" xmlns:ns2="http://schemas.microsoft.com/sharepoint/v3/fields" xmlns:ns3="571db7d5-d68e-4462-b2ba-832951d90f7c" targetNamespace="http://schemas.microsoft.com/office/2006/metadata/properties" ma:root="true" ma:fieldsID="fb219a9c5dbdfa73f54e55e30f1624cf" ns2:_="" ns3:_="">
    <xsd:import namespace="http://schemas.microsoft.com/sharepoint/v3/fields"/>
    <xsd:import namespace="571db7d5-d68e-4462-b2ba-832951d90f7c"/>
    <xsd:element name="properties">
      <xsd:complexType>
        <xsd:sequence>
          <xsd:element name="documentManagement">
            <xsd:complexType>
              <xsd:all>
                <xsd:element ref="ns2:_Version" minOccurs="0"/>
                <xsd:element ref="ns3:Document_x0020_Type" minOccurs="0"/>
                <xsd:element ref="ns3:Received" minOccurs="0"/>
                <xsd:element ref="ns3:Sent_x002f_Publish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1" nillable="true" ma:displayName="Version" ma:internalName="_Vers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1db7d5-d68e-4462-b2ba-832951d90f7c" elementFormDefault="qualified">
    <xsd:import namespace="http://schemas.microsoft.com/office/2006/documentManagement/types"/>
    <xsd:import namespace="http://schemas.microsoft.com/office/infopath/2007/PartnerControls"/>
    <xsd:element name="Document_x0020_Type" ma:index="2" nillable="true" ma:displayName="Document Type" ma:format="Dropdown" ma:indexed="true" ma:internalName="Document_x0020_Type">
      <xsd:simpleType>
        <xsd:restriction base="dms:Choice">
          <xsd:enumeration value="Contract"/>
          <xsd:enumeration value="General info"/>
          <xsd:enumeration value="Meeting"/>
          <xsd:enumeration value="Proposal"/>
        </xsd:restriction>
      </xsd:simpleType>
    </xsd:element>
    <xsd:element name="Received" ma:index="3" nillable="true" ma:displayName="Received" ma:description="Date of receipt" ma:format="DateOnly" ma:internalName="Received">
      <xsd:simpleType>
        <xsd:restriction base="dms:DateTime"/>
      </xsd:simpleType>
    </xsd:element>
    <xsd:element name="Sent_x002f_Published" ma:index="4" nillable="true" ma:displayName="Sent/Published" ma:description="Date this document is send or published outside the organisation" ma:format="DateOnly" ma:internalName="Sent_x002f_Publish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5" ma:displayName="Title"/>
        <xsd:element ref="dc:subject" minOccurs="0" maxOccurs="1"/>
        <xsd:element ref="dc:description" minOccurs="0" maxOccurs="1" ma:index="12"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Sent_x002f_Published xmlns="571db7d5-d68e-4462-b2ba-832951d90f7c" xsi:nil="true"/>
    <Received xmlns="571db7d5-d68e-4462-b2ba-832951d90f7c" xsi:nil="true"/>
    <Document_x0020_Type xmlns="571db7d5-d68e-4462-b2ba-832951d90f7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1418AE-670D-49F7-A26D-D435E4802F67}"/>
</file>

<file path=customXml/itemProps2.xml><?xml version="1.0" encoding="utf-8"?>
<ds:datastoreItem xmlns:ds="http://schemas.openxmlformats.org/officeDocument/2006/customXml" ds:itemID="{A4F32B40-BB5B-463F-8525-F37640531401}"/>
</file>

<file path=customXml/itemProps3.xml><?xml version="1.0" encoding="utf-8"?>
<ds:datastoreItem xmlns:ds="http://schemas.openxmlformats.org/officeDocument/2006/customXml" ds:itemID="{809DB956-105B-4971-B706-4021CB0BAC1A}"/>
</file>

<file path=docProps/app.xml><?xml version="1.0" encoding="utf-8"?>
<Properties xmlns="http://schemas.openxmlformats.org/officeDocument/2006/extended-properties" xmlns:vt="http://schemas.openxmlformats.org/officeDocument/2006/docPropsVTypes">
  <Template/>
  <TotalTime>23432</TotalTime>
  <Words>516</Words>
  <Application>Microsoft Office PowerPoint</Application>
  <PresentationFormat>On-screen Show (4:3)</PresentationFormat>
  <Paragraphs>186</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Verdana</vt:lpstr>
      <vt:lpstr>Informatcis Presentation</vt:lpstr>
      <vt:lpstr>PowerPoint Presentation</vt:lpstr>
      <vt:lpstr>Introducing Senority </vt:lpstr>
      <vt:lpstr>PowerPoint Presentation</vt:lpstr>
      <vt:lpstr>Supporting the lifecycle</vt:lpstr>
      <vt:lpstr>PowerPoint Presentation</vt:lpstr>
      <vt:lpstr>PowerPoint Presentation</vt:lpstr>
      <vt:lpstr>PowerPoint Presentation</vt:lpstr>
      <vt:lpstr>How the information comes together</vt:lpstr>
      <vt:lpstr>PowerPoint Presentation</vt:lpstr>
      <vt:lpstr>PowerPoint Presentation</vt:lpstr>
      <vt:lpstr> Evaluetor©  Value delivered</vt:lpstr>
      <vt:lpstr>Contact</vt:lpstr>
      <vt:lpstr>PowerPoint Presentation</vt:lpstr>
      <vt:lpstr>Evaluetor Concept</vt:lpstr>
      <vt:lpstr>Evaluetor.. Closing the Gap</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Contract Services</dc:title>
  <dc:subject/>
  <dc:creator>Steven</dc:creator>
  <cp:keywords/>
  <dc:description/>
  <cp:lastModifiedBy>Steven Visser</cp:lastModifiedBy>
  <cp:revision>1034</cp:revision>
  <cp:lastPrinted>2012-07-02T16:24:42Z</cp:lastPrinted>
  <dcterms:created xsi:type="dcterms:W3CDTF">2009-06-02T08:52:51Z</dcterms:created>
  <dcterms:modified xsi:type="dcterms:W3CDTF">2014-05-02T09:29:48Z</dcterms:modified>
  <cp:category/>
  <cp:contentStatus>Approved for client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0x010100C766A54743C2BC48B3424399F3CA9005</vt:lpwstr>
  </property>
  <property fmtid="{D5CDD505-2E9C-101B-9397-08002B2CF9AE}" pid="3" name="AddDocumentEventProcessedId">
    <vt:lpwstr>07c884e2-237a-4e02-81a0-3a4c61b08c4a</vt:lpwstr>
  </property>
  <property fmtid="{D5CDD505-2E9C-101B-9397-08002B2CF9AE}" pid="4" name="AutoVersionDisabled">
    <vt:lpwstr>0</vt:lpwstr>
  </property>
  <property fmtid="{D5CDD505-2E9C-101B-9397-08002B2CF9AE}" pid="5" name="ItemType">
    <vt:lpwstr>1</vt:lpwstr>
  </property>
  <property fmtid="{D5CDD505-2E9C-101B-9397-08002B2CF9AE}" pid="6" name="Order">
    <vt:lpwstr/>
  </property>
  <property fmtid="{D5CDD505-2E9C-101B-9397-08002B2CF9AE}" pid="7" name="MetaInfo">
    <vt:lpwstr/>
  </property>
  <property fmtid="{D5CDD505-2E9C-101B-9397-08002B2CF9AE}" pid="8" name="Description">
    <vt:lpwstr/>
  </property>
</Properties>
</file>