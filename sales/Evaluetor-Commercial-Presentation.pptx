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000" b="1">
                <a:solidFill>
                  <a:srgbClr val="111827"/>
                </a:solidFill>
                <a:latin typeface="Calibri"/>
              </a:defRPr>
            </a:pPr>
            <a:r>
              <a:t>Reducing Contract Value Leakage Through Active Contract Management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05840"/>
            <a:ext cx="11247120" cy="512064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50292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111827"/>
                </a:solidFill>
                <a:latin typeface="Calibri"/>
              </a:defRPr>
            </a:pPr>
            <a:r>
              <a:t>Evaluetor© AI</a:t>
            </a:r>
            <a:br/>
            <a:r>
              <a:t>delivering contract</a:t>
            </a:r>
            <a:br/>
            <a:r>
              <a:t>benefits effectively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50292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0">
                <a:solidFill>
                  <a:srgbClr val="4B5563"/>
                </a:solidFill>
                <a:latin typeface="Calibri"/>
              </a:defRPr>
            </a:pPr>
            <a:r>
              <a:t>AI-native contract intelligence that makes your contracts transparent, measurable, and actionable — in minutes, not months.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4297680"/>
            <a:ext cx="4754880" cy="13716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4434840"/>
            <a:ext cx="42062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EA760D"/>
                </a:solidFill>
                <a:latin typeface="Calibri"/>
              </a:defRPr>
            </a:pPr>
            <a:r>
              <a:t>Organizations lose 8–11% of contract value post-signing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4892040"/>
            <a:ext cx="420624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4B5563"/>
                </a:solidFill>
                <a:latin typeface="Calibri"/>
              </a:defRPr>
            </a:pPr>
            <a:r>
              <a:t>due to poor execution and monitoring. Active management reduces losses by 30–40%.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280160"/>
            <a:ext cx="5029200" cy="128016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675120" y="1463040"/>
            <a:ext cx="128016" cy="128016"/>
          </a:xfrm>
          <a:prstGeom prst="ellipse">
            <a:avLst/>
          </a:prstGeom>
          <a:solidFill>
            <a:srgbClr val="EA76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0" y="1417320"/>
            <a:ext cx="429768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111827"/>
                </a:solidFill>
                <a:latin typeface="Calibri"/>
              </a:defRPr>
            </a:pPr>
            <a:r>
              <a:t>Contracts are negotiated carefully, then stored away. The intent behind the terms is lost.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2788920"/>
            <a:ext cx="5029200" cy="128016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675120" y="2971800"/>
            <a:ext cx="128016" cy="128016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0" y="2926080"/>
            <a:ext cx="429768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111827"/>
                </a:solidFill>
                <a:latin typeface="Calibri"/>
              </a:defRPr>
            </a:pPr>
            <a:r>
              <a:t>Enterprises struggle to surface what’s actually inside their contract portfolio.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4297680"/>
            <a:ext cx="5029200" cy="128016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675120" y="4480560"/>
            <a:ext cx="128016" cy="128016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49440" y="4434840"/>
            <a:ext cx="429768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111827"/>
                </a:solidFill>
                <a:latin typeface="Calibri"/>
              </a:defRPr>
            </a:pPr>
            <a:r>
              <a:t>Risks, obligations, SLAs, and renewal terms often go completely unmonitored.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73952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1">
                <a:solidFill>
                  <a:srgbClr val="6B7280"/>
                </a:solidFill>
                <a:latin typeface="Calibri"/>
              </a:defRPr>
            </a:pPr>
            <a:r>
              <a:t>13-4-2026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6473952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1">
                <a:solidFill>
                  <a:srgbClr val="6B7280"/>
                </a:solidFill>
                <a:latin typeface="Calibri"/>
              </a:defRPr>
            </a:pPr>
            <a:r>
              <a:t>AI-Powered Contract Intelligence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0" y="6446520"/>
            <a:ext cx="2468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300" b="1">
                <a:solidFill>
                  <a:srgbClr val="2563EB"/>
                </a:solidFill>
                <a:latin typeface="Calibri"/>
              </a:defRPr>
            </a:pPr>
            <a:r>
              <a:t>Evaluetor© AI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6400800"/>
            <a:ext cx="11247120" cy="1371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6B7280"/>
                </a:solidFill>
                <a:latin typeface="Calibri"/>
              </a:defRPr>
            </a:pPr>
            <a:r>
              <a:t>1/14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600" b="1">
                <a:solidFill>
                  <a:srgbClr val="111827"/>
                </a:solidFill>
                <a:latin typeface="Calibri"/>
              </a:defRPr>
            </a:pPr>
            <a:r>
              <a:t>Where Contract Value Leaks — Buy Side and Sell Side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1247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EA760D"/>
                </a:solidFill>
                <a:latin typeface="Calibri"/>
              </a:defRPr>
            </a:pPr>
            <a:r>
              <a:t>70–80% of contract value leakage happens post-signature — not at the negotiation table.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5760720" cy="493776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280160"/>
            <a:ext cx="53949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111827"/>
                </a:solidFill>
                <a:latin typeface="Calibri"/>
              </a:defRPr>
            </a:pPr>
            <a:r>
              <a:t>Top 10 Contract Value Leakages</a:t>
            </a:r>
          </a:p>
        </p:txBody>
      </p:sp>
      <p:sp>
        <p:nvSpPr>
          <p:cNvPr id="7" name="Oval 6"/>
          <p:cNvSpPr/>
          <p:nvPr/>
        </p:nvSpPr>
        <p:spPr>
          <a:xfrm>
            <a:off x="685800" y="1737360"/>
            <a:ext cx="274320" cy="274320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755648"/>
            <a:ext cx="2743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1764792"/>
            <a:ext cx="5074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4B5563"/>
                </a:solidFill>
                <a:latin typeface="Calibri"/>
              </a:defRPr>
            </a:pPr>
            <a:r>
              <a:t>Non-compliance with contract terms (off-contract buying / under-billing)</a:t>
            </a:r>
          </a:p>
        </p:txBody>
      </p:sp>
      <p:sp>
        <p:nvSpPr>
          <p:cNvPr id="10" name="Oval 9"/>
          <p:cNvSpPr/>
          <p:nvPr/>
        </p:nvSpPr>
        <p:spPr>
          <a:xfrm>
            <a:off x="685800" y="2157984"/>
            <a:ext cx="274320" cy="274320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176272"/>
            <a:ext cx="2743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185416"/>
            <a:ext cx="5074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4B5563"/>
                </a:solidFill>
                <a:latin typeface="Calibri"/>
              </a:defRPr>
            </a:pPr>
            <a:r>
              <a:t>Poor pricing &amp; discount control</a:t>
            </a:r>
          </a:p>
        </p:txBody>
      </p:sp>
      <p:sp>
        <p:nvSpPr>
          <p:cNvPr id="13" name="Oval 12"/>
          <p:cNvSpPr/>
          <p:nvPr/>
        </p:nvSpPr>
        <p:spPr>
          <a:xfrm>
            <a:off x="685800" y="2578608"/>
            <a:ext cx="274320" cy="274320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596896"/>
            <a:ext cx="2743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2606040"/>
            <a:ext cx="5074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4B5563"/>
                </a:solidFill>
                <a:latin typeface="Calibri"/>
              </a:defRPr>
            </a:pPr>
            <a:r>
              <a:t>Missed rebates, incentives &amp; credits</a:t>
            </a:r>
          </a:p>
        </p:txBody>
      </p:sp>
      <p:sp>
        <p:nvSpPr>
          <p:cNvPr id="16" name="Oval 15"/>
          <p:cNvSpPr/>
          <p:nvPr/>
        </p:nvSpPr>
        <p:spPr>
          <a:xfrm>
            <a:off x="685800" y="2999232"/>
            <a:ext cx="274320" cy="274320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017520"/>
            <a:ext cx="2743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3026664"/>
            <a:ext cx="5074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4B5563"/>
                </a:solidFill>
                <a:latin typeface="Calibri"/>
              </a:defRPr>
            </a:pPr>
            <a:r>
              <a:t>Weak contract lifecycle management (visibility, access)</a:t>
            </a:r>
          </a:p>
        </p:txBody>
      </p:sp>
      <p:sp>
        <p:nvSpPr>
          <p:cNvPr id="19" name="Oval 18"/>
          <p:cNvSpPr/>
          <p:nvPr/>
        </p:nvSpPr>
        <p:spPr>
          <a:xfrm>
            <a:off x="685800" y="3419856"/>
            <a:ext cx="274320" cy="274320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3438144"/>
            <a:ext cx="2743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3447288"/>
            <a:ext cx="5074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4B5563"/>
                </a:solidFill>
                <a:latin typeface="Calibri"/>
              </a:defRPr>
            </a:pPr>
            <a:r>
              <a:t>Scope creep &amp; unmanaged changes</a:t>
            </a:r>
          </a:p>
        </p:txBody>
      </p:sp>
      <p:sp>
        <p:nvSpPr>
          <p:cNvPr id="22" name="Oval 21"/>
          <p:cNvSpPr/>
          <p:nvPr/>
        </p:nvSpPr>
        <p:spPr>
          <a:xfrm>
            <a:off x="685800" y="3840480"/>
            <a:ext cx="274320" cy="274320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3858768"/>
            <a:ext cx="2743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3867912"/>
            <a:ext cx="5074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4B5563"/>
                </a:solidFill>
                <a:latin typeface="Calibri"/>
              </a:defRPr>
            </a:pPr>
            <a:r>
              <a:t>SLA underperformance not enforced or penalised</a:t>
            </a:r>
          </a:p>
        </p:txBody>
      </p:sp>
      <p:sp>
        <p:nvSpPr>
          <p:cNvPr id="25" name="Oval 24"/>
          <p:cNvSpPr/>
          <p:nvPr/>
        </p:nvSpPr>
        <p:spPr>
          <a:xfrm>
            <a:off x="685800" y="4261104"/>
            <a:ext cx="274320" cy="274320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4279392"/>
            <a:ext cx="2743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4288536"/>
            <a:ext cx="5074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4B5563"/>
                </a:solidFill>
                <a:latin typeface="Calibri"/>
              </a:defRPr>
            </a:pPr>
            <a:r>
              <a:t>Ineffective renewals &amp; auto-renewals</a:t>
            </a:r>
          </a:p>
        </p:txBody>
      </p:sp>
      <p:sp>
        <p:nvSpPr>
          <p:cNvPr id="28" name="Oval 27"/>
          <p:cNvSpPr/>
          <p:nvPr/>
        </p:nvSpPr>
        <p:spPr>
          <a:xfrm>
            <a:off x="685800" y="4681728"/>
            <a:ext cx="274320" cy="274320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4700016"/>
            <a:ext cx="2743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" y="4709160"/>
            <a:ext cx="5074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4B5563"/>
                </a:solidFill>
                <a:latin typeface="Calibri"/>
              </a:defRPr>
            </a:pPr>
            <a:r>
              <a:t>Volume commitment &amp; forecast inaccuracies</a:t>
            </a:r>
          </a:p>
        </p:txBody>
      </p:sp>
      <p:sp>
        <p:nvSpPr>
          <p:cNvPr id="31" name="Oval 30"/>
          <p:cNvSpPr/>
          <p:nvPr/>
        </p:nvSpPr>
        <p:spPr>
          <a:xfrm>
            <a:off x="685800" y="5102352"/>
            <a:ext cx="274320" cy="274320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5120640"/>
            <a:ext cx="2743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" y="5129784"/>
            <a:ext cx="5074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4B5563"/>
                </a:solidFill>
                <a:latin typeface="Calibri"/>
              </a:defRPr>
            </a:pPr>
            <a:r>
              <a:t>Legal–commercial misalignment</a:t>
            </a:r>
          </a:p>
        </p:txBody>
      </p:sp>
      <p:sp>
        <p:nvSpPr>
          <p:cNvPr id="34" name="Oval 33"/>
          <p:cNvSpPr/>
          <p:nvPr/>
        </p:nvSpPr>
        <p:spPr>
          <a:xfrm>
            <a:off x="685800" y="5522976"/>
            <a:ext cx="274320" cy="274320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5800" y="5541264"/>
            <a:ext cx="2743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" y="5550408"/>
            <a:ext cx="5074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4B5563"/>
                </a:solidFill>
                <a:latin typeface="Calibri"/>
              </a:defRPr>
            </a:pPr>
            <a:r>
              <a:t>No clear contract ownership &amp; accountability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0" y="1188720"/>
            <a:ext cx="5303520" cy="493776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29400" y="1280160"/>
            <a:ext cx="49377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111827"/>
                </a:solidFill>
                <a:latin typeface="Calibri"/>
              </a:defRPr>
            </a:pPr>
            <a:r>
              <a:t>Operating Model Principles (Target State)</a:t>
            </a:r>
          </a:p>
        </p:txBody>
      </p:sp>
      <p:sp>
        <p:nvSpPr>
          <p:cNvPr id="39" name="Oval 38"/>
          <p:cNvSpPr/>
          <p:nvPr/>
        </p:nvSpPr>
        <p:spPr>
          <a:xfrm>
            <a:off x="6629400" y="1801368"/>
            <a:ext cx="128016" cy="128016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903720" y="1709928"/>
            <a:ext cx="46634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111827"/>
                </a:solidFill>
                <a:latin typeface="Calibri"/>
              </a:defRPr>
            </a:pPr>
            <a:r>
              <a:t>Contract ≠ Document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03720" y="1984248"/>
            <a:ext cx="466344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4B5563"/>
                </a:solidFill>
                <a:latin typeface="Calibri"/>
              </a:defRPr>
            </a:pPr>
            <a:r>
              <a:t>Contract = data + obligations + risk</a:t>
            </a:r>
          </a:p>
        </p:txBody>
      </p:sp>
      <p:sp>
        <p:nvSpPr>
          <p:cNvPr id="42" name="Oval 41"/>
          <p:cNvSpPr/>
          <p:nvPr/>
        </p:nvSpPr>
        <p:spPr>
          <a:xfrm>
            <a:off x="6629400" y="2514600"/>
            <a:ext cx="128016" cy="128016"/>
          </a:xfrm>
          <a:prstGeom prst="ellipse">
            <a:avLst/>
          </a:prstGeom>
          <a:solidFill>
            <a:srgbClr val="EA76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903720" y="2423160"/>
            <a:ext cx="46634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111827"/>
                </a:solidFill>
                <a:latin typeface="Calibri"/>
              </a:defRPr>
            </a:pPr>
            <a:r>
              <a:t>Post-signature is the value zone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03720" y="2697480"/>
            <a:ext cx="466344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4B5563"/>
                </a:solidFill>
                <a:latin typeface="Calibri"/>
              </a:defRPr>
            </a:pPr>
            <a:r>
              <a:t>70–80% of leakage happens after signing</a:t>
            </a:r>
          </a:p>
        </p:txBody>
      </p:sp>
      <p:sp>
        <p:nvSpPr>
          <p:cNvPr id="45" name="Oval 44"/>
          <p:cNvSpPr/>
          <p:nvPr/>
        </p:nvSpPr>
        <p:spPr>
          <a:xfrm>
            <a:off x="6629400" y="3227832"/>
            <a:ext cx="128016" cy="128016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903720" y="3136392"/>
            <a:ext cx="46634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111827"/>
                </a:solidFill>
                <a:latin typeface="Calibri"/>
              </a:defRPr>
            </a:pPr>
            <a:r>
              <a:t>Business owns value; Legal owns integrity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903720" y="3410712"/>
            <a:ext cx="466344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4B5563"/>
                </a:solidFill>
                <a:latin typeface="Calibri"/>
              </a:defRPr>
            </a:pPr>
            <a:r>
              <a:t>Clear separation of accountability</a:t>
            </a:r>
          </a:p>
        </p:txBody>
      </p:sp>
      <p:sp>
        <p:nvSpPr>
          <p:cNvPr id="48" name="Oval 47"/>
          <p:cNvSpPr/>
          <p:nvPr/>
        </p:nvSpPr>
        <p:spPr>
          <a:xfrm>
            <a:off x="6629400" y="3941064"/>
            <a:ext cx="128016" cy="128016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903720" y="3849624"/>
            <a:ext cx="46634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111827"/>
                </a:solidFill>
                <a:latin typeface="Calibri"/>
              </a:defRPr>
            </a:pPr>
            <a:r>
              <a:t>One contract truth across systems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903720" y="4123944"/>
            <a:ext cx="466344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4B5563"/>
                </a:solidFill>
                <a:latin typeface="Calibri"/>
              </a:defRPr>
            </a:pPr>
            <a:r>
              <a:t>Single source of contract data</a:t>
            </a:r>
          </a:p>
        </p:txBody>
      </p:sp>
      <p:sp>
        <p:nvSpPr>
          <p:cNvPr id="51" name="Oval 50"/>
          <p:cNvSpPr/>
          <p:nvPr/>
        </p:nvSpPr>
        <p:spPr>
          <a:xfrm>
            <a:off x="6629400" y="4654296"/>
            <a:ext cx="128016" cy="128016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903720" y="4562856"/>
            <a:ext cx="46634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111827"/>
                </a:solidFill>
                <a:latin typeface="Calibri"/>
              </a:defRPr>
            </a:pPr>
            <a:r>
              <a:t>No unmanaged deviations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903720" y="4837176"/>
            <a:ext cx="466344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4B5563"/>
                </a:solidFill>
                <a:latin typeface="Calibri"/>
              </a:defRPr>
            </a:pPr>
            <a:r>
              <a:t>Every change tracked and approved</a:t>
            </a:r>
          </a:p>
        </p:txBody>
      </p:sp>
      <p:sp>
        <p:nvSpPr>
          <p:cNvPr id="54" name="Oval 53"/>
          <p:cNvSpPr/>
          <p:nvPr/>
        </p:nvSpPr>
        <p:spPr>
          <a:xfrm>
            <a:off x="6629400" y="5367528"/>
            <a:ext cx="128016" cy="128016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903720" y="5276088"/>
            <a:ext cx="46634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111827"/>
                </a:solidFill>
                <a:latin typeface="Calibri"/>
              </a:defRPr>
            </a:pPr>
            <a:r>
              <a:t>Value realisation is measured, not assumed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903720" y="5550408"/>
            <a:ext cx="466344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4B5563"/>
                </a:solidFill>
                <a:latin typeface="Calibri"/>
              </a:defRPr>
            </a:pPr>
            <a:r>
              <a:t>Track actual outcomes against negotiated terms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7200" y="6473952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1">
                <a:solidFill>
                  <a:srgbClr val="6B7280"/>
                </a:solidFill>
                <a:latin typeface="Calibri"/>
              </a:defRPr>
            </a:pPr>
            <a:r>
              <a:t>13-4-2026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657600" y="6473952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1">
                <a:solidFill>
                  <a:srgbClr val="6B7280"/>
                </a:solidFill>
                <a:latin typeface="Calibri"/>
              </a:defRPr>
            </a:pPr>
            <a:r>
              <a:t>AI-Powered Contract Intelligence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601200" y="6446520"/>
            <a:ext cx="2468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300" b="1">
                <a:solidFill>
                  <a:srgbClr val="2563EB"/>
                </a:solidFill>
                <a:latin typeface="Calibri"/>
              </a:defRPr>
            </a:pPr>
            <a:r>
              <a:t>Evaluetor© AI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57200" y="6400800"/>
            <a:ext cx="11247120" cy="1371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6B7280"/>
                </a:solidFill>
                <a:latin typeface="Calibri"/>
              </a:defRPr>
            </a:pPr>
            <a:r>
              <a:t>2/14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111827"/>
                </a:solidFill>
                <a:latin typeface="Calibri"/>
              </a:defRPr>
            </a:pPr>
            <a:r>
              <a:t>Why Active Contract Management Is a Commercial Imperative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914400"/>
            <a:ext cx="11247120" cy="123444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1097280"/>
            <a:ext cx="146304" cy="146304"/>
          </a:xfrm>
          <a:prstGeom prst="ellipse">
            <a:avLst/>
          </a:prstGeom>
          <a:solidFill>
            <a:srgbClr val="EA76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024128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111827"/>
                </a:solidFill>
                <a:latin typeface="Calibri"/>
              </a:defRPr>
            </a:pPr>
            <a:r>
              <a:t>Value Leakage Post-Signing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371600"/>
            <a:ext cx="1033272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4B5563"/>
                </a:solidFill>
                <a:latin typeface="Calibri"/>
              </a:defRPr>
            </a:pPr>
            <a:r>
              <a:t>Organizations lose 8–11% of contract value after signing due to poor execution and monitoring. The problem isn’t negotiation — it’s what happens after the ink dries.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331720"/>
            <a:ext cx="11247120" cy="123444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77240" y="2514600"/>
            <a:ext cx="146304" cy="146304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441448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111827"/>
                </a:solidFill>
                <a:latin typeface="Calibri"/>
              </a:defRPr>
            </a:pPr>
            <a:r>
              <a:t>Systemic Commercial Failure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788920"/>
            <a:ext cx="1033272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4B5563"/>
                </a:solidFill>
                <a:latin typeface="Calibri"/>
              </a:defRPr>
            </a:pPr>
            <a:r>
              <a:t>Value loss comes from lack of ownership and enforcement, not negotiation. Without active tracking, negotiated terms never translate into realized financial outcomes.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749040"/>
            <a:ext cx="11247120" cy="123444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77240" y="3931920"/>
            <a:ext cx="146304" cy="146304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858768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111827"/>
                </a:solidFill>
                <a:latin typeface="Calibri"/>
              </a:defRPr>
            </a:pPr>
            <a:r>
              <a:t>Active Management Benefits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206240"/>
            <a:ext cx="1033272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4B5563"/>
                </a:solidFill>
                <a:latin typeface="Calibri"/>
              </a:defRPr>
            </a:pPr>
            <a:r>
              <a:t>Active contract management assigns ownership, tracks obligations, and captures value — reducing losses by 30–40%. Every contract becomes a managed financial instrument.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5166360"/>
            <a:ext cx="11247120" cy="123444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77240" y="5349240"/>
            <a:ext cx="146304" cy="14630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5276088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111827"/>
                </a:solidFill>
                <a:latin typeface="Calibri"/>
              </a:defRPr>
            </a:pPr>
            <a:r>
              <a:t>Profit Enablement Capability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5623560"/>
            <a:ext cx="1033272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4B5563"/>
                </a:solidFill>
                <a:latin typeface="Calibri"/>
              </a:defRPr>
            </a:pPr>
            <a:r>
              <a:t>Active contract management turns negotiated agreements into realized financial results and predictable cash flow. Contracts stop being static documents and start driving revenue.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73952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1">
                <a:solidFill>
                  <a:srgbClr val="6B7280"/>
                </a:solidFill>
                <a:latin typeface="Calibri"/>
              </a:defRPr>
            </a:pPr>
            <a:r>
              <a:t>13-4-2026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6473952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1">
                <a:solidFill>
                  <a:srgbClr val="6B7280"/>
                </a:solidFill>
                <a:latin typeface="Calibri"/>
              </a:defRPr>
            </a:pPr>
            <a:r>
              <a:t>AI-Powered Contract Intelligence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0" y="6446520"/>
            <a:ext cx="2468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300" b="1">
                <a:solidFill>
                  <a:srgbClr val="2563EB"/>
                </a:solidFill>
                <a:latin typeface="Calibri"/>
              </a:defRPr>
            </a:pPr>
            <a:r>
              <a:t>Evaluetor© AI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6400800"/>
            <a:ext cx="11247120" cy="1371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6B7280"/>
                </a:solidFill>
                <a:latin typeface="Calibri"/>
              </a:defRPr>
            </a:pPr>
            <a:r>
              <a:t>3/14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111827"/>
                </a:solidFill>
                <a:latin typeface="Calibri"/>
              </a:defRPr>
            </a:pPr>
            <a:r>
              <a:t>Supporting the Contract Lifecycle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0972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4B5563"/>
                </a:solidFill>
                <a:latin typeface="Calibri"/>
              </a:defRPr>
            </a:pPr>
            <a:r>
              <a:t>Most CLM tools focus on pre-signature. Evaluetor focuses on what happens after — where the real value is won or lost.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3566160" cy="164592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3200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6B7280"/>
                </a:solidFill>
                <a:latin typeface="Calibri"/>
              </a:defRPr>
            </a:pPr>
            <a:r>
              <a:t>Contracting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3200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4B5563"/>
                </a:solidFill>
                <a:latin typeface="Calibri"/>
              </a:defRPr>
            </a:pPr>
            <a:r>
              <a:t>Negotiation, drafting,</a:t>
            </a:r>
            <a:br/>
            <a:r>
              <a:t>and execution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280160"/>
            <a:ext cx="3566160" cy="164592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1417320"/>
            <a:ext cx="3200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2563EB"/>
                </a:solidFill>
                <a:latin typeface="Calibri"/>
              </a:defRPr>
            </a:pPr>
            <a:r>
              <a:t>Execution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1783080"/>
            <a:ext cx="3200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111827"/>
                </a:solidFill>
                <a:latin typeface="Calibri"/>
              </a:defRPr>
            </a:pPr>
            <a:r>
              <a:t>Obligation tracking, SLA monitoring,</a:t>
            </a:r>
            <a:br/>
            <a:r>
              <a:t>risk management, relationship governance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2514600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2563EB"/>
                </a:solidFill>
                <a:latin typeface="Calibri"/>
              </a:defRPr>
            </a:pPr>
            <a:r>
              <a:t>Evaluetor© AI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280160"/>
            <a:ext cx="3566160" cy="164592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1417320"/>
            <a:ext cx="3200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6B7280"/>
                </a:solidFill>
                <a:latin typeface="Calibri"/>
              </a:defRPr>
            </a:pPr>
            <a:r>
              <a:t>Close / Renewal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1783080"/>
            <a:ext cx="3200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4B5563"/>
                </a:solidFill>
                <a:latin typeface="Calibri"/>
              </a:defRPr>
            </a:pPr>
            <a:r>
              <a:t>Renewal decisions,</a:t>
            </a:r>
            <a:br/>
            <a:r>
              <a:t>renegotiation, exit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23360" y="1828800"/>
            <a:ext cx="365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400" b="1">
                <a:solidFill>
                  <a:srgbClr val="D1D5D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1828800"/>
            <a:ext cx="365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400" b="1">
                <a:solidFill>
                  <a:srgbClr val="D1D5D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200400"/>
            <a:ext cx="10972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111827"/>
                </a:solidFill>
                <a:latin typeface="Calibri"/>
              </a:defRPr>
            </a:pPr>
            <a:r>
              <a:t>Challenges that arise during execution: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566160"/>
            <a:ext cx="2697480" cy="4114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3694176"/>
            <a:ext cx="91440" cy="91440"/>
          </a:xfrm>
          <a:prstGeom prst="ellipse">
            <a:avLst/>
          </a:prstGeom>
          <a:solidFill>
            <a:srgbClr val="EA76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3639312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111827"/>
                </a:solidFill>
                <a:latin typeface="Calibri"/>
              </a:defRPr>
            </a:pPr>
            <a:r>
              <a:t>Scope changes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337560" y="3566160"/>
            <a:ext cx="2697480" cy="4114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447288" y="3694176"/>
            <a:ext cx="91440" cy="91440"/>
          </a:xfrm>
          <a:prstGeom prst="ellipse">
            <a:avLst/>
          </a:prstGeom>
          <a:solidFill>
            <a:srgbClr val="EA76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30168" y="3639312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111827"/>
                </a:solidFill>
                <a:latin typeface="Calibri"/>
              </a:defRPr>
            </a:pPr>
            <a:r>
              <a:t>Dissatisfaction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3566160"/>
            <a:ext cx="2697480" cy="4114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327648" y="3694176"/>
            <a:ext cx="91440" cy="91440"/>
          </a:xfrm>
          <a:prstGeom prst="ellipse">
            <a:avLst/>
          </a:prstGeom>
          <a:solidFill>
            <a:srgbClr val="EA76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10528" y="3639312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111827"/>
                </a:solidFill>
                <a:latin typeface="Calibri"/>
              </a:defRPr>
            </a:pPr>
            <a:r>
              <a:t>Complaints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98280" y="3566160"/>
            <a:ext cx="2697480" cy="4114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208008" y="3694176"/>
            <a:ext cx="91440" cy="91440"/>
          </a:xfrm>
          <a:prstGeom prst="ellipse">
            <a:avLst/>
          </a:prstGeom>
          <a:solidFill>
            <a:srgbClr val="EA76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90888" y="3639312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111827"/>
                </a:solidFill>
                <a:latin typeface="Calibri"/>
              </a:defRPr>
            </a:pPr>
            <a:r>
              <a:t>Disputes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4114800"/>
            <a:ext cx="2697480" cy="4114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66928" y="4242816"/>
            <a:ext cx="91440" cy="91440"/>
          </a:xfrm>
          <a:prstGeom prst="ellipse">
            <a:avLst/>
          </a:prstGeom>
          <a:solidFill>
            <a:srgbClr val="EA76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9808" y="4187952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111827"/>
                </a:solidFill>
                <a:latin typeface="Calibri"/>
              </a:defRPr>
            </a:pPr>
            <a:r>
              <a:t>Legislation changes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337560" y="4114800"/>
            <a:ext cx="2697480" cy="4114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447288" y="4242816"/>
            <a:ext cx="91440" cy="91440"/>
          </a:xfrm>
          <a:prstGeom prst="ellipse">
            <a:avLst/>
          </a:prstGeom>
          <a:solidFill>
            <a:srgbClr val="EA76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30168" y="4187952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111827"/>
                </a:solidFill>
                <a:latin typeface="Calibri"/>
              </a:defRPr>
            </a:pPr>
            <a:r>
              <a:t>New requirements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17920" y="4114800"/>
            <a:ext cx="2697480" cy="4114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327648" y="4242816"/>
            <a:ext cx="91440" cy="91440"/>
          </a:xfrm>
          <a:prstGeom prst="ellipse">
            <a:avLst/>
          </a:prstGeom>
          <a:solidFill>
            <a:srgbClr val="EA76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10528" y="4187952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111827"/>
                </a:solidFill>
                <a:latin typeface="Calibri"/>
              </a:defRPr>
            </a:pPr>
            <a:r>
              <a:t>Add-on requests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098280" y="4114800"/>
            <a:ext cx="2697480" cy="4114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9208008" y="4242816"/>
            <a:ext cx="91440" cy="91440"/>
          </a:xfrm>
          <a:prstGeom prst="ellipse">
            <a:avLst/>
          </a:prstGeom>
          <a:solidFill>
            <a:srgbClr val="EA76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390888" y="4187952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111827"/>
                </a:solidFill>
                <a:latin typeface="Calibri"/>
              </a:defRPr>
            </a:pPr>
            <a:r>
              <a:t>SLA breaches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57200" y="4846320"/>
            <a:ext cx="11247120" cy="118872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31520" y="4983480"/>
            <a:ext cx="10698480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2563EB"/>
                </a:solidFill>
                <a:latin typeface="Calibri"/>
              </a:defRPr>
            </a:pPr>
            <a:r>
              <a:t>Evaluetor’s AI agents monitor all of this automatically — detecting risks, tracking obligations, and alerting stakeholders before value is lost.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" y="6473952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1">
                <a:solidFill>
                  <a:srgbClr val="6B7280"/>
                </a:solidFill>
                <a:latin typeface="Calibri"/>
              </a:defRPr>
            </a:pPr>
            <a:r>
              <a:t>13-4-2026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57600" y="6473952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1">
                <a:solidFill>
                  <a:srgbClr val="6B7280"/>
                </a:solidFill>
                <a:latin typeface="Calibri"/>
              </a:defRPr>
            </a:pPr>
            <a:r>
              <a:t>AI-Powered Contract Intelligence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601200" y="6446520"/>
            <a:ext cx="2468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300" b="1">
                <a:solidFill>
                  <a:srgbClr val="2563EB"/>
                </a:solidFill>
                <a:latin typeface="Calibri"/>
              </a:defRPr>
            </a:pPr>
            <a:r>
              <a:t>Evaluetor© AI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7200" y="6400800"/>
            <a:ext cx="11247120" cy="1371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6B7280"/>
                </a:solidFill>
                <a:latin typeface="Calibri"/>
              </a:defRPr>
            </a:pPr>
            <a:r>
              <a:t>4/14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600" b="1">
                <a:solidFill>
                  <a:srgbClr val="111827"/>
                </a:solidFill>
                <a:latin typeface="Calibri"/>
              </a:defRPr>
            </a:pPr>
            <a:r>
              <a:t>Connected to where conditions are measurable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1247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4B5563"/>
                </a:solidFill>
                <a:latin typeface="Calibri"/>
              </a:defRPr>
            </a:pPr>
            <a:r>
              <a:t>Evaluetor connects contracts with the outside world — comparing contracted terms against real-time data from the systems where work actually happens.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25880"/>
            <a:ext cx="3749039" cy="301752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325880"/>
            <a:ext cx="3749039" cy="77724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417320"/>
            <a:ext cx="32918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Volumes @ ERP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783080"/>
            <a:ext cx="32918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SAP, Oracle, NetSuite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286000"/>
            <a:ext cx="329184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4B5563"/>
                </a:solidFill>
                <a:latin typeface="Calibri"/>
              </a:defRPr>
            </a:pPr>
            <a:r>
              <a:t>Compare actual purchase volumes against committed volumes. Detect under-buying and trigger rebate claims automatically.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1325880"/>
            <a:ext cx="3749039" cy="301752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70832" y="1325880"/>
            <a:ext cx="3749039" cy="7772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9432" y="1417320"/>
            <a:ext cx="32918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SLA @ ServiceNow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9432" y="1783080"/>
            <a:ext cx="32918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ITSM / ticketing systems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9432" y="2286000"/>
            <a:ext cx="329184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4B5563"/>
                </a:solidFill>
                <a:latin typeface="Calibri"/>
              </a:defRPr>
            </a:pPr>
            <a:r>
              <a:t>Ingest incident response times, resolution metrics, and uptime. Detect SLA breaches the moment they happen, calculate credits.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84464" y="1325880"/>
            <a:ext cx="3749039" cy="301752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284464" y="1325880"/>
            <a:ext cx="3749039" cy="77724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13064" y="1417320"/>
            <a:ext cx="32918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FX @ ECB Website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13064" y="1783080"/>
            <a:ext cx="32918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Central bank / market data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13064" y="2286000"/>
            <a:ext cx="329184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4B5563"/>
                </a:solidFill>
                <a:latin typeface="Calibri"/>
              </a:defRPr>
            </a:pPr>
            <a:r>
              <a:t>Pull live FX rates for currency-indexed contracts. Detect when contractual FX thresholds are crossed.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4572000"/>
            <a:ext cx="11247120" cy="14630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4663440"/>
            <a:ext cx="11247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111827"/>
                </a:solidFill>
                <a:latin typeface="Calibri"/>
              </a:defRPr>
            </a:pPr>
            <a:r>
              <a:t>Continuous Control Cycle by Agentic AI Agents</a:t>
            </a:r>
          </a:p>
        </p:txBody>
      </p:sp>
      <p:sp>
        <p:nvSpPr>
          <p:cNvPr id="22" name="Oval 21"/>
          <p:cNvSpPr/>
          <p:nvPr/>
        </p:nvSpPr>
        <p:spPr>
          <a:xfrm>
            <a:off x="640080" y="5074920"/>
            <a:ext cx="457200" cy="4572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5120640"/>
            <a:ext cx="457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7C3AED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5074920"/>
            <a:ext cx="2103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111827"/>
                </a:solidFill>
                <a:latin typeface="Calibri"/>
              </a:defRPr>
            </a:pPr>
            <a:r>
              <a:t>Upload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5349240"/>
            <a:ext cx="21031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4B5563"/>
                </a:solidFill>
                <a:latin typeface="Calibri"/>
              </a:defRPr>
            </a:pPr>
            <a:r>
              <a:t>Contracts: MSA, schedules, SOWs</a:t>
            </a:r>
          </a:p>
        </p:txBody>
      </p:sp>
      <p:sp>
        <p:nvSpPr>
          <p:cNvPr id="26" name="Oval 25"/>
          <p:cNvSpPr/>
          <p:nvPr/>
        </p:nvSpPr>
        <p:spPr>
          <a:xfrm>
            <a:off x="3383280" y="5074920"/>
            <a:ext cx="457200" cy="4572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A76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383280" y="5120640"/>
            <a:ext cx="457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EA760D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31920" y="5074920"/>
            <a:ext cx="2103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111827"/>
                </a:solidFill>
                <a:latin typeface="Calibri"/>
              </a:defRPr>
            </a:pPr>
            <a:r>
              <a:t>AI Extracts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31920" y="5349240"/>
            <a:ext cx="21031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4B5563"/>
                </a:solidFill>
                <a:latin typeface="Calibri"/>
              </a:defRPr>
            </a:pPr>
            <a:r>
              <a:t>Structured &amp; analysed</a:t>
            </a:r>
          </a:p>
        </p:txBody>
      </p:sp>
      <p:sp>
        <p:nvSpPr>
          <p:cNvPr id="30" name="Oval 29"/>
          <p:cNvSpPr/>
          <p:nvPr/>
        </p:nvSpPr>
        <p:spPr>
          <a:xfrm>
            <a:off x="6126480" y="5074920"/>
            <a:ext cx="457200" cy="4572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26480" y="5120640"/>
            <a:ext cx="457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0D9488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0" y="5074920"/>
            <a:ext cx="2103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111827"/>
                </a:solidFill>
                <a:latin typeface="Calibri"/>
              </a:defRPr>
            </a:pPr>
            <a:r>
              <a:t>Dashboards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75120" y="5349240"/>
            <a:ext cx="21031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4B5563"/>
                </a:solidFill>
                <a:latin typeface="Calibri"/>
              </a:defRPr>
            </a:pPr>
            <a:r>
              <a:t>With external data comparison</a:t>
            </a:r>
          </a:p>
        </p:txBody>
      </p:sp>
      <p:sp>
        <p:nvSpPr>
          <p:cNvPr id="34" name="Oval 33"/>
          <p:cNvSpPr/>
          <p:nvPr/>
        </p:nvSpPr>
        <p:spPr>
          <a:xfrm>
            <a:off x="8869680" y="5074920"/>
            <a:ext cx="457200" cy="4572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869680" y="5120640"/>
            <a:ext cx="457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2563EB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18320" y="5074920"/>
            <a:ext cx="2103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111827"/>
                </a:solidFill>
                <a:latin typeface="Calibri"/>
              </a:defRPr>
            </a:pPr>
            <a:r>
              <a:t>Take Action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418320" y="5349240"/>
            <a:ext cx="21031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4B5563"/>
                </a:solidFill>
                <a:latin typeface="Calibri"/>
              </a:defRPr>
            </a:pPr>
            <a:r>
              <a:t>Agentic AI continuous control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6473952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1">
                <a:solidFill>
                  <a:srgbClr val="6B7280"/>
                </a:solidFill>
                <a:latin typeface="Calibri"/>
              </a:defRPr>
            </a:pPr>
            <a:r>
              <a:t>13-4-2026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57600" y="6473952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1">
                <a:solidFill>
                  <a:srgbClr val="6B7280"/>
                </a:solidFill>
                <a:latin typeface="Calibri"/>
              </a:defRPr>
            </a:pPr>
            <a:r>
              <a:t>AI-Powered Contract Intelligence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01200" y="6446520"/>
            <a:ext cx="2468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300" b="1">
                <a:solidFill>
                  <a:srgbClr val="2563EB"/>
                </a:solidFill>
                <a:latin typeface="Calibri"/>
              </a:defRPr>
            </a:pPr>
            <a:r>
              <a:t>Evaluetor© AI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6400800"/>
            <a:ext cx="11247120" cy="1371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6B7280"/>
                </a:solidFill>
                <a:latin typeface="Calibri"/>
              </a:defRPr>
            </a:pPr>
            <a:r>
              <a:t>5/14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29260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2563EB"/>
                </a:solidFill>
                <a:latin typeface="Calibri"/>
              </a:defRPr>
            </a:pPr>
            <a:r>
              <a:t>Evaluetor©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137160"/>
            <a:ext cx="7315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111827"/>
                </a:solidFill>
                <a:latin typeface="Calibri"/>
              </a:defRPr>
            </a:pPr>
            <a:r>
              <a:t>One platform. Complete intelligence.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2471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EA760D"/>
                </a:solidFill>
                <a:latin typeface="Calibri"/>
              </a:defRPr>
            </a:pPr>
            <a:r>
              <a:t>From upload to intelligence in minutes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822960"/>
            <a:ext cx="11430000" cy="228600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1560" y="1005840"/>
            <a:ext cx="594360" cy="5943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069848"/>
            <a:ext cx="5943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7C3AED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14630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111827"/>
                </a:solidFill>
                <a:latin typeface="Calibri"/>
              </a:defRPr>
            </a:pPr>
            <a:r>
              <a:t>Upload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965960"/>
            <a:ext cx="16459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4B5563"/>
                </a:solidFill>
                <a:latin typeface="Calibri"/>
              </a:defRPr>
            </a:pPr>
            <a:r>
              <a:t>Drop any PDF, DOCX, or batch</a:t>
            </a:r>
            <a:br/>
            <a:r>
              <a:t>upload a ZIP. OCR handles scans.</a:t>
            </a:r>
          </a:p>
        </p:txBody>
      </p:sp>
      <p:sp>
        <p:nvSpPr>
          <p:cNvPr id="11" name="Oval 10"/>
          <p:cNvSpPr/>
          <p:nvPr/>
        </p:nvSpPr>
        <p:spPr>
          <a:xfrm>
            <a:off x="3886200" y="1005840"/>
            <a:ext cx="594360" cy="5943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A76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86200" y="1069848"/>
            <a:ext cx="5943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EA760D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1691640"/>
            <a:ext cx="14630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111827"/>
                </a:solidFill>
                <a:latin typeface="Calibri"/>
              </a:defRPr>
            </a:pPr>
            <a:r>
              <a:t>AI Extracts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1965960"/>
            <a:ext cx="16459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4B5563"/>
                </a:solidFill>
                <a:latin typeface="Calibri"/>
              </a:defRPr>
            </a:pPr>
            <a:r>
              <a:t>9 agents extract metadata,</a:t>
            </a:r>
            <a:br/>
            <a:r>
              <a:t>clauses, obligations, SLAs, risks.</a:t>
            </a:r>
          </a:p>
        </p:txBody>
      </p:sp>
      <p:sp>
        <p:nvSpPr>
          <p:cNvPr id="15" name="Oval 14"/>
          <p:cNvSpPr/>
          <p:nvPr/>
        </p:nvSpPr>
        <p:spPr>
          <a:xfrm>
            <a:off x="6720840" y="1005840"/>
            <a:ext cx="594360" cy="5943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20840" y="1069848"/>
            <a:ext cx="5943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0D9488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1691640"/>
            <a:ext cx="14630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111827"/>
                </a:solidFill>
                <a:latin typeface="Calibri"/>
              </a:defRPr>
            </a:pPr>
            <a:r>
              <a:t>Dashboards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1965960"/>
            <a:ext cx="16459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4B5563"/>
                </a:solidFill>
                <a:latin typeface="Calibri"/>
              </a:defRPr>
            </a:pPr>
            <a:r>
              <a:t>Real-time dashboards surface</a:t>
            </a:r>
            <a:br/>
            <a:r>
              <a:t>risks, deadlines, and vendor scores.</a:t>
            </a:r>
          </a:p>
        </p:txBody>
      </p:sp>
      <p:sp>
        <p:nvSpPr>
          <p:cNvPr id="19" name="Oval 18"/>
          <p:cNvSpPr/>
          <p:nvPr/>
        </p:nvSpPr>
        <p:spPr>
          <a:xfrm>
            <a:off x="9555480" y="1005840"/>
            <a:ext cx="594360" cy="5943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55480" y="1069848"/>
            <a:ext cx="5943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2563EB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1691640"/>
            <a:ext cx="14630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111827"/>
                </a:solidFill>
                <a:latin typeface="Calibri"/>
              </a:defRPr>
            </a:pPr>
            <a:r>
              <a:t>Take Action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0" y="1965960"/>
            <a:ext cx="16459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4B5563"/>
                </a:solidFill>
                <a:latin typeface="Calibri"/>
              </a:defRPr>
            </a:pPr>
            <a:r>
              <a:t>Claim credits, meet deadlines,</a:t>
            </a:r>
            <a:br/>
            <a:r>
              <a:t>renegotiate, govern relationships.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3200400"/>
            <a:ext cx="112471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6B7280"/>
                </a:solidFill>
                <a:latin typeface="Calibri"/>
              </a:defRPr>
            </a:pPr>
            <a:r>
              <a:t>No templates. No pre-configuration. No training required. Just upload and go.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" y="3520440"/>
            <a:ext cx="3703320" cy="128016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02920" y="3657600"/>
            <a:ext cx="91440" cy="9144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3593592"/>
            <a:ext cx="32004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111827"/>
                </a:solidFill>
                <a:latin typeface="Calibri"/>
              </a:defRPr>
            </a:pPr>
            <a:r>
              <a:t>Contract Intelligence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3886200"/>
            <a:ext cx="34290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4B5563"/>
                </a:solidFill>
                <a:latin typeface="Calibri"/>
              </a:defRPr>
            </a:pPr>
            <a:r>
              <a:t>AI extracts metadata, 30+ clause types, and risks across 10 categories. Full semantic search across entire portfolio.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51960" y="3520440"/>
            <a:ext cx="3703320" cy="128016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389120" y="3657600"/>
            <a:ext cx="91440" cy="91440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0" y="3593592"/>
            <a:ext cx="32004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111827"/>
                </a:solidFill>
                <a:latin typeface="Calibri"/>
              </a:defRPr>
            </a:pPr>
            <a:r>
              <a:t>Obligation Tracking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9120" y="3886200"/>
            <a:ext cx="34290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4B5563"/>
                </a:solidFill>
                <a:latin typeface="Calibri"/>
              </a:defRPr>
            </a:pPr>
            <a:r>
              <a:t>RAG status indicators, owner assignment, escalation paths, and automated deadline alerts. Never miss a commitment.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38160" y="3520440"/>
            <a:ext cx="3703320" cy="128016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275320" y="3657600"/>
            <a:ext cx="91440" cy="914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58200" y="3593592"/>
            <a:ext cx="32004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111827"/>
                </a:solidFill>
                <a:latin typeface="Calibri"/>
              </a:defRPr>
            </a:pPr>
            <a:r>
              <a:t>SLA Monitoring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75320" y="3886200"/>
            <a:ext cx="34290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4B5563"/>
                </a:solidFill>
                <a:latin typeface="Calibri"/>
              </a:defRPr>
            </a:pPr>
            <a:r>
              <a:t>Real-time breach detection, service credit calculation, and vendor scorecards. Know when performance falls short.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65760" y="4937760"/>
            <a:ext cx="3703320" cy="128016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02920" y="5074920"/>
            <a:ext cx="91440" cy="91440"/>
          </a:xfrm>
          <a:prstGeom prst="ellipse">
            <a:avLst/>
          </a:prstGeom>
          <a:solidFill>
            <a:srgbClr val="EA76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5800" y="5010912"/>
            <a:ext cx="32004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111827"/>
                </a:solidFill>
                <a:latin typeface="Calibri"/>
              </a:defRPr>
            </a:pPr>
            <a:r>
              <a:t>Renewal Management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5303520"/>
            <a:ext cx="34290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4B5563"/>
                </a:solidFill>
                <a:latin typeface="Calibri"/>
              </a:defRPr>
            </a:pPr>
            <a:r>
              <a:t>Auto-renewal detection, notice period tracking, and AI-powered renewal recommendations. Stay ahead of every date.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251960" y="4937760"/>
            <a:ext cx="3703320" cy="128016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4389120" y="5074920"/>
            <a:ext cx="91440" cy="91440"/>
          </a:xfrm>
          <a:prstGeom prst="ellipse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72000" y="5010912"/>
            <a:ext cx="32004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111827"/>
                </a:solidFill>
                <a:latin typeface="Calibri"/>
              </a:defRPr>
            </a:pPr>
            <a:r>
              <a:t>Relationship Governance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89120" y="5303520"/>
            <a:ext cx="34290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4B5563"/>
                </a:solidFill>
                <a:latin typeface="Calibri"/>
              </a:defRPr>
            </a:pPr>
            <a:r>
              <a:t>KPI perception gap analysis, vendor health scores, satisfaction surveys, and improvement tracking. Only available in Evaluetor.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138160" y="4937760"/>
            <a:ext cx="3703320" cy="128016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8275320" y="5074920"/>
            <a:ext cx="91440" cy="91440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458200" y="5010912"/>
            <a:ext cx="32004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111827"/>
                </a:solidFill>
                <a:latin typeface="Calibri"/>
              </a:defRPr>
            </a:pPr>
            <a:r>
              <a:t>Enterprise Security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75320" y="5303520"/>
            <a:ext cx="34290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4B5563"/>
                </a:solidFill>
                <a:latin typeface="Calibri"/>
              </a:defRPr>
            </a:pPr>
            <a:r>
              <a:t>SOC 2-ready architecture, GDPR-aware, AES-256 encryption, role-based access, multi-tenant isolation, full audit trails.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" y="6473952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1">
                <a:solidFill>
                  <a:srgbClr val="6B7280"/>
                </a:solidFill>
                <a:latin typeface="Calibri"/>
              </a:defRPr>
            </a:pPr>
            <a:r>
              <a:t>13-4-2026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657600" y="6473952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1">
                <a:solidFill>
                  <a:srgbClr val="6B7280"/>
                </a:solidFill>
                <a:latin typeface="Calibri"/>
              </a:defRPr>
            </a:pPr>
            <a:r>
              <a:t>AI-Powered Contract Intelligence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601200" y="6446520"/>
            <a:ext cx="2468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300" b="1">
                <a:solidFill>
                  <a:srgbClr val="2563EB"/>
                </a:solidFill>
                <a:latin typeface="Calibri"/>
              </a:defRPr>
            </a:pPr>
            <a:r>
              <a:t>Evaluetor© AI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57200" y="6400800"/>
            <a:ext cx="11247120" cy="1371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6B7280"/>
                </a:solidFill>
                <a:latin typeface="Calibri"/>
              </a:defRPr>
            </a:pPr>
            <a:r>
              <a:t>6/14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111827"/>
                </a:solidFill>
                <a:latin typeface="Calibri"/>
              </a:defRPr>
            </a:pPr>
            <a:r>
              <a:t>Obligation Tracking: never miss a commitment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777240"/>
            <a:ext cx="11247120" cy="118872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868680"/>
            <a:ext cx="1069848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4B5563"/>
                </a:solidFill>
                <a:latin typeface="Calibri"/>
              </a:defRPr>
            </a:pPr>
            <a:r>
              <a:t>Missed obligations cost money, damage relationships, and create compliance exposure. Evaluetor extracts every obligation from every contract and tracks them through their full lifecycle — with owners, deadlines, and evidence.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48840"/>
            <a:ext cx="5029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111827"/>
                </a:solidFill>
                <a:latin typeface="Calibri"/>
              </a:defRPr>
            </a:pPr>
            <a:r>
              <a:t>The Obligation Lifecycle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23160"/>
            <a:ext cx="50292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B7280"/>
                </a:solidFill>
                <a:latin typeface="Calibri"/>
              </a:defRPr>
            </a:pPr>
            <a:r>
              <a:t>From extraction to compliance proof: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2743200"/>
            <a:ext cx="292608" cy="29260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761488"/>
            <a:ext cx="292608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761488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111827"/>
                </a:solidFill>
                <a:latin typeface="Calibri"/>
              </a:defRPr>
            </a:pPr>
            <a:r>
              <a:t>AI Extraction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779776"/>
            <a:ext cx="3017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4B5563"/>
                </a:solidFill>
                <a:latin typeface="Calibri"/>
              </a:defRPr>
            </a:pPr>
            <a:r>
              <a:t>Obligations identified with deadlines, parties, and consequences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8096" y="3063240"/>
            <a:ext cx="36576" cy="429768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0080" y="3493008"/>
            <a:ext cx="292608" cy="292608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511296"/>
            <a:ext cx="292608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511296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111827"/>
                </a:solidFill>
                <a:latin typeface="Calibri"/>
              </a:defRPr>
            </a:pPr>
            <a:r>
              <a:t>Classification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3529584"/>
            <a:ext cx="3017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4B5563"/>
                </a:solidFill>
                <a:latin typeface="Calibri"/>
              </a:defRPr>
            </a:pPr>
            <a:r>
              <a:t>7 types: delivery, reporting, payment, regulatory, performance, notice, compliance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8096" y="3813048"/>
            <a:ext cx="36576" cy="429768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0080" y="4242816"/>
            <a:ext cx="292608" cy="292608"/>
          </a:xfrm>
          <a:prstGeom prst="ellipse">
            <a:avLst/>
          </a:prstGeom>
          <a:solidFill>
            <a:srgbClr val="EA76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261104"/>
            <a:ext cx="292608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4261104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111827"/>
                </a:solidFill>
                <a:latin typeface="Calibri"/>
              </a:defRPr>
            </a:pPr>
            <a:r>
              <a:t>Owner Assignment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26080" y="4279392"/>
            <a:ext cx="3017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4B5563"/>
                </a:solidFill>
                <a:latin typeface="Calibri"/>
              </a:defRPr>
            </a:pPr>
            <a:r>
              <a:t>Each obligation assigned to a responsible person with escalation path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68096" y="4562856"/>
            <a:ext cx="36576" cy="429768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0080" y="4992624"/>
            <a:ext cx="292608" cy="292608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5010912"/>
            <a:ext cx="292608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5010912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111827"/>
                </a:solidFill>
                <a:latin typeface="Calibri"/>
              </a:defRPr>
            </a:pPr>
            <a:r>
              <a:t>Status Tracking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26080" y="5029200"/>
            <a:ext cx="3017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4B5563"/>
                </a:solidFill>
                <a:latin typeface="Calibri"/>
              </a:defRPr>
            </a:pPr>
            <a:r>
              <a:t>RAG indicators (Red / Amber / Green) updated as deadlines approach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68096" y="5312664"/>
            <a:ext cx="36576" cy="429768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40080" y="5742432"/>
            <a:ext cx="292608" cy="29260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5760720"/>
            <a:ext cx="292608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576072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111827"/>
                </a:solidFill>
                <a:latin typeface="Calibri"/>
              </a:defRPr>
            </a:pPr>
            <a:r>
              <a:t>Evidence &amp; Audit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26080" y="5779008"/>
            <a:ext cx="3017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4B5563"/>
                </a:solidFill>
                <a:latin typeface="Calibri"/>
              </a:defRPr>
            </a:pPr>
            <a:r>
              <a:t>Compliance evidence attached for audit trails and reporting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0" y="2148840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111827"/>
                </a:solidFill>
                <a:latin typeface="Calibri"/>
              </a:defRPr>
            </a:pPr>
            <a:r>
              <a:t>Key Capabilities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17920" y="2560320"/>
            <a:ext cx="5486400" cy="114300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00800" y="2724912"/>
            <a:ext cx="109728" cy="109728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29400" y="2651760"/>
            <a:ext cx="48463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111827"/>
                </a:solidFill>
                <a:latin typeface="Calibri"/>
              </a:defRPr>
            </a:pPr>
            <a:r>
              <a:t>RAG Status Dashboard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2926080"/>
            <a:ext cx="512064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4B5563"/>
                </a:solidFill>
                <a:latin typeface="Calibri"/>
              </a:defRPr>
            </a:pPr>
            <a:r>
              <a:t>At-a-glance compliance visibility across your entire portfolio. Red flags overdue items, amber shows approaching deadlines, green confirms on-track — filterable by vendor, business unit, or contract type.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17920" y="3840480"/>
            <a:ext cx="5486400" cy="114300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400800" y="4005072"/>
            <a:ext cx="109728" cy="109728"/>
          </a:xfrm>
          <a:prstGeom prst="ellipse">
            <a:avLst/>
          </a:prstGeom>
          <a:solidFill>
            <a:srgbClr val="EA76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629400" y="3931920"/>
            <a:ext cx="48463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111827"/>
                </a:solidFill>
                <a:latin typeface="Calibri"/>
              </a:defRPr>
            </a:pPr>
            <a:r>
              <a:t>Configurable Deadline Alerts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0" y="4206240"/>
            <a:ext cx="512064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4B5563"/>
                </a:solidFill>
                <a:latin typeface="Calibri"/>
              </a:defRPr>
            </a:pPr>
            <a:r>
              <a:t>Automated notifications at configurable lead times before each deadline. Alerts route to obligation owners via email, Slack, or Microsoft Teams — with escalation when deadlines are missed.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17920" y="5120640"/>
            <a:ext cx="5486400" cy="114300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400800" y="5285232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629400" y="5212080"/>
            <a:ext cx="48463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111827"/>
                </a:solidFill>
                <a:latin typeface="Calibri"/>
              </a:defRPr>
            </a:pPr>
            <a:r>
              <a:t>Compliance Reporting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0" y="5486400"/>
            <a:ext cx="512064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4B5563"/>
                </a:solidFill>
                <a:latin typeface="Calibri"/>
              </a:defRPr>
            </a:pPr>
            <a:r>
              <a:t>Generate compliance reports by date range, vendor, or obligation type. Track fulfilment rates over time with trend analysis. Attach evidence documents for audit readiness.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73952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1">
                <a:solidFill>
                  <a:srgbClr val="6B7280"/>
                </a:solidFill>
                <a:latin typeface="Calibri"/>
              </a:defRPr>
            </a:pPr>
            <a:r>
              <a:t>13-4-2026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7600" y="6473952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1">
                <a:solidFill>
                  <a:srgbClr val="6B7280"/>
                </a:solidFill>
                <a:latin typeface="Calibri"/>
              </a:defRPr>
            </a:pPr>
            <a:r>
              <a:t>AI-Powered Contract Intelligence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601200" y="6446520"/>
            <a:ext cx="2468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300" b="1">
                <a:solidFill>
                  <a:srgbClr val="2563EB"/>
                </a:solidFill>
                <a:latin typeface="Calibri"/>
              </a:defRPr>
            </a:pPr>
            <a:r>
              <a:t>Evaluetor© AI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57200" y="6400800"/>
            <a:ext cx="11247120" cy="1371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6B7280"/>
                </a:solidFill>
                <a:latin typeface="Calibri"/>
              </a:defRPr>
            </a:pPr>
            <a:r>
              <a:t>7/14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111827"/>
                </a:solidFill>
                <a:latin typeface="Calibri"/>
              </a:defRPr>
            </a:pPr>
            <a:r>
              <a:t>Risk Detection: see what others miss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777240"/>
            <a:ext cx="11247120" cy="118872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868680"/>
            <a:ext cx="1069848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4B5563"/>
                </a:solidFill>
                <a:latin typeface="Calibri"/>
              </a:defRPr>
            </a:pPr>
            <a:r>
              <a:t>Every contract carries risk — hidden indemnities, uncapped liabilities, ambiguous termination clauses. Evaluetor’s AI scores and categorises risk automatically so your team can focus on what matters most.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48840"/>
            <a:ext cx="5029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111827"/>
                </a:solidFill>
                <a:latin typeface="Calibri"/>
              </a:defRPr>
            </a:pPr>
            <a:r>
              <a:t>How Risk Analysis Works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23160"/>
            <a:ext cx="50292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B7280"/>
                </a:solidFill>
                <a:latin typeface="Calibri"/>
              </a:defRPr>
            </a:pPr>
            <a:r>
              <a:t>Fully automated from upload to alert: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2743200"/>
            <a:ext cx="292608" cy="29260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761488"/>
            <a:ext cx="292608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761488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111827"/>
                </a:solidFill>
                <a:latin typeface="Calibri"/>
              </a:defRPr>
            </a:pPr>
            <a:r>
              <a:t>Document Parsing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779776"/>
            <a:ext cx="3017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4B5563"/>
                </a:solidFill>
                <a:latin typeface="Calibri"/>
              </a:defRPr>
            </a:pPr>
            <a:r>
              <a:t>Text extracted from PDF, DOCX, or scanned images via OCR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8096" y="3063240"/>
            <a:ext cx="36576" cy="429768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0080" y="3493008"/>
            <a:ext cx="292608" cy="29260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511296"/>
            <a:ext cx="292608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511296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111827"/>
                </a:solidFill>
                <a:latin typeface="Calibri"/>
              </a:defRPr>
            </a:pPr>
            <a:r>
              <a:t>Clause Classification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3529584"/>
            <a:ext cx="3017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4B5563"/>
                </a:solidFill>
                <a:latin typeface="Calibri"/>
              </a:defRPr>
            </a:pPr>
            <a:r>
              <a:t>AI identifies 30+ clause types across the full document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8096" y="3813048"/>
            <a:ext cx="36576" cy="429768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0080" y="4242816"/>
            <a:ext cx="292608" cy="292608"/>
          </a:xfrm>
          <a:prstGeom prst="ellipse">
            <a:avLst/>
          </a:prstGeom>
          <a:solidFill>
            <a:srgbClr val="EA76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261104"/>
            <a:ext cx="292608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4261104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111827"/>
                </a:solidFill>
                <a:latin typeface="Calibri"/>
              </a:defRPr>
            </a:pPr>
            <a:r>
              <a:t>Risk Categorisation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26080" y="4279392"/>
            <a:ext cx="3017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4B5563"/>
                </a:solidFill>
                <a:latin typeface="Calibri"/>
              </a:defRPr>
            </a:pPr>
            <a:r>
              <a:t>Each clause scored across 10 risk categories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68096" y="4562856"/>
            <a:ext cx="36576" cy="429768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0080" y="4992624"/>
            <a:ext cx="292608" cy="292608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5010912"/>
            <a:ext cx="292608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5010912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111827"/>
                </a:solidFill>
                <a:latin typeface="Calibri"/>
              </a:defRPr>
            </a:pPr>
            <a:r>
              <a:t>Severity Scoring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26080" y="5029200"/>
            <a:ext cx="3017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4B5563"/>
                </a:solidFill>
                <a:latin typeface="Calibri"/>
              </a:defRPr>
            </a:pPr>
            <a:r>
              <a:t>4-level scale: Low, Medium, High, Critical with confidence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68096" y="5312664"/>
            <a:ext cx="36576" cy="429768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40080" y="5742432"/>
            <a:ext cx="292608" cy="292608"/>
          </a:xfrm>
          <a:prstGeom prst="ellipse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5760720"/>
            <a:ext cx="292608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576072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111827"/>
                </a:solidFill>
                <a:latin typeface="Calibri"/>
              </a:defRPr>
            </a:pPr>
            <a:r>
              <a:t>Portfolio Alerts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26080" y="5779008"/>
            <a:ext cx="3017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4B5563"/>
                </a:solidFill>
                <a:latin typeface="Calibri"/>
              </a:defRPr>
            </a:pPr>
            <a:r>
              <a:t>High-risk items surfaced on dashboards with recommended actions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0" y="2148840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111827"/>
                </a:solidFill>
                <a:latin typeface="Calibri"/>
              </a:defRPr>
            </a:pPr>
            <a:r>
              <a:t>Key Capabilities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17920" y="2560320"/>
            <a:ext cx="5486400" cy="114300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00800" y="2724912"/>
            <a:ext cx="109728" cy="109728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29400" y="2651760"/>
            <a:ext cx="48463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111827"/>
                </a:solidFill>
                <a:latin typeface="Calibri"/>
              </a:defRPr>
            </a:pPr>
            <a:r>
              <a:t>10 Risk Categories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2926080"/>
            <a:ext cx="512064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4B5563"/>
                </a:solidFill>
                <a:latin typeface="Calibri"/>
              </a:defRPr>
            </a:pPr>
            <a:r>
              <a:t>Indemnification, liability caps, IP assignment, termination, confidentiality, non-compete, data protection, insurance, warranty, and force majeure — each scored with weighted severity from 0–100.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17920" y="3840480"/>
            <a:ext cx="5486400" cy="114300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400800" y="4005072"/>
            <a:ext cx="109728" cy="109728"/>
          </a:xfrm>
          <a:prstGeom prst="ellipse">
            <a:avLst/>
          </a:prstGeom>
          <a:solidFill>
            <a:srgbClr val="EA76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629400" y="3931920"/>
            <a:ext cx="48463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111827"/>
                </a:solidFill>
                <a:latin typeface="Calibri"/>
              </a:defRPr>
            </a:pPr>
            <a:r>
              <a:t>Cross-Contract Anomaly Detection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0" y="4206240"/>
            <a:ext cx="512064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4B5563"/>
                </a:solidFill>
                <a:latin typeface="Calibri"/>
              </a:defRPr>
            </a:pPr>
            <a:r>
              <a:t>Knowledge graph compares terms across your portfolio and flags deviations from your norms. Example: “This vendor usually has 30-day payment terms — this contract has 45.”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17920" y="5120640"/>
            <a:ext cx="5486400" cy="114300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400800" y="5285232"/>
            <a:ext cx="109728" cy="10972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629400" y="5212080"/>
            <a:ext cx="48463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111827"/>
                </a:solidFill>
                <a:latin typeface="Calibri"/>
              </a:defRPr>
            </a:pPr>
            <a:r>
              <a:t>Portfolio Risk Dashboard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0" y="5486400"/>
            <a:ext cx="512064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4B5563"/>
                </a:solidFill>
                <a:latin typeface="Calibri"/>
              </a:defRPr>
            </a:pPr>
            <a:r>
              <a:t>Aggregate risk posture across all contracts with drill-down by vendor, contract type, business unit, or risk category. Trend analysis shows whether portfolio risk is improving.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73952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1">
                <a:solidFill>
                  <a:srgbClr val="6B7280"/>
                </a:solidFill>
                <a:latin typeface="Calibri"/>
              </a:defRPr>
            </a:pPr>
            <a:r>
              <a:t>13-4-2026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7600" y="6473952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1">
                <a:solidFill>
                  <a:srgbClr val="6B7280"/>
                </a:solidFill>
                <a:latin typeface="Calibri"/>
              </a:defRPr>
            </a:pPr>
            <a:r>
              <a:t>AI-Powered Contract Intelligence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601200" y="6446520"/>
            <a:ext cx="2468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300" b="1">
                <a:solidFill>
                  <a:srgbClr val="2563EB"/>
                </a:solidFill>
                <a:latin typeface="Calibri"/>
              </a:defRPr>
            </a:pPr>
            <a:r>
              <a:t>Evaluetor© AI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57200" y="6400800"/>
            <a:ext cx="11247120" cy="1371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6B7280"/>
                </a:solidFill>
                <a:latin typeface="Calibri"/>
              </a:defRPr>
            </a:pPr>
            <a:r>
              <a:t>8/14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111827"/>
                </a:solidFill>
                <a:latin typeface="Calibri"/>
              </a:defRPr>
            </a:pPr>
            <a:r>
              <a:t>SLA Monitoring: recover what you’re owed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777240"/>
            <a:ext cx="11247120" cy="118872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868680"/>
            <a:ext cx="1069848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4B5563"/>
                </a:solidFill>
                <a:latin typeface="Calibri"/>
              </a:defRPr>
            </a:pPr>
            <a:r>
              <a:t>SLA breaches happen constantly — the challenge is detecting them. Evaluetor extracts SLA terms, compares them against actual performance, and calculates every service credit you’re entitled to.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48840"/>
            <a:ext cx="5029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111827"/>
                </a:solidFill>
                <a:latin typeface="Calibri"/>
              </a:defRPr>
            </a:pPr>
            <a:r>
              <a:t>From Contract to Credit Recovery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23160"/>
            <a:ext cx="50292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B7280"/>
                </a:solidFill>
                <a:latin typeface="Calibri"/>
              </a:defRPr>
            </a:pPr>
            <a:r>
              <a:t>Automated end-to-end: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2743200"/>
            <a:ext cx="292608" cy="29260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761488"/>
            <a:ext cx="292608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761488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111827"/>
                </a:solidFill>
                <a:latin typeface="Calibri"/>
              </a:defRPr>
            </a:pPr>
            <a:r>
              <a:t>SLA Extraction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779776"/>
            <a:ext cx="3017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4B5563"/>
                </a:solidFill>
                <a:latin typeface="Calibri"/>
              </a:defRPr>
            </a:pPr>
            <a:r>
              <a:t>AI identifies metrics, targets, measurement periods, and penalties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8096" y="3063240"/>
            <a:ext cx="36576" cy="429768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0080" y="3493008"/>
            <a:ext cx="292608" cy="29260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511296"/>
            <a:ext cx="292608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511296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111827"/>
                </a:solidFill>
                <a:latin typeface="Calibri"/>
              </a:defRPr>
            </a:pPr>
            <a:r>
              <a:t>Performance Ingestion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3529584"/>
            <a:ext cx="3017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4B5563"/>
                </a:solidFill>
                <a:latin typeface="Calibri"/>
              </a:defRPr>
            </a:pPr>
            <a:r>
              <a:t>Actual performance data imported via API or manual entry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8096" y="3813048"/>
            <a:ext cx="36576" cy="429768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0080" y="4242816"/>
            <a:ext cx="292608" cy="292608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261104"/>
            <a:ext cx="292608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4261104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111827"/>
                </a:solidFill>
                <a:latin typeface="Calibri"/>
              </a:defRPr>
            </a:pPr>
            <a:r>
              <a:t>Threshold Comparison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26080" y="4279392"/>
            <a:ext cx="3017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4B5563"/>
                </a:solidFill>
                <a:latin typeface="Calibri"/>
              </a:defRPr>
            </a:pPr>
            <a:r>
              <a:t>Contracted targets compared against actuals in real time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68096" y="4562856"/>
            <a:ext cx="36576" cy="429768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0080" y="4992624"/>
            <a:ext cx="292608" cy="292608"/>
          </a:xfrm>
          <a:prstGeom prst="ellipse">
            <a:avLst/>
          </a:prstGeom>
          <a:solidFill>
            <a:srgbClr val="EA76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5010912"/>
            <a:ext cx="292608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5010912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111827"/>
                </a:solidFill>
                <a:latin typeface="Calibri"/>
              </a:defRPr>
            </a:pPr>
            <a:r>
              <a:t>Breach Detection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26080" y="5029200"/>
            <a:ext cx="3017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4B5563"/>
                </a:solidFill>
                <a:latin typeface="Calibri"/>
              </a:defRPr>
            </a:pPr>
            <a:r>
              <a:t>Violations classified by severity: Minor, Moderate, Major, Critical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68096" y="5312664"/>
            <a:ext cx="36576" cy="429768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40080" y="5742432"/>
            <a:ext cx="292608" cy="292608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5760720"/>
            <a:ext cx="292608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576072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111827"/>
                </a:solidFill>
                <a:latin typeface="Calibri"/>
              </a:defRPr>
            </a:pPr>
            <a:r>
              <a:t>Credit Calculation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26080" y="5779008"/>
            <a:ext cx="3017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4B5563"/>
                </a:solidFill>
                <a:latin typeface="Calibri"/>
              </a:defRPr>
            </a:pPr>
            <a:r>
              <a:t>Service credits and penalties computed automatically per contract terms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0" y="2148840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111827"/>
                </a:solidFill>
                <a:latin typeface="Calibri"/>
              </a:defRPr>
            </a:pPr>
            <a:r>
              <a:t>Key Capabilities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17920" y="2560320"/>
            <a:ext cx="5486400" cy="114300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00800" y="2724912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29400" y="2651760"/>
            <a:ext cx="48463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111827"/>
                </a:solidFill>
                <a:latin typeface="Calibri"/>
              </a:defRPr>
            </a:pPr>
            <a:r>
              <a:t>9 SLA Metric Types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2926080"/>
            <a:ext cx="512064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4B5563"/>
                </a:solidFill>
                <a:latin typeface="Calibri"/>
              </a:defRPr>
            </a:pPr>
            <a:r>
              <a:t>Uptime, Response Time, Resolution Time, Throughput, Error Rate, Availability, Latency, MTTR, and Custom metrics — each with targets, thresholds, and measurement windows extracted by AI.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17920" y="3840480"/>
            <a:ext cx="5486400" cy="114300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400800" y="4005072"/>
            <a:ext cx="109728" cy="109728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629400" y="3931920"/>
            <a:ext cx="48463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111827"/>
                </a:solidFill>
                <a:latin typeface="Calibri"/>
              </a:defRPr>
            </a:pPr>
            <a:r>
              <a:t>Service Credit Recovery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0" y="4206240"/>
            <a:ext cx="512064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4B5563"/>
                </a:solidFill>
                <a:latin typeface="Calibri"/>
              </a:defRPr>
            </a:pPr>
            <a:r>
              <a:t>Automatic calculation of credits owed based on breach severity and contract terms. Track recovery status from detection through claim to resolution. Customers report 3–5x more credits.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17920" y="5120640"/>
            <a:ext cx="5486400" cy="114300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400800" y="5285232"/>
            <a:ext cx="109728" cy="109728"/>
          </a:xfrm>
          <a:prstGeom prst="ellipse">
            <a:avLst/>
          </a:prstGeom>
          <a:solidFill>
            <a:srgbClr val="EA76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629400" y="5212080"/>
            <a:ext cx="48463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111827"/>
                </a:solidFill>
                <a:latin typeface="Calibri"/>
              </a:defRPr>
            </a:pPr>
            <a:r>
              <a:t>Vendor Scorecards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0" y="5486400"/>
            <a:ext cx="512064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4B5563"/>
                </a:solidFill>
                <a:latin typeface="Calibri"/>
              </a:defRPr>
            </a:pPr>
            <a:r>
              <a:t>A–F grade vendor ratings combining SLA compliance rate, breach frequency, financial impact, and trend direction. Compare vendor performance across your portfolio.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73952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1">
                <a:solidFill>
                  <a:srgbClr val="6B7280"/>
                </a:solidFill>
                <a:latin typeface="Calibri"/>
              </a:defRPr>
            </a:pPr>
            <a:r>
              <a:t>13-4-2026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7600" y="6473952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1">
                <a:solidFill>
                  <a:srgbClr val="6B7280"/>
                </a:solidFill>
                <a:latin typeface="Calibri"/>
              </a:defRPr>
            </a:pPr>
            <a:r>
              <a:t>AI-Powered Contract Intelligence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601200" y="6446520"/>
            <a:ext cx="2468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300" b="1">
                <a:solidFill>
                  <a:srgbClr val="2563EB"/>
                </a:solidFill>
                <a:latin typeface="Calibri"/>
              </a:defRPr>
            </a:pPr>
            <a:r>
              <a:t>Evaluetor© AI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57200" y="6400800"/>
            <a:ext cx="11247120" cy="1371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6B7280"/>
                </a:solidFill>
                <a:latin typeface="Calibri"/>
              </a:defRPr>
            </a:pPr>
            <a:r>
              <a:t>9/14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111827"/>
                </a:solidFill>
                <a:latin typeface="Calibri"/>
              </a:defRPr>
            </a:pPr>
            <a:r>
              <a:t>Relationship Governance: only in Evaluetor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777240"/>
            <a:ext cx="11247120" cy="118872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868680"/>
            <a:ext cx="1069848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4B5563"/>
                </a:solidFill>
                <a:latin typeface="Calibri"/>
              </a:defRPr>
            </a:pPr>
            <a:r>
              <a:t>Most CLM platforms stop at the contract. Evaluetor goes further — automatically connecting contract data to the business relationships they support. No other CLM vendor offers this capability.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48840"/>
            <a:ext cx="5029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111827"/>
                </a:solidFill>
                <a:latin typeface="Calibri"/>
              </a:defRPr>
            </a:pPr>
            <a:r>
              <a:t>The Automated Governance Bridge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23160"/>
            <a:ext cx="50292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B7280"/>
                </a:solidFill>
                <a:latin typeface="Calibri"/>
              </a:defRPr>
            </a:pPr>
            <a:r>
              <a:t>Contract upload triggers a fully automated pipeline: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2743200"/>
            <a:ext cx="292608" cy="292608"/>
          </a:xfrm>
          <a:prstGeom prst="ellipse">
            <a:avLst/>
          </a:prstGeom>
          <a:solidFill>
            <a:srgbClr val="EA76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761488"/>
            <a:ext cx="292608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761488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111827"/>
                </a:solidFill>
                <a:latin typeface="Calibri"/>
              </a:defRPr>
            </a:pPr>
            <a:r>
              <a:t>Contract Upload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779776"/>
            <a:ext cx="3017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4B5563"/>
                </a:solidFill>
                <a:latin typeface="Calibri"/>
              </a:defRPr>
            </a:pPr>
            <a:r>
              <a:t>AI extracts parties, terms, SLAs, and obligations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8096" y="3063240"/>
            <a:ext cx="36576" cy="429768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0080" y="3493008"/>
            <a:ext cx="292608" cy="29260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511296"/>
            <a:ext cx="292608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511296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111827"/>
                </a:solidFill>
                <a:latin typeface="Calibri"/>
              </a:defRPr>
            </a:pPr>
            <a:r>
              <a:t>Organizations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3529584"/>
            <a:ext cx="3017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4B5563"/>
                </a:solidFill>
                <a:latin typeface="Calibri"/>
              </a:defRPr>
            </a:pPr>
            <a:r>
              <a:t>Counterparties auto-linked to your org directory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8096" y="3813048"/>
            <a:ext cx="36576" cy="429768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0080" y="4242816"/>
            <a:ext cx="292608" cy="292608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261104"/>
            <a:ext cx="292608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4261104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111827"/>
                </a:solidFill>
                <a:latin typeface="Calibri"/>
              </a:defRPr>
            </a:pPr>
            <a:r>
              <a:t>Relationships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26080" y="4279392"/>
            <a:ext cx="3017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4B5563"/>
                </a:solidFill>
                <a:latin typeface="Calibri"/>
              </a:defRPr>
            </a:pPr>
            <a:r>
              <a:t>Business relationships created with health scoring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68096" y="4562856"/>
            <a:ext cx="36576" cy="429768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0080" y="4992624"/>
            <a:ext cx="292608" cy="292608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5010912"/>
            <a:ext cx="292608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5010912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111827"/>
                </a:solidFill>
                <a:latin typeface="Calibri"/>
              </a:defRPr>
            </a:pPr>
            <a:r>
              <a:t>KPIs &amp; Scoring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26080" y="5029200"/>
            <a:ext cx="3017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4B5563"/>
                </a:solidFill>
                <a:latin typeface="Calibri"/>
              </a:defRPr>
            </a:pPr>
            <a:r>
              <a:t>Performance metrics tracked with dual-perspective scoring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68096" y="5312664"/>
            <a:ext cx="36576" cy="429768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40080" y="5742432"/>
            <a:ext cx="292608" cy="292608"/>
          </a:xfrm>
          <a:prstGeom prst="ellipse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5760720"/>
            <a:ext cx="292608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576072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111827"/>
                </a:solidFill>
                <a:latin typeface="Calibri"/>
              </a:defRPr>
            </a:pPr>
            <a:r>
              <a:t>Improvement Points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26080" y="5779008"/>
            <a:ext cx="3017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4B5563"/>
                </a:solidFill>
                <a:latin typeface="Calibri"/>
              </a:defRPr>
            </a:pPr>
            <a:r>
              <a:t>Gaps automatically surface with action recommendations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0" y="2148840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111827"/>
                </a:solidFill>
                <a:latin typeface="Calibri"/>
              </a:defRPr>
            </a:pPr>
            <a:r>
              <a:t>What Makes This Unique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17920" y="2560320"/>
            <a:ext cx="5486400" cy="114300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00800" y="2724912"/>
            <a:ext cx="109728" cy="109728"/>
          </a:xfrm>
          <a:prstGeom prst="ellipse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29400" y="2651760"/>
            <a:ext cx="48463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111827"/>
                </a:solidFill>
                <a:latin typeface="Calibri"/>
              </a:defRPr>
            </a:pPr>
            <a:r>
              <a:t>Perception Gap Analysis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2926080"/>
            <a:ext cx="512064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4B5563"/>
                </a:solidFill>
                <a:latin typeface="Calibri"/>
              </a:defRPr>
            </a:pPr>
            <a:r>
              <a:t>Dual-perspective scoring reveals misalignment between how you see vendor performance and how they see it — with severity classification that drives targeted improvement.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17920" y="3840480"/>
            <a:ext cx="5486400" cy="114300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400800" y="4005072"/>
            <a:ext cx="109728" cy="109728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629400" y="3931920"/>
            <a:ext cx="48463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111827"/>
                </a:solidFill>
                <a:latin typeface="Calibri"/>
              </a:defRPr>
            </a:pPr>
            <a:r>
              <a:t>Composite Health Scoring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0" y="4206240"/>
            <a:ext cx="512064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4B5563"/>
                </a:solidFill>
                <a:latin typeface="Calibri"/>
              </a:defRPr>
            </a:pPr>
            <a:r>
              <a:t>Relationship health calculated from Risk (30%), SLA Compliance (40%), and Obligation Fulfillment (30%) — a single score that tells you where each relationship truly stands.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17920" y="5120640"/>
            <a:ext cx="5486400" cy="114300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400800" y="5285232"/>
            <a:ext cx="109728" cy="109728"/>
          </a:xfrm>
          <a:prstGeom prst="ellipse">
            <a:avLst/>
          </a:prstGeom>
          <a:solidFill>
            <a:srgbClr val="EA76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629400" y="5212080"/>
            <a:ext cx="48463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111827"/>
                </a:solidFill>
                <a:latin typeface="Calibri"/>
              </a:defRPr>
            </a:pPr>
            <a:r>
              <a:t>Automated Improvement Tracking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0" y="5486400"/>
            <a:ext cx="512064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4B5563"/>
                </a:solidFill>
                <a:latin typeface="Calibri"/>
              </a:defRPr>
            </a:pPr>
            <a:r>
              <a:t>When perception gaps exceed thresholds, improvement points are auto-generated with ownership, priority, and action items. From insight to action without manual intervention.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73952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1">
                <a:solidFill>
                  <a:srgbClr val="6B7280"/>
                </a:solidFill>
                <a:latin typeface="Calibri"/>
              </a:defRPr>
            </a:pPr>
            <a:r>
              <a:t>13-4-2026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7600" y="6473952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1">
                <a:solidFill>
                  <a:srgbClr val="6B7280"/>
                </a:solidFill>
                <a:latin typeface="Calibri"/>
              </a:defRPr>
            </a:pPr>
            <a:r>
              <a:t>AI-Powered Contract Intelligence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601200" y="6446520"/>
            <a:ext cx="2468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300" b="1">
                <a:solidFill>
                  <a:srgbClr val="2563EB"/>
                </a:solidFill>
                <a:latin typeface="Calibri"/>
              </a:defRPr>
            </a:pPr>
            <a:r>
              <a:t>Evaluetor© AI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57200" y="6400800"/>
            <a:ext cx="11247120" cy="1371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6B7280"/>
                </a:solidFill>
                <a:latin typeface="Calibri"/>
              </a:defRPr>
            </a:pPr>
            <a:r>
              <a:t>10/14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111827"/>
                </a:solidFill>
                <a:latin typeface="Calibri"/>
              </a:defRPr>
            </a:pPr>
            <a:r>
              <a:t>Measurable impact from day one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822960"/>
            <a:ext cx="11247120" cy="100584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4B5563"/>
                </a:solidFill>
                <a:latin typeface="Calibri"/>
              </a:defRPr>
            </a:pPr>
            <a:r>
              <a:t>Immediate, quantifiable results — not months of implementation before you see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112471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200" b="1">
                <a:solidFill>
                  <a:srgbClr val="2563EB"/>
                </a:solidFill>
                <a:latin typeface="Calibri"/>
              </a:defRPr>
            </a:pPr>
            <a:r>
              <a:t>VALUE.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011680"/>
            <a:ext cx="2697480" cy="137160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25146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800" b="1">
                <a:solidFill>
                  <a:srgbClr val="7C3AED"/>
                </a:solidFill>
                <a:latin typeface="Calibri"/>
              </a:defRPr>
            </a:pPr>
            <a:r>
              <a:t>90%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743200"/>
            <a:ext cx="25146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4B5563"/>
                </a:solidFill>
                <a:latin typeface="Calibri"/>
              </a:defRPr>
            </a:pPr>
            <a:r>
              <a:t>Less time</a:t>
            </a:r>
            <a:br/>
            <a:r>
              <a:t>reviewing contracts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2011680"/>
            <a:ext cx="2697480" cy="137160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29000" y="2103120"/>
            <a:ext cx="25146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800" b="1">
                <a:solidFill>
                  <a:srgbClr val="EA760D"/>
                </a:solidFill>
                <a:latin typeface="Calibri"/>
              </a:defRPr>
            </a:pPr>
            <a:r>
              <a:t>3–5x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2743200"/>
            <a:ext cx="25146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4B5563"/>
                </a:solidFill>
                <a:latin typeface="Calibri"/>
              </a:defRPr>
            </a:pPr>
            <a:r>
              <a:t>More SLA credits</a:t>
            </a:r>
            <a:br/>
            <a:r>
              <a:t>recovered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011680"/>
            <a:ext cx="2697480" cy="137160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2103120"/>
            <a:ext cx="25146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800" b="1">
                <a:solidFill>
                  <a:srgbClr val="059669"/>
                </a:solidFill>
                <a:latin typeface="Calibri"/>
              </a:defRPr>
            </a:pPr>
            <a:r>
              <a:t>95%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2743200"/>
            <a:ext cx="25146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4B5563"/>
                </a:solidFill>
                <a:latin typeface="Calibri"/>
              </a:defRPr>
            </a:pPr>
            <a:r>
              <a:t>Fewer missed</a:t>
            </a:r>
            <a:br/>
            <a:r>
              <a:t>deadlines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98280" y="2011680"/>
            <a:ext cx="2697480" cy="137160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89720" y="2103120"/>
            <a:ext cx="25146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800" b="1">
                <a:solidFill>
                  <a:srgbClr val="2563EB"/>
                </a:solidFill>
                <a:latin typeface="Calibri"/>
              </a:defRPr>
            </a:pPr>
            <a:r>
              <a:t>$2M+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89720" y="2743200"/>
            <a:ext cx="25146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4B5563"/>
                </a:solidFill>
                <a:latin typeface="Calibri"/>
              </a:defRPr>
            </a:pPr>
            <a:r>
              <a:t>Credits recovered</a:t>
            </a:r>
            <a:br/>
            <a:r>
              <a:t>across customers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611880"/>
            <a:ext cx="3611880" cy="24688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0080" y="3794760"/>
            <a:ext cx="109728" cy="10972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3721608"/>
            <a:ext cx="3017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111827"/>
                </a:solidFill>
                <a:latin typeface="Calibri"/>
              </a:defRPr>
            </a:pPr>
            <a:r>
              <a:t>For Legal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069080"/>
            <a:ext cx="324612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4B5563"/>
                </a:solidFill>
                <a:latin typeface="Calibri"/>
              </a:defRPr>
            </a:pPr>
            <a:r>
              <a:t>Days of contract review compressed to minutes. Automated risk scoring across 10 categories. Portfolio-wide semantic search.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97680" y="3611880"/>
            <a:ext cx="3611880" cy="24688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480560" y="3794760"/>
            <a:ext cx="109728" cy="109728"/>
          </a:xfrm>
          <a:prstGeom prst="ellipse">
            <a:avLst/>
          </a:prstGeom>
          <a:solidFill>
            <a:srgbClr val="EA76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09160" y="3721608"/>
            <a:ext cx="3017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111827"/>
                </a:solidFill>
                <a:latin typeface="Calibri"/>
              </a:defRPr>
            </a:pPr>
            <a:r>
              <a:t>For Procurement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4069080"/>
            <a:ext cx="324612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4B5563"/>
                </a:solidFill>
                <a:latin typeface="Calibri"/>
              </a:defRPr>
            </a:pPr>
            <a:r>
              <a:t>Real-time SLA monitoring. Detect breaches the moment they happen. Recover every service credit owed.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38160" y="3611880"/>
            <a:ext cx="3611880" cy="24688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321040" y="3794760"/>
            <a:ext cx="109728" cy="109728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49640" y="3721608"/>
            <a:ext cx="3017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111827"/>
                </a:solidFill>
                <a:latin typeface="Calibri"/>
              </a:defRPr>
            </a:pPr>
            <a:r>
              <a:t>For Finance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4069080"/>
            <a:ext cx="324612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4B5563"/>
                </a:solidFill>
                <a:latin typeface="Calibri"/>
              </a:defRPr>
            </a:pPr>
            <a:r>
              <a:t>Track every obligation and deadline. Detect auto-renewal traps before they trigger. Understand true financial exposure.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473952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1">
                <a:solidFill>
                  <a:srgbClr val="6B7280"/>
                </a:solidFill>
                <a:latin typeface="Calibri"/>
              </a:defRPr>
            </a:pPr>
            <a:r>
              <a:t>13-4-2026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0" y="6473952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1">
                <a:solidFill>
                  <a:srgbClr val="6B7280"/>
                </a:solidFill>
                <a:latin typeface="Calibri"/>
              </a:defRPr>
            </a:pPr>
            <a:r>
              <a:t>AI-Powered Contract Intelligence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0" y="6446520"/>
            <a:ext cx="2468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300" b="1">
                <a:solidFill>
                  <a:srgbClr val="2563EB"/>
                </a:solidFill>
                <a:latin typeface="Calibri"/>
              </a:defRPr>
            </a:pPr>
            <a:r>
              <a:t>Evaluetor© AI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6400800"/>
            <a:ext cx="11247120" cy="1371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6B7280"/>
                </a:solidFill>
                <a:latin typeface="Calibri"/>
              </a:defRPr>
            </a:pPr>
            <a:r>
              <a:t>11/14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29260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2563EB"/>
                </a:solidFill>
                <a:latin typeface="Calibri"/>
              </a:defRPr>
            </a:pPr>
            <a:r>
              <a:t>Evaluetor©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137160"/>
            <a:ext cx="5486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111827"/>
                </a:solidFill>
                <a:latin typeface="Calibri"/>
              </a:defRPr>
            </a:pPr>
            <a:r>
              <a:t>Value delivered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731520"/>
            <a:ext cx="4572000" cy="10972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868680"/>
            <a:ext cx="4023360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500" b="1">
                <a:solidFill>
                  <a:srgbClr val="111827"/>
                </a:solidFill>
                <a:latin typeface="Calibri"/>
              </a:defRPr>
            </a:pPr>
            <a:r>
              <a:t>Increase return on contract</a:t>
            </a:r>
            <a:br/>
            <a:r>
              <a:t>base by 3–6%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0" y="731520"/>
            <a:ext cx="6400800" cy="10972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577840" y="868680"/>
            <a:ext cx="5852160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500" b="0">
                <a:solidFill>
                  <a:srgbClr val="4B5563"/>
                </a:solidFill>
                <a:latin typeface="Calibri"/>
              </a:defRPr>
            </a:pPr>
            <a:r>
              <a:t>Developed by seasoned industry experts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011680"/>
            <a:ext cx="4572000" cy="10972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148840"/>
            <a:ext cx="4023360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500" b="1">
                <a:solidFill>
                  <a:srgbClr val="111827"/>
                </a:solidFill>
                <a:latin typeface="Calibri"/>
              </a:defRPr>
            </a:pPr>
            <a:r>
              <a:t>Increase renewal rate and</a:t>
            </a:r>
            <a:br/>
            <a:r>
              <a:t>contract extensions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0" y="2011680"/>
            <a:ext cx="6400800" cy="10972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77840" y="2148840"/>
            <a:ext cx="5852160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500" b="0">
                <a:solidFill>
                  <a:srgbClr val="4B5563"/>
                </a:solidFill>
                <a:latin typeface="Calibri"/>
              </a:defRPr>
            </a:pPr>
            <a:r>
              <a:t>Trusted, transparent relationship —</a:t>
            </a:r>
            <a:br/>
            <a:r>
              <a:t>avoid transition costs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291840"/>
            <a:ext cx="4572000" cy="10972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429000"/>
            <a:ext cx="4023360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500" b="1">
                <a:solidFill>
                  <a:srgbClr val="111827"/>
                </a:solidFill>
                <a:latin typeface="Calibri"/>
              </a:defRPr>
            </a:pPr>
            <a:r>
              <a:t>Improve margins</a:t>
            </a:r>
            <a:br/>
            <a:r>
              <a:t>(decrease costs)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03520" y="3291840"/>
            <a:ext cx="6400800" cy="10972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577840" y="3429000"/>
            <a:ext cx="5852160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500" b="0">
                <a:solidFill>
                  <a:srgbClr val="4B5563"/>
                </a:solidFill>
                <a:latin typeface="Calibri"/>
              </a:defRPr>
            </a:pPr>
            <a:r>
              <a:t>Pro-actively action commitments</a:t>
            </a:r>
            <a:br/>
            <a:r>
              <a:t>and avoid omissions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571999"/>
            <a:ext cx="4572000" cy="10972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709159"/>
            <a:ext cx="4023360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500" b="1">
                <a:solidFill>
                  <a:srgbClr val="111827"/>
                </a:solidFill>
                <a:latin typeface="Calibri"/>
              </a:defRPr>
            </a:pPr>
            <a:r>
              <a:t>Increase revenue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303520" y="4571999"/>
            <a:ext cx="6400800" cy="10972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577840" y="4709159"/>
            <a:ext cx="5852160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500" b="0">
                <a:solidFill>
                  <a:srgbClr val="4B5563"/>
                </a:solidFill>
                <a:latin typeface="Calibri"/>
              </a:defRPr>
            </a:pPr>
            <a:r>
              <a:t>Growth of add-on business within</a:t>
            </a:r>
            <a:br/>
            <a:r>
              <a:t>the existing customer portfolio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0" y="5897880"/>
            <a:ext cx="4846320" cy="457200"/>
          </a:xfrm>
          <a:prstGeom prst="roundRect">
            <a:avLst/>
          </a:prstGeom>
          <a:solidFill>
            <a:srgbClr val="EA760D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0" y="5916168"/>
            <a:ext cx="48463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700" b="1">
                <a:solidFill>
                  <a:srgbClr val="FFFFFF"/>
                </a:solidFill>
                <a:latin typeface="Calibri"/>
              </a:defRPr>
            </a:pPr>
            <a:r>
              <a:t>Let’s schedule a live demo  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73952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1">
                <a:solidFill>
                  <a:srgbClr val="6B7280"/>
                </a:solidFill>
                <a:latin typeface="Calibri"/>
              </a:defRPr>
            </a:pPr>
            <a:r>
              <a:t>13-4-2026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6473952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1">
                <a:solidFill>
                  <a:srgbClr val="6B7280"/>
                </a:solidFill>
                <a:latin typeface="Calibri"/>
              </a:defRPr>
            </a:pPr>
            <a:r>
              <a:t>AI-Powered Contract Intelligence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6446520"/>
            <a:ext cx="2468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300" b="1">
                <a:solidFill>
                  <a:srgbClr val="2563EB"/>
                </a:solidFill>
                <a:latin typeface="Calibri"/>
              </a:defRPr>
            </a:pPr>
            <a:r>
              <a:t>Evaluetor© AI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6400800"/>
            <a:ext cx="11247120" cy="1371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6B7280"/>
                </a:solidFill>
                <a:latin typeface="Calibri"/>
              </a:defRPr>
            </a:pPr>
            <a:r>
              <a:t>12/14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111827"/>
                </a:solidFill>
                <a:latin typeface="Calibri"/>
              </a:defRPr>
            </a:pPr>
            <a:r>
              <a:t>AI-native. Not AI-bolted-on.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4B5563"/>
                </a:solidFill>
                <a:latin typeface="Calibri"/>
              </a:defRPr>
            </a:pPr>
            <a:r>
              <a:t>Legacy CLM tools added AI as an afterthought. We built intelligence into the foundation.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25880"/>
            <a:ext cx="11338560" cy="4572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417320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Capability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20440" y="1417320"/>
            <a:ext cx="19202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Evaluetor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23560" y="1417320"/>
            <a:ext cx="19202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DocuSign CLM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80" y="1417320"/>
            <a:ext cx="19202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Icertis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29800" y="1417320"/>
            <a:ext cx="19202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Ironclad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783080"/>
            <a:ext cx="11338560" cy="4114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1874520"/>
            <a:ext cx="27432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111827"/>
                </a:solidFill>
                <a:latin typeface="Calibri"/>
              </a:defRPr>
            </a:pPr>
            <a:r>
              <a:t>Time to Value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1874520"/>
            <a:ext cx="192024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2563EB"/>
                </a:solidFill>
                <a:latin typeface="Calibri"/>
              </a:defRPr>
            </a:pPr>
            <a:r>
              <a:t>Hours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23560" y="1874520"/>
            <a:ext cx="192024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4B5563"/>
                </a:solidFill>
                <a:latin typeface="Calibri"/>
              </a:defRPr>
            </a:pPr>
            <a:r>
              <a:t>6–12 months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26680" y="1874520"/>
            <a:ext cx="192024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4B5563"/>
                </a:solidFill>
                <a:latin typeface="Calibri"/>
              </a:defRPr>
            </a:pPr>
            <a:r>
              <a:t>12–18 months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29800" y="1874520"/>
            <a:ext cx="192024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4B5563"/>
                </a:solidFill>
                <a:latin typeface="Calibri"/>
              </a:defRPr>
            </a:pPr>
            <a:r>
              <a:t>3–6 months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2240280"/>
            <a:ext cx="11338560" cy="41148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2331720"/>
            <a:ext cx="27432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111827"/>
                </a:solidFill>
                <a:latin typeface="Calibri"/>
              </a:defRPr>
            </a:pPr>
            <a:r>
              <a:t>AI Extraction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0440" y="2331720"/>
            <a:ext cx="192024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2563EB"/>
                </a:solidFill>
                <a:latin typeface="Calibri"/>
              </a:defRPr>
            </a:pPr>
            <a:r>
              <a:t>9 native agents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23560" y="2331720"/>
            <a:ext cx="192024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4B5563"/>
                </a:solidFill>
                <a:latin typeface="Calibri"/>
              </a:defRPr>
            </a:pPr>
            <a:r>
              <a:t>Limited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26680" y="2331720"/>
            <a:ext cx="192024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4B5563"/>
                </a:solidFill>
                <a:latin typeface="Calibri"/>
              </a:defRPr>
            </a:pPr>
            <a:r>
              <a:t>Add-on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29800" y="2331720"/>
            <a:ext cx="192024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4B5563"/>
                </a:solidFill>
                <a:latin typeface="Calibri"/>
              </a:defRPr>
            </a:pPr>
            <a:r>
              <a:t>Limited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2697480"/>
            <a:ext cx="11338560" cy="4114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2788920"/>
            <a:ext cx="27432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111827"/>
                </a:solidFill>
                <a:latin typeface="Calibri"/>
              </a:defRPr>
            </a:pPr>
            <a:r>
              <a:t>SLA Monitoring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20440" y="2788920"/>
            <a:ext cx="192024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2563EB"/>
                </a:solidFill>
                <a:latin typeface="Calibri"/>
              </a:defRPr>
            </a:pPr>
            <a:r>
              <a:t>Built-in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23560" y="2788920"/>
            <a:ext cx="192024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4B5563"/>
                </a:solidFill>
                <a:latin typeface="Calibri"/>
              </a:defRPr>
            </a:pPr>
            <a:r>
              <a:t>No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26680" y="2788920"/>
            <a:ext cx="192024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4B5563"/>
                </a:solidFill>
                <a:latin typeface="Calibri"/>
              </a:defRPr>
            </a:pPr>
            <a:r>
              <a:t>Add-on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29800" y="2788920"/>
            <a:ext cx="192024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4B5563"/>
                </a:solidFill>
                <a:latin typeface="Calibri"/>
              </a:defRPr>
            </a:pPr>
            <a:r>
              <a:t>No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3154680"/>
            <a:ext cx="11338560" cy="41148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3246120"/>
            <a:ext cx="27432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111827"/>
                </a:solidFill>
                <a:latin typeface="Calibri"/>
              </a:defRPr>
            </a:pPr>
            <a:r>
              <a:t>Obligation Tracking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20440" y="3246120"/>
            <a:ext cx="192024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2563EB"/>
                </a:solidFill>
                <a:latin typeface="Calibri"/>
              </a:defRPr>
            </a:pPr>
            <a:r>
              <a:t>AI-extracted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23560" y="3246120"/>
            <a:ext cx="192024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4B5563"/>
                </a:solidFill>
                <a:latin typeface="Calibri"/>
              </a:defRPr>
            </a:pPr>
            <a:r>
              <a:t>Manual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26680" y="3246120"/>
            <a:ext cx="192024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4B5563"/>
                </a:solidFill>
                <a:latin typeface="Calibri"/>
              </a:defRPr>
            </a:pPr>
            <a:r>
              <a:t>Manual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29800" y="3246120"/>
            <a:ext cx="192024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4B5563"/>
                </a:solidFill>
                <a:latin typeface="Calibri"/>
              </a:defRPr>
            </a:pPr>
            <a:r>
              <a:t>Limited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3611880"/>
            <a:ext cx="11338560" cy="4114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94360" y="3703320"/>
            <a:ext cx="27432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111827"/>
                </a:solidFill>
                <a:latin typeface="Calibri"/>
              </a:defRPr>
            </a:pPr>
            <a:r>
              <a:t>Relationship Governance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20440" y="3703320"/>
            <a:ext cx="192024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2563EB"/>
                </a:solidFill>
                <a:latin typeface="Calibri"/>
              </a:defRPr>
            </a:pPr>
            <a:r>
              <a:t>Built-in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23560" y="3703320"/>
            <a:ext cx="192024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4B5563"/>
                </a:solidFill>
                <a:latin typeface="Calibri"/>
              </a:defRPr>
            </a:pPr>
            <a:r>
              <a:t>No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26680" y="3703320"/>
            <a:ext cx="192024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4B5563"/>
                </a:solidFill>
                <a:latin typeface="Calibri"/>
              </a:defRPr>
            </a:pPr>
            <a:r>
              <a:t>No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829800" y="3703320"/>
            <a:ext cx="192024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4B5563"/>
                </a:solidFill>
                <a:latin typeface="Calibri"/>
              </a:defRPr>
            </a:pPr>
            <a:r>
              <a:t>No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7200" y="4069080"/>
            <a:ext cx="11338560" cy="41148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94360" y="4160520"/>
            <a:ext cx="27432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111827"/>
                </a:solidFill>
                <a:latin typeface="Calibri"/>
              </a:defRPr>
            </a:pPr>
            <a:r>
              <a:t>Knowledge Graph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20440" y="4160520"/>
            <a:ext cx="192024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2563EB"/>
                </a:solidFill>
                <a:latin typeface="Calibri"/>
              </a:defRPr>
            </a:pPr>
            <a:r>
              <a:t>Built-in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23560" y="4160520"/>
            <a:ext cx="192024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4B5563"/>
                </a:solidFill>
                <a:latin typeface="Calibri"/>
              </a:defRPr>
            </a:pPr>
            <a:r>
              <a:t>No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26680" y="4160520"/>
            <a:ext cx="192024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4B5563"/>
                </a:solidFill>
                <a:latin typeface="Calibri"/>
              </a:defRPr>
            </a:pPr>
            <a:r>
              <a:t>No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829800" y="4160520"/>
            <a:ext cx="192024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4B5563"/>
                </a:solidFill>
                <a:latin typeface="Calibri"/>
              </a:defRPr>
            </a:pPr>
            <a:r>
              <a:t>No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57200" y="4526280"/>
            <a:ext cx="11338560" cy="4114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94360" y="4617720"/>
            <a:ext cx="27432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111827"/>
                </a:solidFill>
                <a:latin typeface="Calibri"/>
              </a:defRPr>
            </a:pPr>
            <a:r>
              <a:t>Unlimited Users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520440" y="4617720"/>
            <a:ext cx="192024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2563EB"/>
                </a:solidFill>
                <a:latin typeface="Calibri"/>
              </a:defRPr>
            </a:pPr>
            <a:r>
              <a:t>✓ Yes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623560" y="4617720"/>
            <a:ext cx="192024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4B5563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726680" y="4617720"/>
            <a:ext cx="192024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4B5563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829800" y="4617720"/>
            <a:ext cx="192024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4B5563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57200" y="4983480"/>
            <a:ext cx="11338560" cy="41148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94360" y="5074920"/>
            <a:ext cx="27432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111827"/>
                </a:solidFill>
                <a:latin typeface="Calibri"/>
              </a:defRPr>
            </a:pPr>
            <a:r>
              <a:t>LLM Observability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520440" y="5074920"/>
            <a:ext cx="192024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2563EB"/>
                </a:solidFill>
                <a:latin typeface="Calibri"/>
              </a:defRPr>
            </a:pPr>
            <a:r>
              <a:t>Langfuse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623560" y="5074920"/>
            <a:ext cx="192024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4B5563"/>
                </a:solidFill>
                <a:latin typeface="Calibri"/>
              </a:defRPr>
            </a:pPr>
            <a:r>
              <a:t>No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726680" y="5074920"/>
            <a:ext cx="192024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4B5563"/>
                </a:solidFill>
                <a:latin typeface="Calibri"/>
              </a:defRPr>
            </a:pPr>
            <a:r>
              <a:t>No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829800" y="5074920"/>
            <a:ext cx="192024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4B5563"/>
                </a:solidFill>
                <a:latin typeface="Calibri"/>
              </a:defRPr>
            </a:pPr>
            <a:r>
              <a:t>No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457200" y="5532120"/>
            <a:ext cx="11247120" cy="6400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31520" y="5650992"/>
            <a:ext cx="106984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2563EB"/>
                </a:solidFill>
                <a:latin typeface="Calibri"/>
              </a:defRPr>
            </a:pPr>
            <a:r>
              <a:t>Time-to-value in hours, not months — because the intelligence is built in, not bolted on.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57200" y="6473952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1">
                <a:solidFill>
                  <a:srgbClr val="6B7280"/>
                </a:solidFill>
                <a:latin typeface="Calibri"/>
              </a:defRPr>
            </a:pPr>
            <a:r>
              <a:t>13-4-2026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657600" y="6473952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1">
                <a:solidFill>
                  <a:srgbClr val="6B7280"/>
                </a:solidFill>
                <a:latin typeface="Calibri"/>
              </a:defRPr>
            </a:pPr>
            <a:r>
              <a:t>AI-Powered Contract Intelligence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601200" y="6446520"/>
            <a:ext cx="2468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300" b="1">
                <a:solidFill>
                  <a:srgbClr val="2563EB"/>
                </a:solidFill>
                <a:latin typeface="Calibri"/>
              </a:defRPr>
            </a:pPr>
            <a:r>
              <a:t>Evaluetor© AI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57200" y="6400800"/>
            <a:ext cx="11247120" cy="1371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6B7280"/>
                </a:solidFill>
                <a:latin typeface="Calibri"/>
              </a:defRPr>
            </a:pPr>
            <a:r>
              <a:t>13/14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111827"/>
                </a:solidFill>
                <a:latin typeface="Calibri"/>
              </a:defRPr>
            </a:pPr>
            <a:r>
              <a:t>Let’s talk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4B5563"/>
                </a:solidFill>
                <a:latin typeface="Calibri"/>
              </a:defRPr>
            </a:pPr>
            <a:r>
              <a:t>Ready to see what’s really inside your contract portfolio?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11247120" cy="457200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6400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111827"/>
                </a:solidFill>
                <a:latin typeface="Calibri"/>
              </a:defRPr>
            </a:pPr>
            <a:r>
              <a:t>Steven Visser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77440"/>
            <a:ext cx="6400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2563EB"/>
                </a:solidFill>
                <a:latin typeface="Calibri"/>
              </a:defRPr>
            </a:pPr>
            <a:r>
              <a:t>Managing Partner — Evaluetor©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108960"/>
            <a:ext cx="6400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4B5563"/>
                </a:solidFill>
                <a:latin typeface="Calibri"/>
              </a:defRPr>
            </a:pPr>
            <a:r>
              <a:t>Burgemeester Le Fevre de Montignylaan 264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429000"/>
            <a:ext cx="6400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4B5563"/>
                </a:solidFill>
                <a:latin typeface="Calibri"/>
              </a:defRPr>
            </a:pPr>
            <a:r>
              <a:t>3055 NK Rotterdam, The Netherlands</a:t>
            </a:r>
          </a:p>
        </p:txBody>
      </p:sp>
      <p:sp>
        <p:nvSpPr>
          <p:cNvPr id="10" name="Oval 9"/>
          <p:cNvSpPr/>
          <p:nvPr/>
        </p:nvSpPr>
        <p:spPr>
          <a:xfrm>
            <a:off x="914400" y="4178808"/>
            <a:ext cx="128016" cy="128016"/>
          </a:xfrm>
          <a:prstGeom prst="ellipse">
            <a:avLst/>
          </a:prstGeom>
          <a:solidFill>
            <a:srgbClr val="EA76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4069080"/>
            <a:ext cx="10972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6B7280"/>
                </a:solidFill>
                <a:latin typeface="Calibri"/>
              </a:defRPr>
            </a:pPr>
            <a:r>
              <a:t>Mobile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4069080"/>
            <a:ext cx="5486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111827"/>
                </a:solidFill>
                <a:latin typeface="Calibri"/>
              </a:defRPr>
            </a:pPr>
            <a:r>
              <a:t>+31 (0) 6 31003495</a:t>
            </a:r>
          </a:p>
        </p:txBody>
      </p:sp>
      <p:sp>
        <p:nvSpPr>
          <p:cNvPr id="13" name="Oval 12"/>
          <p:cNvSpPr/>
          <p:nvPr/>
        </p:nvSpPr>
        <p:spPr>
          <a:xfrm>
            <a:off x="914400" y="4681728"/>
            <a:ext cx="128016" cy="128016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4572000"/>
            <a:ext cx="10972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6B7280"/>
                </a:solidFill>
                <a:latin typeface="Calibri"/>
              </a:defRPr>
            </a:pPr>
            <a:r>
              <a:t>Email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0" y="4572000"/>
            <a:ext cx="5486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111827"/>
                </a:solidFill>
                <a:latin typeface="Calibri"/>
              </a:defRPr>
            </a:pPr>
            <a:r>
              <a:t>Steven.Visser@Evaluetor.com</a:t>
            </a:r>
          </a:p>
        </p:txBody>
      </p:sp>
      <p:sp>
        <p:nvSpPr>
          <p:cNvPr id="16" name="Oval 15"/>
          <p:cNvSpPr/>
          <p:nvPr/>
        </p:nvSpPr>
        <p:spPr>
          <a:xfrm>
            <a:off x="914400" y="5184648"/>
            <a:ext cx="128016" cy="128016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8720" y="5074920"/>
            <a:ext cx="10972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6B7280"/>
                </a:solidFill>
                <a:latin typeface="Calibri"/>
              </a:defRPr>
            </a:pPr>
            <a:r>
              <a:t>Web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5074920"/>
            <a:ext cx="5486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111827"/>
                </a:solidFill>
                <a:latin typeface="Calibri"/>
              </a:defRPr>
            </a:pPr>
            <a:r>
              <a:t>www.Evaluetor.com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0" y="1828800"/>
            <a:ext cx="3657600" cy="36576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55279" y="2103120"/>
            <a:ext cx="32918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2563EB"/>
                </a:solidFill>
                <a:latin typeface="Calibri"/>
              </a:defRPr>
            </a:pPr>
            <a:r>
              <a:t>Evaluetor© AI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79" y="2514600"/>
            <a:ext cx="32918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6B7280"/>
                </a:solidFill>
                <a:latin typeface="Calibri"/>
              </a:defRPr>
            </a:pPr>
            <a:r>
              <a:t>AI-Powered Contract Intelligence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55279" y="3108960"/>
            <a:ext cx="32918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200" b="1">
                <a:solidFill>
                  <a:srgbClr val="2563EB"/>
                </a:solidFill>
                <a:latin typeface="Calibri"/>
              </a:defRPr>
            </a:pPr>
            <a:r>
              <a:t>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55279" y="3474720"/>
            <a:ext cx="32918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4B5563"/>
                </a:solidFill>
                <a:latin typeface="Calibri"/>
              </a:defRPr>
            </a:pPr>
            <a:r>
              <a:t>AI agents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55279" y="3794760"/>
            <a:ext cx="32918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200" b="1">
                <a:solidFill>
                  <a:srgbClr val="2563EB"/>
                </a:solidFill>
                <a:latin typeface="Calibri"/>
              </a:defRPr>
            </a:pPr>
            <a:r>
              <a:t>30+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5279" y="4160520"/>
            <a:ext cx="32918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4B5563"/>
                </a:solidFill>
                <a:latin typeface="Calibri"/>
              </a:defRPr>
            </a:pPr>
            <a:r>
              <a:t>Clause types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55279" y="4480560"/>
            <a:ext cx="32918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200" b="1">
                <a:solidFill>
                  <a:srgbClr val="2563EB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55279" y="4846320"/>
            <a:ext cx="32918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4B5563"/>
                </a:solidFill>
                <a:latin typeface="Calibri"/>
              </a:defRPr>
            </a:pPr>
            <a:r>
              <a:t>Risk categories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73952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1">
                <a:solidFill>
                  <a:srgbClr val="6B7280"/>
                </a:solidFill>
                <a:latin typeface="Calibri"/>
              </a:defRPr>
            </a:pPr>
            <a:r>
              <a:t>13-4-2026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0" y="6473952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1">
                <a:solidFill>
                  <a:srgbClr val="6B7280"/>
                </a:solidFill>
                <a:latin typeface="Calibri"/>
              </a:defRPr>
            </a:pPr>
            <a:r>
              <a:t>AI-Powered Contract Intelligence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0" y="6446520"/>
            <a:ext cx="2468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300" b="1">
                <a:solidFill>
                  <a:srgbClr val="2563EB"/>
                </a:solidFill>
                <a:latin typeface="Calibri"/>
              </a:defRPr>
            </a:pPr>
            <a:r>
              <a:t>Evaluetor© AI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6400800"/>
            <a:ext cx="11247120" cy="1371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6B7280"/>
                </a:solidFill>
                <a:latin typeface="Calibri"/>
              </a:defRPr>
            </a:pPr>
            <a:r>
              <a:t>14/14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