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256032" cy="256032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840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0E0E10"/>
                </a:solidFill>
                <a:latin typeface="Calibri"/>
              </a:rPr>
              <a:t>Evaluetor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84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·  SALES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393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60">
                <a:solidFill>
                  <a:srgbClr val="5B5F66"/>
                </a:solidFill>
                <a:latin typeface="Consola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183112" cy="1"/>
          </a:xfrm>
          <a:prstGeom prst="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INTERNAL · NOT FOR PROSPECTS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40">
                <a:solidFill>
                  <a:srgbClr val="5B5F66"/>
                </a:solidFill>
                <a:latin typeface="Consolas"/>
              </a:rPr>
              <a:t>Slide 01 — Cover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777240" cy="777240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3200" b="1" i="0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6800" b="0" i="0">
                <a:solidFill>
                  <a:srgbClr val="0E0E10"/>
                </a:solidFill>
                <a:latin typeface="Calibri"/>
              </a:rPr>
              <a:t>Sales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600" b="0" i="1">
                <a:solidFill>
                  <a:srgbClr val="C73E0F"/>
                </a:solidFill>
                <a:latin typeface="Cambria"/>
              </a:rPr>
              <a:t>How to run an Evaluetor conversation.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0" i="0">
                <a:solidFill>
                  <a:srgbClr val="2D2F36"/>
                </a:solidFill>
                <a:latin typeface="Calibri"/>
              </a:rPr>
              <a:t>A negotiation playbook for selling AI-native execution intelligence to procurement-led enterprises.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212080"/>
            <a:ext cx="914400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50" b="0" i="0" spc="160">
                <a:solidFill>
                  <a:srgbClr val="5B5F66"/>
                </a:solidFill>
                <a:latin typeface="Consolas"/>
              </a:rPr>
              <a:t>AUDIENCE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 i="0">
                <a:solidFill>
                  <a:srgbClr val="0E0E10"/>
                </a:solidFill>
                <a:latin typeface="Calibri"/>
              </a:rPr>
              <a:t>Internal sales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349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50" b="0" i="0" spc="160">
                <a:solidFill>
                  <a:srgbClr val="5B5F66"/>
                </a:solidFill>
                <a:latin typeface="Consolas"/>
              </a:rPr>
              <a:t>BASED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623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 i="0">
                <a:solidFill>
                  <a:srgbClr val="0E0E10"/>
                </a:solidFill>
                <a:latin typeface="Calibri"/>
              </a:rPr>
              <a:t>Steven Visser, May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3492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850" b="0" i="0" spc="160">
                <a:solidFill>
                  <a:srgbClr val="5B5F66"/>
                </a:solidFill>
                <a:latin typeface="Consolas"/>
              </a:rPr>
              <a:t>USE WITH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623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 i="0">
                <a:solidFill>
                  <a:srgbClr val="0E0E10"/>
                </a:solidFill>
                <a:latin typeface="Calibri"/>
              </a:rPr>
              <a:t>Excel value calculator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256032" cy="256032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840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0E0E10"/>
                </a:solidFill>
                <a:latin typeface="Calibri"/>
              </a:rPr>
              <a:t>Evaluetor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84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·  SALES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393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60">
                <a:solidFill>
                  <a:srgbClr val="5B5F66"/>
                </a:solidFill>
                <a:latin typeface="Consolas"/>
              </a:rPr>
              <a:t>02 / MINDSET + OPENING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183112" cy="1"/>
          </a:xfrm>
          <a:prstGeom prst="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INTERNAL · NOT FOR PROSPECTS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40">
                <a:solidFill>
                  <a:srgbClr val="5B5F66"/>
                </a:solidFill>
                <a:latin typeface="Consolas"/>
              </a:rPr>
              <a:t>Slide 02 — CFO mindset + opening 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05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600" b="0" i="0">
                <a:solidFill>
                  <a:srgbClr val="0E0E10"/>
                </a:solidFill>
                <a:latin typeface="Calibri"/>
              </a:rPr>
              <a:t>Understand the CFO. </a:t>
            </a:r>
            <a:r>
              <a:rPr sz="3600" b="0" i="1">
                <a:solidFill>
                  <a:srgbClr val="2D2F36"/>
                </a:solidFill>
                <a:latin typeface="Cambria"/>
              </a:rPr>
              <a:t>Then open right.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1.  WHAT THE CFO ACTUALLY CARES ABOUT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94560"/>
            <a:ext cx="530352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317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 i="1">
                <a:solidFill>
                  <a:srgbClr val="5B5F66"/>
                </a:solidFill>
                <a:latin typeface="Calibri"/>
              </a:rPr>
              <a:t>Not these: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97480"/>
            <a:ext cx="53035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614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 i="0">
                <a:solidFill>
                  <a:srgbClr val="5B5F66"/>
                </a:solidFill>
                <a:latin typeface="Calibri"/>
              </a:rPr>
              <a:t>❌  AI agents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26664"/>
            <a:ext cx="53035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9067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 i="0">
                <a:solidFill>
                  <a:srgbClr val="5B5F66"/>
                </a:solidFill>
                <a:latin typeface="Calibri"/>
              </a:rPr>
              <a:t>❌  CLM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55848"/>
            <a:ext cx="5303520" cy="292608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1985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 i="0">
                <a:solidFill>
                  <a:srgbClr val="5B5F66"/>
                </a:solidFill>
                <a:latin typeface="Calibri"/>
              </a:rPr>
              <a:t>❌ 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8862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 i="1">
                <a:solidFill>
                  <a:srgbClr val="C73E0F"/>
                </a:solidFill>
                <a:latin typeface="Calibri"/>
              </a:rPr>
              <a:t>These: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251960"/>
            <a:ext cx="5303520" cy="292608"/>
          </a:xfrm>
          <a:prstGeom prst="rect">
            <a:avLst/>
          </a:prstGeom>
          <a:solidFill>
            <a:srgbClr val="EFEDE8"/>
          </a:solidFill>
          <a:ln>
            <a:solidFill>
              <a:srgbClr val="C73E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1596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 i="0">
                <a:solidFill>
                  <a:srgbClr val="0E0E10"/>
                </a:solidFill>
                <a:latin typeface="Calibri"/>
              </a:rPr>
              <a:t>✓  Cash impact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581144"/>
            <a:ext cx="5303520" cy="292608"/>
          </a:xfrm>
          <a:prstGeom prst="rect">
            <a:avLst/>
          </a:prstGeom>
          <a:solidFill>
            <a:srgbClr val="EFEDE8"/>
          </a:solidFill>
          <a:ln>
            <a:solidFill>
              <a:srgbClr val="C73E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64515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 i="0">
                <a:solidFill>
                  <a:srgbClr val="0E0E10"/>
                </a:solidFill>
                <a:latin typeface="Calibri"/>
              </a:rPr>
              <a:t>✓  Forecast reliability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910328"/>
            <a:ext cx="5303520" cy="292608"/>
          </a:xfrm>
          <a:prstGeom prst="rect">
            <a:avLst/>
          </a:prstGeom>
          <a:solidFill>
            <a:srgbClr val="EFEDE8"/>
          </a:solidFill>
          <a:ln>
            <a:solidFill>
              <a:srgbClr val="C73E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97433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 i="0">
                <a:solidFill>
                  <a:srgbClr val="0E0E10"/>
                </a:solidFill>
                <a:latin typeface="Calibri"/>
              </a:rPr>
              <a:t>✓  Risk avoidance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239512"/>
            <a:ext cx="5303520" cy="292608"/>
          </a:xfrm>
          <a:prstGeom prst="rect">
            <a:avLst/>
          </a:prstGeom>
          <a:solidFill>
            <a:srgbClr val="EFEDE8"/>
          </a:solidFill>
          <a:ln>
            <a:solidFill>
              <a:srgbClr val="C73E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035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 i="0">
                <a:solidFill>
                  <a:srgbClr val="0E0E10"/>
                </a:solidFill>
                <a:latin typeface="Calibri"/>
              </a:rPr>
              <a:t>✓  Audit defensibility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187451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2.  YOUR FIRST STATEMENT — NEVER SKIP 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2194560"/>
            <a:ext cx="557784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2377440"/>
            <a:ext cx="5577840" cy="2194560"/>
          </a:xfrm>
          <a:prstGeom prst="rect">
            <a:avLst/>
          </a:prstGeom>
          <a:solidFill>
            <a:srgbClr val="0E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2377440"/>
            <a:ext cx="164592" cy="2194560"/>
          </a:xfrm>
          <a:prstGeom prst="rect">
            <a:avLst/>
          </a:prstGeom>
          <a:solidFill>
            <a:srgbClr val="E94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2606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E94E1B"/>
                </a:solidFill>
                <a:latin typeface="Consolas"/>
              </a:rPr>
              <a:t>OPEN WITH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2926080"/>
            <a:ext cx="5212080" cy="1554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F7F6F3"/>
                </a:solidFill>
                <a:latin typeface="Calibri"/>
              </a:rPr>
              <a:t>We typically identify </a:t>
            </a:r>
            <a:r>
              <a:rPr sz="1700" b="1" i="0">
                <a:solidFill>
                  <a:srgbClr val="F7F6F3"/>
                </a:solidFill>
                <a:latin typeface="Calibri"/>
              </a:rPr>
              <a:t>€1–2M of recoverable value</a:t>
            </a:r>
            <a:r>
              <a:rPr sz="1700" b="0" i="0">
                <a:solidFill>
                  <a:srgbClr val="F7F6F3"/>
                </a:solidFill>
                <a:latin typeface="Calibri"/>
              </a:rPr>
              <a:t> per €50M of contract volume. Our fee is </a:t>
            </a:r>
            <a:r>
              <a:rPr sz="1700" b="0" i="1">
                <a:solidFill>
                  <a:srgbClr val="E94E1B"/>
                </a:solidFill>
                <a:latin typeface="Cambria"/>
              </a:rPr>
              <a:t>a fraction of that.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75488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WHY IT WORKS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5074920"/>
            <a:ext cx="557784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5212080"/>
            <a:ext cx="5577840" cy="10972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2D2F36"/>
                </a:solidFill>
                <a:latin typeface="Calibri"/>
              </a:rPr>
              <a:t>It instantly reframes the conversation: </a:t>
            </a:r>
            <a:r>
              <a:rPr sz="1300" b="1" i="0">
                <a:solidFill>
                  <a:srgbClr val="0E0E10"/>
                </a:solidFill>
                <a:latin typeface="Calibri"/>
              </a:rPr>
              <a:t>price → investment, cost → return multiple</a:t>
            </a:r>
            <a:r>
              <a:rPr sz="1300" b="0" i="0">
                <a:solidFill>
                  <a:srgbClr val="2D2F36"/>
                </a:solidFill>
                <a:latin typeface="Calibri"/>
              </a:rPr>
              <a:t>.  The CFO is now thinking about ROI before they think about budget category.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256032" cy="256032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840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0E0E10"/>
                </a:solidFill>
                <a:latin typeface="Calibri"/>
              </a:rPr>
              <a:t>Evaluetor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84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·  SALES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393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60">
                <a:solidFill>
                  <a:srgbClr val="5B5F66"/>
                </a:solidFill>
                <a:latin typeface="Consolas"/>
              </a:rPr>
              <a:t>03 / PRICE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183112" cy="1"/>
          </a:xfrm>
          <a:prstGeom prst="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INTERNAL · NOT FOR PROSPECTS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40">
                <a:solidFill>
                  <a:srgbClr val="5B5F66"/>
                </a:solidFill>
                <a:latin typeface="Consolas"/>
              </a:rPr>
              <a:t>Slide 03 — Three-layer price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05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600" b="0" i="0">
                <a:solidFill>
                  <a:srgbClr val="0E0E10"/>
                </a:solidFill>
                <a:latin typeface="Calibri"/>
              </a:rPr>
              <a:t>Three layers of price defense. </a:t>
            </a:r>
            <a:r>
              <a:rPr sz="3600" b="0" i="1">
                <a:solidFill>
                  <a:srgbClr val="2D2F36"/>
                </a:solidFill>
                <a:latin typeface="Cambria"/>
              </a:rPr>
              <a:t>In this order.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0" i="0">
                <a:solidFill>
                  <a:srgbClr val="5B5F66"/>
                </a:solidFill>
                <a:latin typeface="Calibri"/>
              </a:rPr>
              <a:t>Never anchor on the price tag. Anchor on three things, in sequence.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749039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240280"/>
            <a:ext cx="3749039" cy="54864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2316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LAYER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43200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 i="0">
                <a:solidFill>
                  <a:srgbClr val="0E0E10"/>
                </a:solidFill>
                <a:latin typeface="Calibri"/>
              </a:rPr>
              <a:t>ROI multiple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00400"/>
            <a:ext cx="3291839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2D2F36"/>
                </a:solidFill>
                <a:latin typeface="Cambria"/>
              </a:rPr>
              <a:t>This is a 10–25× ROI decision.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434840"/>
            <a:ext cx="3200399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3291839" cy="1280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2F36"/>
                </a:solidFill>
                <a:latin typeface="Calibri"/>
              </a:rPr>
              <a:t>CFO mental model:</a:t>
            </a:r>
            <a:br/>
            <a:r>
              <a:rPr sz="1200" b="0" i="0">
                <a:solidFill>
                  <a:srgbClr val="2D2F36"/>
                </a:solidFill>
                <a:latin typeface="Calibri"/>
              </a:rPr>
              <a:t>&lt; 3× → reject  ·  5–10× → consider  ·  &gt; 10× → approve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9788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40">
                <a:solidFill>
                  <a:srgbClr val="C73E0F"/>
                </a:solidFill>
                <a:latin typeface="Consolas"/>
              </a:rPr>
              <a:t>Always lead here.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399" y="2240280"/>
            <a:ext cx="3749039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399" y="2240280"/>
            <a:ext cx="3749039" cy="54864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19" y="242316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LAYER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19" y="2743200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 i="0">
                <a:solidFill>
                  <a:srgbClr val="0E0E10"/>
                </a:solidFill>
                <a:latin typeface="Calibri"/>
              </a:rPr>
              <a:t>Cost of inaction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19" y="3200400"/>
            <a:ext cx="3291839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2D2F36"/>
                </a:solidFill>
                <a:latin typeface="Cambria"/>
              </a:rPr>
              <a:t>Doing nothing costs you €1–2M per year.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19" y="4434840"/>
            <a:ext cx="3200399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19" y="4572000"/>
            <a:ext cx="3291839" cy="1280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2F36"/>
                </a:solidFill>
                <a:latin typeface="Calibri"/>
              </a:rPr>
              <a:t>Make concrete: missed SLA credits  ·  surprise auto-renewals  ·  pricing leakage  ·  scope-creep unbilled.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19" y="589788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40">
                <a:solidFill>
                  <a:srgbClr val="C73E0F"/>
                </a:solidFill>
                <a:latin typeface="Consolas"/>
              </a:rPr>
              <a:t>Use against status quo bias.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8" y="2240280"/>
            <a:ext cx="3749039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8" y="2240280"/>
            <a:ext cx="3749039" cy="54864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198" y="242316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LAYER 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198" y="2743200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 i="0">
                <a:solidFill>
                  <a:srgbClr val="0E0E10"/>
                </a:solidFill>
                <a:latin typeface="Calibri"/>
              </a:rPr>
              <a:t>Budget reframing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198" y="3200400"/>
            <a:ext cx="3291839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2D2F36"/>
                </a:solidFill>
                <a:latin typeface="Cambria"/>
              </a:rPr>
              <a:t>This should sit next to procurement savings or audit recovery — not IT tooling.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198" y="4434840"/>
            <a:ext cx="3200399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198" y="4572000"/>
            <a:ext cx="3291839" cy="1280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D2F36"/>
                </a:solidFill>
                <a:latin typeface="Calibri"/>
              </a:rPr>
              <a:t>❌ 'CLM software'</a:t>
            </a:r>
            <a:br/>
            <a:r>
              <a:rPr sz="1200" b="0" i="0">
                <a:solidFill>
                  <a:srgbClr val="2D2F36"/>
                </a:solidFill>
                <a:latin typeface="Calibri"/>
              </a:rPr>
              <a:t>✓ 'Value recovery / cost optimisation'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198" y="5897880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40">
                <a:solidFill>
                  <a:srgbClr val="C73E0F"/>
                </a:solidFill>
                <a:latin typeface="Consolas"/>
              </a:rPr>
              <a:t>Re-categorise the spend.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256032" cy="256032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840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0E0E10"/>
                </a:solidFill>
                <a:latin typeface="Calibri"/>
              </a:rPr>
              <a:t>Evaluetor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84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·  SALES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393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60">
                <a:solidFill>
                  <a:srgbClr val="5B5F66"/>
                </a:solidFill>
                <a:latin typeface="Consolas"/>
              </a:rPr>
              <a:t>04 / OBJECTION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183112" cy="1"/>
          </a:xfrm>
          <a:prstGeom prst="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INTERNAL · NOT FOR PROSPECTS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40">
                <a:solidFill>
                  <a:srgbClr val="5B5F66"/>
                </a:solidFill>
                <a:latin typeface="Consolas"/>
              </a:rPr>
              <a:t>Slide 04 — Objection 1: Expensive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05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600" b="1" i="0">
                <a:solidFill>
                  <a:srgbClr val="C73E0F"/>
                </a:solidFill>
                <a:latin typeface="Calibri"/>
              </a:rPr>
              <a:t>Objection 01.  </a:t>
            </a:r>
            <a:r>
              <a:rPr sz="3600" b="0" i="1">
                <a:solidFill>
                  <a:srgbClr val="0E0E10"/>
                </a:solidFill>
                <a:latin typeface="Cambria"/>
              </a:rPr>
              <a:t>"This is expensive."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YOUR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200" b="1" i="1">
                <a:solidFill>
                  <a:srgbClr val="0E0E10"/>
                </a:solidFill>
                <a:latin typeface="Cambria"/>
              </a:rPr>
              <a:t>"Relative to what?"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17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0" i="0">
                <a:solidFill>
                  <a:srgbClr val="5B5F66"/>
                </a:solidFill>
                <a:latin typeface="Calibri"/>
              </a:rPr>
              <a:t>Then offer three benchmarks they cannot ignore: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0440"/>
            <a:ext cx="1118311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11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800" b="1" i="0">
                <a:solidFill>
                  <a:srgbClr val="C73E0F"/>
                </a:solidFill>
                <a:latin typeface="Calibri"/>
              </a:rPr>
              <a:t>€80k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6393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 spc="140">
                <a:solidFill>
                  <a:srgbClr val="5B5F66"/>
                </a:solidFill>
                <a:latin typeface="Consolas"/>
              </a:rPr>
              <a:t>vs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6393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0" i="0">
                <a:solidFill>
                  <a:srgbClr val="0E0E10"/>
                </a:solidFill>
                <a:latin typeface="Calibri"/>
              </a:rPr>
              <a:t>vs €1.5M recoverable annual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23360"/>
            <a:ext cx="1118311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800" b="1" i="0">
                <a:solidFill>
                  <a:srgbClr val="C73E0F"/>
                </a:solidFill>
                <a:latin typeface="Calibri"/>
              </a:rPr>
              <a:t>€80k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142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 spc="140">
                <a:solidFill>
                  <a:srgbClr val="5B5F66"/>
                </a:solidFill>
                <a:latin typeface="Consolas"/>
              </a:rPr>
              <a:t>vs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1422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0" i="0">
                <a:solidFill>
                  <a:srgbClr val="0E0E10"/>
                </a:solidFill>
                <a:latin typeface="Calibri"/>
              </a:rPr>
              <a:t>vs ONE missed SLA claim event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526280"/>
            <a:ext cx="11183112" cy="411480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800" b="1" i="0">
                <a:solidFill>
                  <a:srgbClr val="C73E0F"/>
                </a:solidFill>
                <a:latin typeface="Calibri"/>
              </a:rPr>
              <a:t>€80k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6451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 i="0" spc="140">
                <a:solidFill>
                  <a:srgbClr val="5B5F66"/>
                </a:solidFill>
                <a:latin typeface="Consolas"/>
              </a:rPr>
              <a:t>vs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6451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0" i="0">
                <a:solidFill>
                  <a:srgbClr val="0E0E10"/>
                </a:solidFill>
                <a:latin typeface="Calibri"/>
              </a:rPr>
              <a:t>vs one incorrectly handled renewal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257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CLOSING 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57784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715000"/>
            <a:ext cx="11183112" cy="502920"/>
          </a:xfrm>
          <a:prstGeom prst="rect">
            <a:avLst/>
          </a:prstGeom>
          <a:solidFill>
            <a:srgbClr val="0E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815584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700" b="0" i="1">
                <a:solidFill>
                  <a:srgbClr val="F7F6F3"/>
                </a:solidFill>
                <a:latin typeface="Cambria"/>
              </a:rPr>
              <a:t>"You're comparing it to software. You should compare it to lost cash."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256032" cy="256032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840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0E0E10"/>
                </a:solidFill>
                <a:latin typeface="Calibri"/>
              </a:rPr>
              <a:t>Evaluetor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84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·  SALES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393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60">
                <a:solidFill>
                  <a:srgbClr val="5B5F66"/>
                </a:solidFill>
                <a:latin typeface="Consolas"/>
              </a:rPr>
              <a:t>05 / OBJECTION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183112" cy="1"/>
          </a:xfrm>
          <a:prstGeom prst="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INTERNAL · NOT FOR PROSPECTS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40">
                <a:solidFill>
                  <a:srgbClr val="5B5F66"/>
                </a:solidFill>
                <a:latin typeface="Consolas"/>
              </a:rPr>
              <a:t>Slide 05 — Objection 2: Already have a CLM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05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600" b="1" i="0">
                <a:solidFill>
                  <a:srgbClr val="C73E0F"/>
                </a:solidFill>
                <a:latin typeface="Calibri"/>
              </a:rPr>
              <a:t>Objection 02.  </a:t>
            </a:r>
            <a:r>
              <a:rPr sz="3600" b="0" i="1">
                <a:solidFill>
                  <a:srgbClr val="0E0E10"/>
                </a:solidFill>
                <a:latin typeface="Cambria"/>
              </a:rPr>
              <a:t>"We already have a CLM."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YOUR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400" b="0" i="0">
                <a:solidFill>
                  <a:srgbClr val="0E0E10"/>
                </a:solidFill>
                <a:latin typeface="Calibri"/>
              </a:rPr>
              <a:t>"You already have a contract repository. </a:t>
            </a:r>
            <a:r>
              <a:rPr sz="2400" b="1" i="1">
                <a:solidFill>
                  <a:srgbClr val="C73E0F"/>
                </a:solidFill>
                <a:latin typeface="Cambria"/>
              </a:rPr>
              <a:t>What you don't have is execution visibility."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83280"/>
            <a:ext cx="5486400" cy="1737360"/>
          </a:xfrm>
          <a:prstGeom prst="rect">
            <a:avLst/>
          </a:prstGeom>
          <a:solidFill>
            <a:srgbClr val="EFEDE8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661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5B5F66"/>
                </a:solidFill>
                <a:latin typeface="Consolas"/>
              </a:rPr>
              <a:t>INCUMBENT CLM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 i="0">
                <a:solidFill>
                  <a:srgbClr val="0E0E10"/>
                </a:solidFill>
                <a:latin typeface="Calibri"/>
              </a:rPr>
              <a:t>Storage +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9768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D2F36"/>
                </a:solidFill>
                <a:latin typeface="Calibri"/>
              </a:rPr>
              <a:t>Drafting → routing → eSignature → repository.  Designed in the document era.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3383280"/>
            <a:ext cx="5486400" cy="1737360"/>
          </a:xfrm>
          <a:prstGeom prst="rect">
            <a:avLst/>
          </a:prstGeom>
          <a:solidFill>
            <a:srgbClr val="0E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3383280"/>
            <a:ext cx="164592" cy="1737360"/>
          </a:xfrm>
          <a:prstGeom prst="rect">
            <a:avLst/>
          </a:prstGeom>
          <a:solidFill>
            <a:srgbClr val="E94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5661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E94E1B"/>
                </a:solidFill>
                <a:latin typeface="Consolas"/>
              </a:rPr>
              <a:t>EVALUETOR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886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 i="0">
                <a:solidFill>
                  <a:srgbClr val="F7F6F3"/>
                </a:solidFill>
                <a:latin typeface="Calibri"/>
              </a:rPr>
              <a:t>€ recovery + risk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29768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F7F6F3"/>
                </a:solidFill>
                <a:latin typeface="Calibri"/>
              </a:rPr>
              <a:t>Reads what they signed.  Watches it perform.  Surfaces leakage.  Built model-first.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486400"/>
            <a:ext cx="11183112" cy="640080"/>
          </a:xfrm>
          <a:prstGeom prst="rect">
            <a:avLst/>
          </a:prstGeom>
          <a:solidFill>
            <a:srgbClr val="0E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486400"/>
            <a:ext cx="164592" cy="640080"/>
          </a:xfrm>
          <a:prstGeom prst="rect">
            <a:avLst/>
          </a:prstGeom>
          <a:solidFill>
            <a:srgbClr val="E94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E94E1B"/>
                </a:solidFill>
                <a:latin typeface="Consolas"/>
              </a:rPr>
              <a:t>KILL SWITCH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7900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0" i="1">
                <a:solidFill>
                  <a:srgbClr val="F7F6F3"/>
                </a:solidFill>
                <a:latin typeface="Cambria"/>
              </a:rPr>
              <a:t>"If your current CLM can show € recovered / € lost monthly for every contract, you don't need us."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256032" cy="256032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840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0E0E10"/>
                </a:solidFill>
                <a:latin typeface="Calibri"/>
              </a:rPr>
              <a:t>Evaluetor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84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·  SALES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393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60">
                <a:solidFill>
                  <a:srgbClr val="5B5F66"/>
                </a:solidFill>
                <a:latin typeface="Consolas"/>
              </a:rPr>
              <a:t>06 / OBJECTION 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183112" cy="1"/>
          </a:xfrm>
          <a:prstGeom prst="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INTERNAL · NOT FOR PROSPECTS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40">
                <a:solidFill>
                  <a:srgbClr val="5B5F66"/>
                </a:solidFill>
                <a:latin typeface="Consolas"/>
              </a:rPr>
              <a:t>Slide 06 — Objection 3: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05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600" b="1" i="0">
                <a:solidFill>
                  <a:srgbClr val="C73E0F"/>
                </a:solidFill>
                <a:latin typeface="Calibri"/>
              </a:rPr>
              <a:t>Objection 03.  </a:t>
            </a:r>
            <a:r>
              <a:rPr sz="3600" b="0" i="1">
                <a:solidFill>
                  <a:srgbClr val="0E0E10"/>
                </a:solidFill>
                <a:latin typeface="Cambria"/>
              </a:rPr>
              <a:t>"Integration will be complex."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YOUR RESPONSE  ·  TWO MOVES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68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MOVE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4688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0" i="1">
                <a:solidFill>
                  <a:srgbClr val="5B5F66"/>
                </a:solidFill>
                <a:latin typeface="Calibri"/>
              </a:rPr>
              <a:t>Acknowledge — don't fight.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34640"/>
            <a:ext cx="11183112" cy="640080"/>
          </a:xfrm>
          <a:prstGeom prst="rect">
            <a:avLst/>
          </a:prstGeom>
          <a:solidFill>
            <a:srgbClr val="FFFFFF"/>
          </a:solidFill>
          <a:ln>
            <a:solidFill>
              <a:srgbClr val="C73E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834640"/>
            <a:ext cx="164592" cy="640080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9718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700" b="1" i="1">
                <a:solidFill>
                  <a:srgbClr val="0E0E10"/>
                </a:solidFill>
                <a:latin typeface="Cambria"/>
              </a:rPr>
              <a:t>"Correct — this is where most of the value sits."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94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MOVE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794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0" i="1">
                <a:solidFill>
                  <a:srgbClr val="5B5F66"/>
                </a:solidFill>
                <a:latin typeface="Calibri"/>
              </a:rPr>
              <a:t>Turn it on its head.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160520"/>
            <a:ext cx="11183112" cy="868680"/>
          </a:xfrm>
          <a:prstGeom prst="rect">
            <a:avLst/>
          </a:prstGeom>
          <a:solidFill>
            <a:srgbClr val="0E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160520"/>
            <a:ext cx="164592" cy="868680"/>
          </a:xfrm>
          <a:prstGeom prst="rect">
            <a:avLst/>
          </a:prstGeom>
          <a:solidFill>
            <a:srgbClr val="E94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976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0000"/>
              </a:lnSpc>
            </a:pPr>
            <a:r>
              <a:rPr sz="1700" b="0" i="1">
                <a:solidFill>
                  <a:srgbClr val="F7F6F3"/>
                </a:solidFill>
                <a:latin typeface="Cambria"/>
              </a:rPr>
              <a:t>"That's exactly why the ROI exists. If the data were already connected, the value wouldn't be leaking."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349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AND THEN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6692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806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2D2F36"/>
                </a:solidFill>
                <a:latin typeface="Calibri"/>
              </a:rPr>
              <a:t>Limit initial scope → ServiceNow OR one ERP, not both.  Expand after proof.  ROI within 90 days on Tier 02.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256032" cy="256032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840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0E0E10"/>
                </a:solidFill>
                <a:latin typeface="Calibri"/>
              </a:rPr>
              <a:t>Evaluetor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84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·  SALES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393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60">
                <a:solidFill>
                  <a:srgbClr val="5B5F66"/>
                </a:solidFill>
                <a:latin typeface="Consolas"/>
              </a:rPr>
              <a:t>07 / OBJECTION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183112" cy="1"/>
          </a:xfrm>
          <a:prstGeom prst="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INTERNAL · NOT FOR PROSPECTS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40">
                <a:solidFill>
                  <a:srgbClr val="5B5F66"/>
                </a:solidFill>
                <a:latin typeface="Consolas"/>
              </a:rPr>
              <a:t>Slide 07 — Objection 4: 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05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600" b="1" i="0">
                <a:solidFill>
                  <a:srgbClr val="C73E0F"/>
                </a:solidFill>
                <a:latin typeface="Calibri"/>
              </a:rPr>
              <a:t>Objection 04.  </a:t>
            </a:r>
            <a:r>
              <a:rPr sz="3600" b="0" i="1">
                <a:solidFill>
                  <a:srgbClr val="0E0E10"/>
                </a:solidFill>
                <a:latin typeface="Cambria"/>
              </a:rPr>
              <a:t>"We need proof before committing."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YOUR RESPONSE  ·  REMOVE THE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400" b="1" i="1">
                <a:solidFill>
                  <a:srgbClr val="0E0E10"/>
                </a:solidFill>
                <a:latin typeface="Cambria"/>
              </a:rPr>
              <a:t>"Agreed. That's why we start with 5 contracts."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918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0" i="0">
                <a:solidFill>
                  <a:srgbClr val="5B5F66"/>
                </a:solidFill>
                <a:latin typeface="Calibri"/>
              </a:rPr>
              <a:t>What you typically surface from 5 contracts in 30 minutes: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03320"/>
            <a:ext cx="11183112" cy="320040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703320"/>
            <a:ext cx="54864" cy="320040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673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 i="0">
                <a:solidFill>
                  <a:srgbClr val="0E0E10"/>
                </a:solidFill>
                <a:latin typeface="Calibri"/>
              </a:rPr>
              <a:t>Missed obligations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67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 i="0">
                <a:solidFill>
                  <a:srgbClr val="5B5F66"/>
                </a:solidFill>
                <a:latin typeface="Calibri"/>
              </a:rPr>
              <a:t>with concrete deadlines and owners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87368"/>
            <a:ext cx="11183112" cy="320040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087368"/>
            <a:ext cx="54864" cy="320040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513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 i="0">
                <a:solidFill>
                  <a:srgbClr val="0E0E10"/>
                </a:solidFill>
                <a:latin typeface="Calibri"/>
              </a:rPr>
              <a:t>Renewal risks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51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 i="0">
                <a:solidFill>
                  <a:srgbClr val="5B5F66"/>
                </a:solidFill>
                <a:latin typeface="Calibri"/>
              </a:rPr>
              <a:t>auto-renewal traps, missed notice periods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471416"/>
            <a:ext cx="11183112" cy="320040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471416"/>
            <a:ext cx="54864" cy="320040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5354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 i="0">
                <a:solidFill>
                  <a:srgbClr val="0E0E10"/>
                </a:solidFill>
                <a:latin typeface="Calibri"/>
              </a:rPr>
              <a:t>SLA gaps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53542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 i="0">
                <a:solidFill>
                  <a:srgbClr val="5B5F66"/>
                </a:solidFill>
                <a:latin typeface="Calibri"/>
              </a:rPr>
              <a:t>uncalculated credits, breach exposure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855464"/>
            <a:ext cx="11183112" cy="320040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855464"/>
            <a:ext cx="54864" cy="320040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9194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 i="0">
                <a:solidFill>
                  <a:srgbClr val="0E0E10"/>
                </a:solidFill>
                <a:latin typeface="Calibri"/>
              </a:rPr>
              <a:t>Indemnity / liability risks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9194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 i="0">
                <a:solidFill>
                  <a:srgbClr val="5B5F66"/>
                </a:solidFill>
                <a:latin typeface="Calibri"/>
              </a:rPr>
              <a:t>uncapped, broad, or one-sided terms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349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CLOSING LINE  ·  REMOVES ALL BUYING RISK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6692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806440"/>
            <a:ext cx="11183112" cy="457200"/>
          </a:xfrm>
          <a:prstGeom prst="rect">
            <a:avLst/>
          </a:prstGeom>
          <a:solidFill>
            <a:srgbClr val="0E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700" b="1" i="1">
                <a:solidFill>
                  <a:srgbClr val="F7F6F3"/>
                </a:solidFill>
                <a:latin typeface="Cambria"/>
              </a:rPr>
              <a:t>"If we don't find value, you don't proceed."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256032" cy="256032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840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0E0E10"/>
                </a:solidFill>
                <a:latin typeface="Calibri"/>
              </a:rPr>
              <a:t>Evaluetor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84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·  SALES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393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60">
                <a:solidFill>
                  <a:srgbClr val="5B5F66"/>
                </a:solidFill>
                <a:latin typeface="Consolas"/>
              </a:rPr>
              <a:t>08 / OBJECTION 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183112" cy="1"/>
          </a:xfrm>
          <a:prstGeom prst="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INTERNAL · NOT FOR PROSPECTS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40">
                <a:solidFill>
                  <a:srgbClr val="5B5F66"/>
                </a:solidFill>
                <a:latin typeface="Consolas"/>
              </a:rPr>
              <a:t>Slide 08 — Objection 5: Discount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05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600" b="1" i="0">
                <a:solidFill>
                  <a:srgbClr val="C73E0F"/>
                </a:solidFill>
                <a:latin typeface="Calibri"/>
              </a:rPr>
              <a:t>Objection 05.  </a:t>
            </a:r>
            <a:r>
              <a:rPr sz="3600" b="0" i="1">
                <a:solidFill>
                  <a:srgbClr val="0E0E10"/>
                </a:solidFill>
                <a:latin typeface="Cambria"/>
              </a:rPr>
              <a:t>"Can you discount?"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NEVER DISCOUNT FIRST.  TRADE.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9456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774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STEP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3774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 i="1">
                <a:solidFill>
                  <a:srgbClr val="5B5F66"/>
                </a:solidFill>
                <a:latin typeface="Calibri"/>
              </a:rPr>
              <a:t>Anchor value first.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800" b="0" i="1">
                <a:solidFill>
                  <a:srgbClr val="0E0E10"/>
                </a:solidFill>
                <a:latin typeface="Cambria"/>
              </a:rPr>
              <a:t>"If we reduce scope, we reduce value recovery."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429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STEP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29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 i="1">
                <a:solidFill>
                  <a:srgbClr val="5B5F66"/>
                </a:solidFill>
                <a:latin typeface="Calibri"/>
              </a:rPr>
              <a:t>Offer a trade.  You give one thing, get one thing.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94760"/>
            <a:ext cx="5577840" cy="384048"/>
          </a:xfrm>
          <a:prstGeom prst="rect">
            <a:avLst/>
          </a:prstGeom>
          <a:solidFill>
            <a:srgbClr val="0E0E10"/>
          </a:solidFill>
          <a:ln>
            <a:solidFill>
              <a:srgbClr val="0E0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794760"/>
            <a:ext cx="5577840" cy="384048"/>
          </a:xfrm>
          <a:prstGeom prst="rect">
            <a:avLst/>
          </a:prstGeom>
          <a:solidFill>
            <a:srgbClr val="0E0E10"/>
          </a:solidFill>
          <a:ln>
            <a:solidFill>
              <a:srgbClr val="0E0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8862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 i="0" spc="160">
                <a:solidFill>
                  <a:srgbClr val="F7F6F3"/>
                </a:solidFill>
                <a:latin typeface="Consolas"/>
              </a:rPr>
              <a:t>You give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8862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 i="0" spc="160">
                <a:solidFill>
                  <a:srgbClr val="F7F6F3"/>
                </a:solidFill>
                <a:latin typeface="Consolas"/>
              </a:rPr>
              <a:t>You 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178808"/>
            <a:ext cx="5577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4178808"/>
            <a:ext cx="5577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27024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0" i="0">
                <a:solidFill>
                  <a:srgbClr val="2D2F36"/>
                </a:solidFill>
                <a:latin typeface="Calibri"/>
              </a:rPr>
              <a:t>Lower 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27024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0" i="0">
                <a:solidFill>
                  <a:srgbClr val="2D2F36"/>
                </a:solidFill>
                <a:latin typeface="Calibri"/>
              </a:rPr>
              <a:t>Longer contract (2–3 yrs)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562856"/>
            <a:ext cx="5577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4562856"/>
            <a:ext cx="5577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65429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0" i="0">
                <a:solidFill>
                  <a:srgbClr val="2D2F36"/>
                </a:solidFill>
                <a:latin typeface="Calibri"/>
              </a:rPr>
              <a:t>Lower price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65429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0" i="0">
                <a:solidFill>
                  <a:srgbClr val="2D2F36"/>
                </a:solidFill>
                <a:latin typeface="Calibri"/>
              </a:rPr>
              <a:t>Named reference case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946904"/>
            <a:ext cx="5577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946904"/>
            <a:ext cx="55778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03834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0" i="0">
                <a:solidFill>
                  <a:srgbClr val="2D2F36"/>
                </a:solidFill>
                <a:latin typeface="Calibri"/>
              </a:rPr>
              <a:t>Lower price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03834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0" i="0">
                <a:solidFill>
                  <a:srgbClr val="2D2F36"/>
                </a:solidFill>
                <a:latin typeface="Calibri"/>
              </a:rPr>
              <a:t>Faster decision / no procurement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5778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STEP 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5778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 i="1">
                <a:solidFill>
                  <a:srgbClr val="5B5F66"/>
                </a:solidFill>
                <a:latin typeface="Calibri"/>
              </a:rPr>
              <a:t>Controlled concession.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87044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0" i="1">
                <a:solidFill>
                  <a:srgbClr val="0E0E10"/>
                </a:solidFill>
                <a:latin typeface="Cambria"/>
              </a:rPr>
              <a:t>"We can optimise pricing if we structure this as a multi-year engagement."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256032" cy="256032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840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0E0E10"/>
                </a:solidFill>
                <a:latin typeface="Calibri"/>
              </a:rPr>
              <a:t>Evaluetor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84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·  SALES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393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60">
                <a:solidFill>
                  <a:srgbClr val="5B5F66"/>
                </a:solidFill>
                <a:latin typeface="Consolas"/>
              </a:rPr>
              <a:t>09 / LEVERS + CLOSING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183112" cy="1"/>
          </a:xfrm>
          <a:prstGeom prst="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INTERNAL · NOT FOR PROSPECTS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40">
                <a:solidFill>
                  <a:srgbClr val="5B5F66"/>
                </a:solidFill>
                <a:latin typeface="Consolas"/>
              </a:rPr>
              <a:t>Slide 09 — Negotiation levers + closing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05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600" b="0" i="0">
                <a:solidFill>
                  <a:srgbClr val="0E0E10"/>
                </a:solidFill>
                <a:latin typeface="Calibri"/>
              </a:rPr>
              <a:t>Levers you can pull. </a:t>
            </a:r>
            <a:r>
              <a:rPr sz="3600" b="0" i="1">
                <a:solidFill>
                  <a:srgbClr val="2D2F36"/>
                </a:solidFill>
                <a:latin typeface="Cambria"/>
              </a:rPr>
              <a:t>And how to close.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WHAT YOU CAN MOVE  ·  NEVER €/VALUE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94560"/>
            <a:ext cx="530352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377440"/>
            <a:ext cx="53035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377440"/>
            <a:ext cx="164592" cy="502920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43230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 i="0">
                <a:solidFill>
                  <a:srgbClr val="0E0E10"/>
                </a:solidFill>
                <a:latin typeface="Calibri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6517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# contracts  ·  business units  ·  modules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926080"/>
            <a:ext cx="53035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926080"/>
            <a:ext cx="164592" cy="502920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9809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 i="0">
                <a:solidFill>
                  <a:srgbClr val="0E0E10"/>
                </a:solidFill>
                <a:latin typeface="Calibri"/>
              </a:rPr>
              <a:t>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200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pilot vs full rollout  ·  staged expansion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474720"/>
            <a:ext cx="53035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474720"/>
            <a:ext cx="164592" cy="502920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52958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 i="0">
                <a:solidFill>
                  <a:srgbClr val="0E0E10"/>
                </a:solidFill>
                <a:latin typeface="Calibri"/>
              </a:rPr>
              <a:t>Integrations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7490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delay connectors → lower price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023360"/>
            <a:ext cx="53035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023360"/>
            <a:ext cx="164592" cy="502920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07822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 i="0">
                <a:solidFill>
                  <a:srgbClr val="0E0E10"/>
                </a:solidFill>
                <a:latin typeface="Calibri"/>
              </a:rPr>
              <a:t>Commitment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297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 i="0">
                <a:solidFill>
                  <a:srgbClr val="5B5F66"/>
                </a:solidFill>
                <a:latin typeface="Calibri"/>
              </a:rPr>
              <a:t>1 yr → higher price  ·  3 yr → lower price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187451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CLOSING STRATEGY  ·  4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2194560"/>
            <a:ext cx="557784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23774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C73E0F"/>
                </a:solidFill>
                <a:latin typeface="Consolas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3774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0E0E10"/>
                </a:solidFill>
                <a:latin typeface="Calibri"/>
              </a:rPr>
              <a:t>Summarise value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67004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2D2F36"/>
                </a:solidFill>
                <a:latin typeface="Cambria"/>
              </a:rPr>
              <a:t>"We've identified €X risk / missed value."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32461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C73E0F"/>
                </a:solidFill>
                <a:latin typeface="Consolas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246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0E0E10"/>
                </a:solidFill>
                <a:latin typeface="Calibri"/>
              </a:rPr>
              <a:t>Restate ROI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53872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2D2F36"/>
                </a:solidFill>
                <a:latin typeface="Cambria"/>
              </a:rPr>
              <a:t>"You invest €Y to recover €X."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1148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C73E0F"/>
                </a:solidFill>
                <a:latin typeface="Consolas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114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0E0E10"/>
                </a:solidFill>
                <a:latin typeface="Calibri"/>
              </a:rPr>
              <a:t>Reduce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40740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2D2F36"/>
                </a:solidFill>
                <a:latin typeface="Cambria"/>
              </a:rPr>
              <a:t>"We start with a focused scope."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9834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C73E0F"/>
                </a:solidFill>
                <a:latin typeface="Consolas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983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0E0E10"/>
                </a:solidFill>
                <a:latin typeface="Calibri"/>
              </a:rPr>
              <a:t>Call to 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27608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2D2F36"/>
                </a:solidFill>
                <a:latin typeface="Cambria"/>
              </a:rPr>
              <a:t>"Do you want visibility into this value now or next year?"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943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 i="0" spc="160">
                <a:solidFill>
                  <a:srgbClr val="C73E0F"/>
                </a:solidFill>
                <a:latin typeface="Consolas"/>
              </a:rPr>
              <a:t>Make delay the real cost.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256032" cy="256032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931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840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 i="0">
                <a:solidFill>
                  <a:srgbClr val="0E0E10"/>
                </a:solidFill>
                <a:latin typeface="Calibri"/>
              </a:rPr>
              <a:t>Evaluetor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84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·  SALES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393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60">
                <a:solidFill>
                  <a:srgbClr val="5B5F66"/>
                </a:solidFill>
                <a:latin typeface="Consolas"/>
              </a:rPr>
              <a:t>10 / DEAL STRUCTURES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11183112" cy="1"/>
          </a:xfrm>
          <a:prstGeom prst="rect">
            <a:avLst/>
          </a:prstGeom>
          <a:solidFill>
            <a:srgbClr val="1A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1" i="0" spc="160">
                <a:solidFill>
                  <a:srgbClr val="C73E0F"/>
                </a:solidFill>
                <a:latin typeface="Consolas"/>
              </a:rPr>
              <a:t>INTERNAL · NOT FOR PROSPECTS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85232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900" b="0" i="0" spc="140">
                <a:solidFill>
                  <a:srgbClr val="5B5F66"/>
                </a:solidFill>
                <a:latin typeface="Consolas"/>
              </a:rPr>
              <a:t>Slide 10 — Ideal deal structures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058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3600" b="0" i="0">
                <a:solidFill>
                  <a:srgbClr val="0E0E10"/>
                </a:solidFill>
                <a:latin typeface="Calibri"/>
              </a:rPr>
              <a:t>Aim for these. </a:t>
            </a:r>
            <a:r>
              <a:rPr sz="3600" b="0" i="1">
                <a:solidFill>
                  <a:srgbClr val="2D2F36"/>
                </a:solidFill>
                <a:latin typeface="Cambria"/>
              </a:rPr>
              <a:t>Negotiate around them.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0" i="0">
                <a:solidFill>
                  <a:srgbClr val="5B5F66"/>
                </a:solidFill>
                <a:latin typeface="Calibri"/>
              </a:rPr>
              <a:t>Every deal must support a &gt;10× ROI narrative.  Below that, restructure the scope before discounting.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548640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240280"/>
            <a:ext cx="5486400" cy="54864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23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MID-ENTERPRISE  · 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43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 i="0">
                <a:solidFill>
                  <a:srgbClr val="0E0E10"/>
                </a:solidFill>
                <a:latin typeface="Calibri"/>
              </a:rPr>
              <a:t>€20M – €100M ACVUM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246120"/>
            <a:ext cx="493776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83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 i="0">
                <a:solidFill>
                  <a:srgbClr val="2D2F36"/>
                </a:solidFill>
                <a:latin typeface="Calibri"/>
              </a:rPr>
              <a:t>Base platform fee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3832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200" b="1" i="0">
                <a:solidFill>
                  <a:srgbClr val="0E0E10"/>
                </a:solidFill>
                <a:latin typeface="Consolas"/>
              </a:rPr>
              <a:t>€80k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307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 i="0">
                <a:solidFill>
                  <a:srgbClr val="2D2F36"/>
                </a:solidFill>
                <a:latin typeface="Calibri"/>
              </a:rPr>
              <a:t>Connectors (1–2)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373075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200" b="1" i="0">
                <a:solidFill>
                  <a:srgbClr val="0E0E10"/>
                </a:solidFill>
                <a:latin typeface="Consolas"/>
              </a:rPr>
              <a:t>€30k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0782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 i="0">
                <a:solidFill>
                  <a:srgbClr val="2D2F36"/>
                </a:solidFill>
                <a:latin typeface="Calibri"/>
              </a:rPr>
              <a:t>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07822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200" b="1" i="0">
                <a:solidFill>
                  <a:srgbClr val="0E0E10"/>
                </a:solidFill>
                <a:latin typeface="Consolas"/>
              </a:rPr>
              <a:t>€40k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572000"/>
            <a:ext cx="493776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754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40">
                <a:solidFill>
                  <a:srgbClr val="5B5F66"/>
                </a:solidFill>
                <a:latin typeface="Consolas"/>
              </a:rPr>
              <a:t>Total Year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029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400" b="1" i="0">
                <a:solidFill>
                  <a:srgbClr val="C73E0F"/>
                </a:solidFill>
                <a:latin typeface="Calibri"/>
              </a:rPr>
              <a:t>€150k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623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40">
                <a:solidFill>
                  <a:srgbClr val="5B5F66"/>
                </a:solidFill>
                <a:latin typeface="Consolas"/>
              </a:rPr>
              <a:t>Recurring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97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800" b="1" i="0">
                <a:solidFill>
                  <a:srgbClr val="0E0E10"/>
                </a:solidFill>
                <a:latin typeface="Calibri"/>
              </a:rPr>
              <a:t>€110k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2240280"/>
            <a:ext cx="548640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DD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2240280"/>
            <a:ext cx="5486400" cy="54864"/>
          </a:xfrm>
          <a:prstGeom prst="rect">
            <a:avLst/>
          </a:prstGeom>
          <a:solidFill>
            <a:srgbClr val="C73E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423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60">
                <a:solidFill>
                  <a:srgbClr val="C73E0F"/>
                </a:solidFill>
                <a:latin typeface="Consolas"/>
              </a:rPr>
              <a:t>ENTERPRISE  ·  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743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 i="0">
                <a:solidFill>
                  <a:srgbClr val="0E0E10"/>
                </a:solidFill>
                <a:latin typeface="Calibri"/>
              </a:rPr>
              <a:t>€100M – €500M ACVUM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246120"/>
            <a:ext cx="493776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383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 i="0">
                <a:solidFill>
                  <a:srgbClr val="2D2F36"/>
                </a:solidFill>
                <a:latin typeface="Calibri"/>
              </a:rPr>
              <a:t>Base platform fee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33832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200" b="1" i="0">
                <a:solidFill>
                  <a:srgbClr val="0E0E10"/>
                </a:solidFill>
                <a:latin typeface="Consolas"/>
              </a:rPr>
              <a:t>€150k – €250k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7307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 i="0">
                <a:solidFill>
                  <a:srgbClr val="2D2F36"/>
                </a:solidFill>
                <a:latin typeface="Calibri"/>
              </a:rPr>
              <a:t>Connectors (2–3)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373075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200" b="1" i="0">
                <a:solidFill>
                  <a:srgbClr val="0E0E10"/>
                </a:solidFill>
                <a:latin typeface="Consolas"/>
              </a:rPr>
              <a:t>€50k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0782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 i="0">
                <a:solidFill>
                  <a:srgbClr val="2D2F36"/>
                </a:solidFill>
                <a:latin typeface="Calibri"/>
              </a:rPr>
              <a:t>Implementation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4078224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200" b="1" i="0">
                <a:solidFill>
                  <a:srgbClr val="0E0E10"/>
                </a:solidFill>
                <a:latin typeface="Consolas"/>
              </a:rPr>
              <a:t>€80k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4572000"/>
            <a:ext cx="4937760" cy="1"/>
          </a:xfrm>
          <a:prstGeom prst="rect">
            <a:avLst/>
          </a:prstGeom>
          <a:solidFill>
            <a:srgbClr val="DDD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4754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40">
                <a:solidFill>
                  <a:srgbClr val="5B5F66"/>
                </a:solidFill>
                <a:latin typeface="Consolas"/>
              </a:rPr>
              <a:t>Total Year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029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400" b="1" i="0">
                <a:solidFill>
                  <a:srgbClr val="C73E0F"/>
                </a:solidFill>
                <a:latin typeface="Calibri"/>
              </a:rPr>
              <a:t>€280k – €380k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623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00" b="1" i="0" spc="140">
                <a:solidFill>
                  <a:srgbClr val="5B5F66"/>
                </a:solidFill>
                <a:latin typeface="Consolas"/>
              </a:rPr>
              <a:t>Recurring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897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800" b="1" i="0">
                <a:solidFill>
                  <a:srgbClr val="0E0E10"/>
                </a:solidFill>
                <a:latin typeface="Calibri"/>
              </a:rPr>
              <a:t>€200k – €300k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