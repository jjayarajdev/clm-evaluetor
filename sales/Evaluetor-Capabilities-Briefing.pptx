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40">
                <a:solidFill>
                  <a:srgbClr val="5B5F66"/>
                </a:solidFill>
                <a:latin typeface="Consolas"/>
              </a:rPr>
              <a:t>Senority B.V. · Rotterdam, 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01 —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777240" cy="7772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32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000" b="0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0" i="0">
                <a:solidFill>
                  <a:srgbClr val="2D2F36"/>
                </a:solidFill>
                <a:latin typeface="Calibri"/>
              </a:rPr>
              <a:t>AI-native contract lifecycle management </a:t>
            </a:r>
            <a:r>
              <a:rPr sz="2600" b="0" i="1">
                <a:solidFill>
                  <a:srgbClr val="C73E0F"/>
                </a:solidFill>
                <a:latin typeface="Cambria"/>
              </a:rPr>
              <a:t>for European enterprises.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0" i="1">
                <a:solidFill>
                  <a:srgbClr val="5B5F66"/>
                </a:solidFill>
                <a:latin typeface="Cambria"/>
              </a:rPr>
              <a:t>Built for Legal, Procurement, Finance, and Operations leaders managing the post-signature value zone.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49240"/>
            <a:ext cx="91440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0" i="0" spc="160">
                <a:solidFill>
                  <a:srgbClr val="5B5F66"/>
                </a:solidFill>
                <a:latin typeface="Consolas"/>
              </a:rPr>
              <a:t>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Platform &amp;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486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0" i="0" spc="160">
                <a:solidFill>
                  <a:srgbClr val="5B5F66"/>
                </a:solidFill>
                <a:latin typeface="Consolas"/>
              </a:rPr>
              <a:t>PREPARED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760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Q2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4864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0" i="0" spc="160">
                <a:solidFill>
                  <a:srgbClr val="5B5F66"/>
                </a:solidFill>
                <a:latin typeface="Consolas"/>
              </a:rPr>
              <a:t>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760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Senority B.V. · Rotterdam, 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02 /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40">
                <a:solidFill>
                  <a:srgbClr val="5B5F66"/>
                </a:solidFill>
                <a:latin typeface="Consolas"/>
              </a:rPr>
              <a:t>Senority B.V. · Rotterdam, 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02 — 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0E0E10"/>
                </a:solidFill>
                <a:latin typeface="Calibri"/>
              </a:rPr>
              <a:t>Nine agents. One model. </a:t>
            </a:r>
            <a:r>
              <a:rPr sz="3600" b="0" i="1">
                <a:solidFill>
                  <a:srgbClr val="2D2F36"/>
                </a:solidFill>
                <a:latin typeface="Cambria"/>
              </a:rPr>
              <a:t>Every contract.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5B5F66"/>
                </a:solidFill>
                <a:latin typeface="Calibri"/>
              </a:rPr>
              <a:t>Six built-in capabilities. None of them an add-on. None sold separately.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6324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3957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000" b="1" i="0">
                <a:solidFill>
                  <a:srgbClr val="C73E0F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60">
                <a:solidFill>
                  <a:srgbClr val="5B5F66"/>
                </a:solidFill>
                <a:latin typeface="Consolas"/>
              </a:rPr>
              <a:t>SPECIALISED AI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395728"/>
            <a:ext cx="1" cy="548640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23957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000" b="1" i="0">
                <a:solidFill>
                  <a:srgbClr val="C73E0F"/>
                </a:solidFill>
                <a:latin typeface="Calibri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8163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60">
                <a:solidFill>
                  <a:srgbClr val="5B5F66"/>
                </a:solidFill>
                <a:latin typeface="Consolas"/>
              </a:rPr>
              <a:t>CLAUSE TYPES EXTRACTED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395728"/>
            <a:ext cx="1" cy="548640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3957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000" b="1" i="0">
                <a:solidFill>
                  <a:srgbClr val="0E0E10"/>
                </a:solidFill>
                <a:latin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8163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60">
                <a:solidFill>
                  <a:srgbClr val="5B5F66"/>
                </a:solidFill>
                <a:latin typeface="Consolas"/>
              </a:rPr>
              <a:t>RISK DIMENSIONS SCORED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2395728"/>
            <a:ext cx="1" cy="548640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7112" y="23957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000" b="1" i="0">
                <a:solidFill>
                  <a:srgbClr val="C73E0F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28163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60">
                <a:solidFill>
                  <a:srgbClr val="5B5F66"/>
                </a:solidFill>
                <a:latin typeface="Consolas"/>
              </a:rPr>
              <a:t>SLA METRIC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5021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72160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 i="0">
                <a:solidFill>
                  <a:srgbClr val="0E0E10"/>
                </a:solidFill>
                <a:latin typeface="Calibri"/>
              </a:rPr>
              <a:t>Contract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05079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5F66"/>
                </a:solidFill>
                <a:latin typeface="Calibri"/>
              </a:rPr>
              <a:t>Metadata, 30+ clause types, 10 risk categories, semantic search.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33756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35021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72160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 i="0">
                <a:solidFill>
                  <a:srgbClr val="0E0E10"/>
                </a:solidFill>
                <a:latin typeface="Calibri"/>
              </a:rPr>
              <a:t>Obligation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05079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5F66"/>
                </a:solidFill>
                <a:latin typeface="Calibri"/>
              </a:rPr>
              <a:t>RAG status, owner assignment, escalation,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33756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35021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372160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 i="0">
                <a:solidFill>
                  <a:srgbClr val="0E0E10"/>
                </a:solidFill>
                <a:latin typeface="Calibri"/>
              </a:rPr>
              <a:t>SLA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405079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5F66"/>
                </a:solidFill>
                <a:latin typeface="Calibri"/>
              </a:rPr>
              <a:t>Breach detection, automated credit math, vendor scorecards.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0060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49651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5184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 i="0">
                <a:solidFill>
                  <a:srgbClr val="0E0E10"/>
                </a:solidFill>
                <a:latin typeface="Calibri"/>
              </a:rPr>
              <a:t>Renewal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" y="55138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5F66"/>
                </a:solidFill>
                <a:latin typeface="Calibri"/>
              </a:rPr>
              <a:t>Auto-renewal detection, notice tracking, AI recommendations.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4800600"/>
            <a:ext cx="3703320" cy="1417320"/>
          </a:xfrm>
          <a:prstGeom prst="rect">
            <a:avLst/>
          </a:prstGeom>
          <a:solidFill>
            <a:srgbClr val="C73E0F"/>
          </a:solidFill>
          <a:ln w="9525">
            <a:solidFill>
              <a:srgbClr val="C73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49651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F7F6F3"/>
                </a:solidFill>
                <a:latin typeface="Consola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3128" y="5184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 i="0">
                <a:solidFill>
                  <a:srgbClr val="F7F6F3"/>
                </a:solidFill>
                <a:latin typeface="Calibri"/>
              </a:rPr>
              <a:t>Relationship Governance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55138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DE5D8"/>
                </a:solidFill>
                <a:latin typeface="Calibri"/>
              </a:rPr>
              <a:t>Perception gap analysis, composite health, improvement points.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3128" y="5897880"/>
            <a:ext cx="1371600" cy="201168"/>
          </a:xfrm>
          <a:prstGeom prst="rect">
            <a:avLst/>
          </a:prstGeom>
          <a:solidFill>
            <a:srgbClr val="C73E0F"/>
          </a:solidFill>
          <a:ln w="9525">
            <a:solidFill>
              <a:srgbClr val="F7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53128" y="59070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750" b="1" i="0" spc="200">
                <a:solidFill>
                  <a:srgbClr val="F7F6F3"/>
                </a:solidFill>
                <a:latin typeface="Consolas"/>
              </a:rPr>
              <a:t>ONLY IN EVALUETOR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4800600"/>
            <a:ext cx="3703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2168" y="49651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5184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 i="0">
                <a:solidFill>
                  <a:srgbClr val="0E0E10"/>
                </a:solidFill>
                <a:latin typeface="Calibri"/>
              </a:rPr>
              <a:t>Enterprise 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2168" y="55138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B5F66"/>
                </a:solidFill>
                <a:latin typeface="Calibri"/>
              </a:rPr>
              <a:t>Encryption, RBAC, multi-tenant isolation,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03 / THE FOUR DISCIPLINES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40">
                <a:solidFill>
                  <a:srgbClr val="5B5F66"/>
                </a:solidFill>
                <a:latin typeface="Consolas"/>
              </a:rPr>
              <a:t>Senority B.V. · Rotterdam, 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03 — The four disciplines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0" i="0">
                <a:solidFill>
                  <a:srgbClr val="0E0E10"/>
                </a:solidFill>
                <a:latin typeface="Calibri"/>
              </a:rPr>
              <a:t>Four disciplines, </a:t>
            </a:r>
            <a:r>
              <a:rPr sz="3200" b="0" i="1">
                <a:solidFill>
                  <a:srgbClr val="5B5F66"/>
                </a:solidFill>
                <a:latin typeface="Cambria"/>
              </a:rPr>
              <a:t>examined in 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What each one does, what it extracts, and what it produces — built in, not bolted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C73E0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140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Obligation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15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1">
                <a:solidFill>
                  <a:srgbClr val="2D2F36"/>
                </a:solidFill>
                <a:latin typeface="Cambria"/>
              </a:rPr>
              <a:t>Every promise — tracked, owned, evidenced.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90672"/>
            <a:ext cx="50292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6382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638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Classification across 7 types (payment, delivery, reporting, notification, performance, compliance, other)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107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107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RAG status dashboard, owner assignment, escalation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5760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57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Configurable deadline alerts to email · Slack ·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04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044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Evidence attachments, compliance reporting, audit-ready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212848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3774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C73E0F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4140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Risk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715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1">
                <a:solidFill>
                  <a:srgbClr val="2D2F36"/>
                </a:solidFill>
                <a:latin typeface="Cambria"/>
              </a:rPr>
              <a:t>What is buried in the boilerplate.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090672"/>
            <a:ext cx="50292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16382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31638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10 risk patterns: uncapped liability, broad indemnification, weak termination, auto-renewal traps, unfavorable IP, weak confidentiality, missing liability caps, one-sided terms, regulatory exposure, ambiguous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4107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34107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4-level severity scoring (Low / Med / High / Critical)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65760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3657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Knowledge-graph anomaly detection vs portfolio norms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3904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39044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Portfolio risk dashboard with drill-down by vendor and type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43484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9943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C73E0F"/>
                </a:solidFill>
                <a:latin typeface="Calibr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46360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SLA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37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1">
                <a:solidFill>
                  <a:srgbClr val="2D2F36"/>
                </a:solidFill>
                <a:latin typeface="Cambria"/>
              </a:rPr>
              <a:t>Recover what you are owed — automatically.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312664"/>
            <a:ext cx="50292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8581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3858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13 SLA metric types: uptime, response, resolution, throughput…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63270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6327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Real-time breach detection across the vendor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879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Automated service-credit calculation per contract terms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12648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6126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A-to-F vendor scorecards: compliance · breaches · impact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443484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459943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C73E0F"/>
                </a:solidFill>
                <a:latin typeface="Calibri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8352" y="46360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Relationship Governance</a:t>
            </a:r>
            <a:r>
              <a:rPr sz="800" b="1" i="0">
                <a:solidFill>
                  <a:srgbClr val="C73E0F"/>
                </a:solidFill>
                <a:latin typeface="Consolas"/>
              </a:rPr>
              <a:t>  EXCLUSIVE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8352" y="4937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1">
                <a:solidFill>
                  <a:srgbClr val="2D2F36"/>
                </a:solidFill>
                <a:latin typeface="Cambria"/>
              </a:rPr>
              <a:t>The view from both sides of the table.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3952" y="5312664"/>
            <a:ext cx="50292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3952" y="538581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02552" y="53858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Perception-gap analysis: how you see them vs they see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563270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02552" y="56327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Composite health: Risk 30% · SLA 40% · Obligations 30%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3952" y="587959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02552" y="5879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Auto-generated improvement points with owners and priorities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612648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 i="0">
                <a:solidFill>
                  <a:srgbClr val="5B5F66"/>
                </a:solidFill>
                <a:latin typeface="Consolas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02552" y="6126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Multi-party satisfaction surveys, KPI tracking by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04 / BUILT FOR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40">
                <a:solidFill>
                  <a:srgbClr val="5B5F66"/>
                </a:solidFill>
                <a:latin typeface="Consolas"/>
              </a:rPr>
              <a:t>Senority B.V. · Rotterdam, 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04 — Built for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0" i="0">
                <a:solidFill>
                  <a:srgbClr val="0E0E10"/>
                </a:solidFill>
                <a:latin typeface="Calibri"/>
              </a:rPr>
              <a:t>Connected. Inspectable. </a:t>
            </a:r>
            <a:r>
              <a:rPr sz="3200" b="0" i="1">
                <a:solidFill>
                  <a:srgbClr val="5B5F66"/>
                </a:solidFill>
                <a:latin typeface="Cambria"/>
              </a:rPr>
              <a:t>Built for European enterprise.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Reads operational reality. Traces every AI decision. Designed multi-tenant from day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9572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INTEGRATION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Read the 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992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2D2F36"/>
                </a:solidFill>
                <a:latin typeface="Cambria"/>
              </a:rPr>
              <a:t>Compare contracted terms against the systems where the work actually happens.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324612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ServiceNow ITSM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947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Shipping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78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ERP volumes (SAP · Oracle)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7880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Per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628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FX rates (ECB feeds)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6285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Per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469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SharePoint document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94690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309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REST API + webhooks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309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All endpoints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1945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39572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AI-NATIVE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67004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Inspectable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9992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2D2F36"/>
                </a:solidFill>
                <a:latin typeface="Cambria"/>
              </a:rPr>
              <a:t>Nine agents in parallel, traced and replayable. Defensible for risk teams.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657600"/>
            <a:ext cx="324612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794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Specialised AI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7947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9 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78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Knowledge graph anomalies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17880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Built-in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5628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Langfuse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56285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Per 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9469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Human-in-the-loop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94690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First 30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3309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Source-clause citation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3309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Every flag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21945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239572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ENTERPRISE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67004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0">
                <a:solidFill>
                  <a:srgbClr val="0E0E10"/>
                </a:solidFill>
                <a:latin typeface="Calibri"/>
              </a:rPr>
              <a:t>European by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9992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2D2F36"/>
                </a:solidFill>
                <a:latin typeface="Cambria"/>
              </a:rPr>
              <a:t>Multi-tenant isolation at the data layer. GDPR-aware. EU residency available.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657600"/>
            <a:ext cx="324612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794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Multi-tenant isolation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7947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Data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78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417880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API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5628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Encryption at rest &amp; transit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56285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Standard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9469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Full audit trail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494690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Every 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3309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EU residency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53309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Available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7150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>
                <a:solidFill>
                  <a:srgbClr val="2D2F36"/>
                </a:solidFill>
                <a:latin typeface="Calibri"/>
              </a:rPr>
              <a:t>SOC 2 · ISO 27001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57150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 b="1" i="0" spc="50">
                <a:solidFill>
                  <a:srgbClr val="C73E0F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05 /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40">
                <a:solidFill>
                  <a:srgbClr val="5B5F66"/>
                </a:solidFill>
                <a:latin typeface="Consolas"/>
              </a:rPr>
              <a:t>Senority B.V. · Rotterdam, 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05 — What the others do not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0" i="0">
                <a:solidFill>
                  <a:srgbClr val="0E0E10"/>
                </a:solidFill>
                <a:latin typeface="Calibri"/>
              </a:rPr>
              <a:t>What the legacy CLM tools </a:t>
            </a:r>
            <a:r>
              <a:rPr sz="3200" b="0" i="1">
                <a:solidFill>
                  <a:srgbClr val="5B5F66"/>
                </a:solidFill>
                <a:latin typeface="Cambria"/>
              </a:rPr>
              <a:t>do not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Evaluetor was built model-first. The difference is visible in the cells of this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0881360" cy="3867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4505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1" i="0" spc="140">
                <a:solidFill>
                  <a:srgbClr val="5B5F66"/>
                </a:solidFill>
                <a:latin typeface="Consolas"/>
              </a:rPr>
              <a:t>CAPABILITY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2478024"/>
            <a:ext cx="73152" cy="7315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450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1" i="0" spc="140">
                <a:solidFill>
                  <a:srgbClr val="5B5F66"/>
                </a:solidFill>
                <a:latin typeface="Consolas"/>
              </a:rPr>
              <a:t>DOCUSIGN CLM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450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1" i="0" spc="140">
                <a:solidFill>
                  <a:srgbClr val="5B5F66"/>
                </a:solidFill>
                <a:latin typeface="Consolas"/>
              </a:rPr>
              <a:t>ICERTIS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2450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1" i="0" spc="140">
                <a:solidFill>
                  <a:srgbClr val="5B5F66"/>
                </a:solidFill>
                <a:latin typeface="Consolas"/>
              </a:rPr>
              <a:t>IRONCLAD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88920"/>
            <a:ext cx="10881360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898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Native AI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2898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Nine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8986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Limited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898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Add-on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898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Limited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9544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209544"/>
            <a:ext cx="10881360" cy="420624"/>
          </a:xfrm>
          <a:prstGeom prst="rect">
            <a:avLst/>
          </a:prstGeom>
          <a:solidFill>
            <a:srgbClr val="EFEDE8"/>
          </a:solidFill>
          <a:ln>
            <a:solidFill>
              <a:srgbClr val="EF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319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SLA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3319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Built-in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592" y="3319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3319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Add-on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3319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30168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7398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Obligation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37398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AI-extracted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592" y="37398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1272" y="3739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Manual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739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Limited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50792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050792"/>
            <a:ext cx="10881360" cy="420624"/>
          </a:xfrm>
          <a:prstGeom prst="rect">
            <a:avLst/>
          </a:prstGeom>
          <a:solidFill>
            <a:srgbClr val="EFEDE8"/>
          </a:solidFill>
          <a:ln>
            <a:solidFill>
              <a:srgbClr val="EF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160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Relationship 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5032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Built-in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592" y="4160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1272" y="4160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0072" y="4160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71416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581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Knowledge graph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85032" y="4581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Built-in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9592" y="45811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5811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45811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892040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4892040"/>
            <a:ext cx="10881360" cy="420624"/>
          </a:xfrm>
          <a:prstGeom prst="rect">
            <a:avLst/>
          </a:prstGeom>
          <a:solidFill>
            <a:srgbClr val="EFEDE8"/>
          </a:solidFill>
          <a:ln>
            <a:solidFill>
              <a:srgbClr val="EF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50017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LLM observability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85032" y="5001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Langfuse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79592" y="50017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5001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0072" y="5001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Not standard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312664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" y="54223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Unlimited users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85032" y="5422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9592" y="54223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Per-seat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54223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Per-seat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20072" y="54223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Per-seat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733288"/>
            <a:ext cx="108813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5733288"/>
            <a:ext cx="10881360" cy="420624"/>
          </a:xfrm>
          <a:prstGeom prst="rect">
            <a:avLst/>
          </a:prstGeom>
          <a:solidFill>
            <a:srgbClr val="EFEDE8"/>
          </a:solidFill>
          <a:ln>
            <a:solidFill>
              <a:srgbClr val="EF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" y="58430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Time to first outcome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85032" y="58430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alibri"/>
              </a:rPr>
              <a:t>Within weeks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592" y="58430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6–12 months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58430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12–18 months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20072" y="58430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3–6 months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5B5F66"/>
                </a:solidFill>
                <a:latin typeface="Consolas"/>
              </a:rPr>
              <a:t>Comparison reflects publicly documented capabilities at time of writing (May 2026). Vendor packaging and tiering vary; "Not standard" indicates not part of the default offering.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 spc="140">
                <a:solidFill>
                  <a:srgbClr val="5B5F66"/>
                </a:solidFill>
                <a:latin typeface="Consolas"/>
              </a:rPr>
              <a:t>Senority B.V. · Rotterdam, 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06 — Close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777240" cy="7772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3200" b="1" i="0">
                <a:solidFill>
                  <a:srgbClr val="F7F6F3"/>
                </a:solidFill>
                <a:latin typeface="Consolas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7200" b="0" i="0">
                <a:solidFill>
                  <a:srgbClr val="0E0E10"/>
                </a:solidFill>
                <a:latin typeface="Calibri"/>
              </a:rPr>
              <a:t>Thank you. </a:t>
            </a:r>
            <a:r>
              <a:rPr sz="7200" b="0" i="1">
                <a:solidFill>
                  <a:srgbClr val="5B5F66"/>
                </a:solidFill>
                <a:latin typeface="Cambria"/>
              </a:rPr>
              <a:t>For your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2D2F36"/>
                </a:solidFill>
                <a:latin typeface="Calibri"/>
              </a:rPr>
              <a:t>Bring five contracts. We will show you, in thirty minutes, what your current CLM is missing. No payment, no procurement, no preparation required — findings are yours to keep.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105156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STEVEN VISSER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Managing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212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86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onsolas"/>
              </a:rPr>
              <a:t>Steven.Visser@Evaluetor.com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212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486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0E0E10"/>
                </a:solidFill>
                <a:latin typeface="Consolas"/>
              </a:rPr>
              <a:t>+31 6 31 00 34 95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