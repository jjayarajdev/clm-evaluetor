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8" r:id="rId6"/>
    <p:sldId id="267" r:id="rId7"/>
    <p:sldId id="259" r:id="rId8"/>
    <p:sldId id="261" r:id="rId9"/>
    <p:sldId id="262" r:id="rId10"/>
    <p:sldId id="263" r:id="rId11"/>
    <p:sldId id="264" r:id="rId12"/>
    <p:sldId id="26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4"/>
    <p:restoredTop sz="94703"/>
  </p:normalViewPr>
  <p:slideViewPr>
    <p:cSldViewPr snapToGrid="0" snapToObjects="1">
      <p:cViewPr varScale="1">
        <p:scale>
          <a:sx n="155" d="100"/>
          <a:sy n="155" d="100"/>
        </p:scale>
        <p:origin x="200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E6D4B-58D7-ED46-8D0E-F521DE966903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9D292-D192-7948-83CA-6C8EC1500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69D292-D192-7948-83CA-6C8EC1500B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53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2103120" cy="457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0" y="1481328"/>
            <a:ext cx="21031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6D28D9"/>
                </a:solidFill>
                <a:latin typeface="Calibri"/>
              </a:defRPr>
            </a:pPr>
            <a:r>
              <a:rPr dirty="0"/>
              <a:t>EVALUETOR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111827"/>
                </a:solidFill>
                <a:latin typeface="Calibri"/>
              </a:defRPr>
            </a:pPr>
            <a:r>
              <a:t>Your contracts hold the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EA760D"/>
                </a:solidFill>
                <a:latin typeface="Calibri"/>
              </a:defRPr>
            </a:pPr>
            <a:r>
              <a:t>Now you can find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97680"/>
            <a:ext cx="7589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4B5563"/>
                </a:solidFill>
                <a:latin typeface="Calibri"/>
              </a:defRPr>
            </a:pPr>
            <a:r>
              <a:t>AI-native contract intelligence that makes your contracts transparent, measurable, and actionable — in minutes, not months.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544068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0" y="5440680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54406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evaluetor.com  |  AI-Powered Contract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The gap between signing and managing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Contracts are negotiated carefully, then stored away. The obligations, SLAs, and renewal terms inside them often go unmonitored — leaving real value on the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EA760D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Limited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of enterprises struggle to surface</a:t>
            </a:r>
            <a:br/>
            <a:r>
              <a:t>what’s actually inside their</a:t>
            </a:r>
            <a:br/>
            <a:r>
              <a:t>contract portfolio.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DC2626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Value at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lost annually to missed obligations,</a:t>
            </a:r>
            <a:br/>
            <a:r>
              <a:t>unnoticed auto-renewals, and</a:t>
            </a:r>
            <a:br/>
            <a:r>
              <a:t>penalties that could be avoided.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3200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EA760D"/>
                </a:solidFill>
                <a:latin typeface="Calibri"/>
              </a:defRPr>
            </a:pPr>
            <a:r>
              <a:t>15–30%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11827"/>
                </a:solidFill>
                <a:latin typeface="Calibri"/>
              </a:defRPr>
            </a:pPr>
            <a:r>
              <a:t>Unclaimed Credits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of SLA service credits go unrecovered.</a:t>
            </a:r>
            <a:br/>
            <a:r>
              <a:t>Breaches happen — the challenge</a:t>
            </a:r>
            <a:br/>
            <a:r>
              <a:t>is detecting them in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One platform. Complete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9 specialized AI agents extract, analyze, and monitor everything in your contracts —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788920"/>
            <a:ext cx="128016" cy="128016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AI extracts metadata, 30+ clause types, and risks across 10 categories. Full semantic search across entire portfolio.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63440" y="2788920"/>
            <a:ext cx="128016" cy="12801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RAG status indicators, owner assignment, escalation paths, and automated deadline alerts. Never miss a commitment.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21040" y="2788920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SLA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breach detection, service credit calculation, and vendor scorecards. Know when performance falls short.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983480"/>
            <a:ext cx="128016" cy="128016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Renewal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Auto-renewal detection, notice period tracking, and AI-powered renewal recommendations. Stay ahead of every date.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63440" y="4983480"/>
            <a:ext cx="128016" cy="128016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KPI perception gap analysis, vendor health scores, satisfaction surveys, and improvement tracking. Only available in Evaluetor.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663440"/>
            <a:ext cx="329184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321040" y="4983480"/>
            <a:ext cx="128016" cy="128016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496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SOC 2-ready architecture, GDPR-aware, AES-256 encryption, role-based access, multi-tenant isolation, full audit trails.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A760D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11827"/>
                </a:solidFill>
                <a:latin typeface="Calibri"/>
              </a:defRPr>
            </a:pPr>
            <a:r>
              <a:t>Under the hood: what happens when you upload 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D28D9"/>
                </a:solidFill>
                <a:latin typeface="Calibri"/>
              </a:defRPr>
            </a:pPr>
            <a:r>
              <a:t>STAGE 1: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247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9 specialized agents process every contract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Upload</a:t>
            </a:r>
            <a:br/>
            <a:r>
              <a:t>&amp; 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9164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Metadata</a:t>
            </a:r>
            <a:br/>
            <a: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Risk</a:t>
            </a:r>
            <a:br/>
            <a:r>
              <a:t>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5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Clause</a:t>
            </a:r>
            <a:br/>
            <a: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3212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Obligation</a:t>
            </a:r>
            <a:br/>
            <a:r>
              <a:t>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SLA</a:t>
            </a:r>
            <a:br/>
            <a:r>
              <a:t>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3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Renewal</a:t>
            </a:r>
            <a:br/>
            <a:r>
              <a:t>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79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7259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Auto-Link</a:t>
            </a:r>
            <a:br/>
            <a:r>
              <a:t>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244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D1D5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1417320"/>
            <a:ext cx="11430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5276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111827"/>
                </a:solidFill>
                <a:latin typeface="Calibri"/>
              </a:defRPr>
            </a:pPr>
            <a:r>
              <a:t>Q&amp;A</a:t>
            </a:r>
            <a:br/>
            <a: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STAGE 2: Golden 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4505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Verified extractions improve accuracy over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2743200"/>
            <a:ext cx="2697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75488" y="285292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Verified Contracts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50+ representative contracts</a:t>
            </a:r>
            <a:br/>
            <a:r>
              <a:t>with human-verified extractions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46120" y="2743200"/>
            <a:ext cx="2697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355848" y="2852928"/>
            <a:ext cx="91440" cy="9144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044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Few-Shot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Verified examples injected into</a:t>
            </a:r>
            <a:br/>
            <a:r>
              <a:t>AI prompts for higher accuracy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2743200"/>
            <a:ext cx="2697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236208" y="285292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Quality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Precision, recall, F1 per field</a:t>
            </a:r>
            <a:br/>
            <a:r>
              <a:t>tracked across contract types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2743200"/>
            <a:ext cx="2697480" cy="9144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116568" y="2852928"/>
            <a:ext cx="91440" cy="914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8116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Continuous Improvement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656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Each correction feeds back —</a:t>
            </a:r>
            <a:br/>
            <a:r>
              <a:t>the system gets smarter over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2423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↻ feeds back into Stage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86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B2777"/>
                </a:solidFill>
                <a:latin typeface="Calibri"/>
              </a:defRPr>
            </a:pPr>
            <a:r>
              <a:t>STAGE 3: Governance Bridge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391363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DB2777"/>
                </a:solidFill>
                <a:latin typeface="Calibri"/>
              </a:defRPr>
            </a:pPr>
            <a:r>
              <a:t>Unique to Evaluetor — no other CLM does this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Counterparty</a:t>
            </a:r>
            <a:br/>
            <a:r>
              <a:t>→ Organization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Auto-create or</a:t>
            </a:r>
            <a:br/>
            <a:r>
              <a:t>match existing org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35915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Contract</a:t>
            </a:r>
            <a:br/>
            <a:r>
              <a:t>→ Relationship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5915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Business relationship</a:t>
            </a:r>
            <a:br/>
            <a:r>
              <a:t>with health scoring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0624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7939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A760D"/>
                </a:solidFill>
                <a:latin typeface="Calibri"/>
              </a:defRPr>
            </a:pPr>
            <a:r>
              <a:t>SLA Metrics</a:t>
            </a:r>
            <a:br/>
            <a:r>
              <a:t>→ KPIs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7939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Targets &amp; thresholds</a:t>
            </a:r>
            <a:br/>
            <a:r>
              <a:t>auto-created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9963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C2626"/>
                </a:solidFill>
                <a:latin typeface="Calibri"/>
              </a:defRPr>
            </a:pPr>
            <a:r>
              <a:t>Risk Clauses</a:t>
            </a:r>
            <a:br/>
            <a:r>
              <a:t>→ Improvements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963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Action items from</a:t>
            </a:r>
            <a:br/>
            <a:r>
              <a:t>high-risk clauses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4672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11987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DB2777"/>
                </a:solidFill>
                <a:latin typeface="Calibri"/>
              </a:defRPr>
            </a:pPr>
            <a:r>
              <a:t>Health Score</a:t>
            </a:r>
            <a:br/>
            <a:r>
              <a:t>Calculation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1987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Risk 30% + SLA 40%</a:t>
            </a:r>
            <a:br/>
            <a:r>
              <a:t>+ Obligations 30%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66960" y="4251960"/>
            <a:ext cx="178308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04011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6D28D9"/>
                </a:solidFill>
                <a:latin typeface="Calibri"/>
              </a:defRPr>
            </a:pPr>
            <a:r>
              <a:t>Perception</a:t>
            </a:r>
            <a:br/>
            <a:r>
              <a:t>Gap Scoring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4011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4B5563"/>
                </a:solidFill>
                <a:latin typeface="Calibri"/>
              </a:defRPr>
            </a:pPr>
            <a:r>
              <a:t>Internal vs external</a:t>
            </a:r>
            <a:br/>
            <a:r>
              <a:t>view of performance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" y="5577840"/>
            <a:ext cx="11430000" cy="594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40080" y="562356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Ask Anything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03120" y="5650992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4B5563"/>
                </a:solidFill>
                <a:latin typeface="Calibri"/>
              </a:defRPr>
            </a:pPr>
            <a:r>
              <a:t>“What obligations are due next month?”  •  “Show me all high-risk indemnification clauses”  •  “Which vendors have SLA breaches?”  •  “Compare payment terms across all MSAs”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11827"/>
                </a:solidFill>
                <a:latin typeface="Calibri"/>
              </a:defRPr>
            </a:pPr>
            <a:r>
              <a:t>Evaluetor AI — The Operating System for Contract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Connecting contract conditions to measurable real-world data — turning static agreements into live, monitored instruments</a:t>
            </a:r>
          </a:p>
        </p:txBody>
      </p:sp>
      <p:sp>
        <p:nvSpPr>
          <p:cNvPr id="5" name="Chevron 4"/>
          <p:cNvSpPr/>
          <p:nvPr/>
        </p:nvSpPr>
        <p:spPr>
          <a:xfrm>
            <a:off x="365760" y="960120"/>
            <a:ext cx="2788920" cy="50292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  Upload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06040" cy="692737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423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Ingest MSA, Schedules,</a:t>
            </a:r>
            <a:br/>
            <a:r>
              <a:t>SOWs, Amendments.</a:t>
            </a:r>
            <a:br/>
            <a:r>
              <a:t>PDF, DOCX, batch ZIP.</a:t>
            </a:r>
          </a:p>
        </p:txBody>
      </p:sp>
      <p:sp>
        <p:nvSpPr>
          <p:cNvPr id="9" name="Chevron 8"/>
          <p:cNvSpPr/>
          <p:nvPr/>
        </p:nvSpPr>
        <p:spPr>
          <a:xfrm>
            <a:off x="3291840" y="960120"/>
            <a:ext cx="2788920" cy="502920"/>
          </a:xfrm>
          <a:prstGeom prst="chevron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00584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  AI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06040" cy="692737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423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9 agents structure data.</a:t>
            </a:r>
            <a:br/>
            <a:r>
              <a:t>Map external connectors</a:t>
            </a:r>
            <a:br/>
            <a:r>
              <a:t>for comparison.</a:t>
            </a:r>
          </a:p>
        </p:txBody>
      </p:sp>
      <p:sp>
        <p:nvSpPr>
          <p:cNvPr id="13" name="Chevron 12"/>
          <p:cNvSpPr/>
          <p:nvPr/>
        </p:nvSpPr>
        <p:spPr>
          <a:xfrm>
            <a:off x="6217920" y="960120"/>
            <a:ext cx="2788920" cy="50292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00584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  Dashboards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2606040" cy="692737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423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Real-time performance</a:t>
            </a:r>
            <a:br/>
            <a:r>
              <a:t>metrics from contract +</a:t>
            </a:r>
            <a:br/>
            <a:r>
              <a:t>external sources.</a:t>
            </a:r>
          </a:p>
        </p:txBody>
      </p:sp>
      <p:sp>
        <p:nvSpPr>
          <p:cNvPr id="17" name="Chevron 16"/>
          <p:cNvSpPr/>
          <p:nvPr/>
        </p:nvSpPr>
        <p:spPr>
          <a:xfrm>
            <a:off x="9144000" y="960120"/>
            <a:ext cx="2788920" cy="50292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00584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  Take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2606040" cy="692737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1600200"/>
            <a:ext cx="24231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Agentic AI governance:</a:t>
            </a:r>
            <a:br/>
            <a:r>
              <a:t>compare, alert, monitor,</a:t>
            </a:r>
            <a:br/>
            <a:r>
              <a:t>improve — continuously.</a:t>
            </a:r>
          </a:p>
        </p:txBody>
      </p:sp>
      <p:sp>
        <p:nvSpPr>
          <p:cNvPr id="23" name="Oval 22"/>
          <p:cNvSpPr/>
          <p:nvPr/>
        </p:nvSpPr>
        <p:spPr>
          <a:xfrm>
            <a:off x="3887454" y="3729018"/>
            <a:ext cx="1807889" cy="1767209"/>
          </a:xfrm>
          <a:prstGeom prst="ellipse">
            <a:avLst/>
          </a:prstGeom>
          <a:solidFill>
            <a:srgbClr val="DBEAFE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53367" y="4270933"/>
            <a:ext cx="1315502" cy="662703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rPr dirty="0"/>
              <a:t>Continuous</a:t>
            </a:r>
            <a:br>
              <a:rPr dirty="0"/>
            </a:br>
            <a:r>
              <a:rPr dirty="0"/>
              <a:t>Control</a:t>
            </a:r>
            <a:br>
              <a:rPr dirty="0"/>
            </a:br>
            <a:r>
              <a:rPr dirty="0"/>
              <a:t>Cycle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59720" y="3828184"/>
            <a:ext cx="228600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59720" y="3828184"/>
            <a:ext cx="54864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96880" y="3901336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6880" y="4148224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Pull live data from</a:t>
            </a:r>
            <a:br/>
            <a:r>
              <a:t>external sources:</a:t>
            </a:r>
            <a:br/>
            <a:r>
              <a:t>ERP, ServiceNow, ECB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1501" y="2503487"/>
            <a:ext cx="228600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1501" y="2503487"/>
            <a:ext cx="54864" cy="105156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88661" y="2576639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A760D"/>
                </a:solidFill>
                <a:latin typeface="Calibri"/>
              </a:defRPr>
            </a:pPr>
            <a:r>
              <a:t>Compare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8661" y="2823527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Match actuals against</a:t>
            </a:r>
            <a:br/>
            <a:r>
              <a:t>contracted terms,</a:t>
            </a:r>
            <a:br/>
            <a:r>
              <a:t>targets, and thresholds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014216"/>
            <a:ext cx="228600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03990" y="4015372"/>
            <a:ext cx="54864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4087368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C2626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334256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Flag discrepancies per</a:t>
            </a:r>
            <a:br/>
            <a:r>
              <a:t>defined governance rules</a:t>
            </a:r>
            <a:br/>
            <a:r>
              <a:t>and severity levels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69298" y="5638222"/>
            <a:ext cx="228600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69298" y="5638222"/>
            <a:ext cx="54864" cy="105156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6458" y="5711374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DB2777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6458" y="5958262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Track improvement</a:t>
            </a:r>
            <a:br/>
            <a:r>
              <a:t>actions, owner progress,</a:t>
            </a:r>
            <a:br/>
            <a:r>
              <a:t>and resolution 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10025" y="5645161"/>
            <a:ext cx="228600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710025" y="5645161"/>
            <a:ext cx="54864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47185" y="5718313"/>
            <a:ext cx="2011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Repeat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47185" y="5965201"/>
            <a:ext cx="2011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Re-run at agreed</a:t>
            </a:r>
            <a:br/>
            <a:r>
              <a:t>intervals: daily, weekly,</a:t>
            </a:r>
            <a:br/>
            <a:r>
              <a:t>or per event trigger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3200400"/>
            <a:ext cx="2651760" cy="31089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44000" y="3200400"/>
            <a:ext cx="26517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35440" y="3218688"/>
            <a:ext cx="2468880" cy="448056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Data Connectors</a:t>
            </a:r>
            <a:r>
              <a:rPr lang="en-US" dirty="0"/>
              <a:t> – indicative samples</a:t>
            </a:r>
            <a:endParaRPr dirty="0"/>
          </a:p>
        </p:txBody>
      </p:sp>
      <p:sp>
        <p:nvSpPr>
          <p:cNvPr id="54" name="Oval 53"/>
          <p:cNvSpPr/>
          <p:nvPr/>
        </p:nvSpPr>
        <p:spPr>
          <a:xfrm>
            <a:off x="9417791" y="3782464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09760" y="3703320"/>
            <a:ext cx="21945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7C3AED"/>
                </a:solidFill>
                <a:latin typeface="Calibri"/>
              </a:defRPr>
            </a:pPr>
            <a:r>
              <a:t>Volumes @ ERP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388620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Purchase orders, delivery</a:t>
            </a:r>
            <a:br/>
            <a:r>
              <a:t>volumes, invoice amounts</a:t>
            </a:r>
          </a:p>
        </p:txBody>
      </p:sp>
      <p:sp>
        <p:nvSpPr>
          <p:cNvPr id="57" name="Oval 56"/>
          <p:cNvSpPr/>
          <p:nvPr/>
        </p:nvSpPr>
        <p:spPr>
          <a:xfrm>
            <a:off x="9417791" y="4294528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09760" y="4215384"/>
            <a:ext cx="21945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A760D"/>
                </a:solidFill>
                <a:latin typeface="Calibri"/>
              </a:defRPr>
            </a:pPr>
            <a:r>
              <a:t>SLA @ ServiceNow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4398264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Incident response times,</a:t>
            </a:r>
            <a:br/>
            <a:r>
              <a:t>uptime, resolution metrics</a:t>
            </a:r>
          </a:p>
        </p:txBody>
      </p:sp>
      <p:sp>
        <p:nvSpPr>
          <p:cNvPr id="60" name="Oval 59"/>
          <p:cNvSpPr/>
          <p:nvPr/>
        </p:nvSpPr>
        <p:spPr>
          <a:xfrm>
            <a:off x="9417791" y="4806592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509760" y="4727448"/>
            <a:ext cx="21945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59669"/>
                </a:solidFill>
                <a:latin typeface="Calibri"/>
              </a:defRPr>
            </a:pPr>
            <a:r>
              <a:t>FX @ ECB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09760" y="4910328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Exchange rates for multi-</a:t>
            </a:r>
            <a:br/>
            <a:r>
              <a:t>currency contract values</a:t>
            </a:r>
          </a:p>
        </p:txBody>
      </p:sp>
      <p:sp>
        <p:nvSpPr>
          <p:cNvPr id="63" name="Oval 62"/>
          <p:cNvSpPr/>
          <p:nvPr/>
        </p:nvSpPr>
        <p:spPr>
          <a:xfrm>
            <a:off x="9417791" y="5318656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509760" y="5239512"/>
            <a:ext cx="21945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D9488"/>
                </a:solidFill>
                <a:latin typeface="Calibri"/>
              </a:defRPr>
            </a:pPr>
            <a:r>
              <a:t>KPIs @ CRM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5422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Customer satisfaction,</a:t>
            </a:r>
            <a:br/>
            <a:r>
              <a:t>renewal likelihood scores</a:t>
            </a:r>
          </a:p>
        </p:txBody>
      </p:sp>
      <p:sp>
        <p:nvSpPr>
          <p:cNvPr id="66" name="Oval 65"/>
          <p:cNvSpPr/>
          <p:nvPr/>
        </p:nvSpPr>
        <p:spPr>
          <a:xfrm>
            <a:off x="9417791" y="5830720"/>
            <a:ext cx="73152" cy="7315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509760" y="5751576"/>
            <a:ext cx="21945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DC2626"/>
                </a:solidFill>
                <a:latin typeface="Calibri"/>
              </a:defRPr>
            </a:pPr>
            <a:r>
              <a:t>Compliance @ GRC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5934456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B7280"/>
                </a:solidFill>
                <a:latin typeface="Calibri"/>
              </a:defRPr>
            </a:pPr>
            <a:r>
              <a:t>Regulatory status,</a:t>
            </a:r>
            <a:br/>
            <a:r>
              <a:t>certification expiry 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RESULTS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Measurable impact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Immediate, quantifiable results — not months of implementation before you see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6D28D9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Less time</a:t>
            </a:r>
            <a:br/>
            <a:r>
              <a:t>reviewing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EA760D"/>
                </a:solidFill>
                <a:latin typeface="Calibri"/>
              </a:defRPr>
            </a:pPr>
            <a:r>
              <a:t>3–5x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More SLA credits</a:t>
            </a:r>
            <a:br/>
            <a:r>
              <a:t>recovered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DC2626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Fewer missed</a:t>
            </a:r>
            <a:br/>
            <a:r>
              <a:t>deadlines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468880"/>
            <a:ext cx="2468880" cy="1645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059669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Credits recovered</a:t>
            </a:r>
            <a:br/>
            <a:r>
              <a:t>across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5840" y="484632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Days of contract review compressed to minutes. Automated risk scoring across 10 categories. Portfolio-wide semantic search.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63440" y="484632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Procurement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SLA monitoring. Detect breaches the moment they happen. Recover every service credit owed.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572000"/>
            <a:ext cx="3291840" cy="1463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21040" y="484632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11827"/>
                </a:solidFill>
                <a:latin typeface="Calibri"/>
              </a:defRPr>
            </a:pPr>
            <a:r>
              <a:t>For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Track every obligation and deadline. Detect auto-renewal traps before they trigger. Understand true financial exposure.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6263640"/>
            <a:ext cx="3657600" cy="502920"/>
          </a:xfrm>
          <a:prstGeom prst="roundRect">
            <a:avLst/>
          </a:prstGeom>
          <a:solidFill>
            <a:srgbClr val="EA760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51960" y="6281928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Let’s schedule a live demo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evaluetor.com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D28D9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From upload to intelligence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No templates. No pre-configuration. No training required. Just upload and 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703320"/>
            <a:ext cx="82296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6D28D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Drop any PDF, DOCX, or</a:t>
            </a:r>
            <a:br/>
            <a:r>
              <a:t>batch upload a ZIP.</a:t>
            </a:r>
            <a:br/>
            <a:r>
              <a:t>OCR handles scans.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A760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AI Extracts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9 agents extract metadata,</a:t>
            </a:r>
            <a:br/>
            <a:r>
              <a:t>clauses, obligations, SLAs,</a:t>
            </a:r>
            <a:br/>
            <a:r>
              <a:t>risks, and renewals.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B277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Real-time dashboards surface</a:t>
            </a:r>
            <a:br/>
            <a:r>
              <a:t>risks, deadlines, SLA breaches,</a:t>
            </a:r>
            <a:br/>
            <a:r>
              <a:t>and vendor scores.</a:t>
            </a:r>
          </a:p>
        </p:txBody>
      </p:sp>
      <p:sp>
        <p:nvSpPr>
          <p:cNvPr id="19" name="Oval 18"/>
          <p:cNvSpPr/>
          <p:nvPr/>
        </p:nvSpPr>
        <p:spPr>
          <a:xfrm>
            <a:off x="9784080" y="3017520"/>
            <a:ext cx="1005840" cy="1005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Take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Claim credits, meet deadlines,</a:t>
            </a:r>
            <a:br/>
            <a:r>
              <a:t>renegotiate terms, govern</a:t>
            </a:r>
            <a:br/>
            <a:r>
              <a:t>relationships with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11827"/>
                </a:solidFill>
                <a:latin typeface="Calibri"/>
              </a:defRPr>
            </a:pPr>
            <a:r>
              <a:t>Built for enterprise scale, security, and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React /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30+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Real-time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Semantic Search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920240"/>
            <a:ext cx="114300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D28D9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FastAPI (async)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315+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41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Multi-Tenant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111827"/>
                </a:solidFill>
                <a:latin typeface="Calibri"/>
              </a:defRPr>
            </a:pPr>
            <a:r>
              <a:t>JWT + RBAC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43200"/>
            <a:ext cx="5486400" cy="1737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Services (36 modules)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145536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1089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11827"/>
                </a:solidFill>
                <a:latin typeface="Calibri"/>
              </a:defRPr>
            </a:pPr>
            <a:r>
              <a:t>Contract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10128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B5563"/>
                </a:solidFill>
                <a:latin typeface="Calibri"/>
              </a:defRPr>
            </a:pPr>
            <a:r>
              <a:t>Upload, parse, chunk,</a:t>
            </a:r>
            <a:br/>
            <a:r>
              <a:t>embed, index</a:t>
            </a:r>
          </a:p>
        </p:txBody>
      </p:sp>
      <p:sp>
        <p:nvSpPr>
          <p:cNvPr id="24" name="Oval 23"/>
          <p:cNvSpPr/>
          <p:nvPr/>
        </p:nvSpPr>
        <p:spPr>
          <a:xfrm>
            <a:off x="3246120" y="3145536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31089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11827"/>
                </a:solidFill>
                <a:latin typeface="Calibri"/>
              </a:defRPr>
            </a:pPr>
            <a:r>
              <a:t>Governance Bridge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310128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B5563"/>
                </a:solidFill>
                <a:latin typeface="Calibri"/>
              </a:defRPr>
            </a:pPr>
            <a:r>
              <a:t>7 automations: org, relationship,</a:t>
            </a:r>
            <a:br/>
            <a:r>
              <a:t>KPI, health, improvements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3803904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3767328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11827"/>
                </a:solidFill>
                <a:latin typeface="Calibri"/>
              </a:defRPr>
            </a:pPr>
            <a:r>
              <a:t>Golden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68496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B5563"/>
                </a:solidFill>
                <a:latin typeface="Calibri"/>
              </a:defRPr>
            </a:pPr>
            <a:r>
              <a:t>Few-shot learning, verified</a:t>
            </a:r>
            <a:br/>
            <a:r>
              <a:t>extractions, quality metrics</a:t>
            </a:r>
          </a:p>
        </p:txBody>
      </p:sp>
      <p:sp>
        <p:nvSpPr>
          <p:cNvPr id="30" name="Oval 29"/>
          <p:cNvSpPr/>
          <p:nvPr/>
        </p:nvSpPr>
        <p:spPr>
          <a:xfrm>
            <a:off x="3246120" y="3803904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3767328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111827"/>
                </a:solidFill>
                <a:latin typeface="Calibri"/>
              </a:defRPr>
            </a:pPr>
            <a:r>
              <a:t>Auto-Link Detector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968496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4B5563"/>
                </a:solidFill>
                <a:latin typeface="Calibri"/>
              </a:defRPr>
            </a:pPr>
            <a:r>
              <a:t>6-signal weighted matching,</a:t>
            </a:r>
            <a:br/>
            <a:r>
              <a:t>contract family detection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743200"/>
            <a:ext cx="5669280" cy="1737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A76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2788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A760D"/>
                </a:solidFill>
                <a:latin typeface="Calibri"/>
              </a:defRPr>
            </a:pPr>
            <a:r>
              <a:t>9 AI Agents (GPT-4o + Agent Squad)</a:t>
            </a:r>
          </a:p>
        </p:txBody>
      </p:sp>
      <p:sp>
        <p:nvSpPr>
          <p:cNvPr id="35" name="Oval 34"/>
          <p:cNvSpPr/>
          <p:nvPr/>
        </p:nvSpPr>
        <p:spPr>
          <a:xfrm>
            <a:off x="6309360" y="319125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Metadata Extraction</a:t>
            </a:r>
          </a:p>
        </p:txBody>
      </p:sp>
      <p:sp>
        <p:nvSpPr>
          <p:cNvPr id="37" name="Oval 36"/>
          <p:cNvSpPr/>
          <p:nvPr/>
        </p:nvSpPr>
        <p:spPr>
          <a:xfrm>
            <a:off x="8138160" y="319125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Risk Detection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9966960" y="319125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041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Clause Extraction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360273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43" name="Oval 42"/>
          <p:cNvSpPr/>
          <p:nvPr/>
        </p:nvSpPr>
        <p:spPr>
          <a:xfrm>
            <a:off x="8138160" y="360273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SLA Extraction</a:t>
            </a:r>
          </a:p>
        </p:txBody>
      </p:sp>
      <p:sp>
        <p:nvSpPr>
          <p:cNvPr id="45" name="Oval 44"/>
          <p:cNvSpPr/>
          <p:nvPr/>
        </p:nvSpPr>
        <p:spPr>
          <a:xfrm>
            <a:off x="9966960" y="360273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041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Renewal Monitoring</a:t>
            </a:r>
          </a:p>
        </p:txBody>
      </p:sp>
      <p:sp>
        <p:nvSpPr>
          <p:cNvPr id="47" name="Oval 46"/>
          <p:cNvSpPr/>
          <p:nvPr/>
        </p:nvSpPr>
        <p:spPr>
          <a:xfrm>
            <a:off x="6309360" y="401421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Schema Extraction</a:t>
            </a:r>
          </a:p>
        </p:txBody>
      </p:sp>
      <p:sp>
        <p:nvSpPr>
          <p:cNvPr id="49" name="Oval 48"/>
          <p:cNvSpPr/>
          <p:nvPr/>
        </p:nvSpPr>
        <p:spPr>
          <a:xfrm>
            <a:off x="8138160" y="401421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753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Intent Router</a:t>
            </a:r>
          </a:p>
        </p:txBody>
      </p:sp>
      <p:sp>
        <p:nvSpPr>
          <p:cNvPr id="51" name="Oval 50"/>
          <p:cNvSpPr/>
          <p:nvPr/>
        </p:nvSpPr>
        <p:spPr>
          <a:xfrm>
            <a:off x="9966960" y="4014216"/>
            <a:ext cx="73152" cy="73152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041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111827"/>
                </a:solidFill>
                <a:latin typeface="Calibri"/>
              </a:defRPr>
            </a:pPr>
            <a:r>
              <a:t>Contract Q&amp;A (RAG)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663440"/>
            <a:ext cx="36576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47091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9834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55+ tables  •  Row-level tenant isolation  •  Alembic migrations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4663440"/>
            <a:ext cx="338328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34840" y="47091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D28D9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49834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Vector embeddings  •  Semantic search  •  RAG pipeline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4663440"/>
            <a:ext cx="393192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046720" y="47091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498348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ServiceNow  •  Salesforce  •  Teams  •  REST API  •  Webhooks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5623560"/>
            <a:ext cx="5486400" cy="548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8640" y="566928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568756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SOC 2-ready  •  GDPR-aware  •  AES-256  •  RBAC  •  Multi-tenant  •  Audit Trails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80" y="5623560"/>
            <a:ext cx="5669280" cy="5486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309360" y="566928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97706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687568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4B5563"/>
                </a:solidFill>
                <a:latin typeface="Calibri"/>
              </a:defRPr>
            </a:pPr>
            <a:r>
              <a:t>Langfuse  •  Full LLM tracing  •  Cost per contract  •  OpenTelemetry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Risk Detection: see what others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Every contract carries risk — hidden indemnities, uncapped liabilities, ambiguous termination clauses. Evaluetor’s AI scores and categorises risk automatically so your team can focus on what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How Risk Analysis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Fully automated from upload to alert: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Document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Text extracted from PDF, DOCX, or scanned images via OCR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Clause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identifies 30+ clause types across the full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Risk Categorisation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Each clause scored across 10 risk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Severity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4-level scale: Low, Medium, High, Critical with 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Portfolio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High-risk items surfaced on dashboards with recommended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10 Risk 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Indemnification, liability caps, IP assignment, termination, confidentiality, non-compete, data protection, insurance, warranty, and force majeure — each scored with weighted severity from 0–100.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Cross-Contract Anomaly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Knowledge graph compares terms across your portfolio and flags deviations from your norms. Example: “This vendor usually has 30-day payment terms — this contract has 45.”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Portfolio Risk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Aggregate risk posture across all contracts with drill-down by vendor, contract type, business unit, or risk category. Trend analysis shows whether your portfolio risk is improving over 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Obligation Tracking: never miss a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Missed obligations cost money, damage relationships, and create compliance exposure. Evaluetor extracts every obligation from every contract and tracks them through their full lifecycle — with owners, deadlines, and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The Obligation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From extraction to compliance proof: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AI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Obligations identified with deadlines, parties, and consequences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7 types: delivery, reporting, payment, regulatory, performance, notice,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Owner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Each obligation assigned to a responsible person with escalation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Status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RAG indicators (Red / Amber / Green) updated as deadlines approach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Evidence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Compliance evidence attached for audit trails and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RAG Status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At-a-glance compliance visibility across your entire portfolio. Red flags overdue items, amber shows approaching deadlines, green confirms on-track — filterable by vendor, business unit, or contract type.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Configurable Deadline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Automated notifications at configurable lead times before each deadline. Alerts route to obligation owners via email, Slack, or Microsoft Teams — with escalation when deadlines are missed.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Compliance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Generate compliance reports by date range, vendor, or obligation type. Track fulfilment rates over time with trend analysis. Attach evidence documents for audit readiness.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SLA Monitoring: recover what you’re 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SLA breaches happen constantly — the challenge is detecting them. Evaluetor extracts SLA terms, compares them against actual performance, and calculates every service credit you’re entitled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From Contract to Credit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Automated end-to-end: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SLA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identifies metrics, targets, measurement periods, and penalties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Performance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Actual performance data imported via API or manual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Threshold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Contracted targets compared against actuals in real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Breach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Violations classified by severity: Minor, Moderate, Major,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Credit Calculation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Service credits and penalties computed automatically per contract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9 SLA Metric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Uptime, Response Time, Resolution Time, Throughput, Error Rate, Availability, Latency, MTTR, and Custom metrics — each with targets, thresholds, and measurement windows extracted by AI.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Service Credit Recovery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Automatic calculation of credits owed based on breach severity and contract terms. Track recovery status from detection through claim to resolution. Customers report 3–5x more credits found.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Vendor Scorecards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A–F grade vendor ratings combining SLA compliance rate, breach frequency, financial impact, and trend direction. Compare vendor performance across your portfolio with historical benchmarking.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B2777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111827"/>
                </a:solidFill>
                <a:latin typeface="Calibri"/>
              </a:defRPr>
            </a:pPr>
            <a:r>
              <a:t>Relationship Governance: only in Evaluetor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4B5563"/>
                </a:solidFill>
                <a:latin typeface="Calibri"/>
              </a:defRPr>
            </a:pPr>
            <a:r>
              <a:t>Most CLM platforms stop at the contract. Evaluetor goes further — automatically connecting contract data to the business relationships they support. No other CLM vendor offers this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The Automated Governance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Contract upload triggers a fully automated pipeline: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Contract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AI extracts parties, terms, SLAs, and obligations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Counterparties auto-linked to your org directory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Business relationships created with health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KPIs &amp;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Performance metrics tracked with dual-perspective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11827"/>
                </a:solidFill>
                <a:latin typeface="Calibri"/>
              </a:defRPr>
            </a:pPr>
            <a:r>
              <a:t>Improvement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Gaps automatically surface with action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11827"/>
                </a:solidFill>
                <a:latin typeface="Calibri"/>
              </a:defRPr>
            </a:pPr>
            <a:r>
              <a:t>What Makes This Unique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Perception Gap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Dual-perspective scoring reveals misalignment between how you see vendor performance and how they see it — with severity classification that drives targeted improvement.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Composite Health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Relationship health calculated from Risk (30%), SLA Compliance (40%), and Obligation Fulfillment (30%) — a single score that tells you where each relationship truly stands.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EA76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11827"/>
                </a:solidFill>
                <a:latin typeface="Calibri"/>
              </a:defRPr>
            </a:pPr>
            <a:r>
              <a:t>Automated Improvement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When perception gaps exceed thresholds, improvement points are auto-generated with ownership, priority, and action items. From insight to action without manual intervention.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111827"/>
                </a:solidFill>
                <a:latin typeface="Calibri"/>
              </a:defRPr>
            </a:pPr>
            <a:r>
              <a:t>Why Evaluetor — 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4B5563"/>
                </a:solidFill>
                <a:latin typeface="Calibri"/>
              </a:defRPr>
            </a:pPr>
            <a:r>
              <a:t>Focused on post-signature intelligence and governance — where contracts become actionable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945187"/>
              </p:ext>
            </p:extLst>
          </p:nvPr>
        </p:nvGraphicFramePr>
        <p:xfrm>
          <a:off x="365760" y="914400"/>
          <a:ext cx="11155680" cy="4557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982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Evaluetor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Sirion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Icertis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Ironclad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DocuSign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Luminance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Time to Value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12–18 mo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2–4 mo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3–6 mo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AI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9+ (Agent Squad)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agentOS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Vera Agents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Rivet (6)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Iris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Multi-model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Post-Signature Mgmt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✓ Full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 Full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 Weak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 Weak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 Limited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SLA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✓ 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Obligation Tracking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✓ AI-extracted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 Full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 Basic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 Basic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 Limited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Governance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✓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Perception Gap Scoring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A760D"/>
                          </a:solidFill>
                          <a:latin typeface="Calibri"/>
                        </a:defRPr>
                      </a:pPr>
                      <a:r>
                        <a:t>✓ UNIQUE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Knowledge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✓ Built-in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 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LLM Observability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✓ Langfuse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827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Contract Authoring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✗ Roadmap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 Word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 Word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✓ Browser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 Word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rPr dirty="0"/>
                        <a:t>✓ Browser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983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Autonomous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rPr dirty="0"/>
                        <a:t>✓ Autopilot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66957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11827"/>
                </a:solidFill>
                <a:latin typeface="Calibri"/>
              </a:defRPr>
            </a:pPr>
            <a:r>
              <a:t>Key competitive wedges: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95557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2563EB"/>
                </a:solidFill>
                <a:latin typeface="Calibri"/>
              </a:defRPr>
            </a:pPr>
            <a:r>
              <a:t>vs Sirion: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695557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t>Governance bridge (unique), perception gap scoring (unique), unlimited users, faster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5695557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EA760D"/>
                </a:solidFill>
                <a:latin typeface="Calibri"/>
              </a:defRPr>
            </a:pPr>
            <a:r>
              <a:t>vs Icertis/DocuSign: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5695557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rPr dirty="0"/>
              <a:t>Faster time-to-value (hours not months), unlimited users, deeper AI extraction, governance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5695557"/>
            <a:ext cx="13103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59669"/>
                </a:solidFill>
                <a:latin typeface="Calibri"/>
              </a:defRPr>
            </a:pPr>
            <a:r>
              <a:rPr dirty="0"/>
              <a:t>vs Ironclad/Luminance: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5695557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6B7280"/>
                </a:solidFill>
                <a:latin typeface="Calibri"/>
              </a:defRPr>
            </a:pPr>
            <a:r>
              <a:rPr dirty="0"/>
              <a:t>Stronger post-signature management, SLA/obligation tracking, governance bridge, lower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6B7280"/>
                </a:solidFill>
                <a:latin typeface="Calibri"/>
              </a:defRPr>
            </a:pPr>
            <a:r>
              <a:t>15-4-2026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473952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6B7280"/>
                </a:solidFill>
                <a:latin typeface="Calibri"/>
              </a:defRPr>
            </a:pPr>
            <a:r>
              <a:t>AI-Powered Contract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2299</Words>
  <Application>Microsoft Macintosh PowerPoint</Application>
  <PresentationFormat>Widescreen</PresentationFormat>
  <Paragraphs>407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 Jayakeerthy</cp:lastModifiedBy>
  <cp:revision>3</cp:revision>
  <dcterms:created xsi:type="dcterms:W3CDTF">2013-01-27T09:14:16Z</dcterms:created>
  <dcterms:modified xsi:type="dcterms:W3CDTF">2026-04-16T14:32:06Z</dcterms:modified>
  <cp:category/>
</cp:coreProperties>
</file>