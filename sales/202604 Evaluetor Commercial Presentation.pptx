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4"/>
  </p:sldMasterIdLst>
  <p:notesMasterIdLst>
    <p:notesMasterId r:id="rId20"/>
  </p:notesMasterIdLst>
  <p:handoutMasterIdLst>
    <p:handoutMasterId r:id="rId21"/>
  </p:handoutMasterIdLst>
  <p:sldIdLst>
    <p:sldId id="2561" r:id="rId5"/>
    <p:sldId id="2575" r:id="rId6"/>
    <p:sldId id="2563" r:id="rId7"/>
    <p:sldId id="2571" r:id="rId8"/>
    <p:sldId id="507" r:id="rId9"/>
    <p:sldId id="2565" r:id="rId10"/>
    <p:sldId id="2564" r:id="rId11"/>
    <p:sldId id="2566" r:id="rId12"/>
    <p:sldId id="2567" r:id="rId13"/>
    <p:sldId id="2569" r:id="rId14"/>
    <p:sldId id="489" r:id="rId15"/>
    <p:sldId id="503" r:id="rId16"/>
    <p:sldId id="2570" r:id="rId17"/>
    <p:sldId id="2572" r:id="rId18"/>
    <p:sldId id="2573" r:id="rId19"/>
  </p:sldIdLst>
  <p:sldSz cx="9144000" cy="6858000" type="screen4x3"/>
  <p:notesSz cx="9939338" cy="6807200"/>
  <p:defaultTextStyle>
    <a:defPPr>
      <a:defRPr lang="nl-NL"/>
    </a:defPPr>
    <a:lvl1pPr algn="l" rtl="0" fontAlgn="base">
      <a:spcBef>
        <a:spcPct val="0"/>
      </a:spcBef>
      <a:spcAft>
        <a:spcPct val="0"/>
      </a:spcAft>
      <a:defRPr sz="3600" kern="1200">
        <a:solidFill>
          <a:schemeClr val="tx2"/>
        </a:solidFill>
        <a:latin typeface="Verdana" pitchFamily="34" charset="0"/>
        <a:ea typeface="+mn-ea"/>
        <a:cs typeface="Arial" charset="0"/>
      </a:defRPr>
    </a:lvl1pPr>
    <a:lvl2pPr marL="457200" algn="l" rtl="0" fontAlgn="base">
      <a:spcBef>
        <a:spcPct val="0"/>
      </a:spcBef>
      <a:spcAft>
        <a:spcPct val="0"/>
      </a:spcAft>
      <a:defRPr sz="3600" kern="1200">
        <a:solidFill>
          <a:schemeClr val="tx2"/>
        </a:solidFill>
        <a:latin typeface="Verdana" pitchFamily="34" charset="0"/>
        <a:ea typeface="+mn-ea"/>
        <a:cs typeface="Arial" charset="0"/>
      </a:defRPr>
    </a:lvl2pPr>
    <a:lvl3pPr marL="914400" algn="l" rtl="0" fontAlgn="base">
      <a:spcBef>
        <a:spcPct val="0"/>
      </a:spcBef>
      <a:spcAft>
        <a:spcPct val="0"/>
      </a:spcAft>
      <a:defRPr sz="3600" kern="1200">
        <a:solidFill>
          <a:schemeClr val="tx2"/>
        </a:solidFill>
        <a:latin typeface="Verdana" pitchFamily="34" charset="0"/>
        <a:ea typeface="+mn-ea"/>
        <a:cs typeface="Arial" charset="0"/>
      </a:defRPr>
    </a:lvl3pPr>
    <a:lvl4pPr marL="1371600" algn="l" rtl="0" fontAlgn="base">
      <a:spcBef>
        <a:spcPct val="0"/>
      </a:spcBef>
      <a:spcAft>
        <a:spcPct val="0"/>
      </a:spcAft>
      <a:defRPr sz="3600" kern="1200">
        <a:solidFill>
          <a:schemeClr val="tx2"/>
        </a:solidFill>
        <a:latin typeface="Verdana" pitchFamily="34" charset="0"/>
        <a:ea typeface="+mn-ea"/>
        <a:cs typeface="Arial" charset="0"/>
      </a:defRPr>
    </a:lvl4pPr>
    <a:lvl5pPr marL="1828800" algn="l" rtl="0" fontAlgn="base">
      <a:spcBef>
        <a:spcPct val="0"/>
      </a:spcBef>
      <a:spcAft>
        <a:spcPct val="0"/>
      </a:spcAft>
      <a:defRPr sz="3600" kern="1200">
        <a:solidFill>
          <a:schemeClr val="tx2"/>
        </a:solidFill>
        <a:latin typeface="Verdana" pitchFamily="34" charset="0"/>
        <a:ea typeface="+mn-ea"/>
        <a:cs typeface="Arial" charset="0"/>
      </a:defRPr>
    </a:lvl5pPr>
    <a:lvl6pPr marL="2286000" algn="l" defTabSz="914400" rtl="0" eaLnBrk="1" latinLnBrk="0" hangingPunct="1">
      <a:defRPr sz="3600" kern="1200">
        <a:solidFill>
          <a:schemeClr val="tx2"/>
        </a:solidFill>
        <a:latin typeface="Verdana" pitchFamily="34" charset="0"/>
        <a:ea typeface="+mn-ea"/>
        <a:cs typeface="Arial" charset="0"/>
      </a:defRPr>
    </a:lvl6pPr>
    <a:lvl7pPr marL="2743200" algn="l" defTabSz="914400" rtl="0" eaLnBrk="1" latinLnBrk="0" hangingPunct="1">
      <a:defRPr sz="3600" kern="1200">
        <a:solidFill>
          <a:schemeClr val="tx2"/>
        </a:solidFill>
        <a:latin typeface="Verdana" pitchFamily="34" charset="0"/>
        <a:ea typeface="+mn-ea"/>
        <a:cs typeface="Arial" charset="0"/>
      </a:defRPr>
    </a:lvl7pPr>
    <a:lvl8pPr marL="3200400" algn="l" defTabSz="914400" rtl="0" eaLnBrk="1" latinLnBrk="0" hangingPunct="1">
      <a:defRPr sz="3600" kern="1200">
        <a:solidFill>
          <a:schemeClr val="tx2"/>
        </a:solidFill>
        <a:latin typeface="Verdana" pitchFamily="34" charset="0"/>
        <a:ea typeface="+mn-ea"/>
        <a:cs typeface="Arial" charset="0"/>
      </a:defRPr>
    </a:lvl8pPr>
    <a:lvl9pPr marL="3657600" algn="l" defTabSz="914400" rtl="0" eaLnBrk="1" latinLnBrk="0" hangingPunct="1">
      <a:defRPr sz="3600" kern="1200">
        <a:solidFill>
          <a:schemeClr val="tx2"/>
        </a:solidFill>
        <a:latin typeface="Verdana" pitchFamily="34" charset="0"/>
        <a:ea typeface="+mn-ea"/>
        <a:cs typeface="Arial" charset="0"/>
      </a:defRPr>
    </a:lvl9pPr>
  </p:defaultTextStyle>
  <p:extLst>
    <p:ext uri="{521415D9-36F7-43E2-AB2F-B90AF26B5E84}">
      <p14:sectionLst xmlns:p14="http://schemas.microsoft.com/office/powerpoint/2010/main">
        <p14:section name="Default Section" id="{5A0F871B-8E5A-4C38-90F8-301027B5FB1B}">
          <p14:sldIdLst>
            <p14:sldId id="2561"/>
            <p14:sldId id="2575"/>
            <p14:sldId id="2563"/>
            <p14:sldId id="2571"/>
            <p14:sldId id="507"/>
            <p14:sldId id="2565"/>
            <p14:sldId id="2564"/>
            <p14:sldId id="2566"/>
            <p14:sldId id="2567"/>
            <p14:sldId id="2569"/>
            <p14:sldId id="489"/>
            <p14:sldId id="503"/>
            <p14:sldId id="2570"/>
            <p14:sldId id="2572"/>
            <p14:sldId id="2573"/>
          </p14:sldIdLst>
        </p14:section>
      </p14:sectionLst>
    </p:ext>
    <p:ext uri="{EFAFB233-063F-42B5-8137-9DF3F51BA10A}">
      <p15:sldGuideLst xmlns:p15="http://schemas.microsoft.com/office/powerpoint/2012/main">
        <p15:guide id="1" orient="horz" pos="73">
          <p15:clr>
            <a:srgbClr val="A4A3A4"/>
          </p15:clr>
        </p15:guide>
        <p15:guide id="2">
          <p15:clr>
            <a:srgbClr val="A4A3A4"/>
          </p15:clr>
        </p15:guide>
      </p15:sldGuideLst>
    </p:ext>
    <p:ext uri="{2D200454-40CA-4A62-9FC3-DE9A4176ACB9}">
      <p15:notesGuideLst xmlns:p15="http://schemas.microsoft.com/office/powerpoint/2012/main">
        <p15:guide id="1" orient="horz" pos="2144">
          <p15:clr>
            <a:srgbClr val="A4A3A4"/>
          </p15:clr>
        </p15:guide>
        <p15:guide id="2" pos="313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ob" initials="R" lastIdx="2"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CDDA"/>
    <a:srgbClr val="404040"/>
    <a:srgbClr val="054283"/>
    <a:srgbClr val="FF1B1B"/>
    <a:srgbClr val="EBF2FC"/>
    <a:srgbClr val="E9BEBE"/>
    <a:srgbClr val="A39B70"/>
    <a:srgbClr val="CCCC00"/>
    <a:srgbClr val="B32E19"/>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09" autoAdjust="0"/>
    <p:restoredTop sz="95565" autoAdjust="0"/>
  </p:normalViewPr>
  <p:slideViewPr>
    <p:cSldViewPr>
      <p:cViewPr varScale="1">
        <p:scale>
          <a:sx n="155" d="100"/>
          <a:sy n="155" d="100"/>
        </p:scale>
        <p:origin x="4434" y="114"/>
      </p:cViewPr>
      <p:guideLst>
        <p:guide orient="horz" pos="73"/>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notesViewPr>
    <p:cSldViewPr snapToGrid="0">
      <p:cViewPr varScale="1">
        <p:scale>
          <a:sx n="55" d="100"/>
          <a:sy n="55" d="100"/>
        </p:scale>
        <p:origin x="-1830" y="-78"/>
      </p:cViewPr>
      <p:guideLst>
        <p:guide orient="horz" pos="2144"/>
        <p:guide pos="3132"/>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639D2A-F95D-4164-8CE8-8F1C1D5F19EC}" type="doc">
      <dgm:prSet loTypeId="urn:microsoft.com/office/officeart/2005/8/layout/cycle3" loCatId="cycle" qsTypeId="urn:microsoft.com/office/officeart/2005/8/quickstyle/simple5" qsCatId="simple" csTypeId="urn:microsoft.com/office/officeart/2005/8/colors/accent6_1" csCatId="accent6" phldr="1"/>
      <dgm:spPr/>
      <dgm:t>
        <a:bodyPr/>
        <a:lstStyle/>
        <a:p>
          <a:endParaRPr lang="en-GB"/>
        </a:p>
      </dgm:t>
    </dgm:pt>
    <dgm:pt modelId="{6B9789A7-5C82-4555-B230-61F6D1095EA9}">
      <dgm:prSet phldrT="[Text]" phldr="0"/>
      <dgm:spPr/>
      <dgm:t>
        <a:bodyPr/>
        <a:lstStyle/>
        <a:p>
          <a:r>
            <a:rPr lang="en-GB" dirty="0"/>
            <a:t>Reference relevant  data from defined external sources</a:t>
          </a:r>
        </a:p>
      </dgm:t>
    </dgm:pt>
    <dgm:pt modelId="{4324FDBB-380B-4A66-8FD9-6970235EC83D}" type="parTrans" cxnId="{637B5030-5D4C-452B-A46F-DB3EA3D1C418}">
      <dgm:prSet/>
      <dgm:spPr/>
      <dgm:t>
        <a:bodyPr/>
        <a:lstStyle/>
        <a:p>
          <a:endParaRPr lang="en-GB"/>
        </a:p>
      </dgm:t>
    </dgm:pt>
    <dgm:pt modelId="{0B68FC70-E5BC-4E34-A40F-E8791E752BA0}" type="sibTrans" cxnId="{637B5030-5D4C-452B-A46F-DB3EA3D1C418}">
      <dgm:prSet/>
      <dgm:spPr/>
      <dgm:t>
        <a:bodyPr/>
        <a:lstStyle/>
        <a:p>
          <a:endParaRPr lang="en-GB"/>
        </a:p>
      </dgm:t>
    </dgm:pt>
    <dgm:pt modelId="{4442AB1C-C359-4F4E-B643-2A9D797AA079}">
      <dgm:prSet phldrT="[Text]" phldr="0"/>
      <dgm:spPr/>
      <dgm:t>
        <a:bodyPr/>
        <a:lstStyle/>
        <a:p>
          <a:r>
            <a:rPr lang="en-GB" dirty="0"/>
            <a:t>Compare actuals versus agreed in Contract</a:t>
          </a:r>
        </a:p>
      </dgm:t>
    </dgm:pt>
    <dgm:pt modelId="{56FD3228-BECE-4ED9-9349-E2BFD2D5A38F}" type="parTrans" cxnId="{7C740D50-323D-461B-90B7-813DDEC47577}">
      <dgm:prSet/>
      <dgm:spPr/>
      <dgm:t>
        <a:bodyPr/>
        <a:lstStyle/>
        <a:p>
          <a:endParaRPr lang="en-GB"/>
        </a:p>
      </dgm:t>
    </dgm:pt>
    <dgm:pt modelId="{4BBDA846-0AFC-458F-85A6-24D767AD5289}" type="sibTrans" cxnId="{7C740D50-323D-461B-90B7-813DDEC47577}">
      <dgm:prSet/>
      <dgm:spPr/>
      <dgm:t>
        <a:bodyPr/>
        <a:lstStyle/>
        <a:p>
          <a:endParaRPr lang="en-GB"/>
        </a:p>
      </dgm:t>
    </dgm:pt>
    <dgm:pt modelId="{16DC5BA3-3D7F-4121-9915-960F3D53922E}">
      <dgm:prSet phldrT="[Text]" phldr="0"/>
      <dgm:spPr/>
      <dgm:t>
        <a:bodyPr/>
        <a:lstStyle/>
        <a:p>
          <a:r>
            <a:rPr lang="en-GB" dirty="0"/>
            <a:t>Alert discrepancies as per defined governance</a:t>
          </a:r>
        </a:p>
      </dgm:t>
    </dgm:pt>
    <dgm:pt modelId="{79983B5A-A726-4E39-A2E6-BA1429CAB62C}" type="parTrans" cxnId="{FD05F406-6113-4FB5-AE33-6898A5E32698}">
      <dgm:prSet/>
      <dgm:spPr/>
      <dgm:t>
        <a:bodyPr/>
        <a:lstStyle/>
        <a:p>
          <a:endParaRPr lang="en-GB"/>
        </a:p>
      </dgm:t>
    </dgm:pt>
    <dgm:pt modelId="{83F010AA-33F8-4BFD-BAE4-EA2263347027}" type="sibTrans" cxnId="{FD05F406-6113-4FB5-AE33-6898A5E32698}">
      <dgm:prSet/>
      <dgm:spPr/>
      <dgm:t>
        <a:bodyPr/>
        <a:lstStyle/>
        <a:p>
          <a:endParaRPr lang="en-GB"/>
        </a:p>
      </dgm:t>
    </dgm:pt>
    <dgm:pt modelId="{B256EA26-4A0C-4D4D-8A85-D8F38A34382A}">
      <dgm:prSet phldrT="[Text]" phldr="0"/>
      <dgm:spPr/>
      <dgm:t>
        <a:bodyPr/>
        <a:lstStyle/>
        <a:p>
          <a:r>
            <a:rPr lang="en-GB" dirty="0"/>
            <a:t>Monitor improvement actions</a:t>
          </a:r>
        </a:p>
      </dgm:t>
    </dgm:pt>
    <dgm:pt modelId="{A49261E2-7802-46A9-BC9B-904196A2673E}" type="parTrans" cxnId="{C2A62CE6-296B-4A30-B1C2-F6ACA9768B6C}">
      <dgm:prSet/>
      <dgm:spPr/>
      <dgm:t>
        <a:bodyPr/>
        <a:lstStyle/>
        <a:p>
          <a:endParaRPr lang="en-GB"/>
        </a:p>
      </dgm:t>
    </dgm:pt>
    <dgm:pt modelId="{6D6C139F-13D4-4468-AAC0-8EA89F75C857}" type="sibTrans" cxnId="{C2A62CE6-296B-4A30-B1C2-F6ACA9768B6C}">
      <dgm:prSet/>
      <dgm:spPr/>
      <dgm:t>
        <a:bodyPr/>
        <a:lstStyle/>
        <a:p>
          <a:endParaRPr lang="en-GB"/>
        </a:p>
      </dgm:t>
    </dgm:pt>
    <dgm:pt modelId="{5474EFB6-DF18-4BC4-AF90-D29750BE1045}">
      <dgm:prSet phldrT="[Text]" phldr="0"/>
      <dgm:spPr/>
      <dgm:t>
        <a:bodyPr/>
        <a:lstStyle/>
        <a:p>
          <a:r>
            <a:rPr lang="en-GB" dirty="0"/>
            <a:t>Present Contract Performance </a:t>
          </a:r>
          <a:r>
            <a:rPr lang="nl-NL" dirty="0"/>
            <a:t>details </a:t>
          </a:r>
          <a:endParaRPr lang="en-GB" dirty="0"/>
        </a:p>
      </dgm:t>
    </dgm:pt>
    <dgm:pt modelId="{268AC2AA-FD0E-40D4-BEF1-F3BB6143CC40}" type="parTrans" cxnId="{DB27859B-5BAF-4811-BA8A-606B428BA9D3}">
      <dgm:prSet/>
      <dgm:spPr/>
      <dgm:t>
        <a:bodyPr/>
        <a:lstStyle/>
        <a:p>
          <a:endParaRPr lang="en-GB"/>
        </a:p>
      </dgm:t>
    </dgm:pt>
    <dgm:pt modelId="{0415D02A-ED0B-47D3-A869-8D0F47F6EFB0}" type="sibTrans" cxnId="{DB27859B-5BAF-4811-BA8A-606B428BA9D3}">
      <dgm:prSet/>
      <dgm:spPr/>
      <dgm:t>
        <a:bodyPr/>
        <a:lstStyle/>
        <a:p>
          <a:endParaRPr lang="en-GB"/>
        </a:p>
      </dgm:t>
    </dgm:pt>
    <dgm:pt modelId="{36FAA1BB-2395-4681-9817-1CECD19D28F9}">
      <dgm:prSet phldrT="[Text]" phldr="0"/>
      <dgm:spPr/>
      <dgm:t>
        <a:bodyPr/>
        <a:lstStyle/>
        <a:p>
          <a:r>
            <a:rPr lang="en-GB" dirty="0"/>
            <a:t>Repeat as per agreed intervals</a:t>
          </a:r>
        </a:p>
      </dgm:t>
    </dgm:pt>
    <dgm:pt modelId="{B577C789-DE86-44A4-A049-ADC88734FB99}" type="parTrans" cxnId="{55668EA6-DFCC-4E3D-88B6-DD18ABF671A5}">
      <dgm:prSet/>
      <dgm:spPr/>
      <dgm:t>
        <a:bodyPr/>
        <a:lstStyle/>
        <a:p>
          <a:endParaRPr lang="en-GB"/>
        </a:p>
      </dgm:t>
    </dgm:pt>
    <dgm:pt modelId="{11E3AE45-D0CC-49D9-8096-9052E1AAF960}" type="sibTrans" cxnId="{55668EA6-DFCC-4E3D-88B6-DD18ABF671A5}">
      <dgm:prSet/>
      <dgm:spPr/>
      <dgm:t>
        <a:bodyPr/>
        <a:lstStyle/>
        <a:p>
          <a:endParaRPr lang="en-GB"/>
        </a:p>
      </dgm:t>
    </dgm:pt>
    <dgm:pt modelId="{65D3582C-CBE7-4684-8BDE-A8D24FAD6F9A}" type="pres">
      <dgm:prSet presAssocID="{91639D2A-F95D-4164-8CE8-8F1C1D5F19EC}" presName="Name0" presStyleCnt="0">
        <dgm:presLayoutVars>
          <dgm:dir/>
          <dgm:resizeHandles val="exact"/>
        </dgm:presLayoutVars>
      </dgm:prSet>
      <dgm:spPr/>
    </dgm:pt>
    <dgm:pt modelId="{D8F5597D-0327-4855-ACAB-4D0ACE2125C2}" type="pres">
      <dgm:prSet presAssocID="{91639D2A-F95D-4164-8CE8-8F1C1D5F19EC}" presName="cycle" presStyleCnt="0"/>
      <dgm:spPr/>
    </dgm:pt>
    <dgm:pt modelId="{1507AE21-3F8A-4787-86B6-26C49D4071A2}" type="pres">
      <dgm:prSet presAssocID="{6B9789A7-5C82-4555-B230-61F6D1095EA9}" presName="nodeFirstNode" presStyleLbl="node1" presStyleIdx="0" presStyleCnt="6">
        <dgm:presLayoutVars>
          <dgm:bulletEnabled val="1"/>
        </dgm:presLayoutVars>
      </dgm:prSet>
      <dgm:spPr/>
    </dgm:pt>
    <dgm:pt modelId="{ACFFF6D0-31E1-42F9-8B4F-21FCA7E1A75A}" type="pres">
      <dgm:prSet presAssocID="{0B68FC70-E5BC-4E34-A40F-E8791E752BA0}" presName="sibTransFirstNode" presStyleLbl="bgShp" presStyleIdx="0" presStyleCnt="1"/>
      <dgm:spPr/>
    </dgm:pt>
    <dgm:pt modelId="{C791CA02-5429-4432-8E72-C11B48D3730F}" type="pres">
      <dgm:prSet presAssocID="{4442AB1C-C359-4F4E-B643-2A9D797AA079}" presName="nodeFollowingNodes" presStyleLbl="node1" presStyleIdx="1" presStyleCnt="6">
        <dgm:presLayoutVars>
          <dgm:bulletEnabled val="1"/>
        </dgm:presLayoutVars>
      </dgm:prSet>
      <dgm:spPr/>
    </dgm:pt>
    <dgm:pt modelId="{6DA0CEBD-2F86-442B-91E0-07FF8AECB0A5}" type="pres">
      <dgm:prSet presAssocID="{16DC5BA3-3D7F-4121-9915-960F3D53922E}" presName="nodeFollowingNodes" presStyleLbl="node1" presStyleIdx="2" presStyleCnt="6">
        <dgm:presLayoutVars>
          <dgm:bulletEnabled val="1"/>
        </dgm:presLayoutVars>
      </dgm:prSet>
      <dgm:spPr/>
    </dgm:pt>
    <dgm:pt modelId="{15F1F0A4-1B29-4F86-B917-966547FF6EFC}" type="pres">
      <dgm:prSet presAssocID="{B256EA26-4A0C-4D4D-8A85-D8F38A34382A}" presName="nodeFollowingNodes" presStyleLbl="node1" presStyleIdx="3" presStyleCnt="6">
        <dgm:presLayoutVars>
          <dgm:bulletEnabled val="1"/>
        </dgm:presLayoutVars>
      </dgm:prSet>
      <dgm:spPr/>
    </dgm:pt>
    <dgm:pt modelId="{A1E24A92-6F82-48FE-9295-6BB29E40D5A5}" type="pres">
      <dgm:prSet presAssocID="{36FAA1BB-2395-4681-9817-1CECD19D28F9}" presName="nodeFollowingNodes" presStyleLbl="node1" presStyleIdx="4" presStyleCnt="6">
        <dgm:presLayoutVars>
          <dgm:bulletEnabled val="1"/>
        </dgm:presLayoutVars>
      </dgm:prSet>
      <dgm:spPr/>
    </dgm:pt>
    <dgm:pt modelId="{31471F1C-A0C6-4566-9804-23E3C17AC8ED}" type="pres">
      <dgm:prSet presAssocID="{5474EFB6-DF18-4BC4-AF90-D29750BE1045}" presName="nodeFollowingNodes" presStyleLbl="node1" presStyleIdx="5" presStyleCnt="6">
        <dgm:presLayoutVars>
          <dgm:bulletEnabled val="1"/>
        </dgm:presLayoutVars>
      </dgm:prSet>
      <dgm:spPr/>
    </dgm:pt>
  </dgm:ptLst>
  <dgm:cxnLst>
    <dgm:cxn modelId="{3DF50603-4299-4E02-963B-2BCD6BEEE033}" type="presOf" srcId="{91639D2A-F95D-4164-8CE8-8F1C1D5F19EC}" destId="{65D3582C-CBE7-4684-8BDE-A8D24FAD6F9A}" srcOrd="0" destOrd="0" presId="urn:microsoft.com/office/officeart/2005/8/layout/cycle3"/>
    <dgm:cxn modelId="{FD05F406-6113-4FB5-AE33-6898A5E32698}" srcId="{91639D2A-F95D-4164-8CE8-8F1C1D5F19EC}" destId="{16DC5BA3-3D7F-4121-9915-960F3D53922E}" srcOrd="2" destOrd="0" parTransId="{79983B5A-A726-4E39-A2E6-BA1429CAB62C}" sibTransId="{83F010AA-33F8-4BFD-BAE4-EA2263347027}"/>
    <dgm:cxn modelId="{26879C1B-93FB-48A6-A9AD-8C72716C18E7}" type="presOf" srcId="{6B9789A7-5C82-4555-B230-61F6D1095EA9}" destId="{1507AE21-3F8A-4787-86B6-26C49D4071A2}" srcOrd="0" destOrd="0" presId="urn:microsoft.com/office/officeart/2005/8/layout/cycle3"/>
    <dgm:cxn modelId="{637B5030-5D4C-452B-A46F-DB3EA3D1C418}" srcId="{91639D2A-F95D-4164-8CE8-8F1C1D5F19EC}" destId="{6B9789A7-5C82-4555-B230-61F6D1095EA9}" srcOrd="0" destOrd="0" parTransId="{4324FDBB-380B-4A66-8FD9-6970235EC83D}" sibTransId="{0B68FC70-E5BC-4E34-A40F-E8791E752BA0}"/>
    <dgm:cxn modelId="{5BF39630-AE13-4C4D-B9F2-4F85E649E5E4}" type="presOf" srcId="{16DC5BA3-3D7F-4121-9915-960F3D53922E}" destId="{6DA0CEBD-2F86-442B-91E0-07FF8AECB0A5}" srcOrd="0" destOrd="0" presId="urn:microsoft.com/office/officeart/2005/8/layout/cycle3"/>
    <dgm:cxn modelId="{0DE5275B-46B8-4060-8FD4-EF6CDCB55DA4}" type="presOf" srcId="{36FAA1BB-2395-4681-9817-1CECD19D28F9}" destId="{A1E24A92-6F82-48FE-9295-6BB29E40D5A5}" srcOrd="0" destOrd="0" presId="urn:microsoft.com/office/officeart/2005/8/layout/cycle3"/>
    <dgm:cxn modelId="{4B850C4D-BC49-4B45-A814-A1BDDD88AD3E}" type="presOf" srcId="{5474EFB6-DF18-4BC4-AF90-D29750BE1045}" destId="{31471F1C-A0C6-4566-9804-23E3C17AC8ED}" srcOrd="0" destOrd="0" presId="urn:microsoft.com/office/officeart/2005/8/layout/cycle3"/>
    <dgm:cxn modelId="{7C740D50-323D-461B-90B7-813DDEC47577}" srcId="{91639D2A-F95D-4164-8CE8-8F1C1D5F19EC}" destId="{4442AB1C-C359-4F4E-B643-2A9D797AA079}" srcOrd="1" destOrd="0" parTransId="{56FD3228-BECE-4ED9-9349-E2BFD2D5A38F}" sibTransId="{4BBDA846-0AFC-458F-85A6-24D767AD5289}"/>
    <dgm:cxn modelId="{F9D56573-8F84-4FA8-B0C8-200203D49C1E}" type="presOf" srcId="{0B68FC70-E5BC-4E34-A40F-E8791E752BA0}" destId="{ACFFF6D0-31E1-42F9-8B4F-21FCA7E1A75A}" srcOrd="0" destOrd="0" presId="urn:microsoft.com/office/officeart/2005/8/layout/cycle3"/>
    <dgm:cxn modelId="{FBD8C196-914B-4AE7-A856-48D4A12EE0DF}" type="presOf" srcId="{4442AB1C-C359-4F4E-B643-2A9D797AA079}" destId="{C791CA02-5429-4432-8E72-C11B48D3730F}" srcOrd="0" destOrd="0" presId="urn:microsoft.com/office/officeart/2005/8/layout/cycle3"/>
    <dgm:cxn modelId="{DB27859B-5BAF-4811-BA8A-606B428BA9D3}" srcId="{91639D2A-F95D-4164-8CE8-8F1C1D5F19EC}" destId="{5474EFB6-DF18-4BC4-AF90-D29750BE1045}" srcOrd="5" destOrd="0" parTransId="{268AC2AA-FD0E-40D4-BEF1-F3BB6143CC40}" sibTransId="{0415D02A-ED0B-47D3-A869-8D0F47F6EFB0}"/>
    <dgm:cxn modelId="{55668EA6-DFCC-4E3D-88B6-DD18ABF671A5}" srcId="{91639D2A-F95D-4164-8CE8-8F1C1D5F19EC}" destId="{36FAA1BB-2395-4681-9817-1CECD19D28F9}" srcOrd="4" destOrd="0" parTransId="{B577C789-DE86-44A4-A049-ADC88734FB99}" sibTransId="{11E3AE45-D0CC-49D9-8096-9052E1AAF960}"/>
    <dgm:cxn modelId="{C2A62CE6-296B-4A30-B1C2-F6ACA9768B6C}" srcId="{91639D2A-F95D-4164-8CE8-8F1C1D5F19EC}" destId="{B256EA26-4A0C-4D4D-8A85-D8F38A34382A}" srcOrd="3" destOrd="0" parTransId="{A49261E2-7802-46A9-BC9B-904196A2673E}" sibTransId="{6D6C139F-13D4-4468-AAC0-8EA89F75C857}"/>
    <dgm:cxn modelId="{C88BC8FA-A113-40B7-90F5-2109843F9ADE}" type="presOf" srcId="{B256EA26-4A0C-4D4D-8A85-D8F38A34382A}" destId="{15F1F0A4-1B29-4F86-B917-966547FF6EFC}" srcOrd="0" destOrd="0" presId="urn:microsoft.com/office/officeart/2005/8/layout/cycle3"/>
    <dgm:cxn modelId="{81D2C979-87BC-473F-A8B4-5496BE19124D}" type="presParOf" srcId="{65D3582C-CBE7-4684-8BDE-A8D24FAD6F9A}" destId="{D8F5597D-0327-4855-ACAB-4D0ACE2125C2}" srcOrd="0" destOrd="0" presId="urn:microsoft.com/office/officeart/2005/8/layout/cycle3"/>
    <dgm:cxn modelId="{8CA18DE7-B150-4034-92CF-8E486F277B57}" type="presParOf" srcId="{D8F5597D-0327-4855-ACAB-4D0ACE2125C2}" destId="{1507AE21-3F8A-4787-86B6-26C49D4071A2}" srcOrd="0" destOrd="0" presId="urn:microsoft.com/office/officeart/2005/8/layout/cycle3"/>
    <dgm:cxn modelId="{3FDF79C5-1572-470C-967B-A2B93181CDB7}" type="presParOf" srcId="{D8F5597D-0327-4855-ACAB-4D0ACE2125C2}" destId="{ACFFF6D0-31E1-42F9-8B4F-21FCA7E1A75A}" srcOrd="1" destOrd="0" presId="urn:microsoft.com/office/officeart/2005/8/layout/cycle3"/>
    <dgm:cxn modelId="{C76F5422-3179-49AD-9777-ECA4804EA0E7}" type="presParOf" srcId="{D8F5597D-0327-4855-ACAB-4D0ACE2125C2}" destId="{C791CA02-5429-4432-8E72-C11B48D3730F}" srcOrd="2" destOrd="0" presId="urn:microsoft.com/office/officeart/2005/8/layout/cycle3"/>
    <dgm:cxn modelId="{26368F5A-18E1-4EA7-B96C-293FB84996D7}" type="presParOf" srcId="{D8F5597D-0327-4855-ACAB-4D0ACE2125C2}" destId="{6DA0CEBD-2F86-442B-91E0-07FF8AECB0A5}" srcOrd="3" destOrd="0" presId="urn:microsoft.com/office/officeart/2005/8/layout/cycle3"/>
    <dgm:cxn modelId="{3E0C1A59-2ADF-4586-8775-0406D0887B79}" type="presParOf" srcId="{D8F5597D-0327-4855-ACAB-4D0ACE2125C2}" destId="{15F1F0A4-1B29-4F86-B917-966547FF6EFC}" srcOrd="4" destOrd="0" presId="urn:microsoft.com/office/officeart/2005/8/layout/cycle3"/>
    <dgm:cxn modelId="{EE64D44E-2235-4E03-963B-34428D8F2881}" type="presParOf" srcId="{D8F5597D-0327-4855-ACAB-4D0ACE2125C2}" destId="{A1E24A92-6F82-48FE-9295-6BB29E40D5A5}" srcOrd="5" destOrd="0" presId="urn:microsoft.com/office/officeart/2005/8/layout/cycle3"/>
    <dgm:cxn modelId="{F76B47F0-DF26-47AB-BF50-9B9C9696DE4E}" type="presParOf" srcId="{D8F5597D-0327-4855-ACAB-4D0ACE2125C2}" destId="{31471F1C-A0C6-4566-9804-23E3C17AC8ED}" srcOrd="6" destOrd="0" presId="urn:microsoft.com/office/officeart/2005/8/layout/cycle3"/>
  </dgm:cxnLst>
  <dgm:bg>
    <a:noFill/>
  </dgm:bg>
  <dgm:whole>
    <a:ln>
      <a:noFill/>
    </a:ln>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FFF6D0-31E1-42F9-8B4F-21FCA7E1A75A}">
      <dsp:nvSpPr>
        <dsp:cNvPr id="0" name=""/>
        <dsp:cNvSpPr/>
      </dsp:nvSpPr>
      <dsp:spPr>
        <a:xfrm>
          <a:off x="454662" y="-5151"/>
          <a:ext cx="3791838" cy="3791838"/>
        </a:xfrm>
        <a:prstGeom prst="circularArrow">
          <a:avLst>
            <a:gd name="adj1" fmla="val 5274"/>
            <a:gd name="adj2" fmla="val 312630"/>
            <a:gd name="adj3" fmla="val 14306552"/>
            <a:gd name="adj4" fmla="val 17081274"/>
            <a:gd name="adj5" fmla="val 5477"/>
          </a:avLst>
        </a:prstGeom>
        <a:solidFill>
          <a:schemeClr val="accent6">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1507AE21-3F8A-4787-86B6-26C49D4071A2}">
      <dsp:nvSpPr>
        <dsp:cNvPr id="0" name=""/>
        <dsp:cNvSpPr/>
      </dsp:nvSpPr>
      <dsp:spPr>
        <a:xfrm>
          <a:off x="1661934" y="817"/>
          <a:ext cx="1377294" cy="688647"/>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Reference relevant  data from defined external sources</a:t>
          </a:r>
        </a:p>
      </dsp:txBody>
      <dsp:txXfrm>
        <a:off x="1695551" y="34434"/>
        <a:ext cx="1310060" cy="621413"/>
      </dsp:txXfrm>
    </dsp:sp>
    <dsp:sp modelId="{C791CA02-5429-4432-8E72-C11B48D3730F}">
      <dsp:nvSpPr>
        <dsp:cNvPr id="0" name=""/>
        <dsp:cNvSpPr/>
      </dsp:nvSpPr>
      <dsp:spPr>
        <a:xfrm>
          <a:off x="2994116" y="769953"/>
          <a:ext cx="1377294" cy="688647"/>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Compare actuals versus agreed in Contract</a:t>
          </a:r>
        </a:p>
      </dsp:txBody>
      <dsp:txXfrm>
        <a:off x="3027733" y="803570"/>
        <a:ext cx="1310060" cy="621413"/>
      </dsp:txXfrm>
    </dsp:sp>
    <dsp:sp modelId="{6DA0CEBD-2F86-442B-91E0-07FF8AECB0A5}">
      <dsp:nvSpPr>
        <dsp:cNvPr id="0" name=""/>
        <dsp:cNvSpPr/>
      </dsp:nvSpPr>
      <dsp:spPr>
        <a:xfrm>
          <a:off x="2994116" y="2308224"/>
          <a:ext cx="1377294" cy="688647"/>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Alert discrepancies as per defined governance</a:t>
          </a:r>
        </a:p>
      </dsp:txBody>
      <dsp:txXfrm>
        <a:off x="3027733" y="2341841"/>
        <a:ext cx="1310060" cy="621413"/>
      </dsp:txXfrm>
    </dsp:sp>
    <dsp:sp modelId="{15F1F0A4-1B29-4F86-B917-966547FF6EFC}">
      <dsp:nvSpPr>
        <dsp:cNvPr id="0" name=""/>
        <dsp:cNvSpPr/>
      </dsp:nvSpPr>
      <dsp:spPr>
        <a:xfrm>
          <a:off x="1661934" y="3077360"/>
          <a:ext cx="1377294" cy="688647"/>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Monitor improvement actions</a:t>
          </a:r>
        </a:p>
      </dsp:txBody>
      <dsp:txXfrm>
        <a:off x="1695551" y="3110977"/>
        <a:ext cx="1310060" cy="621413"/>
      </dsp:txXfrm>
    </dsp:sp>
    <dsp:sp modelId="{A1E24A92-6F82-48FE-9295-6BB29E40D5A5}">
      <dsp:nvSpPr>
        <dsp:cNvPr id="0" name=""/>
        <dsp:cNvSpPr/>
      </dsp:nvSpPr>
      <dsp:spPr>
        <a:xfrm>
          <a:off x="329753" y="2308224"/>
          <a:ext cx="1377294" cy="688647"/>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Repeat as per agreed intervals</a:t>
          </a:r>
        </a:p>
      </dsp:txBody>
      <dsp:txXfrm>
        <a:off x="363370" y="2341841"/>
        <a:ext cx="1310060" cy="621413"/>
      </dsp:txXfrm>
    </dsp:sp>
    <dsp:sp modelId="{31471F1C-A0C6-4566-9804-23E3C17AC8ED}">
      <dsp:nvSpPr>
        <dsp:cNvPr id="0" name=""/>
        <dsp:cNvSpPr/>
      </dsp:nvSpPr>
      <dsp:spPr>
        <a:xfrm>
          <a:off x="329753" y="769953"/>
          <a:ext cx="1377294" cy="688647"/>
        </a:xfrm>
        <a:prstGeom prst="roundRect">
          <a:avLst/>
        </a:prstGeom>
        <a:gradFill rotWithShape="0">
          <a:gsLst>
            <a:gs pos="0">
              <a:schemeClr val="lt1">
                <a:hueOff val="0"/>
                <a:satOff val="0"/>
                <a:lumOff val="0"/>
                <a:alphaOff val="0"/>
                <a:shade val="51000"/>
                <a:satMod val="130000"/>
              </a:schemeClr>
            </a:gs>
            <a:gs pos="80000">
              <a:schemeClr val="lt1">
                <a:hueOff val="0"/>
                <a:satOff val="0"/>
                <a:lumOff val="0"/>
                <a:alphaOff val="0"/>
                <a:shade val="93000"/>
                <a:satMod val="130000"/>
              </a:schemeClr>
            </a:gs>
            <a:gs pos="100000">
              <a:schemeClr val="l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t>Present Contract Performance </a:t>
          </a:r>
          <a:r>
            <a:rPr lang="nl-NL" sz="1000" kern="1200" dirty="0"/>
            <a:t>details </a:t>
          </a:r>
          <a:endParaRPr lang="en-GB" sz="1000" kern="1200" dirty="0"/>
        </a:p>
      </dsp:txBody>
      <dsp:txXfrm>
        <a:off x="363370" y="803570"/>
        <a:ext cx="1310060" cy="621413"/>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defTabSz="933917">
              <a:defRPr sz="1300" dirty="0">
                <a:cs typeface="Arial" charset="0"/>
              </a:defRPr>
            </a:lvl1pPr>
          </a:lstStyle>
          <a:p>
            <a:pPr>
              <a:defRPr/>
            </a:pPr>
            <a:endParaRPr lang="en-US" dirty="0"/>
          </a:p>
        </p:txBody>
      </p:sp>
      <p:sp>
        <p:nvSpPr>
          <p:cNvPr id="3" name="Date Placeholder 2"/>
          <p:cNvSpPr>
            <a:spLocks noGrp="1"/>
          </p:cNvSpPr>
          <p:nvPr>
            <p:ph type="dt" sz="quarter" idx="1"/>
          </p:nvPr>
        </p:nvSpPr>
        <p:spPr bwMode="auto">
          <a:xfrm>
            <a:off x="5629280"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algn="r" defTabSz="933917">
              <a:defRPr sz="1300">
                <a:cs typeface="Arial" charset="0"/>
              </a:defRPr>
            </a:lvl1pPr>
          </a:lstStyle>
          <a:p>
            <a:pPr>
              <a:defRPr/>
            </a:pPr>
            <a:fld id="{304F21E1-B84B-445F-AF94-B8B99478D897}" type="datetimeFigureOut">
              <a:rPr lang="nl-NL"/>
              <a:pPr>
                <a:defRPr/>
              </a:pPr>
              <a:t>19-4-2026</a:t>
            </a:fld>
            <a:endParaRPr lang="nl-NL" dirty="0"/>
          </a:p>
        </p:txBody>
      </p:sp>
      <p:sp>
        <p:nvSpPr>
          <p:cNvPr id="4" name="Footer Placeholder 3"/>
          <p:cNvSpPr>
            <a:spLocks noGrp="1"/>
          </p:cNvSpPr>
          <p:nvPr>
            <p:ph type="ftr" sz="quarter" idx="2"/>
          </p:nvPr>
        </p:nvSpPr>
        <p:spPr bwMode="auto">
          <a:xfrm>
            <a:off x="1"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defTabSz="933917">
              <a:defRPr sz="1300" dirty="0">
                <a:cs typeface="Arial" charset="0"/>
              </a:defRPr>
            </a:lvl1pPr>
          </a:lstStyle>
          <a:p>
            <a:pPr>
              <a:defRPr/>
            </a:pPr>
            <a:endParaRPr lang="en-US" dirty="0"/>
          </a:p>
        </p:txBody>
      </p:sp>
      <p:sp>
        <p:nvSpPr>
          <p:cNvPr id="5" name="Slide Number Placeholder 4"/>
          <p:cNvSpPr>
            <a:spLocks noGrp="1"/>
          </p:cNvSpPr>
          <p:nvPr>
            <p:ph type="sldNum" sz="quarter" idx="3"/>
          </p:nvPr>
        </p:nvSpPr>
        <p:spPr bwMode="auto">
          <a:xfrm>
            <a:off x="5629280"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algn="r" defTabSz="933917">
              <a:defRPr sz="1300">
                <a:cs typeface="Arial" charset="0"/>
              </a:defRPr>
            </a:lvl1pPr>
          </a:lstStyle>
          <a:p>
            <a:pPr>
              <a:defRPr/>
            </a:pPr>
            <a:fld id="{0EBFF075-9AD7-46B0-8234-056A478056C3}" type="slidenum">
              <a:rPr lang="nl-NL"/>
              <a:pPr>
                <a:defRPr/>
              </a:pPr>
              <a:t>‹#›</a:t>
            </a:fld>
            <a:endParaRPr lang="nl-NL" dirty="0"/>
          </a:p>
        </p:txBody>
      </p:sp>
    </p:spTree>
    <p:extLst>
      <p:ext uri="{BB962C8B-B14F-4D97-AF65-F5344CB8AC3E}">
        <p14:creationId xmlns:p14="http://schemas.microsoft.com/office/powerpoint/2010/main" val="18992286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1"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defTabSz="933917">
              <a:defRPr sz="1300" dirty="0">
                <a:cs typeface="Arial" charset="0"/>
              </a:defRPr>
            </a:lvl1pPr>
          </a:lstStyle>
          <a:p>
            <a:pPr>
              <a:defRPr/>
            </a:pPr>
            <a:endParaRPr lang="en-US" dirty="0"/>
          </a:p>
        </p:txBody>
      </p:sp>
      <p:sp>
        <p:nvSpPr>
          <p:cNvPr id="3" name="Date Placeholder 2"/>
          <p:cNvSpPr>
            <a:spLocks noGrp="1"/>
          </p:cNvSpPr>
          <p:nvPr>
            <p:ph type="dt" idx="1"/>
          </p:nvPr>
        </p:nvSpPr>
        <p:spPr bwMode="auto">
          <a:xfrm>
            <a:off x="5629280" y="0"/>
            <a:ext cx="4307742" cy="340306"/>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lvl1pPr algn="r" defTabSz="933917">
              <a:defRPr sz="1300">
                <a:cs typeface="Arial" charset="0"/>
              </a:defRPr>
            </a:lvl1pPr>
          </a:lstStyle>
          <a:p>
            <a:pPr>
              <a:defRPr/>
            </a:pPr>
            <a:fld id="{203573E3-390C-4614-B945-792B478042CC}" type="datetimeFigureOut">
              <a:rPr lang="nl-NL"/>
              <a:pPr>
                <a:defRPr/>
              </a:pPr>
              <a:t>19-4-2026</a:t>
            </a:fld>
            <a:endParaRPr lang="nl-NL" dirty="0"/>
          </a:p>
        </p:txBody>
      </p:sp>
      <p:sp>
        <p:nvSpPr>
          <p:cNvPr id="4" name="Slide Image Placeholder 3"/>
          <p:cNvSpPr>
            <a:spLocks noGrp="1" noRot="1" noChangeAspect="1"/>
          </p:cNvSpPr>
          <p:nvPr>
            <p:ph type="sldImg" idx="2"/>
          </p:nvPr>
        </p:nvSpPr>
        <p:spPr>
          <a:xfrm>
            <a:off x="3267075" y="511175"/>
            <a:ext cx="3405188" cy="2552700"/>
          </a:xfrm>
          <a:prstGeom prst="rect">
            <a:avLst/>
          </a:prstGeom>
          <a:noFill/>
          <a:ln w="12700">
            <a:solidFill>
              <a:prstClr val="black"/>
            </a:solidFill>
          </a:ln>
        </p:spPr>
        <p:txBody>
          <a:bodyPr vert="horz" lIns="88331" tIns="44166" rIns="88331" bIns="44166" rtlCol="0" anchor="ctr"/>
          <a:lstStyle/>
          <a:p>
            <a:pPr lvl="0"/>
            <a:endParaRPr lang="nl-NL" noProof="0" dirty="0"/>
          </a:p>
        </p:txBody>
      </p:sp>
      <p:sp>
        <p:nvSpPr>
          <p:cNvPr id="5" name="Notes Placeholder 4"/>
          <p:cNvSpPr>
            <a:spLocks noGrp="1"/>
          </p:cNvSpPr>
          <p:nvPr>
            <p:ph type="body" sz="quarter" idx="3"/>
          </p:nvPr>
        </p:nvSpPr>
        <p:spPr bwMode="auto">
          <a:xfrm>
            <a:off x="994633" y="3234535"/>
            <a:ext cx="7950077" cy="3061663"/>
          </a:xfrm>
          <a:prstGeom prst="rect">
            <a:avLst/>
          </a:prstGeom>
          <a:noFill/>
          <a:ln w="9525">
            <a:noFill/>
            <a:miter lim="800000"/>
            <a:headEnd/>
            <a:tailEnd/>
          </a:ln>
        </p:spPr>
        <p:txBody>
          <a:bodyPr vert="horz" wrap="square" lIns="93375" tIns="46688" rIns="93375" bIns="4668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nl-NL" noProof="0"/>
          </a:p>
        </p:txBody>
      </p:sp>
      <p:sp>
        <p:nvSpPr>
          <p:cNvPr id="6" name="Footer Placeholder 5"/>
          <p:cNvSpPr>
            <a:spLocks noGrp="1"/>
          </p:cNvSpPr>
          <p:nvPr>
            <p:ph type="ftr" sz="quarter" idx="4"/>
          </p:nvPr>
        </p:nvSpPr>
        <p:spPr bwMode="auto">
          <a:xfrm>
            <a:off x="1"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defTabSz="933917">
              <a:defRPr sz="1300" dirty="0">
                <a:cs typeface="Arial" charset="0"/>
              </a:defRPr>
            </a:lvl1pPr>
          </a:lstStyle>
          <a:p>
            <a:pPr>
              <a:defRPr/>
            </a:pPr>
            <a:endParaRPr lang="en-US" dirty="0"/>
          </a:p>
        </p:txBody>
      </p:sp>
      <p:sp>
        <p:nvSpPr>
          <p:cNvPr id="7" name="Slide Number Placeholder 6"/>
          <p:cNvSpPr>
            <a:spLocks noGrp="1"/>
          </p:cNvSpPr>
          <p:nvPr>
            <p:ph type="sldNum" sz="quarter" idx="5"/>
          </p:nvPr>
        </p:nvSpPr>
        <p:spPr bwMode="auto">
          <a:xfrm>
            <a:off x="5629280" y="6465808"/>
            <a:ext cx="4307742" cy="340305"/>
          </a:xfrm>
          <a:prstGeom prst="rect">
            <a:avLst/>
          </a:prstGeom>
          <a:noFill/>
          <a:ln w="9525">
            <a:noFill/>
            <a:miter lim="800000"/>
            <a:headEnd/>
            <a:tailEnd/>
          </a:ln>
        </p:spPr>
        <p:txBody>
          <a:bodyPr vert="horz" wrap="square" lIns="93375" tIns="46688" rIns="93375" bIns="46688" numCol="1" anchor="b" anchorCtr="0" compatLnSpc="1">
            <a:prstTxWarp prst="textNoShape">
              <a:avLst/>
            </a:prstTxWarp>
          </a:bodyPr>
          <a:lstStyle>
            <a:lvl1pPr algn="r" defTabSz="933917">
              <a:defRPr sz="1300">
                <a:cs typeface="Arial" charset="0"/>
              </a:defRPr>
            </a:lvl1pPr>
          </a:lstStyle>
          <a:p>
            <a:pPr>
              <a:defRPr/>
            </a:pPr>
            <a:fld id="{782D3967-6BDF-470F-A557-83BDF41E48D2}" type="slidenum">
              <a:rPr lang="nl-NL"/>
              <a:pPr>
                <a:defRPr/>
              </a:pPr>
              <a:t>‹#›</a:t>
            </a:fld>
            <a:endParaRPr lang="nl-NL" dirty="0"/>
          </a:p>
        </p:txBody>
      </p:sp>
    </p:spTree>
    <p:extLst>
      <p:ext uri="{BB962C8B-B14F-4D97-AF65-F5344CB8AC3E}">
        <p14:creationId xmlns:p14="http://schemas.microsoft.com/office/powerpoint/2010/main" val="20917765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AI-generated content may be incorrect.
---
</a:t>
            </a:r>
          </a:p>
        </p:txBody>
      </p:sp>
      <p:sp>
        <p:nvSpPr>
          <p:cNvPr id="4" name="Slide Number Placeholder 3"/>
          <p:cNvSpPr>
            <a:spLocks noGrp="1"/>
          </p:cNvSpPr>
          <p:nvPr>
            <p:ph type="sldNum" sz="quarter" idx="5"/>
          </p:nvPr>
        </p:nvSpPr>
        <p:spPr/>
        <p:txBody>
          <a:bodyPr/>
          <a:lstStyle/>
          <a:p>
            <a:fld id="{11A9E5E8-067A-420D-8ADE-4707B3E453D2}" type="slidenum">
              <a:t>1</a:t>
            </a:fld>
            <a:endParaRPr lang="en-US" dirty="0"/>
          </a:p>
        </p:txBody>
      </p:sp>
    </p:spTree>
    <p:extLst>
      <p:ext uri="{BB962C8B-B14F-4D97-AF65-F5344CB8AC3E}">
        <p14:creationId xmlns:p14="http://schemas.microsoft.com/office/powerpoint/2010/main" val="1499611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Contract value leakage refers to the gap between the value that was negotiated in a contract and the value that is ultimately realized during execution. In large corporations, this leakage typically occurs after contract signature and affects both the buy side (procurement and supplier contracts) and the sell side (sales, customer, and revenue contracts). The first and most common source of leakage is non-compliance with contract terms. On the buy side, this manifests as off-contract or maverick spend that bypasses negotiated pricing, while on the sell side it appears as under-billing, free services, or failure to enforce scope boundaries. The second major leakage driver is poor pricing and discount control. Buyers often fail to enforce volume tiers or indexed pricing, while sellers frequently allow excessive or inconsistent discounts that erode margins. Third, organizations regularly miss rebates, incentives, and credits. Procurement teams fail to claim earned rebates or SLA credits, while sales organizations overpay incentives due to inaccurate tracking or unclear formulas. Fourth, weak contract lifecycle management creates leakage when contracts are stored as static documents rather than managed assets, leading to forgotten obligations, expired pricing, and unmanaged amendments. Fifth, scope creep and unmanaged changes are pervasive; buyers pay for additional work without formal approval, and sellers deliver extra services based on informal requests or verbal commitments. Sixth, poor SLA monitoring and enforcement leads to accepted underperformance on the buy side and avoidable penalties on the sell side. Seventh, ineffective renewal and auto-renewal management locks organizations into outdated commercial terms, missing opportunities to renegotiate pricing, exit poor deals, or upsell value-added services. Eighth, volume commitment and forecasting inaccuracies cause loss of discounts, take-or-pay penalties, excess capacity costs, or underpriced commitments. Ninth, legal–commercial misalignment results in contracts that are legally sound but commercially damaging, with risk concessions not reflected in pricing or margin expectations. Finally, the absence of clear contract ownership and accountability post-signature means no individual is responsible for enforcing rights, tracking obligations, or realizing negotiated value. Collectively, these ten leakage points typically result in 2–5% spend leakage on the buy side and 1–3% revenue leakage on the sell side in large enterprises, making them a critical focus area for CLM, finance, and executive leadership.</a:t>
            </a:r>
          </a:p>
        </p:txBody>
      </p:sp>
      <p:sp>
        <p:nvSpPr>
          <p:cNvPr id="4" name="Slide Number Placeholder 3"/>
          <p:cNvSpPr>
            <a:spLocks noGrp="1"/>
          </p:cNvSpPr>
          <p:nvPr>
            <p:ph type="sldNum" sz="quarter" idx="5"/>
          </p:nvPr>
        </p:nvSpPr>
        <p:spPr/>
        <p:txBody>
          <a:bodyPr/>
          <a:lstStyle/>
          <a:p>
            <a:fld id="{22D38311-232E-48B9-BABD-8B331805FA7D}" type="slidenum">
              <a:t>2</a:t>
            </a:fld>
            <a:endParaRPr lang="en-US"/>
          </a:p>
        </p:txBody>
      </p:sp>
    </p:spTree>
    <p:extLst>
      <p:ext uri="{BB962C8B-B14F-4D97-AF65-F5344CB8AC3E}">
        <p14:creationId xmlns:p14="http://schemas.microsoft.com/office/powerpoint/2010/main" val="18443035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
This slide is designed to make a clear and commercially compelling case for why organizations must move beyond passive, document-centric contract handling and adopt active contract management as a core business discipline. Across industries, research and operational experience consistently show that 8–11% of total contract value is typically lost after contracts are signed. This value leakage rarely stems from poor negotiation; instead, it occurs during execution, when contracts are treated as static legal artifacts rather than living commercial assets that require ongoing ownership, monitoring, and enforcement. Common sources of leakage include missed rebates and service credits, unmanaged price protections, unnoticed auto-renewals, unclaimed penalties for underperformance, and gradual scope creep that erodes margins over time. These losses often accumulate quietly, dispersed across many contracts and operational teams, which is why they frequently escape senior management attention despite having a material impact on profitability.
The left-hand side of the slide highlights this hidden problem by reframing value leakage as a systemic commercial failure rather than an isolated legal or procurement issue. When ownership drops away after signature, obligations are not tracked, service levels are not enforced, and financial entitlements are not reconciled against invoices. The organization may believe value has been secured at the negotiating table, while in reality that value steadily dissipates during delivery. This disconnect creates a persistent gap between negotiated value and realized value, directly impacting EBITDA, cash flow, and risk exposure.
The right-hand side of the slide presents active contract management as a tangible commercial advantage. Active contract management means assigning clear ownership from signature through exit, continuously tracking obligations, pricing mechanisms, performance metrics, and renewal events, and intervening early when deviations occur. Rather than reacting to disputes or cost overruns after value has already been lost, organizations proactively protect and capture value in real time. Evidence from industry benchmarks and practitioner experience shows that organizations that implement structured, active contract management—supported by clear accountability and appropriate tools—can reduce value leakage by 30–40% within 12–24 months. The key message reinforced in the bottom callout is that active contract management is not administrative overhead; it is a profit-enablement capability that converts negotiated outcomes into realized financial results.</a:t>
            </a:r>
          </a:p>
        </p:txBody>
      </p:sp>
      <p:sp>
        <p:nvSpPr>
          <p:cNvPr id="4" name="Slide Number Placeholder 3"/>
          <p:cNvSpPr>
            <a:spLocks noGrp="1"/>
          </p:cNvSpPr>
          <p:nvPr>
            <p:ph type="sldNum" sz="quarter" idx="5"/>
          </p:nvPr>
        </p:nvSpPr>
        <p:spPr/>
        <p:txBody>
          <a:bodyPr/>
          <a:lstStyle/>
          <a:p>
            <a:fld id="{11A9E5E8-067A-420D-8ADE-4707B3E453D2}" type="slidenum">
              <a:t>3</a:t>
            </a:fld>
            <a:endParaRPr lang="en-US" dirty="0"/>
          </a:p>
        </p:txBody>
      </p:sp>
    </p:spTree>
    <p:extLst>
      <p:ext uri="{BB962C8B-B14F-4D97-AF65-F5344CB8AC3E}">
        <p14:creationId xmlns:p14="http://schemas.microsoft.com/office/powerpoint/2010/main" val="235791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pPr>
              <a:defRPr/>
            </a:pPr>
            <a:fld id="{E3872CF6-E749-444A-A69E-80151135593C}" type="slidenum">
              <a:rPr lang="nl-NL" smtClean="0"/>
              <a:pPr>
                <a:defRPr/>
              </a:pPr>
              <a:t>12</a:t>
            </a:fld>
            <a:endParaRPr lang="nl-NL" dirty="0"/>
          </a:p>
        </p:txBody>
      </p:sp>
    </p:spTree>
    <p:extLst>
      <p:ext uri="{BB962C8B-B14F-4D97-AF65-F5344CB8AC3E}">
        <p14:creationId xmlns:p14="http://schemas.microsoft.com/office/powerpoint/2010/main" val="2603732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1"/>
          <p:cNvSpPr>
            <a:spLocks noGrp="1"/>
          </p:cNvSpPr>
          <p:nvPr>
            <p:ph type="title"/>
          </p:nvPr>
        </p:nvSpPr>
        <p:spPr>
          <a:xfrm>
            <a:off x="237507" y="90489"/>
            <a:ext cx="8443356" cy="788286"/>
          </a:xfrm>
          <a:prstGeom prst="rect">
            <a:avLst/>
          </a:prstGeom>
        </p:spPr>
        <p:txBody>
          <a:bodyPr/>
          <a:lstStyle>
            <a:lvl1pPr>
              <a:defRPr sz="1800">
                <a:latin typeface="Calibri" pitchFamily="34" charset="0"/>
                <a:cs typeface="Calibri" pitchFamily="34" charset="0"/>
              </a:defRPr>
            </a:lvl1pPr>
          </a:lstStyle>
          <a:p>
            <a:r>
              <a:rPr lang="en-GB" noProof="0"/>
              <a:t>Click to edit Master title style</a:t>
            </a:r>
          </a:p>
        </p:txBody>
      </p:sp>
      <p:sp>
        <p:nvSpPr>
          <p:cNvPr id="8" name="Slide Number Placeholder 5"/>
          <p:cNvSpPr txBox="1">
            <a:spLocks/>
          </p:cNvSpPr>
          <p:nvPr userDrawn="1"/>
        </p:nvSpPr>
        <p:spPr bwMode="auto">
          <a:xfrm>
            <a:off x="8680863" y="332510"/>
            <a:ext cx="463138" cy="355354"/>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defPPr>
              <a:defRPr lang="nl-NL"/>
            </a:defPPr>
            <a:lvl1pPr algn="r" rtl="0" fontAlgn="base">
              <a:spcBef>
                <a:spcPct val="0"/>
              </a:spcBef>
              <a:spcAft>
                <a:spcPct val="0"/>
              </a:spcAft>
              <a:defRPr sz="900" kern="1200">
                <a:solidFill>
                  <a:schemeClr val="tx1"/>
                </a:solidFill>
                <a:latin typeface="Verdana" pitchFamily="34" charset="0"/>
                <a:ea typeface="+mn-ea"/>
                <a:cs typeface="Arial" charset="0"/>
              </a:defRPr>
            </a:lvl1pPr>
            <a:lvl2pPr marL="457200" algn="l" rtl="0" fontAlgn="base">
              <a:spcBef>
                <a:spcPct val="0"/>
              </a:spcBef>
              <a:spcAft>
                <a:spcPct val="0"/>
              </a:spcAft>
              <a:defRPr sz="3600" kern="1200">
                <a:solidFill>
                  <a:schemeClr val="tx2"/>
                </a:solidFill>
                <a:latin typeface="Verdana" pitchFamily="34" charset="0"/>
                <a:ea typeface="+mn-ea"/>
                <a:cs typeface="Arial" charset="0"/>
              </a:defRPr>
            </a:lvl2pPr>
            <a:lvl3pPr marL="914400" algn="l" rtl="0" fontAlgn="base">
              <a:spcBef>
                <a:spcPct val="0"/>
              </a:spcBef>
              <a:spcAft>
                <a:spcPct val="0"/>
              </a:spcAft>
              <a:defRPr sz="3600" kern="1200">
                <a:solidFill>
                  <a:schemeClr val="tx2"/>
                </a:solidFill>
                <a:latin typeface="Verdana" pitchFamily="34" charset="0"/>
                <a:ea typeface="+mn-ea"/>
                <a:cs typeface="Arial" charset="0"/>
              </a:defRPr>
            </a:lvl3pPr>
            <a:lvl4pPr marL="1371600" algn="l" rtl="0" fontAlgn="base">
              <a:spcBef>
                <a:spcPct val="0"/>
              </a:spcBef>
              <a:spcAft>
                <a:spcPct val="0"/>
              </a:spcAft>
              <a:defRPr sz="3600" kern="1200">
                <a:solidFill>
                  <a:schemeClr val="tx2"/>
                </a:solidFill>
                <a:latin typeface="Verdana" pitchFamily="34" charset="0"/>
                <a:ea typeface="+mn-ea"/>
                <a:cs typeface="Arial" charset="0"/>
              </a:defRPr>
            </a:lvl4pPr>
            <a:lvl5pPr marL="1828800" algn="l" rtl="0" fontAlgn="base">
              <a:spcBef>
                <a:spcPct val="0"/>
              </a:spcBef>
              <a:spcAft>
                <a:spcPct val="0"/>
              </a:spcAft>
              <a:defRPr sz="3600" kern="1200">
                <a:solidFill>
                  <a:schemeClr val="tx2"/>
                </a:solidFill>
                <a:latin typeface="Verdana" pitchFamily="34" charset="0"/>
                <a:ea typeface="+mn-ea"/>
                <a:cs typeface="Arial" charset="0"/>
              </a:defRPr>
            </a:lvl5pPr>
            <a:lvl6pPr marL="2286000" algn="l" defTabSz="914400" rtl="0" eaLnBrk="1" latinLnBrk="0" hangingPunct="1">
              <a:defRPr sz="3600" kern="1200">
                <a:solidFill>
                  <a:schemeClr val="tx2"/>
                </a:solidFill>
                <a:latin typeface="Verdana" pitchFamily="34" charset="0"/>
                <a:ea typeface="+mn-ea"/>
                <a:cs typeface="Arial" charset="0"/>
              </a:defRPr>
            </a:lvl6pPr>
            <a:lvl7pPr marL="2743200" algn="l" defTabSz="914400" rtl="0" eaLnBrk="1" latinLnBrk="0" hangingPunct="1">
              <a:defRPr sz="3600" kern="1200">
                <a:solidFill>
                  <a:schemeClr val="tx2"/>
                </a:solidFill>
                <a:latin typeface="Verdana" pitchFamily="34" charset="0"/>
                <a:ea typeface="+mn-ea"/>
                <a:cs typeface="Arial" charset="0"/>
              </a:defRPr>
            </a:lvl7pPr>
            <a:lvl8pPr marL="3200400" algn="l" defTabSz="914400" rtl="0" eaLnBrk="1" latinLnBrk="0" hangingPunct="1">
              <a:defRPr sz="3600" kern="1200">
                <a:solidFill>
                  <a:schemeClr val="tx2"/>
                </a:solidFill>
                <a:latin typeface="Verdana" pitchFamily="34" charset="0"/>
                <a:ea typeface="+mn-ea"/>
                <a:cs typeface="Arial" charset="0"/>
              </a:defRPr>
            </a:lvl8pPr>
            <a:lvl9pPr marL="3657600" algn="l" defTabSz="914400" rtl="0" eaLnBrk="1" latinLnBrk="0" hangingPunct="1">
              <a:defRPr sz="3600" kern="1200">
                <a:solidFill>
                  <a:schemeClr val="tx2"/>
                </a:solidFill>
                <a:latin typeface="Verdana" pitchFamily="34" charset="0"/>
                <a:ea typeface="+mn-ea"/>
                <a:cs typeface="Arial" charset="0"/>
              </a:defRPr>
            </a:lvl9pPr>
          </a:lstStyle>
          <a:p>
            <a:pPr algn="ctr">
              <a:defRPr/>
            </a:pPr>
            <a:fld id="{D5F246EE-A698-40F2-9104-E597CE2CF7A1}" type="slidenum">
              <a:rPr lang="nl-NL" smtClean="0"/>
              <a:pPr algn="ctr">
                <a:defRPr/>
              </a:pPr>
              <a:t>‹#›</a:t>
            </a:fld>
            <a:endParaRPr lang="nl-NL" dirty="0"/>
          </a:p>
        </p:txBody>
      </p:sp>
      <p:sp>
        <p:nvSpPr>
          <p:cNvPr id="3" name="Date Placeholder 2">
            <a:extLst>
              <a:ext uri="{FF2B5EF4-FFF2-40B4-BE49-F238E27FC236}">
                <a16:creationId xmlns:a16="http://schemas.microsoft.com/office/drawing/2014/main" id="{D06F7CF5-1192-7A56-FE3E-629C47D56E95}"/>
              </a:ext>
            </a:extLst>
          </p:cNvPr>
          <p:cNvSpPr>
            <a:spLocks noGrp="1"/>
          </p:cNvSpPr>
          <p:nvPr>
            <p:ph type="dt" sz="half" idx="2"/>
          </p:nvPr>
        </p:nvSpPr>
        <p:spPr>
          <a:xfrm>
            <a:off x="611450" y="6471383"/>
            <a:ext cx="2057400" cy="365125"/>
          </a:xfrm>
          <a:prstGeom prst="rect">
            <a:avLst/>
          </a:prstGeom>
        </p:spPr>
        <p:txBody>
          <a:bodyPr vert="horz" lIns="91440" tIns="45720" rIns="91440" bIns="45720" rtlCol="0" anchor="ctr"/>
          <a:lstStyle>
            <a:lvl1pPr algn="l">
              <a:defRPr lang="en-GB" sz="900" b="1" i="1" kern="1200" smtClean="0">
                <a:solidFill>
                  <a:srgbClr val="002060"/>
                </a:solidFill>
                <a:effectLst>
                  <a:outerShdw blurRad="38100" dist="38100" dir="2700000" algn="tl">
                    <a:srgbClr val="C0C0C0"/>
                  </a:outerShdw>
                </a:effectLst>
                <a:latin typeface="Arial" charset="0"/>
                <a:ea typeface="+mn-ea"/>
                <a:cs typeface="Arial" charset="0"/>
              </a:defRPr>
            </a:lvl1pPr>
          </a:lstStyle>
          <a:p>
            <a:fld id="{DD90A359-DBAD-41D6-B140-386B2F4126DD}"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4" name="Footer Placeholder 3">
            <a:extLst>
              <a:ext uri="{FF2B5EF4-FFF2-40B4-BE49-F238E27FC236}">
                <a16:creationId xmlns:a16="http://schemas.microsoft.com/office/drawing/2014/main" id="{A52D920D-EE79-5792-168E-5F6D116C4715}"/>
              </a:ext>
            </a:extLst>
          </p:cNvPr>
          <p:cNvSpPr>
            <a:spLocks noGrp="1"/>
          </p:cNvSpPr>
          <p:nvPr>
            <p:ph type="ftr" sz="quarter" idx="3"/>
          </p:nvPr>
        </p:nvSpPr>
        <p:spPr>
          <a:xfrm>
            <a:off x="2633434" y="6471382"/>
            <a:ext cx="3312460" cy="367086"/>
          </a:xfrm>
          <a:prstGeom prst="rect">
            <a:avLst/>
          </a:prstGeom>
        </p:spPr>
        <p:txBody>
          <a:bodyPr vert="horz" lIns="91440" tIns="45720" rIns="91440" bIns="45720" rtlCol="0" anchor="ctr"/>
          <a:lstStyle>
            <a:lvl1pPr algn="r">
              <a:defRPr sz="1050" b="1" i="1">
                <a:solidFill>
                  <a:srgbClr val="054283"/>
                </a:solidFill>
                <a:latin typeface="Calibri" panose="020F0502020204030204" pitchFamily="34" charset="0"/>
                <a:ea typeface="Calibri" panose="020F0502020204030204" pitchFamily="34" charset="0"/>
                <a:cs typeface="Calibri" panose="020F0502020204030204" pitchFamily="34" charset="0"/>
              </a:defRPr>
            </a:lvl1pPr>
          </a:lstStyle>
          <a:p>
            <a:pPr algn="l"/>
            <a:r>
              <a:rPr lang="en-US" dirty="0"/>
              <a:t>AI-Powered Contract Intelligence</a:t>
            </a:r>
            <a:endParaRPr lang="en-GB" i="1"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437418" cy="4525963"/>
          </a:xfrm>
          <a:prstGeom prst="rect">
            <a:avLst/>
          </a:prstGeom>
        </p:spPr>
        <p:txBody>
          <a:bodyPr/>
          <a:lstStyle>
            <a:lvl1pPr>
              <a:defRPr sz="2000"/>
            </a:lvl1pPr>
            <a:lvl2pPr>
              <a:defRPr sz="1800"/>
            </a:lvl2pPr>
            <a:lvl3pPr>
              <a:defRPr sz="1600"/>
            </a:lvl3pPr>
            <a:lvl4pPr>
              <a:defRPr sz="1400"/>
            </a:lvl4pPr>
            <a:lvl5pPr>
              <a:defRPr sz="1400"/>
            </a:lvl5p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 name="Title 1"/>
          <p:cNvSpPr>
            <a:spLocks noGrp="1"/>
          </p:cNvSpPr>
          <p:nvPr>
            <p:ph type="title"/>
          </p:nvPr>
        </p:nvSpPr>
        <p:spPr>
          <a:xfrm>
            <a:off x="237507" y="90489"/>
            <a:ext cx="8443356" cy="788286"/>
          </a:xfrm>
          <a:prstGeom prst="rect">
            <a:avLst/>
          </a:prstGeom>
        </p:spPr>
        <p:txBody>
          <a:bodyPr/>
          <a:lstStyle>
            <a:lvl1pPr>
              <a:defRPr sz="1800">
                <a:latin typeface="Calibri" pitchFamily="34" charset="0"/>
                <a:cs typeface="Calibri" pitchFamily="34" charset="0"/>
              </a:defRPr>
            </a:lvl1pPr>
          </a:lstStyle>
          <a:p>
            <a:r>
              <a:rPr lang="en-GB" noProof="0"/>
              <a:t>Click to edit Master title style</a:t>
            </a:r>
          </a:p>
        </p:txBody>
      </p:sp>
      <p:sp>
        <p:nvSpPr>
          <p:cNvPr id="10" name="Slide Number Placeholder 5"/>
          <p:cNvSpPr txBox="1">
            <a:spLocks/>
          </p:cNvSpPr>
          <p:nvPr userDrawn="1"/>
        </p:nvSpPr>
        <p:spPr bwMode="auto">
          <a:xfrm>
            <a:off x="8680863" y="332510"/>
            <a:ext cx="463138" cy="355354"/>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defPPr>
              <a:defRPr lang="nl-NL"/>
            </a:defPPr>
            <a:lvl1pPr algn="r" rtl="0" fontAlgn="base">
              <a:spcBef>
                <a:spcPct val="0"/>
              </a:spcBef>
              <a:spcAft>
                <a:spcPct val="0"/>
              </a:spcAft>
              <a:defRPr sz="900" kern="1200">
                <a:solidFill>
                  <a:schemeClr val="tx1"/>
                </a:solidFill>
                <a:latin typeface="Verdana" pitchFamily="34" charset="0"/>
                <a:ea typeface="+mn-ea"/>
                <a:cs typeface="Arial" charset="0"/>
              </a:defRPr>
            </a:lvl1pPr>
            <a:lvl2pPr marL="457200" algn="l" rtl="0" fontAlgn="base">
              <a:spcBef>
                <a:spcPct val="0"/>
              </a:spcBef>
              <a:spcAft>
                <a:spcPct val="0"/>
              </a:spcAft>
              <a:defRPr sz="3600" kern="1200">
                <a:solidFill>
                  <a:schemeClr val="tx2"/>
                </a:solidFill>
                <a:latin typeface="Verdana" pitchFamily="34" charset="0"/>
                <a:ea typeface="+mn-ea"/>
                <a:cs typeface="Arial" charset="0"/>
              </a:defRPr>
            </a:lvl2pPr>
            <a:lvl3pPr marL="914400" algn="l" rtl="0" fontAlgn="base">
              <a:spcBef>
                <a:spcPct val="0"/>
              </a:spcBef>
              <a:spcAft>
                <a:spcPct val="0"/>
              </a:spcAft>
              <a:defRPr sz="3600" kern="1200">
                <a:solidFill>
                  <a:schemeClr val="tx2"/>
                </a:solidFill>
                <a:latin typeface="Verdana" pitchFamily="34" charset="0"/>
                <a:ea typeface="+mn-ea"/>
                <a:cs typeface="Arial" charset="0"/>
              </a:defRPr>
            </a:lvl3pPr>
            <a:lvl4pPr marL="1371600" algn="l" rtl="0" fontAlgn="base">
              <a:spcBef>
                <a:spcPct val="0"/>
              </a:spcBef>
              <a:spcAft>
                <a:spcPct val="0"/>
              </a:spcAft>
              <a:defRPr sz="3600" kern="1200">
                <a:solidFill>
                  <a:schemeClr val="tx2"/>
                </a:solidFill>
                <a:latin typeface="Verdana" pitchFamily="34" charset="0"/>
                <a:ea typeface="+mn-ea"/>
                <a:cs typeface="Arial" charset="0"/>
              </a:defRPr>
            </a:lvl4pPr>
            <a:lvl5pPr marL="1828800" algn="l" rtl="0" fontAlgn="base">
              <a:spcBef>
                <a:spcPct val="0"/>
              </a:spcBef>
              <a:spcAft>
                <a:spcPct val="0"/>
              </a:spcAft>
              <a:defRPr sz="3600" kern="1200">
                <a:solidFill>
                  <a:schemeClr val="tx2"/>
                </a:solidFill>
                <a:latin typeface="Verdana" pitchFamily="34" charset="0"/>
                <a:ea typeface="+mn-ea"/>
                <a:cs typeface="Arial" charset="0"/>
              </a:defRPr>
            </a:lvl5pPr>
            <a:lvl6pPr marL="2286000" algn="l" defTabSz="914400" rtl="0" eaLnBrk="1" latinLnBrk="0" hangingPunct="1">
              <a:defRPr sz="3600" kern="1200">
                <a:solidFill>
                  <a:schemeClr val="tx2"/>
                </a:solidFill>
                <a:latin typeface="Verdana" pitchFamily="34" charset="0"/>
                <a:ea typeface="+mn-ea"/>
                <a:cs typeface="Arial" charset="0"/>
              </a:defRPr>
            </a:lvl6pPr>
            <a:lvl7pPr marL="2743200" algn="l" defTabSz="914400" rtl="0" eaLnBrk="1" latinLnBrk="0" hangingPunct="1">
              <a:defRPr sz="3600" kern="1200">
                <a:solidFill>
                  <a:schemeClr val="tx2"/>
                </a:solidFill>
                <a:latin typeface="Verdana" pitchFamily="34" charset="0"/>
                <a:ea typeface="+mn-ea"/>
                <a:cs typeface="Arial" charset="0"/>
              </a:defRPr>
            </a:lvl7pPr>
            <a:lvl8pPr marL="3200400" algn="l" defTabSz="914400" rtl="0" eaLnBrk="1" latinLnBrk="0" hangingPunct="1">
              <a:defRPr sz="3600" kern="1200">
                <a:solidFill>
                  <a:schemeClr val="tx2"/>
                </a:solidFill>
                <a:latin typeface="Verdana" pitchFamily="34" charset="0"/>
                <a:ea typeface="+mn-ea"/>
                <a:cs typeface="Arial" charset="0"/>
              </a:defRPr>
            </a:lvl8pPr>
            <a:lvl9pPr marL="3657600" algn="l" defTabSz="914400" rtl="0" eaLnBrk="1" latinLnBrk="0" hangingPunct="1">
              <a:defRPr sz="3600" kern="1200">
                <a:solidFill>
                  <a:schemeClr val="tx2"/>
                </a:solidFill>
                <a:latin typeface="Verdana" pitchFamily="34" charset="0"/>
                <a:ea typeface="+mn-ea"/>
                <a:cs typeface="Arial" charset="0"/>
              </a:defRPr>
            </a:lvl9pPr>
          </a:lstStyle>
          <a:p>
            <a:pPr algn="ctr">
              <a:defRPr/>
            </a:pPr>
            <a:fld id="{D5F246EE-A698-40F2-9104-E597CE2CF7A1}" type="slidenum">
              <a:rPr lang="nl-NL" smtClean="0"/>
              <a:pPr algn="ctr">
                <a:defRPr/>
              </a:pPr>
              <a:t>‹#›</a:t>
            </a:fld>
            <a:endParaRPr lang="nl-NL" dirty="0"/>
          </a:p>
        </p:txBody>
      </p:sp>
      <p:sp>
        <p:nvSpPr>
          <p:cNvPr id="2" name="Date Placeholder 2">
            <a:extLst>
              <a:ext uri="{FF2B5EF4-FFF2-40B4-BE49-F238E27FC236}">
                <a16:creationId xmlns:a16="http://schemas.microsoft.com/office/drawing/2014/main" id="{7C4CAB3A-39FA-2747-7B69-573468AB2A4B}"/>
              </a:ext>
            </a:extLst>
          </p:cNvPr>
          <p:cNvSpPr>
            <a:spLocks noGrp="1"/>
          </p:cNvSpPr>
          <p:nvPr>
            <p:ph type="dt" sz="half" idx="2"/>
          </p:nvPr>
        </p:nvSpPr>
        <p:spPr>
          <a:xfrm>
            <a:off x="611450" y="6471383"/>
            <a:ext cx="2057400" cy="365125"/>
          </a:xfrm>
          <a:prstGeom prst="rect">
            <a:avLst/>
          </a:prstGeom>
        </p:spPr>
        <p:txBody>
          <a:bodyPr vert="horz" lIns="91440" tIns="45720" rIns="91440" bIns="45720" rtlCol="0" anchor="ctr"/>
          <a:lstStyle>
            <a:lvl1pPr algn="l">
              <a:defRPr lang="en-GB" sz="900" b="1" i="1" kern="1200" smtClean="0">
                <a:solidFill>
                  <a:srgbClr val="002060"/>
                </a:solidFill>
                <a:effectLst>
                  <a:outerShdw blurRad="38100" dist="38100" dir="2700000" algn="tl">
                    <a:srgbClr val="C0C0C0"/>
                  </a:outerShdw>
                </a:effectLst>
                <a:latin typeface="Arial" charset="0"/>
                <a:ea typeface="+mn-ea"/>
                <a:cs typeface="Arial" charset="0"/>
              </a:defRPr>
            </a:lvl1pPr>
          </a:lstStyle>
          <a:p>
            <a:fld id="{29FEFA2C-A1D8-44FC-99FC-2DFF21837F17}"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4" name="Footer Placeholder 3">
            <a:extLst>
              <a:ext uri="{FF2B5EF4-FFF2-40B4-BE49-F238E27FC236}">
                <a16:creationId xmlns:a16="http://schemas.microsoft.com/office/drawing/2014/main" id="{01D8E573-FC86-8724-9D8E-BAC213D106B6}"/>
              </a:ext>
            </a:extLst>
          </p:cNvPr>
          <p:cNvSpPr>
            <a:spLocks noGrp="1"/>
          </p:cNvSpPr>
          <p:nvPr>
            <p:ph type="ftr" sz="quarter" idx="3"/>
          </p:nvPr>
        </p:nvSpPr>
        <p:spPr>
          <a:xfrm>
            <a:off x="2633434" y="6471382"/>
            <a:ext cx="3312460" cy="367086"/>
          </a:xfrm>
          <a:prstGeom prst="rect">
            <a:avLst/>
          </a:prstGeom>
        </p:spPr>
        <p:txBody>
          <a:bodyPr vert="horz" lIns="91440" tIns="45720" rIns="91440" bIns="45720" rtlCol="0" anchor="ctr"/>
          <a:lstStyle>
            <a:lvl1pPr algn="r">
              <a:defRPr sz="1050" b="1" i="1">
                <a:solidFill>
                  <a:srgbClr val="054283"/>
                </a:solidFill>
                <a:latin typeface="Calibri" panose="020F0502020204030204" pitchFamily="34" charset="0"/>
                <a:ea typeface="Calibri" panose="020F0502020204030204" pitchFamily="34" charset="0"/>
                <a:cs typeface="Calibri" panose="020F0502020204030204" pitchFamily="34" charset="0"/>
              </a:defRPr>
            </a:lvl1pPr>
          </a:lstStyle>
          <a:p>
            <a:pPr algn="l"/>
            <a:r>
              <a:rPr lang="en-US" dirty="0"/>
              <a:t>AI-Powered Contract Intelligence</a:t>
            </a:r>
            <a:endParaRPr lang="en-GB" i="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4" name="Rectangle 6"/>
          <p:cNvSpPr>
            <a:spLocks noGrp="1" noChangeArrowheads="1"/>
          </p:cNvSpPr>
          <p:nvPr>
            <p:ph type="sldNum" sz="quarter" idx="12"/>
          </p:nvPr>
        </p:nvSpPr>
        <p:spPr>
          <a:ln/>
        </p:spPr>
        <p:txBody>
          <a:bodyPr/>
          <a:lstStyle>
            <a:lvl1pPr>
              <a:defRPr/>
            </a:lvl1pPr>
          </a:lstStyle>
          <a:p>
            <a:pPr>
              <a:defRPr/>
            </a:pPr>
            <a:fld id="{A14ED451-723F-4E8F-ACC5-3FD132FB63D8}" type="slidenum">
              <a:rPr lang="nl-NL"/>
              <a:pPr>
                <a:defRPr/>
              </a:pPr>
              <a:t>‹#›</a:t>
            </a:fld>
            <a:endParaRPr lang="nl-NL" dirty="0"/>
          </a:p>
        </p:txBody>
      </p:sp>
      <p:sp>
        <p:nvSpPr>
          <p:cNvPr id="2" name="Date Placeholder 2">
            <a:extLst>
              <a:ext uri="{FF2B5EF4-FFF2-40B4-BE49-F238E27FC236}">
                <a16:creationId xmlns:a16="http://schemas.microsoft.com/office/drawing/2014/main" id="{BB66F2CF-7129-31FE-BFCE-801FF0C05A46}"/>
              </a:ext>
            </a:extLst>
          </p:cNvPr>
          <p:cNvSpPr>
            <a:spLocks noGrp="1"/>
          </p:cNvSpPr>
          <p:nvPr>
            <p:ph type="dt" sz="half" idx="2"/>
          </p:nvPr>
        </p:nvSpPr>
        <p:spPr>
          <a:xfrm>
            <a:off x="611450" y="6471383"/>
            <a:ext cx="2057400" cy="365125"/>
          </a:xfrm>
          <a:prstGeom prst="rect">
            <a:avLst/>
          </a:prstGeom>
        </p:spPr>
        <p:txBody>
          <a:bodyPr vert="horz" lIns="91440" tIns="45720" rIns="91440" bIns="45720" rtlCol="0" anchor="ctr"/>
          <a:lstStyle>
            <a:lvl1pPr algn="l">
              <a:defRPr lang="en-GB" sz="900" b="1" i="1" kern="1200" smtClean="0">
                <a:solidFill>
                  <a:srgbClr val="002060"/>
                </a:solidFill>
                <a:effectLst>
                  <a:outerShdw blurRad="38100" dist="38100" dir="2700000" algn="tl">
                    <a:srgbClr val="C0C0C0"/>
                  </a:outerShdw>
                </a:effectLst>
                <a:latin typeface="Arial" charset="0"/>
                <a:ea typeface="+mn-ea"/>
                <a:cs typeface="Arial" charset="0"/>
              </a:defRPr>
            </a:lvl1pPr>
          </a:lstStyle>
          <a:p>
            <a:fld id="{EFB33D0E-A68B-4D87-B671-CC4CFCFC675B}"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3" name="Footer Placeholder 3">
            <a:extLst>
              <a:ext uri="{FF2B5EF4-FFF2-40B4-BE49-F238E27FC236}">
                <a16:creationId xmlns:a16="http://schemas.microsoft.com/office/drawing/2014/main" id="{AF210C9C-B759-7907-1223-B0FA597186C0}"/>
              </a:ext>
            </a:extLst>
          </p:cNvPr>
          <p:cNvSpPr>
            <a:spLocks noGrp="1"/>
          </p:cNvSpPr>
          <p:nvPr>
            <p:ph type="ftr" sz="quarter" idx="3"/>
          </p:nvPr>
        </p:nvSpPr>
        <p:spPr>
          <a:xfrm>
            <a:off x="2633434" y="6471382"/>
            <a:ext cx="3312460" cy="367086"/>
          </a:xfrm>
          <a:prstGeom prst="rect">
            <a:avLst/>
          </a:prstGeom>
        </p:spPr>
        <p:txBody>
          <a:bodyPr vert="horz" lIns="91440" tIns="45720" rIns="91440" bIns="45720" rtlCol="0" anchor="ctr"/>
          <a:lstStyle>
            <a:lvl1pPr algn="r">
              <a:defRPr sz="1050" b="1" i="1">
                <a:solidFill>
                  <a:srgbClr val="054283"/>
                </a:solidFill>
                <a:latin typeface="Calibri" panose="020F0502020204030204" pitchFamily="34" charset="0"/>
                <a:ea typeface="Calibri" panose="020F0502020204030204" pitchFamily="34" charset="0"/>
                <a:cs typeface="Calibri" panose="020F0502020204030204" pitchFamily="34" charset="0"/>
              </a:defRPr>
            </a:lvl1pPr>
          </a:lstStyle>
          <a:p>
            <a:pPr algn="l"/>
            <a:r>
              <a:rPr lang="en-US" dirty="0"/>
              <a:t>AI-Powered Contract Intelligence</a:t>
            </a:r>
            <a:endParaRPr lang="en-GB" i="1" dirty="0"/>
          </a:p>
        </p:txBody>
      </p:sp>
    </p:spTree>
    <p:extLst>
      <p:ext uri="{BB962C8B-B14F-4D97-AF65-F5344CB8AC3E}">
        <p14:creationId xmlns:p14="http://schemas.microsoft.com/office/powerpoint/2010/main" val="2169962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67895" y="1376413"/>
            <a:ext cx="2876095" cy="2697480"/>
          </a:xfrm>
        </p:spPr>
        <p:txBody>
          <a:bodyPr vert="horz" lIns="91440" tIns="45720" rIns="91440" bIns="45720" rtlCol="0" anchor="b">
            <a:normAutofit/>
          </a:bodyPr>
          <a:lstStyle>
            <a:lvl1pPr>
              <a:defRPr lang="en-US" sz="27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67895" y="4073893"/>
            <a:ext cx="2699408" cy="1162250"/>
          </a:xfrm>
        </p:spPr>
        <p:txBody>
          <a:bodyPr vert="horz" lIns="91440" tIns="45720" rIns="91440" bIns="45720" rtlCol="0" anchor="ctr">
            <a:normAutofit/>
          </a:bodyPr>
          <a:lstStyle>
            <a:lvl1pPr marL="0" indent="0">
              <a:lnSpc>
                <a:spcPct val="100000"/>
              </a:lnSpc>
              <a:buNone/>
              <a:defRPr lang="en-US" sz="1200" dirty="0"/>
            </a:lvl1pPr>
          </a:lstStyle>
          <a:p>
            <a:pPr lvl="0"/>
            <a:r>
              <a:rPr lang="en-US"/>
              <a:t>Click to edit Master subtitle style</a:t>
            </a:r>
          </a:p>
        </p:txBody>
      </p:sp>
      <p:sp>
        <p:nvSpPr>
          <p:cNvPr id="8" name="Picture Placeholder 10">
            <a:extLst>
              <a:ext uri="{FF2B5EF4-FFF2-40B4-BE49-F238E27FC236}">
                <a16:creationId xmlns:a16="http://schemas.microsoft.com/office/drawing/2014/main" id="{51CC2D7F-4DE5-3D21-470F-8B959A5C44D8}"/>
              </a:ext>
            </a:extLst>
          </p:cNvPr>
          <p:cNvSpPr>
            <a:spLocks noGrp="1"/>
          </p:cNvSpPr>
          <p:nvPr>
            <p:ph type="pic" sz="quarter" idx="13" hasCustomPrompt="1"/>
          </p:nvPr>
        </p:nvSpPr>
        <p:spPr>
          <a:xfrm>
            <a:off x="0" y="0"/>
            <a:ext cx="5455802" cy="6096000"/>
          </a:xfrm>
          <a:custGeom>
            <a:avLst/>
            <a:gdLst>
              <a:gd name="connsiteX0" fmla="*/ 0 w 7274402"/>
              <a:gd name="connsiteY0" fmla="*/ 0 h 6096000"/>
              <a:gd name="connsiteX1" fmla="*/ 7274402 w 7274402"/>
              <a:gd name="connsiteY1" fmla="*/ 0 h 6096000"/>
              <a:gd name="connsiteX2" fmla="*/ 7274402 w 7274402"/>
              <a:gd name="connsiteY2" fmla="*/ 5598011 h 6096000"/>
              <a:gd name="connsiteX3" fmla="*/ 6779450 w 7274402"/>
              <a:gd name="connsiteY3" fmla="*/ 6096000 h 6096000"/>
              <a:gd name="connsiteX4" fmla="*/ 0 w 7274402"/>
              <a:gd name="connsiteY4" fmla="*/ 609600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4402" h="6096000">
                <a:moveTo>
                  <a:pt x="0" y="0"/>
                </a:moveTo>
                <a:lnTo>
                  <a:pt x="7274402" y="0"/>
                </a:lnTo>
                <a:lnTo>
                  <a:pt x="7274402" y="5598011"/>
                </a:lnTo>
                <a:cubicBezTo>
                  <a:pt x="7274402" y="5873043"/>
                  <a:pt x="7052804" y="6096000"/>
                  <a:pt x="6779450" y="6096000"/>
                </a:cubicBezTo>
                <a:lnTo>
                  <a:pt x="0" y="6096000"/>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AI-Powered Contract Intelligence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8CE6AB9D-FE38-4E15-BFFE-6BFC2B9EDC2B}" type="datetime1">
              <a:rPr lang="nl-NL" smtClean="0"/>
              <a:t>19-4-2026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235F31FF-4816-4A7C-BAEE-4B5C41A91EB1}" type="slidenum">
              <a:rPr lang="en-US" smtClean="0"/>
              <a:t>‹#›</a:t>
            </a:fld>
            <a:endParaRPr lang="en-US"/>
          </a:p>
        </p:txBody>
      </p:sp>
    </p:spTree>
    <p:extLst>
      <p:ext uri="{BB962C8B-B14F-4D97-AF65-F5344CB8AC3E}">
        <p14:creationId xmlns:p14="http://schemas.microsoft.com/office/powerpoint/2010/main" val="1246504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76072" y="822960"/>
            <a:ext cx="5397246" cy="1068324"/>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6072" y="1996440"/>
            <a:ext cx="5397246" cy="4099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79068" y="6329172"/>
            <a:ext cx="2112626" cy="338328"/>
          </a:xfrm>
        </p:spPr>
        <p:txBody>
          <a:bodyPr/>
          <a:lstStyle>
            <a:lvl1pPr>
              <a:defRPr>
                <a:solidFill>
                  <a:schemeClr val="tx1"/>
                </a:solidFill>
                <a:effectLst/>
              </a:defRPr>
            </a:lvl1pPr>
          </a:lstStyle>
          <a:p>
            <a:r>
              <a:rPr lang="en-US"/>
              <a:t>AI-Powered Contract Intelligence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730578" y="6329172"/>
            <a:ext cx="1995678" cy="338328"/>
          </a:xfrm>
        </p:spPr>
        <p:txBody>
          <a:bodyPr/>
          <a:lstStyle/>
          <a:p>
            <a:fld id="{39C7C2FC-AAE0-48C9-9E74-D20EE973A5EB}" type="datetime1">
              <a:rPr lang="nl-NL" smtClean="0"/>
              <a:t>19-4-2026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857377" y="6329172"/>
            <a:ext cx="342900" cy="338328"/>
          </a:xfrm>
        </p:spPr>
        <p:txBody>
          <a:bodyPr/>
          <a:lstStyle>
            <a:lvl1pPr>
              <a:defRPr>
                <a:solidFill>
                  <a:schemeClr val="tx1"/>
                </a:solidFill>
                <a:effectLst/>
              </a:defRPr>
            </a:lvl1pPr>
          </a:lstStyle>
          <a:p>
            <a:fld id="{235F31FF-4816-4A7C-BAEE-4B5C41A91EB1}" type="slidenum">
              <a:rPr lang="en-US" smtClean="0"/>
              <a:t>‹#›</a:t>
            </a:fld>
            <a:endParaRPr lang="en-US"/>
          </a:p>
        </p:txBody>
      </p:sp>
      <p:sp>
        <p:nvSpPr>
          <p:cNvPr id="11" name="Picture Placeholder 10">
            <a:extLst>
              <a:ext uri="{FF2B5EF4-FFF2-40B4-BE49-F238E27FC236}">
                <a16:creationId xmlns:a16="http://schemas.microsoft.com/office/drawing/2014/main" id="{8BBFAFCD-BCC9-C2BB-355B-1D08B9A7708D}"/>
              </a:ext>
            </a:extLst>
          </p:cNvPr>
          <p:cNvSpPr>
            <a:spLocks noGrp="1"/>
          </p:cNvSpPr>
          <p:nvPr>
            <p:ph type="pic" sz="quarter" idx="15" hasCustomPrompt="1"/>
          </p:nvPr>
        </p:nvSpPr>
        <p:spPr>
          <a:xfrm>
            <a:off x="6524239" y="758461"/>
            <a:ext cx="2619761" cy="6099541"/>
          </a:xfrm>
          <a:custGeom>
            <a:avLst/>
            <a:gdLst>
              <a:gd name="connsiteX0" fmla="*/ 501522 w 3493014"/>
              <a:gd name="connsiteY0" fmla="*/ 0 h 6099541"/>
              <a:gd name="connsiteX1" fmla="*/ 3493014 w 3493014"/>
              <a:gd name="connsiteY1" fmla="*/ 0 h 6099541"/>
              <a:gd name="connsiteX2" fmla="*/ 3493014 w 3493014"/>
              <a:gd name="connsiteY2" fmla="*/ 6099541 h 6099541"/>
              <a:gd name="connsiteX3" fmla="*/ 0 w 3493014"/>
              <a:gd name="connsiteY3" fmla="*/ 6099541 h 6099541"/>
              <a:gd name="connsiteX4" fmla="*/ 0 w 3493014"/>
              <a:gd name="connsiteY4" fmla="*/ 501522 h 6099541"/>
              <a:gd name="connsiteX5" fmla="*/ 501522 w 3493014"/>
              <a:gd name="connsiteY5" fmla="*/ 0 h 609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3014" h="6099541">
                <a:moveTo>
                  <a:pt x="501522" y="0"/>
                </a:moveTo>
                <a:lnTo>
                  <a:pt x="3493014" y="0"/>
                </a:lnTo>
                <a:lnTo>
                  <a:pt x="3493014" y="6099541"/>
                </a:lnTo>
                <a:lnTo>
                  <a:pt x="0" y="6099541"/>
                </a:lnTo>
                <a:lnTo>
                  <a:pt x="0" y="501522"/>
                </a:lnTo>
                <a:cubicBezTo>
                  <a:pt x="0" y="224539"/>
                  <a:pt x="224539" y="0"/>
                  <a:pt x="50152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799888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Content with Picture 8">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636417" y="512011"/>
            <a:ext cx="5094052" cy="1259920"/>
          </a:xfrm>
        </p:spPr>
        <p:txBody>
          <a:bodyPr anchor="b"/>
          <a:lstStyle/>
          <a:p>
            <a:r>
              <a:rPr lang="en-US"/>
              <a:t>Click to edit Master title style</a:t>
            </a:r>
          </a:p>
        </p:txBody>
      </p:sp>
      <p:sp>
        <p:nvSpPr>
          <p:cNvPr id="10" name="Picture Placeholder 8">
            <a:extLst>
              <a:ext uri="{FF2B5EF4-FFF2-40B4-BE49-F238E27FC236}">
                <a16:creationId xmlns:a16="http://schemas.microsoft.com/office/drawing/2014/main" id="{29A161C3-930A-50CE-D3B8-C1429E6F2422}"/>
              </a:ext>
            </a:extLst>
          </p:cNvPr>
          <p:cNvSpPr>
            <a:spLocks noGrp="1"/>
          </p:cNvSpPr>
          <p:nvPr>
            <p:ph type="pic" sz="quarter" idx="13" hasCustomPrompt="1"/>
          </p:nvPr>
        </p:nvSpPr>
        <p:spPr>
          <a:xfrm>
            <a:off x="400050" y="533400"/>
            <a:ext cx="2914650" cy="5791201"/>
          </a:xfrm>
          <a:blipFill dpi="0" rotWithShape="1">
            <a:blip r:embed="rId2">
              <a:alphaModFix amt="70000"/>
            </a:blip>
            <a:srcRect/>
            <a:stretch>
              <a:fillRect/>
            </a:stretch>
          </a:blipFill>
          <a:effectLst>
            <a:outerShdw blurRad="203200" dist="12700" dir="7800000" algn="r" rotWithShape="0">
              <a:prstClr val="black">
                <a:alpha val="10000"/>
              </a:prstClr>
            </a:outerShdw>
          </a:effectLst>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26143" y="6426092"/>
            <a:ext cx="3102857" cy="365125"/>
          </a:xfrm>
        </p:spPr>
        <p:txBody>
          <a:bodyPr/>
          <a:lstStyle/>
          <a:p>
            <a:r>
              <a:rPr lang="en-US"/>
              <a:t>Sample 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636417" y="2148840"/>
            <a:ext cx="5094052" cy="4162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p:txBody>
          <a:bodyPr/>
          <a:lstStyle/>
          <a:p>
            <a:fld id="{5BCB8B90-98AD-44EA-88CB-87E0482D47C5}" type="datetime1">
              <a:rPr lang="en-US" smtClean="0"/>
              <a:t>4/19/2026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DD84031F-D6BF-4677-B12E-7D8B88BA70F7}" type="slidenum">
              <a:rPr lang="en-US" smtClean="0"/>
              <a:t>‹#›</a:t>
            </a:fld>
            <a:endParaRPr lang="en-US"/>
          </a:p>
        </p:txBody>
      </p:sp>
      <p:cxnSp>
        <p:nvCxnSpPr>
          <p:cNvPr id="7" name="Straight Connector 6">
            <a:extLst>
              <a:ext uri="{FF2B5EF4-FFF2-40B4-BE49-F238E27FC236}">
                <a16:creationId xmlns:a16="http://schemas.microsoft.com/office/drawing/2014/main" id="{789C51D6-8120-DE83-0A77-B4C479640664}"/>
              </a:ext>
            </a:extLst>
          </p:cNvPr>
          <p:cNvCxnSpPr>
            <a:cxnSpLocks/>
          </p:cNvCxnSpPr>
          <p:nvPr/>
        </p:nvCxnSpPr>
        <p:spPr>
          <a:xfrm>
            <a:off x="3714750" y="1892587"/>
            <a:ext cx="5029200" cy="0"/>
          </a:xfrm>
          <a:prstGeom prst="line">
            <a:avLst/>
          </a:prstGeom>
          <a:ln w="9525">
            <a:solidFill>
              <a:schemeClr val="tx1">
                <a:alpha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635042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0" name="Rectangle 6"/>
          <p:cNvSpPr>
            <a:spLocks noGrp="1" noChangeArrowheads="1"/>
          </p:cNvSpPr>
          <p:nvPr>
            <p:ph type="sldNum" sz="quarter" idx="4"/>
          </p:nvPr>
        </p:nvSpPr>
        <p:spPr bwMode="auto">
          <a:xfrm>
            <a:off x="8692737" y="320634"/>
            <a:ext cx="449287" cy="451262"/>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tx1"/>
                </a:solidFill>
                <a:cs typeface="Arial" charset="0"/>
              </a:defRPr>
            </a:lvl1pPr>
          </a:lstStyle>
          <a:p>
            <a:pPr>
              <a:defRPr/>
            </a:pPr>
            <a:fld id="{6D293EA2-E07A-4E5F-B86E-DC3D3FFD0AED}" type="slidenum">
              <a:rPr lang="nl-NL" smtClean="0"/>
              <a:pPr>
                <a:defRPr/>
              </a:pPr>
              <a:t>‹#›</a:t>
            </a:fld>
            <a:endParaRPr lang="nl-NL" dirty="0"/>
          </a:p>
        </p:txBody>
      </p:sp>
      <p:sp>
        <p:nvSpPr>
          <p:cNvPr id="1033" name="Text Box 9"/>
          <p:cNvSpPr txBox="1">
            <a:spLocks noChangeArrowheads="1"/>
          </p:cNvSpPr>
          <p:nvPr/>
        </p:nvSpPr>
        <p:spPr bwMode="auto">
          <a:xfrm>
            <a:off x="3995738" y="3500438"/>
            <a:ext cx="1368425" cy="366712"/>
          </a:xfrm>
          <a:prstGeom prst="rect">
            <a:avLst/>
          </a:prstGeom>
          <a:noFill/>
          <a:ln w="9525">
            <a:noFill/>
            <a:miter lim="800000"/>
            <a:headEnd/>
            <a:tailEnd/>
          </a:ln>
          <a:effectLst/>
        </p:spPr>
        <p:txBody>
          <a:bodyPr>
            <a:spAutoFit/>
          </a:bodyPr>
          <a:lstStyle/>
          <a:p>
            <a:pPr>
              <a:spcBef>
                <a:spcPct val="50000"/>
              </a:spcBef>
              <a:defRPr/>
            </a:pPr>
            <a:endParaRPr lang="nl-NL" sz="1800" dirty="0">
              <a:solidFill>
                <a:schemeClr val="tx1"/>
              </a:solidFill>
              <a:latin typeface="Arial" charset="0"/>
            </a:endParaRPr>
          </a:p>
        </p:txBody>
      </p:sp>
      <p:cxnSp>
        <p:nvCxnSpPr>
          <p:cNvPr id="12" name="Straight Connector 11"/>
          <p:cNvCxnSpPr/>
          <p:nvPr/>
        </p:nvCxnSpPr>
        <p:spPr bwMode="auto">
          <a:xfrm>
            <a:off x="-1975" y="987466"/>
            <a:ext cx="9144000" cy="1588"/>
          </a:xfrm>
          <a:prstGeom prst="line">
            <a:avLst/>
          </a:prstGeom>
          <a:ln>
            <a:solidFill>
              <a:srgbClr val="054283"/>
            </a:solidFill>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p:nvPr/>
        </p:nvCxnSpPr>
        <p:spPr bwMode="auto">
          <a:xfrm>
            <a:off x="-1975" y="6305500"/>
            <a:ext cx="9144000" cy="1588"/>
          </a:xfrm>
          <a:prstGeom prst="line">
            <a:avLst/>
          </a:prstGeom>
          <a:ln>
            <a:solidFill>
              <a:srgbClr val="054283"/>
            </a:solidFill>
          </a:ln>
        </p:spPr>
        <p:style>
          <a:lnRef idx="2">
            <a:schemeClr val="accent2"/>
          </a:lnRef>
          <a:fillRef idx="0">
            <a:schemeClr val="accent2"/>
          </a:fillRef>
          <a:effectRef idx="1">
            <a:schemeClr val="accent2"/>
          </a:effectRef>
          <a:fontRef idx="minor">
            <a:schemeClr val="tx1"/>
          </a:fontRef>
        </p:style>
      </p:cxnSp>
      <p:pic>
        <p:nvPicPr>
          <p:cNvPr id="5" name="Picture 4">
            <a:extLst>
              <a:ext uri="{FF2B5EF4-FFF2-40B4-BE49-F238E27FC236}">
                <a16:creationId xmlns:a16="http://schemas.microsoft.com/office/drawing/2014/main" id="{4795E455-D27E-255F-D619-B122967D1443}"/>
              </a:ext>
            </a:extLst>
          </p:cNvPr>
          <p:cNvPicPr>
            <a:picLocks noChangeAspect="1"/>
          </p:cNvPicPr>
          <p:nvPr userDrawn="1"/>
        </p:nvPicPr>
        <p:blipFill>
          <a:blip r:embed="rId8"/>
          <a:stretch>
            <a:fillRect/>
          </a:stretch>
        </p:blipFill>
        <p:spPr>
          <a:xfrm>
            <a:off x="7036715" y="6358340"/>
            <a:ext cx="1927895" cy="594386"/>
          </a:xfrm>
          <a:prstGeom prst="rect">
            <a:avLst/>
          </a:prstGeom>
        </p:spPr>
      </p:pic>
      <p:sp>
        <p:nvSpPr>
          <p:cNvPr id="7" name="Date Placeholder 6">
            <a:extLst>
              <a:ext uri="{FF2B5EF4-FFF2-40B4-BE49-F238E27FC236}">
                <a16:creationId xmlns:a16="http://schemas.microsoft.com/office/drawing/2014/main" id="{C2A50FDB-8747-A252-1AF6-400250B5B244}"/>
              </a:ext>
            </a:extLst>
          </p:cNvPr>
          <p:cNvSpPr>
            <a:spLocks noGrp="1"/>
          </p:cNvSpPr>
          <p:nvPr>
            <p:ph type="dt" sz="half" idx="2"/>
          </p:nvPr>
        </p:nvSpPr>
        <p:spPr>
          <a:xfrm>
            <a:off x="570330" y="6471382"/>
            <a:ext cx="2057400" cy="367086"/>
          </a:xfrm>
          <a:prstGeom prst="rect">
            <a:avLst/>
          </a:prstGeom>
        </p:spPr>
        <p:txBody>
          <a:bodyPr vert="horz" lIns="91440" tIns="45720" rIns="91440" bIns="45720" rtlCol="0" anchor="ctr"/>
          <a:lstStyle>
            <a:lvl1pPr algn="l">
              <a:defRPr lang="en-GB" sz="1100" b="0" i="1" kern="1200" smtClean="0">
                <a:solidFill>
                  <a:srgbClr val="002060"/>
                </a:solidFill>
                <a:effectLst>
                  <a:outerShdw blurRad="38100" dist="38100" dir="2700000" algn="tl">
                    <a:srgbClr val="C0C0C0"/>
                  </a:outerShdw>
                </a:effectLst>
                <a:latin typeface="Arial" charset="0"/>
                <a:ea typeface="+mn-ea"/>
                <a:cs typeface="Arial" charset="0"/>
              </a:defRPr>
            </a:lvl1pPr>
          </a:lstStyle>
          <a:p>
            <a:fld id="{53A29AE9-95CD-45E5-9306-986216C8373E}" type="datetime1">
              <a:rPr lang="nl-NL" smtClean="0"/>
              <a:t>19-4-2026</a:t>
            </a:fld>
            <a:endParaRPr lang="en-GB" sz="1100" b="0"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11" name="Footer Placeholder 3">
            <a:extLst>
              <a:ext uri="{FF2B5EF4-FFF2-40B4-BE49-F238E27FC236}">
                <a16:creationId xmlns:a16="http://schemas.microsoft.com/office/drawing/2014/main" id="{1127F3ED-76A8-4A2A-8A7F-4115903DA103}"/>
              </a:ext>
            </a:extLst>
          </p:cNvPr>
          <p:cNvSpPr>
            <a:spLocks noGrp="1"/>
          </p:cNvSpPr>
          <p:nvPr>
            <p:ph type="ftr" sz="quarter" idx="3"/>
          </p:nvPr>
        </p:nvSpPr>
        <p:spPr>
          <a:xfrm>
            <a:off x="2633434" y="6471382"/>
            <a:ext cx="3312460" cy="367086"/>
          </a:xfrm>
          <a:prstGeom prst="rect">
            <a:avLst/>
          </a:prstGeom>
        </p:spPr>
        <p:txBody>
          <a:bodyPr vert="horz" lIns="91440" tIns="45720" rIns="91440" bIns="45720" rtlCol="0" anchor="ctr"/>
          <a:lstStyle>
            <a:lvl1pPr algn="r">
              <a:defRPr sz="1050" b="1" i="1">
                <a:solidFill>
                  <a:srgbClr val="054283"/>
                </a:solidFill>
                <a:latin typeface="Calibri" panose="020F0502020204030204" pitchFamily="34" charset="0"/>
                <a:ea typeface="Calibri" panose="020F0502020204030204" pitchFamily="34" charset="0"/>
                <a:cs typeface="Calibri" panose="020F0502020204030204" pitchFamily="34" charset="0"/>
              </a:defRPr>
            </a:lvl1pPr>
          </a:lstStyle>
          <a:p>
            <a:pPr algn="l"/>
            <a:r>
              <a:rPr lang="en-US" dirty="0"/>
              <a:t>AI-Powered Contract Intelligence</a:t>
            </a:r>
            <a:endParaRPr lang="en-GB" i="1"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Lst>
  <p:hf sldNum="0" hdr="0"/>
  <p:txStyles>
    <p:titleStyle>
      <a:lvl1pPr algn="ctr" rtl="0" eaLnBrk="0" fontAlgn="base" hangingPunct="0">
        <a:spcBef>
          <a:spcPct val="0"/>
        </a:spcBef>
        <a:spcAft>
          <a:spcPct val="0"/>
        </a:spcAft>
        <a:defRPr sz="1800">
          <a:solidFill>
            <a:schemeClr val="tx2"/>
          </a:solidFill>
          <a:latin typeface="Calibri" pitchFamily="34" charset="0"/>
          <a:ea typeface="+mj-ea"/>
          <a:cs typeface="Calibri" pitchFamily="34" charset="0"/>
        </a:defRPr>
      </a:lvl1pPr>
      <a:lvl2pPr algn="ctr" rtl="0" eaLnBrk="0" fontAlgn="base" hangingPunct="0">
        <a:spcBef>
          <a:spcPct val="0"/>
        </a:spcBef>
        <a:spcAft>
          <a:spcPct val="0"/>
        </a:spcAft>
        <a:defRPr sz="2400">
          <a:solidFill>
            <a:schemeClr val="tx2"/>
          </a:solidFill>
          <a:latin typeface="Verdana" pitchFamily="34" charset="0"/>
          <a:cs typeface="Arial" charset="0"/>
        </a:defRPr>
      </a:lvl2pPr>
      <a:lvl3pPr algn="ctr" rtl="0" eaLnBrk="0" fontAlgn="base" hangingPunct="0">
        <a:spcBef>
          <a:spcPct val="0"/>
        </a:spcBef>
        <a:spcAft>
          <a:spcPct val="0"/>
        </a:spcAft>
        <a:defRPr sz="2400">
          <a:solidFill>
            <a:schemeClr val="tx2"/>
          </a:solidFill>
          <a:latin typeface="Verdana" pitchFamily="34" charset="0"/>
          <a:cs typeface="Arial" charset="0"/>
        </a:defRPr>
      </a:lvl3pPr>
      <a:lvl4pPr algn="ctr" rtl="0" eaLnBrk="0" fontAlgn="base" hangingPunct="0">
        <a:spcBef>
          <a:spcPct val="0"/>
        </a:spcBef>
        <a:spcAft>
          <a:spcPct val="0"/>
        </a:spcAft>
        <a:defRPr sz="2400">
          <a:solidFill>
            <a:schemeClr val="tx2"/>
          </a:solidFill>
          <a:latin typeface="Verdana" pitchFamily="34" charset="0"/>
          <a:cs typeface="Arial" charset="0"/>
        </a:defRPr>
      </a:lvl4pPr>
      <a:lvl5pPr algn="ctr" rtl="0" eaLnBrk="0" fontAlgn="base" hangingPunct="0">
        <a:spcBef>
          <a:spcPct val="0"/>
        </a:spcBef>
        <a:spcAft>
          <a:spcPct val="0"/>
        </a:spcAft>
        <a:defRPr sz="2400">
          <a:solidFill>
            <a:schemeClr val="tx2"/>
          </a:solidFill>
          <a:latin typeface="Verdana" pitchFamily="34" charset="0"/>
          <a:cs typeface="Arial" charset="0"/>
        </a:defRPr>
      </a:lvl5pPr>
      <a:lvl6pPr marL="457200" algn="ctr" rtl="0" fontAlgn="base">
        <a:spcBef>
          <a:spcPct val="0"/>
        </a:spcBef>
        <a:spcAft>
          <a:spcPct val="0"/>
        </a:spcAft>
        <a:defRPr sz="4000">
          <a:solidFill>
            <a:schemeClr val="tx2"/>
          </a:solidFill>
          <a:latin typeface="Verdana" pitchFamily="34" charset="0"/>
          <a:cs typeface="Arial" charset="0"/>
        </a:defRPr>
      </a:lvl6pPr>
      <a:lvl7pPr marL="914400" algn="ctr" rtl="0" fontAlgn="base">
        <a:spcBef>
          <a:spcPct val="0"/>
        </a:spcBef>
        <a:spcAft>
          <a:spcPct val="0"/>
        </a:spcAft>
        <a:defRPr sz="4000">
          <a:solidFill>
            <a:schemeClr val="tx2"/>
          </a:solidFill>
          <a:latin typeface="Verdana" pitchFamily="34" charset="0"/>
          <a:cs typeface="Arial" charset="0"/>
        </a:defRPr>
      </a:lvl7pPr>
      <a:lvl8pPr marL="1371600" algn="ctr" rtl="0" fontAlgn="base">
        <a:spcBef>
          <a:spcPct val="0"/>
        </a:spcBef>
        <a:spcAft>
          <a:spcPct val="0"/>
        </a:spcAft>
        <a:defRPr sz="4000">
          <a:solidFill>
            <a:schemeClr val="tx2"/>
          </a:solidFill>
          <a:latin typeface="Verdana" pitchFamily="34" charset="0"/>
          <a:cs typeface="Arial" charset="0"/>
        </a:defRPr>
      </a:lvl8pPr>
      <a:lvl9pPr marL="1828800" algn="ctr" rtl="0" fontAlgn="base">
        <a:spcBef>
          <a:spcPct val="0"/>
        </a:spcBef>
        <a:spcAft>
          <a:spcPct val="0"/>
        </a:spcAft>
        <a:defRPr sz="4000">
          <a:solidFill>
            <a:schemeClr val="tx2"/>
          </a:solidFill>
          <a:latin typeface="Verdana" pitchFamily="34" charset="0"/>
          <a:cs typeface="Arial" charset="0"/>
        </a:defRPr>
      </a:lvl9pPr>
    </p:titleStyle>
    <p:bodyStyle>
      <a:lvl1pPr marL="342900" indent="-342900" algn="l" rtl="0" eaLnBrk="0" fontAlgn="base" hangingPunct="0">
        <a:spcBef>
          <a:spcPct val="20000"/>
        </a:spcBef>
        <a:spcAft>
          <a:spcPct val="0"/>
        </a:spcAft>
        <a:buChar char="•"/>
        <a:defRPr sz="1800">
          <a:solidFill>
            <a:schemeClr val="tx1"/>
          </a:solidFill>
          <a:latin typeface="Calibri" pitchFamily="34" charset="0"/>
          <a:ea typeface="+mn-ea"/>
          <a:cs typeface="Calibri" pitchFamily="34" charset="0"/>
        </a:defRPr>
      </a:lvl1pPr>
      <a:lvl2pPr marL="742950" indent="-285750" algn="l" rtl="0" eaLnBrk="0" fontAlgn="base" hangingPunct="0">
        <a:spcBef>
          <a:spcPct val="20000"/>
        </a:spcBef>
        <a:spcAft>
          <a:spcPct val="0"/>
        </a:spcAft>
        <a:buChar char="–"/>
        <a:defRPr sz="1600">
          <a:solidFill>
            <a:schemeClr val="tx1"/>
          </a:solidFill>
          <a:latin typeface="Calibri" pitchFamily="34" charset="0"/>
          <a:cs typeface="Calibri" pitchFamily="34" charset="0"/>
        </a:defRPr>
      </a:lvl2pPr>
      <a:lvl3pPr marL="1143000" indent="-228600" algn="l" rtl="0" eaLnBrk="0" fontAlgn="base" hangingPunct="0">
        <a:spcBef>
          <a:spcPct val="20000"/>
        </a:spcBef>
        <a:spcAft>
          <a:spcPct val="0"/>
        </a:spcAft>
        <a:buChar char="•"/>
        <a:defRPr sz="1400">
          <a:solidFill>
            <a:schemeClr val="tx1"/>
          </a:solidFill>
          <a:latin typeface="Calibri" pitchFamily="34" charset="0"/>
          <a:cs typeface="Calibri" pitchFamily="34" charset="0"/>
        </a:defRPr>
      </a:lvl3pPr>
      <a:lvl4pPr marL="1600200" indent="-228600" algn="l" rtl="0" eaLnBrk="0" fontAlgn="base" hangingPunct="0">
        <a:spcBef>
          <a:spcPct val="20000"/>
        </a:spcBef>
        <a:spcAft>
          <a:spcPct val="0"/>
        </a:spcAft>
        <a:buChar char="–"/>
        <a:defRPr sz="1200">
          <a:solidFill>
            <a:schemeClr val="tx1"/>
          </a:solidFill>
          <a:latin typeface="Calibri" pitchFamily="34" charset="0"/>
          <a:cs typeface="Calibri" pitchFamily="34" charset="0"/>
        </a:defRPr>
      </a:lvl4pPr>
      <a:lvl5pPr marL="2057400" indent="-228600" algn="l" rtl="0" eaLnBrk="0" fontAlgn="base" hangingPunct="0">
        <a:spcBef>
          <a:spcPct val="20000"/>
        </a:spcBef>
        <a:spcAft>
          <a:spcPct val="0"/>
        </a:spcAft>
        <a:buChar char="»"/>
        <a:defRPr sz="1200">
          <a:solidFill>
            <a:schemeClr val="tx1"/>
          </a:solidFill>
          <a:latin typeface="Calibri" pitchFamily="34" charset="0"/>
          <a:cs typeface="Calibri" pitchFamily="34" charset="0"/>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hyperlink" Target="https://pixabay.com/illustrations/big-data-database-to-stock-data-2103091/" TargetMode="External"/><Relationship Id="rId5" Type="http://schemas.openxmlformats.org/officeDocument/2006/relationships/diagramQuickStyle" Target="../diagrams/quickStyle1.xml"/><Relationship Id="rId10" Type="http://schemas.openxmlformats.org/officeDocument/2006/relationships/image" Target="../media/image10.png"/><Relationship Id="rId4" Type="http://schemas.openxmlformats.org/officeDocument/2006/relationships/diagramLayout" Target="../diagrams/layout1.xml"/><Relationship Id="rId9" Type="http://schemas.openxmlformats.org/officeDocument/2006/relationships/hyperlink" Target="https://newbycoachlive.wordpress.com/2017/08/14/why-contract-in-coaching/"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52.21.204.211/login"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Steven.Visser@"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8.jpg"/><Relationship Id="rId4" Type="http://schemas.openxmlformats.org/officeDocument/2006/relationships/hyperlink" Target="http://www.evaluetor.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diy.open.ubc.ca/category/time-committment/" TargetMode="External"/><Relationship Id="rId3" Type="http://schemas.openxmlformats.org/officeDocument/2006/relationships/image" Target="../media/image9.jpg"/><Relationship Id="rId7" Type="http://schemas.openxmlformats.org/officeDocument/2006/relationships/image" Target="../media/image18.jpg"/><Relationship Id="rId2" Type="http://schemas.openxmlformats.org/officeDocument/2006/relationships/image" Target="../media/image16.gif"/><Relationship Id="rId1" Type="http://schemas.openxmlformats.org/officeDocument/2006/relationships/slideLayout" Target="../slideLayouts/slideLayout2.xml"/><Relationship Id="rId6" Type="http://schemas.openxmlformats.org/officeDocument/2006/relationships/hyperlink" Target="https://pxhere.com/en/photo/1519229" TargetMode="External"/><Relationship Id="rId5" Type="http://schemas.openxmlformats.org/officeDocument/2006/relationships/image" Target="../media/image17.jpg"/><Relationship Id="rId10" Type="http://schemas.openxmlformats.org/officeDocument/2006/relationships/hyperlink" Target="https://www.pexels.com/photo/people-in-a-meeting-1367274/" TargetMode="External"/><Relationship Id="rId4" Type="http://schemas.openxmlformats.org/officeDocument/2006/relationships/hyperlink" Target="https://newbycoachlive.wordpress.com/2017/08/14/why-contract-in-coaching/" TargetMode="External"/><Relationship Id="rId9"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BC1ABB72-3AC5-8AB7-E751-1D2D6269B92E}"/>
              </a:ext>
            </a:extLst>
          </p:cNvPr>
          <p:cNvSpPr/>
          <p:nvPr/>
        </p:nvSpPr>
        <p:spPr>
          <a:xfrm>
            <a:off x="5825786" y="1766932"/>
            <a:ext cx="3197639" cy="1289600"/>
          </a:xfrm>
          <a:custGeom>
            <a:avLst/>
            <a:gdLst>
              <a:gd name="csX0" fmla="*/ 0 w 2698396"/>
              <a:gd name="csY0" fmla="*/ 111503 h 1115030"/>
              <a:gd name="csX1" fmla="*/ 111503 w 2698396"/>
              <a:gd name="csY1" fmla="*/ 0 h 1115030"/>
              <a:gd name="csX2" fmla="*/ 2586893 w 2698396"/>
              <a:gd name="csY2" fmla="*/ 0 h 1115030"/>
              <a:gd name="csX3" fmla="*/ 2698396 w 2698396"/>
              <a:gd name="csY3" fmla="*/ 111503 h 1115030"/>
              <a:gd name="csX4" fmla="*/ 2698396 w 2698396"/>
              <a:gd name="csY4" fmla="*/ 1003527 h 1115030"/>
              <a:gd name="csX5" fmla="*/ 2586893 w 2698396"/>
              <a:gd name="csY5" fmla="*/ 1115030 h 1115030"/>
              <a:gd name="csX6" fmla="*/ 111503 w 2698396"/>
              <a:gd name="csY6" fmla="*/ 1115030 h 1115030"/>
              <a:gd name="csX7" fmla="*/ 0 w 2698396"/>
              <a:gd name="csY7" fmla="*/ 1003527 h 1115030"/>
              <a:gd name="csX8" fmla="*/ 0 w 2698396"/>
              <a:gd name="csY8" fmla="*/ 111503 h 11150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698396" h="1115030">
                <a:moveTo>
                  <a:pt x="0" y="111503"/>
                </a:moveTo>
                <a:cubicBezTo>
                  <a:pt x="0" y="49922"/>
                  <a:pt x="49922" y="0"/>
                  <a:pt x="111503" y="0"/>
                </a:cubicBezTo>
                <a:lnTo>
                  <a:pt x="2586893" y="0"/>
                </a:lnTo>
                <a:cubicBezTo>
                  <a:pt x="2648474" y="0"/>
                  <a:pt x="2698396" y="49922"/>
                  <a:pt x="2698396" y="111503"/>
                </a:cubicBezTo>
                <a:lnTo>
                  <a:pt x="2698396" y="1003527"/>
                </a:lnTo>
                <a:cubicBezTo>
                  <a:pt x="2698396" y="1065108"/>
                  <a:pt x="2648474" y="1115030"/>
                  <a:pt x="2586893" y="1115030"/>
                </a:cubicBezTo>
                <a:lnTo>
                  <a:pt x="111503" y="1115030"/>
                </a:lnTo>
                <a:cubicBezTo>
                  <a:pt x="49922" y="1115030"/>
                  <a:pt x="0" y="1065108"/>
                  <a:pt x="0" y="1003527"/>
                </a:cubicBezTo>
                <a:lnTo>
                  <a:pt x="0" y="111503"/>
                </a:lnTo>
                <a:close/>
              </a:path>
            </a:pathLst>
          </a:custGeom>
          <a:solidFill>
            <a:srgbClr val="EBF2FC"/>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01238" tIns="101238" rIns="101238" bIns="101238" numCol="1" spcCol="1270" anchor="ctr" anchorCtr="0">
            <a:noAutofit/>
          </a:bodyPr>
          <a:lstStyle/>
          <a:p>
            <a:pPr marL="0" lvl="0" indent="0" algn="ctr" defTabSz="800100">
              <a:lnSpc>
                <a:spcPct val="90000"/>
              </a:lnSpc>
              <a:spcBef>
                <a:spcPct val="0"/>
              </a:spcBef>
              <a:spcAft>
                <a:spcPct val="35000"/>
              </a:spcAft>
              <a:buNone/>
            </a:pPr>
            <a:r>
              <a:rPr lang="en-NL" sz="2000" b="1" i="1" kern="1200" noProof="0" dirty="0">
                <a:solidFill>
                  <a:srgbClr val="FF0000"/>
                </a:solidFill>
                <a:latin typeface="Calibri" panose="020F0502020204030204" pitchFamily="34" charset="0"/>
                <a:ea typeface="Calibri" panose="020F0502020204030204" pitchFamily="34" charset="0"/>
                <a:cs typeface="Calibri" panose="020F0502020204030204" pitchFamily="34" charset="0"/>
              </a:rPr>
              <a:t>Evaluetor</a:t>
            </a:r>
            <a:r>
              <a:rPr lang="en-NL" sz="2000" b="1" i="1" kern="1200" baseline="50000" noProof="0" dirty="0">
                <a:solidFill>
                  <a:srgbClr val="054283"/>
                </a:solidFill>
                <a:latin typeface="Calibri" panose="020F0502020204030204" pitchFamily="34" charset="0"/>
                <a:ea typeface="Calibri" panose="020F0502020204030204" pitchFamily="34" charset="0"/>
                <a:cs typeface="Calibri" panose="020F0502020204030204" pitchFamily="34" charset="0"/>
              </a:rPr>
              <a:t>©</a:t>
            </a:r>
            <a:r>
              <a:rPr lang="en-NL" sz="2000" b="1" i="1" kern="1200" noProof="0" dirty="0">
                <a:solidFill>
                  <a:srgbClr val="FF0000"/>
                </a:solidFill>
                <a:latin typeface="Calibri" panose="020F0502020204030204" pitchFamily="34" charset="0"/>
                <a:ea typeface="Calibri" panose="020F0502020204030204" pitchFamily="34" charset="0"/>
                <a:cs typeface="Calibri" panose="020F0502020204030204" pitchFamily="34" charset="0"/>
              </a:rPr>
              <a:t>AI</a:t>
            </a:r>
            <a:r>
              <a:rPr lang="en-NL" sz="1800" b="1" kern="1200" noProof="0" dirty="0">
                <a:solidFill>
                  <a:srgbClr val="054283"/>
                </a:solidFill>
              </a:rPr>
              <a:t> delivering contract benefits effectively</a:t>
            </a:r>
            <a:endParaRPr lang="en-NL" sz="1800" kern="1200" noProof="0" dirty="0">
              <a:solidFill>
                <a:srgbClr val="054283"/>
              </a:solidFill>
            </a:endParaRPr>
          </a:p>
        </p:txBody>
      </p:sp>
      <p:sp>
        <p:nvSpPr>
          <p:cNvPr id="19" name="Freeform: Shape 18">
            <a:extLst>
              <a:ext uri="{FF2B5EF4-FFF2-40B4-BE49-F238E27FC236}">
                <a16:creationId xmlns:a16="http://schemas.microsoft.com/office/drawing/2014/main" id="{9B52D202-8361-A5CA-046D-A4AB97FD14F9}"/>
              </a:ext>
            </a:extLst>
          </p:cNvPr>
          <p:cNvSpPr/>
          <p:nvPr/>
        </p:nvSpPr>
        <p:spPr>
          <a:xfrm>
            <a:off x="5825786" y="3141160"/>
            <a:ext cx="1009355" cy="1289600"/>
          </a:xfrm>
          <a:custGeom>
            <a:avLst/>
            <a:gdLst>
              <a:gd name="csX0" fmla="*/ 0 w 851766"/>
              <a:gd name="csY0" fmla="*/ 85177 h 1115030"/>
              <a:gd name="csX1" fmla="*/ 85177 w 851766"/>
              <a:gd name="csY1" fmla="*/ 0 h 1115030"/>
              <a:gd name="csX2" fmla="*/ 766589 w 851766"/>
              <a:gd name="csY2" fmla="*/ 0 h 1115030"/>
              <a:gd name="csX3" fmla="*/ 851766 w 851766"/>
              <a:gd name="csY3" fmla="*/ 85177 h 1115030"/>
              <a:gd name="csX4" fmla="*/ 851766 w 851766"/>
              <a:gd name="csY4" fmla="*/ 1029853 h 1115030"/>
              <a:gd name="csX5" fmla="*/ 766589 w 851766"/>
              <a:gd name="csY5" fmla="*/ 1115030 h 1115030"/>
              <a:gd name="csX6" fmla="*/ 85177 w 851766"/>
              <a:gd name="csY6" fmla="*/ 1115030 h 1115030"/>
              <a:gd name="csX7" fmla="*/ 0 w 851766"/>
              <a:gd name="csY7" fmla="*/ 1029853 h 1115030"/>
              <a:gd name="csX8" fmla="*/ 0 w 851766"/>
              <a:gd name="csY8" fmla="*/ 85177 h 11150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51766" h="1115030">
                <a:moveTo>
                  <a:pt x="0" y="85177"/>
                </a:moveTo>
                <a:cubicBezTo>
                  <a:pt x="0" y="38135"/>
                  <a:pt x="38135" y="0"/>
                  <a:pt x="85177" y="0"/>
                </a:cubicBezTo>
                <a:lnTo>
                  <a:pt x="766589" y="0"/>
                </a:lnTo>
                <a:cubicBezTo>
                  <a:pt x="813631" y="0"/>
                  <a:pt x="851766" y="38135"/>
                  <a:pt x="851766" y="85177"/>
                </a:cubicBezTo>
                <a:lnTo>
                  <a:pt x="851766" y="1029853"/>
                </a:lnTo>
                <a:cubicBezTo>
                  <a:pt x="851766" y="1076895"/>
                  <a:pt x="813631" y="1115030"/>
                  <a:pt x="766589" y="1115030"/>
                </a:cubicBezTo>
                <a:lnTo>
                  <a:pt x="85177" y="1115030"/>
                </a:lnTo>
                <a:cubicBezTo>
                  <a:pt x="38135" y="1115030"/>
                  <a:pt x="0" y="1076895"/>
                  <a:pt x="0" y="1029853"/>
                </a:cubicBezTo>
                <a:lnTo>
                  <a:pt x="0" y="85177"/>
                </a:lnTo>
                <a:close/>
              </a:path>
            </a:pathLst>
          </a:custGeom>
          <a:solidFill>
            <a:srgbClr val="EBF2FC"/>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01238" tIns="101238" rIns="101238" bIns="101238" numCol="1" spcCol="1270" anchor="ctr" anchorCtr="0">
            <a:noAutofit/>
          </a:bodyPr>
          <a:lstStyle/>
          <a:p>
            <a:pPr algn="ctr" defTabSz="800100">
              <a:lnSpc>
                <a:spcPct val="90000"/>
              </a:lnSpc>
              <a:spcAft>
                <a:spcPct val="35000"/>
              </a:spcAft>
            </a:pPr>
            <a:r>
              <a:rPr lang="en-US" sz="1000" b="1" i="1" dirty="0">
                <a:solidFill>
                  <a:srgbClr val="054283"/>
                </a:solidFill>
                <a:latin typeface="Calibri" panose="020F0502020204030204" pitchFamily="34" charset="0"/>
                <a:ea typeface="Calibri" panose="020F0502020204030204" pitchFamily="34" charset="0"/>
                <a:cs typeface="Calibri" panose="020F0502020204030204" pitchFamily="34" charset="0"/>
              </a:rPr>
              <a:t>Contracts are negotiated carefully, then stored away.</a:t>
            </a:r>
            <a:endParaRPr lang="en-NL" sz="1000" b="1" i="1" dirty="0">
              <a:solidFill>
                <a:srgbClr val="054283"/>
              </a:solidFill>
              <a:latin typeface="Calibri" panose="020F0502020204030204" pitchFamily="34" charset="0"/>
              <a:ea typeface="Calibri" panose="020F0502020204030204" pitchFamily="34" charset="0"/>
              <a:cs typeface="Calibri" panose="020F0502020204030204" pitchFamily="34" charset="0"/>
            </a:endParaRPr>
          </a:p>
        </p:txBody>
      </p:sp>
      <p:sp>
        <p:nvSpPr>
          <p:cNvPr id="20" name="Freeform: Shape 19">
            <a:extLst>
              <a:ext uri="{FF2B5EF4-FFF2-40B4-BE49-F238E27FC236}">
                <a16:creationId xmlns:a16="http://schemas.microsoft.com/office/drawing/2014/main" id="{EF116FC6-BB34-ED0C-08CE-973AAE10C2BD}"/>
              </a:ext>
            </a:extLst>
          </p:cNvPr>
          <p:cNvSpPr/>
          <p:nvPr/>
        </p:nvSpPr>
        <p:spPr>
          <a:xfrm>
            <a:off x="7971463" y="3141160"/>
            <a:ext cx="1009355" cy="1289600"/>
          </a:xfrm>
          <a:custGeom>
            <a:avLst/>
            <a:gdLst>
              <a:gd name="csX0" fmla="*/ 0 w 851766"/>
              <a:gd name="csY0" fmla="*/ 85177 h 1115030"/>
              <a:gd name="csX1" fmla="*/ 85177 w 851766"/>
              <a:gd name="csY1" fmla="*/ 0 h 1115030"/>
              <a:gd name="csX2" fmla="*/ 766589 w 851766"/>
              <a:gd name="csY2" fmla="*/ 0 h 1115030"/>
              <a:gd name="csX3" fmla="*/ 851766 w 851766"/>
              <a:gd name="csY3" fmla="*/ 85177 h 1115030"/>
              <a:gd name="csX4" fmla="*/ 851766 w 851766"/>
              <a:gd name="csY4" fmla="*/ 1029853 h 1115030"/>
              <a:gd name="csX5" fmla="*/ 766589 w 851766"/>
              <a:gd name="csY5" fmla="*/ 1115030 h 1115030"/>
              <a:gd name="csX6" fmla="*/ 85177 w 851766"/>
              <a:gd name="csY6" fmla="*/ 1115030 h 1115030"/>
              <a:gd name="csX7" fmla="*/ 0 w 851766"/>
              <a:gd name="csY7" fmla="*/ 1029853 h 1115030"/>
              <a:gd name="csX8" fmla="*/ 0 w 851766"/>
              <a:gd name="csY8" fmla="*/ 85177 h 11150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51766" h="1115030">
                <a:moveTo>
                  <a:pt x="0" y="85177"/>
                </a:moveTo>
                <a:cubicBezTo>
                  <a:pt x="0" y="38135"/>
                  <a:pt x="38135" y="0"/>
                  <a:pt x="85177" y="0"/>
                </a:cubicBezTo>
                <a:lnTo>
                  <a:pt x="766589" y="0"/>
                </a:lnTo>
                <a:cubicBezTo>
                  <a:pt x="813631" y="0"/>
                  <a:pt x="851766" y="38135"/>
                  <a:pt x="851766" y="85177"/>
                </a:cubicBezTo>
                <a:lnTo>
                  <a:pt x="851766" y="1029853"/>
                </a:lnTo>
                <a:cubicBezTo>
                  <a:pt x="851766" y="1076895"/>
                  <a:pt x="813631" y="1115030"/>
                  <a:pt x="766589" y="1115030"/>
                </a:cubicBezTo>
                <a:lnTo>
                  <a:pt x="85177" y="1115030"/>
                </a:lnTo>
                <a:cubicBezTo>
                  <a:pt x="38135" y="1115030"/>
                  <a:pt x="0" y="1076895"/>
                  <a:pt x="0" y="1029853"/>
                </a:cubicBezTo>
                <a:lnTo>
                  <a:pt x="0" y="85177"/>
                </a:lnTo>
                <a:close/>
              </a:path>
            </a:pathLst>
          </a:custGeom>
          <a:solidFill>
            <a:srgbClr val="EBF2FC"/>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01238" tIns="101238" rIns="101238" bIns="101238" numCol="1" spcCol="1270" anchor="ctr" anchorCtr="0">
            <a:noAutofit/>
          </a:bodyPr>
          <a:lstStyle/>
          <a:p>
            <a:pPr algn="ctr" defTabSz="800100">
              <a:lnSpc>
                <a:spcPct val="90000"/>
              </a:lnSpc>
              <a:spcAft>
                <a:spcPct val="35000"/>
              </a:spcAft>
            </a:pPr>
            <a:r>
              <a:rPr lang="en-US" sz="1000" b="1" i="1" dirty="0">
                <a:solidFill>
                  <a:srgbClr val="054283"/>
                </a:solidFill>
                <a:latin typeface="Calibri" panose="020F0502020204030204" pitchFamily="34" charset="0"/>
                <a:ea typeface="Calibri" panose="020F0502020204030204" pitchFamily="34" charset="0"/>
                <a:cs typeface="Calibri" panose="020F0502020204030204" pitchFamily="34" charset="0"/>
              </a:rPr>
              <a:t> The risks obligations, SLAs, and renewal terms inside them often go unmonitored </a:t>
            </a:r>
            <a:endParaRPr lang="en-NL" sz="1000" b="1" i="1" dirty="0">
              <a:solidFill>
                <a:srgbClr val="054283"/>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Freeform: Shape 20">
            <a:extLst>
              <a:ext uri="{FF2B5EF4-FFF2-40B4-BE49-F238E27FC236}">
                <a16:creationId xmlns:a16="http://schemas.microsoft.com/office/drawing/2014/main" id="{3003980E-5056-8372-B28F-AC689CCD9AD1}"/>
              </a:ext>
            </a:extLst>
          </p:cNvPr>
          <p:cNvSpPr/>
          <p:nvPr/>
        </p:nvSpPr>
        <p:spPr>
          <a:xfrm>
            <a:off x="6898625" y="3141160"/>
            <a:ext cx="1009355" cy="1289600"/>
          </a:xfrm>
          <a:custGeom>
            <a:avLst/>
            <a:gdLst>
              <a:gd name="csX0" fmla="*/ 0 w 851766"/>
              <a:gd name="csY0" fmla="*/ 85177 h 1115030"/>
              <a:gd name="csX1" fmla="*/ 85177 w 851766"/>
              <a:gd name="csY1" fmla="*/ 0 h 1115030"/>
              <a:gd name="csX2" fmla="*/ 766589 w 851766"/>
              <a:gd name="csY2" fmla="*/ 0 h 1115030"/>
              <a:gd name="csX3" fmla="*/ 851766 w 851766"/>
              <a:gd name="csY3" fmla="*/ 85177 h 1115030"/>
              <a:gd name="csX4" fmla="*/ 851766 w 851766"/>
              <a:gd name="csY4" fmla="*/ 1029853 h 1115030"/>
              <a:gd name="csX5" fmla="*/ 766589 w 851766"/>
              <a:gd name="csY5" fmla="*/ 1115030 h 1115030"/>
              <a:gd name="csX6" fmla="*/ 85177 w 851766"/>
              <a:gd name="csY6" fmla="*/ 1115030 h 1115030"/>
              <a:gd name="csX7" fmla="*/ 0 w 851766"/>
              <a:gd name="csY7" fmla="*/ 1029853 h 1115030"/>
              <a:gd name="csX8" fmla="*/ 0 w 851766"/>
              <a:gd name="csY8" fmla="*/ 85177 h 11150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851766" h="1115030">
                <a:moveTo>
                  <a:pt x="0" y="85177"/>
                </a:moveTo>
                <a:cubicBezTo>
                  <a:pt x="0" y="38135"/>
                  <a:pt x="38135" y="0"/>
                  <a:pt x="85177" y="0"/>
                </a:cubicBezTo>
                <a:lnTo>
                  <a:pt x="766589" y="0"/>
                </a:lnTo>
                <a:cubicBezTo>
                  <a:pt x="813631" y="0"/>
                  <a:pt x="851766" y="38135"/>
                  <a:pt x="851766" y="85177"/>
                </a:cubicBezTo>
                <a:lnTo>
                  <a:pt x="851766" y="1029853"/>
                </a:lnTo>
                <a:cubicBezTo>
                  <a:pt x="851766" y="1076895"/>
                  <a:pt x="813631" y="1115030"/>
                  <a:pt x="766589" y="1115030"/>
                </a:cubicBezTo>
                <a:lnTo>
                  <a:pt x="85177" y="1115030"/>
                </a:lnTo>
                <a:cubicBezTo>
                  <a:pt x="38135" y="1115030"/>
                  <a:pt x="0" y="1076895"/>
                  <a:pt x="0" y="1029853"/>
                </a:cubicBezTo>
                <a:lnTo>
                  <a:pt x="0" y="85177"/>
                </a:lnTo>
                <a:close/>
              </a:path>
            </a:pathLst>
          </a:custGeom>
          <a:solidFill>
            <a:srgbClr val="EBF2FC"/>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01238" tIns="101238" rIns="101238" bIns="101238" numCol="1" spcCol="1270" anchor="ctr" anchorCtr="0">
            <a:noAutofit/>
          </a:bodyPr>
          <a:lstStyle/>
          <a:p>
            <a:pPr algn="ctr" defTabSz="800100">
              <a:lnSpc>
                <a:spcPct val="90000"/>
              </a:lnSpc>
              <a:spcAft>
                <a:spcPct val="35000"/>
              </a:spcAft>
            </a:pPr>
            <a:r>
              <a:rPr lang="en-US" sz="1000" b="1" i="1" dirty="0">
                <a:solidFill>
                  <a:srgbClr val="054283"/>
                </a:solidFill>
                <a:latin typeface="Calibri" panose="020F0502020204030204" pitchFamily="34" charset="0"/>
                <a:ea typeface="Calibri" panose="020F0502020204030204" pitchFamily="34" charset="0"/>
                <a:cs typeface="Calibri" panose="020F0502020204030204" pitchFamily="34" charset="0"/>
              </a:rPr>
              <a:t>Enterprises struggle to surface what’s actually inside their contract portfolio.</a:t>
            </a:r>
            <a:endParaRPr lang="en-NL" sz="1000" b="1" i="1" dirty="0">
              <a:solidFill>
                <a:srgbClr val="054283"/>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descr="Workplace with glasses, pen, contract and financial report">
            <a:extLst>
              <a:ext uri="{FF2B5EF4-FFF2-40B4-BE49-F238E27FC236}">
                <a16:creationId xmlns:a16="http://schemas.microsoft.com/office/drawing/2014/main" id="{0DB8AE08-35D0-40FB-A01A-7756CEC5DED6}"/>
              </a:ext>
            </a:extLst>
          </p:cNvPr>
          <p:cNvPicPr>
            <a:picLocks noChangeAspect="1"/>
          </p:cNvPicPr>
          <p:nvPr/>
        </p:nvPicPr>
        <p:blipFill>
          <a:blip r:embed="rId3"/>
          <a:srcRect l="113" r="20233" b="-2"/>
          <a:stretch>
            <a:fillRect/>
          </a:stretch>
        </p:blipFill>
        <p:spPr>
          <a:xfrm>
            <a:off x="68477" y="1233097"/>
            <a:ext cx="5757309" cy="4824670"/>
          </a:xfrm>
          <a:prstGeom prst="ellipse">
            <a:avLst/>
          </a:prstGeom>
          <a:ln>
            <a:noFill/>
          </a:ln>
          <a:effectLst>
            <a:softEdge rad="112500"/>
          </a:effectLst>
        </p:spPr>
      </p:pic>
      <p:sp>
        <p:nvSpPr>
          <p:cNvPr id="6" name="TextBox 5">
            <a:extLst>
              <a:ext uri="{FF2B5EF4-FFF2-40B4-BE49-F238E27FC236}">
                <a16:creationId xmlns:a16="http://schemas.microsoft.com/office/drawing/2014/main" id="{E7639B70-7CAD-ADA8-2F84-6B4B81DCABDD}"/>
              </a:ext>
            </a:extLst>
          </p:cNvPr>
          <p:cNvSpPr txBox="1"/>
          <p:nvPr/>
        </p:nvSpPr>
        <p:spPr>
          <a:xfrm>
            <a:off x="5886654" y="2637447"/>
            <a:ext cx="3005946" cy="1007985"/>
          </a:xfrm>
          <a:prstGeom prst="rect">
            <a:avLst/>
          </a:prstGeom>
        </p:spPr>
        <p:txBody>
          <a:bodyPr anchor="ctr">
            <a:noAutofit/>
          </a:bodyPr>
          <a:lstStyle>
            <a:lvl1pPr marL="0" indent="0" eaLnBrk="0" hangingPunct="0">
              <a:spcBef>
                <a:spcPct val="20000"/>
              </a:spcBef>
              <a:buNone/>
              <a:defRPr sz="1800" b="1" i="1">
                <a:solidFill>
                  <a:schemeClr val="tx1"/>
                </a:solidFill>
                <a:latin typeface="Calibri" pitchFamily="34" charset="0"/>
                <a:cs typeface="Calibri" pitchFamily="34" charset="0"/>
              </a:defRPr>
            </a:lvl1pPr>
            <a:lvl2pPr marL="742950" indent="-285750" eaLnBrk="0" hangingPunct="0">
              <a:spcBef>
                <a:spcPct val="20000"/>
              </a:spcBef>
              <a:buChar char="–"/>
              <a:defRPr sz="1600">
                <a:solidFill>
                  <a:schemeClr val="tx1"/>
                </a:solidFill>
                <a:latin typeface="Calibri" pitchFamily="34" charset="0"/>
                <a:cs typeface="Calibri" pitchFamily="34" charset="0"/>
              </a:defRPr>
            </a:lvl2pPr>
            <a:lvl3pPr marL="1143000" indent="-228600" eaLnBrk="0" hangingPunct="0">
              <a:spcBef>
                <a:spcPct val="20000"/>
              </a:spcBef>
              <a:buChar char="•"/>
              <a:defRPr sz="1400">
                <a:solidFill>
                  <a:schemeClr val="tx1"/>
                </a:solidFill>
                <a:latin typeface="Calibri" pitchFamily="34" charset="0"/>
                <a:cs typeface="Calibri" pitchFamily="34" charset="0"/>
              </a:defRPr>
            </a:lvl3pPr>
            <a:lvl4pPr marL="1600200" indent="-228600" eaLnBrk="0" hangingPunct="0">
              <a:spcBef>
                <a:spcPct val="20000"/>
              </a:spcBef>
              <a:buChar char="–"/>
              <a:defRPr sz="1200">
                <a:solidFill>
                  <a:schemeClr val="tx1"/>
                </a:solidFill>
                <a:latin typeface="Calibri" pitchFamily="34" charset="0"/>
                <a:cs typeface="Calibri" pitchFamily="34" charset="0"/>
              </a:defRPr>
            </a:lvl4pPr>
            <a:lvl5pPr marL="2057400" indent="-228600" eaLnBrk="0" hangingPunct="0">
              <a:spcBef>
                <a:spcPct val="20000"/>
              </a:spcBef>
              <a:buChar char="»"/>
              <a:defRPr sz="1200">
                <a:solidFill>
                  <a:schemeClr val="tx1"/>
                </a:solidFill>
                <a:latin typeface="Calibri" pitchFamily="34" charset="0"/>
                <a:cs typeface="Calibri" pitchFamily="34" charset="0"/>
              </a:defRPr>
            </a:lvl5pPr>
            <a:lvl6pPr marL="2514600" indent="-228600" fontAlgn="base">
              <a:spcBef>
                <a:spcPct val="20000"/>
              </a:spcBef>
              <a:spcAft>
                <a:spcPct val="0"/>
              </a:spcAft>
              <a:buChar char="»"/>
              <a:defRPr sz="2000">
                <a:solidFill>
                  <a:schemeClr val="tx1"/>
                </a:solidFill>
                <a:latin typeface="+mn-lt"/>
                <a:cs typeface="+mn-cs"/>
              </a:defRPr>
            </a:lvl6pPr>
            <a:lvl7pPr marL="2971800" indent="-228600" fontAlgn="base">
              <a:spcBef>
                <a:spcPct val="20000"/>
              </a:spcBef>
              <a:spcAft>
                <a:spcPct val="0"/>
              </a:spcAft>
              <a:buChar char="»"/>
              <a:defRPr sz="2000">
                <a:solidFill>
                  <a:schemeClr val="tx1"/>
                </a:solidFill>
                <a:latin typeface="+mn-lt"/>
                <a:cs typeface="+mn-cs"/>
              </a:defRPr>
            </a:lvl7pPr>
            <a:lvl8pPr marL="3429000" indent="-228600" fontAlgn="base">
              <a:spcBef>
                <a:spcPct val="20000"/>
              </a:spcBef>
              <a:spcAft>
                <a:spcPct val="0"/>
              </a:spcAft>
              <a:buChar char="»"/>
              <a:defRPr sz="2000">
                <a:solidFill>
                  <a:schemeClr val="tx1"/>
                </a:solidFill>
                <a:latin typeface="+mn-lt"/>
                <a:cs typeface="+mn-cs"/>
              </a:defRPr>
            </a:lvl8pPr>
            <a:lvl9pPr marL="3886200" indent="-228600" fontAlgn="base">
              <a:spcBef>
                <a:spcPct val="20000"/>
              </a:spcBef>
              <a:spcAft>
                <a:spcPct val="0"/>
              </a:spcAft>
              <a:buChar char="»"/>
              <a:defRPr sz="2000">
                <a:solidFill>
                  <a:schemeClr val="tx1"/>
                </a:solidFill>
                <a:latin typeface="+mn-lt"/>
                <a:cs typeface="+mn-cs"/>
              </a:defRPr>
            </a:lvl9pPr>
          </a:lstStyle>
          <a:p>
            <a:endParaRPr sz="1100" dirty="0">
              <a:ea typeface="Calibri" panose="020F0502020204030204" pitchFamily="34" charset="0"/>
            </a:endParaRPr>
          </a:p>
        </p:txBody>
      </p:sp>
      <p:sp>
        <p:nvSpPr>
          <p:cNvPr id="8" name="TextBox 7">
            <a:extLst>
              <a:ext uri="{FF2B5EF4-FFF2-40B4-BE49-F238E27FC236}">
                <a16:creationId xmlns:a16="http://schemas.microsoft.com/office/drawing/2014/main" id="{A589EBAD-BC0E-768B-B9E4-33888BA864C8}"/>
              </a:ext>
            </a:extLst>
          </p:cNvPr>
          <p:cNvSpPr txBox="1"/>
          <p:nvPr/>
        </p:nvSpPr>
        <p:spPr>
          <a:xfrm>
            <a:off x="6433775" y="3560244"/>
            <a:ext cx="2458825" cy="2448340"/>
          </a:xfrm>
          <a:prstGeom prst="rect">
            <a:avLst/>
          </a:prstGeom>
        </p:spPr>
        <p:txBody>
          <a:bodyPr anchor="ctr">
            <a:normAutofit/>
          </a:bodyPr>
          <a:lstStyle>
            <a:defPPr>
              <a:defRPr lang="nl-NL"/>
            </a:defPPr>
            <a:lvl1pPr marL="0" indent="0" eaLnBrk="0" hangingPunct="0">
              <a:spcBef>
                <a:spcPct val="20000"/>
              </a:spcBef>
              <a:buNone/>
              <a:defRPr sz="1800" b="1" i="1">
                <a:solidFill>
                  <a:schemeClr val="tx1"/>
                </a:solidFill>
                <a:latin typeface="Calibri" pitchFamily="34" charset="0"/>
                <a:cs typeface="Calibri" pitchFamily="34" charset="0"/>
              </a:defRPr>
            </a:lvl1pPr>
            <a:lvl2pPr marL="742950" indent="-285750" eaLnBrk="0" hangingPunct="0">
              <a:spcBef>
                <a:spcPct val="20000"/>
              </a:spcBef>
              <a:buChar char="–"/>
              <a:defRPr sz="1600">
                <a:solidFill>
                  <a:schemeClr val="tx1"/>
                </a:solidFill>
                <a:latin typeface="Calibri" pitchFamily="34" charset="0"/>
                <a:cs typeface="Calibri" pitchFamily="34" charset="0"/>
              </a:defRPr>
            </a:lvl2pPr>
            <a:lvl3pPr marL="1143000" indent="-228600" eaLnBrk="0" hangingPunct="0">
              <a:spcBef>
                <a:spcPct val="20000"/>
              </a:spcBef>
              <a:buChar char="•"/>
              <a:defRPr sz="1400">
                <a:solidFill>
                  <a:schemeClr val="tx1"/>
                </a:solidFill>
                <a:latin typeface="Calibri" pitchFamily="34" charset="0"/>
                <a:cs typeface="Calibri" pitchFamily="34" charset="0"/>
              </a:defRPr>
            </a:lvl3pPr>
            <a:lvl4pPr marL="1600200" indent="-228600" eaLnBrk="0" hangingPunct="0">
              <a:spcBef>
                <a:spcPct val="20000"/>
              </a:spcBef>
              <a:buChar char="–"/>
              <a:defRPr sz="1200">
                <a:solidFill>
                  <a:schemeClr val="tx1"/>
                </a:solidFill>
                <a:latin typeface="Calibri" pitchFamily="34" charset="0"/>
                <a:cs typeface="Calibri" pitchFamily="34" charset="0"/>
              </a:defRPr>
            </a:lvl4pPr>
            <a:lvl5pPr marL="2057400" indent="-228600" eaLnBrk="0" hangingPunct="0">
              <a:spcBef>
                <a:spcPct val="20000"/>
              </a:spcBef>
              <a:buChar char="»"/>
              <a:defRPr sz="1200">
                <a:solidFill>
                  <a:schemeClr val="tx1"/>
                </a:solidFill>
                <a:latin typeface="Calibri" pitchFamily="34" charset="0"/>
                <a:cs typeface="Calibri" pitchFamily="34" charset="0"/>
              </a:defRPr>
            </a:lvl5pPr>
            <a:lvl6pPr marL="2514600" indent="-228600" fontAlgn="base">
              <a:spcBef>
                <a:spcPct val="20000"/>
              </a:spcBef>
              <a:spcAft>
                <a:spcPct val="0"/>
              </a:spcAft>
              <a:buChar char="»"/>
              <a:defRPr sz="2000">
                <a:solidFill>
                  <a:schemeClr val="tx1"/>
                </a:solidFill>
                <a:latin typeface="+mn-lt"/>
                <a:cs typeface="+mn-cs"/>
              </a:defRPr>
            </a:lvl6pPr>
            <a:lvl7pPr marL="2971800" indent="-228600" fontAlgn="base">
              <a:spcBef>
                <a:spcPct val="20000"/>
              </a:spcBef>
              <a:spcAft>
                <a:spcPct val="0"/>
              </a:spcAft>
              <a:buChar char="»"/>
              <a:defRPr sz="2000">
                <a:solidFill>
                  <a:schemeClr val="tx1"/>
                </a:solidFill>
                <a:latin typeface="+mn-lt"/>
                <a:cs typeface="+mn-cs"/>
              </a:defRPr>
            </a:lvl7pPr>
            <a:lvl8pPr marL="3429000" indent="-228600" fontAlgn="base">
              <a:spcBef>
                <a:spcPct val="20000"/>
              </a:spcBef>
              <a:spcAft>
                <a:spcPct val="0"/>
              </a:spcAft>
              <a:buChar char="»"/>
              <a:defRPr sz="2000">
                <a:solidFill>
                  <a:schemeClr val="tx1"/>
                </a:solidFill>
                <a:latin typeface="+mn-lt"/>
                <a:cs typeface="+mn-cs"/>
              </a:defRPr>
            </a:lvl8pPr>
            <a:lvl9pPr marL="3886200" indent="-228600" fontAlgn="base">
              <a:spcBef>
                <a:spcPct val="20000"/>
              </a:spcBef>
              <a:spcAft>
                <a:spcPct val="0"/>
              </a:spcAft>
              <a:buChar char="»"/>
              <a:defRPr sz="2000">
                <a:solidFill>
                  <a:schemeClr val="tx1"/>
                </a:solidFill>
                <a:latin typeface="+mn-lt"/>
                <a:cs typeface="+mn-cs"/>
              </a:defRPr>
            </a:lvl9pPr>
          </a:lstStyle>
          <a:p>
            <a:endParaRPr lang="en-GB" dirty="0"/>
          </a:p>
        </p:txBody>
      </p:sp>
      <p:sp>
        <p:nvSpPr>
          <p:cNvPr id="16" name="Title 15">
            <a:extLst>
              <a:ext uri="{FF2B5EF4-FFF2-40B4-BE49-F238E27FC236}">
                <a16:creationId xmlns:a16="http://schemas.microsoft.com/office/drawing/2014/main" id="{AA513487-28A6-3BE7-4EC8-85718DBACD88}"/>
              </a:ext>
            </a:extLst>
          </p:cNvPr>
          <p:cNvSpPr>
            <a:spLocks noGrp="1"/>
          </p:cNvSpPr>
          <p:nvPr>
            <p:ph type="title"/>
          </p:nvPr>
        </p:nvSpPr>
        <p:spPr/>
        <p:txBody>
          <a:bodyPr/>
          <a:lstStyle/>
          <a:p>
            <a:br>
              <a:rPr lang="en-US" dirty="0"/>
            </a:br>
            <a:r>
              <a:rPr lang="en-US" dirty="0">
                <a:solidFill>
                  <a:srgbClr val="054283"/>
                </a:solidFill>
              </a:rPr>
              <a:t>Reducing Contract Value Leakage Through Active Contract Management</a:t>
            </a:r>
            <a:endParaRPr lang="en-GB" dirty="0">
              <a:solidFill>
                <a:srgbClr val="054283"/>
              </a:solidFill>
            </a:endParaRPr>
          </a:p>
        </p:txBody>
      </p:sp>
      <p:sp>
        <p:nvSpPr>
          <p:cNvPr id="22" name="Date Placeholder 2">
            <a:extLst>
              <a:ext uri="{FF2B5EF4-FFF2-40B4-BE49-F238E27FC236}">
                <a16:creationId xmlns:a16="http://schemas.microsoft.com/office/drawing/2014/main" id="{1976F54A-9A34-0EB8-4E46-18A3FB0387D2}"/>
              </a:ext>
            </a:extLst>
          </p:cNvPr>
          <p:cNvSpPr>
            <a:spLocks noGrp="1"/>
          </p:cNvSpPr>
          <p:nvPr>
            <p:ph type="dt" sz="half" idx="2"/>
          </p:nvPr>
        </p:nvSpPr>
        <p:spPr>
          <a:xfrm>
            <a:off x="611450" y="6471383"/>
            <a:ext cx="2057400" cy="365125"/>
          </a:xfrm>
        </p:spPr>
        <p:txBody>
          <a:bodyPr/>
          <a:lstStyle/>
          <a:p>
            <a:fld id="{BCFD5220-14B2-4D59-AAB5-DC8635FE0AAA}"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23" name="Footer Placeholder 5">
            <a:extLst>
              <a:ext uri="{FF2B5EF4-FFF2-40B4-BE49-F238E27FC236}">
                <a16:creationId xmlns:a16="http://schemas.microsoft.com/office/drawing/2014/main" id="{BC713D6B-FFF6-C2F9-5D7E-AD58F2FC4952}"/>
              </a:ext>
            </a:extLst>
          </p:cNvPr>
          <p:cNvSpPr>
            <a:spLocks noGrp="1"/>
          </p:cNvSpPr>
          <p:nvPr>
            <p:ph type="ftr" sz="quarter" idx="3"/>
          </p:nvPr>
        </p:nvSpPr>
        <p:spPr>
          <a:xfrm>
            <a:off x="2633434" y="6471382"/>
            <a:ext cx="3312460" cy="367086"/>
          </a:xfrm>
        </p:spPr>
        <p:txBody>
          <a:bodyPr/>
          <a:lstStyle/>
          <a:p>
            <a:pPr algn="l"/>
            <a:r>
              <a:rPr lang="en-US" dirty="0"/>
              <a:t>AI-Powered Contract Intelligence</a:t>
            </a:r>
            <a:endParaRPr lang="en-GB" i="1" dirty="0"/>
          </a:p>
        </p:txBody>
      </p:sp>
    </p:spTree>
    <p:extLst>
      <p:ext uri="{BB962C8B-B14F-4D97-AF65-F5344CB8AC3E}">
        <p14:creationId xmlns:p14="http://schemas.microsoft.com/office/powerpoint/2010/main" val="2184723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FFE91-C9CC-8662-2145-B23E155A0D8D}"/>
              </a:ext>
            </a:extLst>
          </p:cNvPr>
          <p:cNvSpPr>
            <a:spLocks noGrp="1"/>
          </p:cNvSpPr>
          <p:nvPr>
            <p:ph type="title"/>
          </p:nvPr>
        </p:nvSpPr>
        <p:spPr>
          <a:xfrm>
            <a:off x="395420" y="-39624"/>
            <a:ext cx="8030720" cy="1325880"/>
          </a:xfrm>
        </p:spPr>
        <p:txBody>
          <a:bodyPr anchor="ctr">
            <a:normAutofit/>
          </a:bodyPr>
          <a:lstStyle/>
          <a:p>
            <a:r>
              <a:rPr lang="en-US" sz="2400" dirty="0"/>
              <a:t>Contract Value Leakages happens across Buy Side and Sell Side</a:t>
            </a:r>
          </a:p>
        </p:txBody>
      </p:sp>
      <p:pic>
        <p:nvPicPr>
          <p:cNvPr id="6" name="Picture 5">
            <a:extLst>
              <a:ext uri="{FF2B5EF4-FFF2-40B4-BE49-F238E27FC236}">
                <a16:creationId xmlns:a16="http://schemas.microsoft.com/office/drawing/2014/main" id="{3AD44088-E720-597C-6B8E-8C14FA8B7B3E}"/>
              </a:ext>
            </a:extLst>
          </p:cNvPr>
          <p:cNvPicPr>
            <a:picLocks noChangeAspect="1"/>
          </p:cNvPicPr>
          <p:nvPr/>
        </p:nvPicPr>
        <p:blipFill>
          <a:blip r:embed="rId3"/>
          <a:stretch>
            <a:fillRect/>
          </a:stretch>
        </p:blipFill>
        <p:spPr>
          <a:xfrm>
            <a:off x="395420" y="1286256"/>
            <a:ext cx="2447134" cy="4735105"/>
          </a:xfrm>
          <a:prstGeom prst="rect">
            <a:avLst/>
          </a:prstGeom>
        </p:spPr>
      </p:pic>
      <p:sp>
        <p:nvSpPr>
          <p:cNvPr id="8" name="TextBox 7">
            <a:extLst>
              <a:ext uri="{FF2B5EF4-FFF2-40B4-BE49-F238E27FC236}">
                <a16:creationId xmlns:a16="http://schemas.microsoft.com/office/drawing/2014/main" id="{7D2C5387-64EA-F84F-BE49-2E507287A2B1}"/>
              </a:ext>
            </a:extLst>
          </p:cNvPr>
          <p:cNvSpPr txBox="1"/>
          <p:nvPr/>
        </p:nvSpPr>
        <p:spPr>
          <a:xfrm>
            <a:off x="3059790" y="1286256"/>
            <a:ext cx="5366350" cy="4352921"/>
          </a:xfrm>
          <a:prstGeom prst="rect">
            <a:avLst/>
          </a:prstGeom>
        </p:spPr>
        <p:style>
          <a:lnRef idx="0">
            <a:schemeClr val="accent3"/>
          </a:lnRef>
          <a:fillRef idx="3">
            <a:schemeClr val="accent3"/>
          </a:fillRef>
          <a:effectRef idx="3">
            <a:schemeClr val="accent3"/>
          </a:effectRef>
          <a:fontRef idx="minor">
            <a:schemeClr val="lt1"/>
          </a:fontRef>
        </p:style>
        <p:txBody>
          <a:bodyPr>
            <a:normAutofit/>
          </a:bodyPr>
          <a:lstStyle>
            <a:lvl1pPr marL="0" indent="0" algn="ctr" eaLnBrk="0" hangingPunct="0">
              <a:spcBef>
                <a:spcPts val="2500"/>
              </a:spcBef>
              <a:buNone/>
              <a:defRPr sz="1400" b="1">
                <a:solidFill>
                  <a:schemeClr val="tx1"/>
                </a:solidFill>
                <a:latin typeface="+mn-lt"/>
                <a:cs typeface="+mn-cs"/>
              </a:defRPr>
            </a:lvl1pPr>
            <a:lvl2pPr marL="0" lvl="1" indent="0" algn="ctr" eaLnBrk="0" hangingPunct="0">
              <a:buNone/>
              <a:defRPr sz="1400">
                <a:solidFill>
                  <a:schemeClr val="tx1"/>
                </a:solidFill>
                <a:latin typeface="+mn-lt"/>
                <a:cs typeface="+mn-cs"/>
              </a:defRPr>
            </a:lvl2pPr>
            <a:lvl3pPr marL="1143000" indent="-228600" eaLnBrk="0" hangingPunct="0">
              <a:spcBef>
                <a:spcPct val="20000"/>
              </a:spcBef>
              <a:buChar char="•"/>
              <a:defRPr sz="1400">
                <a:solidFill>
                  <a:schemeClr val="lt1"/>
                </a:solidFill>
                <a:latin typeface="+mn-lt"/>
                <a:cs typeface="+mn-cs"/>
              </a:defRPr>
            </a:lvl3pPr>
            <a:lvl4pPr marL="1600200" indent="-228600" eaLnBrk="0" hangingPunct="0">
              <a:spcBef>
                <a:spcPct val="20000"/>
              </a:spcBef>
              <a:buChar char="–"/>
              <a:defRPr sz="1200">
                <a:solidFill>
                  <a:schemeClr val="lt1"/>
                </a:solidFill>
                <a:latin typeface="+mn-lt"/>
                <a:cs typeface="+mn-cs"/>
              </a:defRPr>
            </a:lvl4pPr>
            <a:lvl5pPr marL="2057400" indent="-228600" eaLnBrk="0" hangingPunct="0">
              <a:spcBef>
                <a:spcPct val="20000"/>
              </a:spcBef>
              <a:buChar char="»"/>
              <a:defRPr sz="1200">
                <a:solidFill>
                  <a:schemeClr val="lt1"/>
                </a:solidFill>
                <a:latin typeface="+mn-lt"/>
                <a:cs typeface="+mn-cs"/>
              </a:defRPr>
            </a:lvl5pPr>
            <a:lvl6pPr marL="2514600" indent="-228600" fontAlgn="base">
              <a:spcBef>
                <a:spcPct val="20000"/>
              </a:spcBef>
              <a:spcAft>
                <a:spcPct val="0"/>
              </a:spcAft>
              <a:buChar char="»"/>
              <a:defRPr sz="2000">
                <a:solidFill>
                  <a:schemeClr val="lt1"/>
                </a:solidFill>
                <a:latin typeface="+mn-lt"/>
                <a:cs typeface="+mn-cs"/>
              </a:defRPr>
            </a:lvl6pPr>
            <a:lvl7pPr marL="2971800" indent="-228600" fontAlgn="base">
              <a:spcBef>
                <a:spcPct val="20000"/>
              </a:spcBef>
              <a:spcAft>
                <a:spcPct val="0"/>
              </a:spcAft>
              <a:buChar char="»"/>
              <a:defRPr sz="2000">
                <a:solidFill>
                  <a:schemeClr val="lt1"/>
                </a:solidFill>
                <a:latin typeface="+mn-lt"/>
                <a:cs typeface="+mn-cs"/>
              </a:defRPr>
            </a:lvl7pPr>
            <a:lvl8pPr marL="3429000" indent="-228600" fontAlgn="base">
              <a:spcBef>
                <a:spcPct val="20000"/>
              </a:spcBef>
              <a:spcAft>
                <a:spcPct val="0"/>
              </a:spcAft>
              <a:buChar char="»"/>
              <a:defRPr sz="2000">
                <a:solidFill>
                  <a:schemeClr val="lt1"/>
                </a:solidFill>
                <a:latin typeface="+mn-lt"/>
                <a:cs typeface="+mn-cs"/>
              </a:defRPr>
            </a:lvl8pPr>
            <a:lvl9pPr marL="3886200" indent="-228600" fontAlgn="base">
              <a:spcBef>
                <a:spcPct val="20000"/>
              </a:spcBef>
              <a:spcAft>
                <a:spcPct val="0"/>
              </a:spcAft>
              <a:buChar char="»"/>
              <a:defRPr sz="2000">
                <a:solidFill>
                  <a:schemeClr val="lt1"/>
                </a:solidFill>
                <a:latin typeface="+mn-lt"/>
                <a:cs typeface="+mn-cs"/>
              </a:defRPr>
            </a:lvl9pPr>
          </a:lstStyle>
          <a:p>
            <a:pPr algn="l">
              <a:spcBef>
                <a:spcPts val="0"/>
              </a:spcBef>
            </a:pPr>
            <a:r>
              <a:rPr lang="en-NL" noProof="0"/>
              <a:t>Top 10 Contract Value Leakages (Buy &amp; Sell Side):</a:t>
            </a:r>
          </a:p>
          <a:p>
            <a:pPr algn="l">
              <a:spcBef>
                <a:spcPts val="0"/>
              </a:spcBef>
            </a:pPr>
            <a:endParaRPr lang="en-NL" noProof="0" dirty="0"/>
          </a:p>
          <a:p>
            <a:pPr marL="342900" indent="-342900" algn="l">
              <a:spcBef>
                <a:spcPts val="0"/>
              </a:spcBef>
              <a:buFont typeface="+mj-lt"/>
              <a:buAutoNum type="arabicPeriod"/>
            </a:pPr>
            <a:r>
              <a:rPr lang="en-NL" b="0" noProof="0" dirty="0">
                <a:latin typeface="Calibri" panose="020F0502020204030204" pitchFamily="34" charset="0"/>
                <a:ea typeface="Calibri" panose="020F0502020204030204" pitchFamily="34" charset="0"/>
                <a:cs typeface="Calibri" panose="020F0502020204030204" pitchFamily="34" charset="0"/>
              </a:rPr>
              <a:t>Non‑compliance with contract terms (off‑contract buying / under‑billing)</a:t>
            </a:r>
          </a:p>
          <a:p>
            <a:pPr marL="342900" indent="-342900" algn="l">
              <a:spcBef>
                <a:spcPts val="0"/>
              </a:spcBef>
              <a:buFont typeface="+mj-lt"/>
              <a:buAutoNum type="arabicPeriod"/>
            </a:pPr>
            <a:r>
              <a:rPr lang="en-NL" b="0" noProof="0" dirty="0">
                <a:latin typeface="Calibri" panose="020F0502020204030204" pitchFamily="34" charset="0"/>
                <a:ea typeface="Calibri" panose="020F0502020204030204" pitchFamily="34" charset="0"/>
                <a:cs typeface="Calibri" panose="020F0502020204030204" pitchFamily="34" charset="0"/>
              </a:rPr>
              <a:t>Poor pricing &amp; discount control</a:t>
            </a:r>
          </a:p>
          <a:p>
            <a:pPr marL="342900" indent="-342900" algn="l">
              <a:spcBef>
                <a:spcPts val="0"/>
              </a:spcBef>
              <a:buFont typeface="+mj-lt"/>
              <a:buAutoNum type="arabicPeriod"/>
            </a:pPr>
            <a:r>
              <a:rPr lang="en-NL" b="0" noProof="0" dirty="0">
                <a:latin typeface="Calibri" panose="020F0502020204030204" pitchFamily="34" charset="0"/>
                <a:ea typeface="Calibri" panose="020F0502020204030204" pitchFamily="34" charset="0"/>
                <a:cs typeface="Calibri" panose="020F0502020204030204" pitchFamily="34" charset="0"/>
              </a:rPr>
              <a:t>Missed rebates, incentives &amp; credits</a:t>
            </a:r>
          </a:p>
          <a:p>
            <a:pPr marL="342900" indent="-342900" algn="l">
              <a:spcBef>
                <a:spcPts val="0"/>
              </a:spcBef>
              <a:buFont typeface="+mj-lt"/>
              <a:buAutoNum type="arabicPeriod"/>
            </a:pPr>
            <a:r>
              <a:rPr lang="en-NL" b="0" noProof="0" dirty="0">
                <a:latin typeface="Calibri" panose="020F0502020204030204" pitchFamily="34" charset="0"/>
                <a:ea typeface="Calibri" panose="020F0502020204030204" pitchFamily="34" charset="0"/>
                <a:cs typeface="Calibri" panose="020F0502020204030204" pitchFamily="34" charset="0"/>
              </a:rPr>
              <a:t>Weak contract lifecycle management (visibility, access)</a:t>
            </a:r>
          </a:p>
          <a:p>
            <a:pPr marL="342900" indent="-342900" algn="l">
              <a:spcBef>
                <a:spcPts val="0"/>
              </a:spcBef>
              <a:buFont typeface="+mj-lt"/>
              <a:buAutoNum type="arabicPeriod"/>
            </a:pPr>
            <a:r>
              <a:rPr lang="en-NL" b="0" noProof="0" dirty="0">
                <a:latin typeface="Calibri" panose="020F0502020204030204" pitchFamily="34" charset="0"/>
                <a:ea typeface="Calibri" panose="020F0502020204030204" pitchFamily="34" charset="0"/>
                <a:cs typeface="Calibri" panose="020F0502020204030204" pitchFamily="34" charset="0"/>
              </a:rPr>
              <a:t>Scope creep &amp; unmanaged changes</a:t>
            </a:r>
          </a:p>
          <a:p>
            <a:pPr marL="342900" indent="-342900" algn="l">
              <a:spcBef>
                <a:spcPts val="0"/>
              </a:spcBef>
              <a:buFont typeface="+mj-lt"/>
              <a:buAutoNum type="arabicPeriod"/>
            </a:pPr>
            <a:r>
              <a:rPr lang="en-NL" b="0" noProof="0" dirty="0">
                <a:latin typeface="Calibri" panose="020F0502020204030204" pitchFamily="34" charset="0"/>
                <a:ea typeface="Calibri" panose="020F0502020204030204" pitchFamily="34" charset="0"/>
                <a:cs typeface="Calibri" panose="020F0502020204030204" pitchFamily="34" charset="0"/>
              </a:rPr>
              <a:t>SLA underperformance not enforced or penalized</a:t>
            </a:r>
          </a:p>
          <a:p>
            <a:pPr marL="342900" indent="-342900" algn="l">
              <a:spcBef>
                <a:spcPts val="0"/>
              </a:spcBef>
              <a:buFont typeface="+mj-lt"/>
              <a:buAutoNum type="arabicPeriod"/>
            </a:pPr>
            <a:r>
              <a:rPr lang="en-NL" b="0" noProof="0" dirty="0">
                <a:latin typeface="Calibri" panose="020F0502020204030204" pitchFamily="34" charset="0"/>
                <a:ea typeface="Calibri" panose="020F0502020204030204" pitchFamily="34" charset="0"/>
                <a:cs typeface="Calibri" panose="020F0502020204030204" pitchFamily="34" charset="0"/>
              </a:rPr>
              <a:t>Ineffective renewals &amp; auto‑renewals</a:t>
            </a:r>
          </a:p>
          <a:p>
            <a:pPr marL="342900" indent="-342900" algn="l">
              <a:spcBef>
                <a:spcPts val="0"/>
              </a:spcBef>
              <a:buFont typeface="+mj-lt"/>
              <a:buAutoNum type="arabicPeriod"/>
            </a:pPr>
            <a:r>
              <a:rPr lang="en-NL" b="0" noProof="0" dirty="0">
                <a:latin typeface="Calibri" panose="020F0502020204030204" pitchFamily="34" charset="0"/>
                <a:ea typeface="Calibri" panose="020F0502020204030204" pitchFamily="34" charset="0"/>
                <a:cs typeface="Calibri" panose="020F0502020204030204" pitchFamily="34" charset="0"/>
              </a:rPr>
              <a:t>Volume commitment &amp; forecast inaccuracies</a:t>
            </a:r>
          </a:p>
          <a:p>
            <a:pPr marL="342900" indent="-342900" algn="l">
              <a:spcBef>
                <a:spcPts val="0"/>
              </a:spcBef>
              <a:buFont typeface="+mj-lt"/>
              <a:buAutoNum type="arabicPeriod"/>
            </a:pPr>
            <a:r>
              <a:rPr lang="en-NL" b="0" noProof="0" dirty="0">
                <a:latin typeface="Calibri" panose="020F0502020204030204" pitchFamily="34" charset="0"/>
                <a:ea typeface="Calibri" panose="020F0502020204030204" pitchFamily="34" charset="0"/>
                <a:cs typeface="Calibri" panose="020F0502020204030204" pitchFamily="34" charset="0"/>
              </a:rPr>
              <a:t>Legal–commercial misalignment</a:t>
            </a:r>
          </a:p>
          <a:p>
            <a:pPr marL="342900" indent="-342900" algn="l">
              <a:spcBef>
                <a:spcPts val="0"/>
              </a:spcBef>
              <a:buFont typeface="+mj-lt"/>
              <a:buAutoNum type="arabicPeriod"/>
            </a:pPr>
            <a:r>
              <a:rPr lang="en-NL" b="0" noProof="0" dirty="0">
                <a:latin typeface="Calibri" panose="020F0502020204030204" pitchFamily="34" charset="0"/>
                <a:ea typeface="Calibri" panose="020F0502020204030204" pitchFamily="34" charset="0"/>
                <a:cs typeface="Calibri" panose="020F0502020204030204" pitchFamily="34" charset="0"/>
              </a:rPr>
              <a:t>No clear contract ownership &amp; accountability</a:t>
            </a:r>
          </a:p>
          <a:p>
            <a:pPr algn="l">
              <a:spcBef>
                <a:spcPts val="0"/>
              </a:spcBef>
            </a:pPr>
            <a:endParaRPr lang="en-NL" noProof="0" dirty="0"/>
          </a:p>
        </p:txBody>
      </p:sp>
      <p:sp>
        <p:nvSpPr>
          <p:cNvPr id="10" name="TextBox 9">
            <a:extLst>
              <a:ext uri="{FF2B5EF4-FFF2-40B4-BE49-F238E27FC236}">
                <a16:creationId xmlns:a16="http://schemas.microsoft.com/office/drawing/2014/main" id="{F364AEF5-71AA-C1A1-865C-F0B7E6A1E501}"/>
              </a:ext>
            </a:extLst>
          </p:cNvPr>
          <p:cNvSpPr txBox="1"/>
          <p:nvPr/>
        </p:nvSpPr>
        <p:spPr>
          <a:xfrm>
            <a:off x="3059790" y="4293121"/>
            <a:ext cx="5366350" cy="1728240"/>
          </a:xfrm>
          <a:prstGeom prst="rect">
            <a:avLst/>
          </a:prstGeom>
        </p:spPr>
        <p:style>
          <a:lnRef idx="0">
            <a:schemeClr val="accent3"/>
          </a:lnRef>
          <a:fillRef idx="3">
            <a:schemeClr val="accent3"/>
          </a:fillRef>
          <a:effectRef idx="3">
            <a:schemeClr val="accent3"/>
          </a:effectRef>
          <a:fontRef idx="minor">
            <a:schemeClr val="lt1"/>
          </a:fontRef>
        </p:style>
        <p:txBody>
          <a:bodyPr>
            <a:normAutofit fontScale="92500"/>
          </a:bodyPr>
          <a:lstStyle>
            <a:defPPr>
              <a:defRPr lang="nl-NL"/>
            </a:defPPr>
            <a:lvl1pPr marL="0" indent="0" eaLnBrk="0" hangingPunct="0">
              <a:spcBef>
                <a:spcPts val="0"/>
              </a:spcBef>
              <a:buNone/>
              <a:defRPr sz="1400" b="1">
                <a:solidFill>
                  <a:schemeClr val="tx1"/>
                </a:solidFill>
                <a:latin typeface="+mn-lt"/>
                <a:cs typeface="+mn-cs"/>
              </a:defRPr>
            </a:lvl1pPr>
            <a:lvl2pPr marL="0" lvl="1" indent="0" algn="ctr" eaLnBrk="0" hangingPunct="0">
              <a:buNone/>
              <a:defRPr sz="1400">
                <a:solidFill>
                  <a:schemeClr val="tx1"/>
                </a:solidFill>
                <a:latin typeface="+mn-lt"/>
                <a:cs typeface="+mn-cs"/>
              </a:defRPr>
            </a:lvl2pPr>
            <a:lvl3pPr marL="1143000" indent="-228600" eaLnBrk="0" hangingPunct="0">
              <a:spcBef>
                <a:spcPct val="20000"/>
              </a:spcBef>
              <a:buChar char="•"/>
              <a:defRPr sz="1400">
                <a:solidFill>
                  <a:schemeClr val="lt1"/>
                </a:solidFill>
                <a:latin typeface="+mn-lt"/>
                <a:cs typeface="+mn-cs"/>
              </a:defRPr>
            </a:lvl3pPr>
            <a:lvl4pPr marL="1600200" indent="-228600" eaLnBrk="0" hangingPunct="0">
              <a:spcBef>
                <a:spcPct val="20000"/>
              </a:spcBef>
              <a:buChar char="–"/>
              <a:defRPr sz="1200">
                <a:solidFill>
                  <a:schemeClr val="lt1"/>
                </a:solidFill>
                <a:latin typeface="+mn-lt"/>
                <a:cs typeface="+mn-cs"/>
              </a:defRPr>
            </a:lvl4pPr>
            <a:lvl5pPr marL="2057400" indent="-228600" eaLnBrk="0" hangingPunct="0">
              <a:spcBef>
                <a:spcPct val="20000"/>
              </a:spcBef>
              <a:buChar char="»"/>
              <a:defRPr sz="1200">
                <a:solidFill>
                  <a:schemeClr val="lt1"/>
                </a:solidFill>
                <a:latin typeface="+mn-lt"/>
                <a:cs typeface="+mn-cs"/>
              </a:defRPr>
            </a:lvl5pPr>
            <a:lvl6pPr marL="2514600" indent="-228600" fontAlgn="base">
              <a:spcBef>
                <a:spcPct val="20000"/>
              </a:spcBef>
              <a:spcAft>
                <a:spcPct val="0"/>
              </a:spcAft>
              <a:buChar char="»"/>
              <a:defRPr sz="2000">
                <a:solidFill>
                  <a:schemeClr val="lt1"/>
                </a:solidFill>
                <a:latin typeface="+mn-lt"/>
                <a:cs typeface="+mn-cs"/>
              </a:defRPr>
            </a:lvl6pPr>
            <a:lvl7pPr marL="2971800" indent="-228600" fontAlgn="base">
              <a:spcBef>
                <a:spcPct val="20000"/>
              </a:spcBef>
              <a:spcAft>
                <a:spcPct val="0"/>
              </a:spcAft>
              <a:buChar char="»"/>
              <a:defRPr sz="2000">
                <a:solidFill>
                  <a:schemeClr val="lt1"/>
                </a:solidFill>
                <a:latin typeface="+mn-lt"/>
                <a:cs typeface="+mn-cs"/>
              </a:defRPr>
            </a:lvl7pPr>
            <a:lvl8pPr marL="3429000" indent="-228600" fontAlgn="base">
              <a:spcBef>
                <a:spcPct val="20000"/>
              </a:spcBef>
              <a:spcAft>
                <a:spcPct val="0"/>
              </a:spcAft>
              <a:buChar char="»"/>
              <a:defRPr sz="2000">
                <a:solidFill>
                  <a:schemeClr val="lt1"/>
                </a:solidFill>
                <a:latin typeface="+mn-lt"/>
                <a:cs typeface="+mn-cs"/>
              </a:defRPr>
            </a:lvl8pPr>
            <a:lvl9pPr marL="3886200" indent="-228600" fontAlgn="base">
              <a:spcBef>
                <a:spcPct val="20000"/>
              </a:spcBef>
              <a:spcAft>
                <a:spcPct val="0"/>
              </a:spcAft>
              <a:buChar char="»"/>
              <a:defRPr sz="2000">
                <a:solidFill>
                  <a:schemeClr val="lt1"/>
                </a:solidFill>
                <a:latin typeface="+mn-lt"/>
                <a:cs typeface="+mn-cs"/>
              </a:defRPr>
            </a:lvl9pPr>
          </a:lstStyle>
          <a:p>
            <a:r>
              <a:rPr lang="en-US" dirty="0"/>
              <a:t>Operating Model Principles (Target State)</a:t>
            </a:r>
          </a:p>
          <a:p>
            <a:r>
              <a:rPr lang="en-US" b="0" dirty="0">
                <a:latin typeface="Calibri" panose="020F0502020204030204" pitchFamily="34" charset="0"/>
                <a:ea typeface="Calibri" panose="020F0502020204030204" pitchFamily="34" charset="0"/>
                <a:cs typeface="Calibri" panose="020F0502020204030204" pitchFamily="34" charset="0"/>
              </a:rPr>
              <a:t> </a:t>
            </a:r>
          </a:p>
          <a:p>
            <a:pPr marL="285750" indent="-285750">
              <a:buFont typeface="Wingdings" panose="05000000000000000000" pitchFamily="2" charset="2"/>
              <a:buChar char="ü"/>
            </a:pPr>
            <a:r>
              <a:rPr lang="en-US" b="0" dirty="0">
                <a:latin typeface="Calibri" panose="020F0502020204030204" pitchFamily="34" charset="0"/>
                <a:ea typeface="Calibri" panose="020F0502020204030204" pitchFamily="34" charset="0"/>
                <a:cs typeface="Calibri" panose="020F0502020204030204" pitchFamily="34" charset="0"/>
              </a:rPr>
              <a:t>Contract ≠ Document → Contract = data + obligations + risk</a:t>
            </a:r>
          </a:p>
          <a:p>
            <a:pPr marL="285750" indent="-285750">
              <a:buFont typeface="Wingdings" panose="05000000000000000000" pitchFamily="2" charset="2"/>
              <a:buChar char="ü"/>
            </a:pPr>
            <a:r>
              <a:rPr lang="en-US" b="0" dirty="0">
                <a:latin typeface="Calibri" panose="020F0502020204030204" pitchFamily="34" charset="0"/>
                <a:ea typeface="Calibri" panose="020F0502020204030204" pitchFamily="34" charset="0"/>
                <a:cs typeface="Calibri" panose="020F0502020204030204" pitchFamily="34" charset="0"/>
              </a:rPr>
              <a:t>Post‑signature is the main value zone (70–80% of leakage happens here)</a:t>
            </a:r>
          </a:p>
          <a:p>
            <a:pPr marL="285750" indent="-285750">
              <a:buFont typeface="Wingdings" panose="05000000000000000000" pitchFamily="2" charset="2"/>
              <a:buChar char="ü"/>
            </a:pPr>
            <a:r>
              <a:rPr lang="en-US" b="0" dirty="0">
                <a:latin typeface="Calibri" panose="020F0502020204030204" pitchFamily="34" charset="0"/>
                <a:ea typeface="Calibri" panose="020F0502020204030204" pitchFamily="34" charset="0"/>
                <a:cs typeface="Calibri" panose="020F0502020204030204" pitchFamily="34" charset="0"/>
              </a:rPr>
              <a:t>Business owns value; Legal owns integrity</a:t>
            </a:r>
          </a:p>
          <a:p>
            <a:pPr marL="285750" indent="-285750">
              <a:buFont typeface="Wingdings" panose="05000000000000000000" pitchFamily="2" charset="2"/>
              <a:buChar char="ü"/>
            </a:pPr>
            <a:r>
              <a:rPr lang="en-US" b="0" dirty="0">
                <a:latin typeface="Calibri" panose="020F0502020204030204" pitchFamily="34" charset="0"/>
                <a:ea typeface="Calibri" panose="020F0502020204030204" pitchFamily="34" charset="0"/>
                <a:cs typeface="Calibri" panose="020F0502020204030204" pitchFamily="34" charset="0"/>
              </a:rPr>
              <a:t>One contract truth across systems</a:t>
            </a:r>
          </a:p>
          <a:p>
            <a:pPr marL="285750" indent="-285750">
              <a:buFont typeface="Wingdings" panose="05000000000000000000" pitchFamily="2" charset="2"/>
              <a:buChar char="ü"/>
            </a:pPr>
            <a:r>
              <a:rPr lang="en-US" b="0" dirty="0">
                <a:latin typeface="Calibri" panose="020F0502020204030204" pitchFamily="34" charset="0"/>
                <a:ea typeface="Calibri" panose="020F0502020204030204" pitchFamily="34" charset="0"/>
                <a:cs typeface="Calibri" panose="020F0502020204030204" pitchFamily="34" charset="0"/>
              </a:rPr>
              <a:t>No unmanaged deviations</a:t>
            </a:r>
          </a:p>
          <a:p>
            <a:pPr marL="285750" indent="-285750">
              <a:buFont typeface="Wingdings" panose="05000000000000000000" pitchFamily="2" charset="2"/>
              <a:buChar char="ü"/>
            </a:pPr>
            <a:r>
              <a:rPr lang="en-US" b="0" dirty="0">
                <a:latin typeface="Calibri" panose="020F0502020204030204" pitchFamily="34" charset="0"/>
                <a:ea typeface="Calibri" panose="020F0502020204030204" pitchFamily="34" charset="0"/>
                <a:cs typeface="Calibri" panose="020F0502020204030204" pitchFamily="34" charset="0"/>
              </a:rPr>
              <a:t>Value realization is measured, not assumed</a:t>
            </a:r>
          </a:p>
          <a:p>
            <a:endParaRPr lang="en-GB" dirty="0"/>
          </a:p>
        </p:txBody>
      </p:sp>
      <p:sp>
        <p:nvSpPr>
          <p:cNvPr id="11" name="Date Placeholder 2">
            <a:extLst>
              <a:ext uri="{FF2B5EF4-FFF2-40B4-BE49-F238E27FC236}">
                <a16:creationId xmlns:a16="http://schemas.microsoft.com/office/drawing/2014/main" id="{C5D42F71-60F4-7FB8-4BD9-9C338C793C12}"/>
              </a:ext>
            </a:extLst>
          </p:cNvPr>
          <p:cNvSpPr>
            <a:spLocks noGrp="1"/>
          </p:cNvSpPr>
          <p:nvPr>
            <p:ph type="dt" sz="half" idx="2"/>
          </p:nvPr>
        </p:nvSpPr>
        <p:spPr>
          <a:xfrm>
            <a:off x="611450" y="6471383"/>
            <a:ext cx="2057400" cy="365125"/>
          </a:xfrm>
        </p:spPr>
        <p:txBody>
          <a:bodyPr/>
          <a:lstStyle/>
          <a:p>
            <a:fld id="{BCFD5220-14B2-4D59-AAB5-DC8635FE0AAA}"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12" name="Footer Placeholder 5">
            <a:extLst>
              <a:ext uri="{FF2B5EF4-FFF2-40B4-BE49-F238E27FC236}">
                <a16:creationId xmlns:a16="http://schemas.microsoft.com/office/drawing/2014/main" id="{BA16B805-6D19-5D26-1CC6-B95BCC983D3C}"/>
              </a:ext>
            </a:extLst>
          </p:cNvPr>
          <p:cNvSpPr>
            <a:spLocks noGrp="1"/>
          </p:cNvSpPr>
          <p:nvPr>
            <p:ph type="ftr" sz="quarter" idx="3"/>
          </p:nvPr>
        </p:nvSpPr>
        <p:spPr>
          <a:xfrm>
            <a:off x="2633434" y="6471382"/>
            <a:ext cx="3312460" cy="367086"/>
          </a:xfrm>
        </p:spPr>
        <p:txBody>
          <a:bodyPr/>
          <a:lstStyle/>
          <a:p>
            <a:pPr algn="l"/>
            <a:r>
              <a:rPr lang="en-US" dirty="0"/>
              <a:t>AI-Powered Contract Intelligence</a:t>
            </a:r>
            <a:endParaRPr lang="en-GB" i="1" dirty="0"/>
          </a:p>
        </p:txBody>
      </p:sp>
    </p:spTree>
    <p:extLst>
      <p:ext uri="{BB962C8B-B14F-4D97-AF65-F5344CB8AC3E}">
        <p14:creationId xmlns:p14="http://schemas.microsoft.com/office/powerpoint/2010/main" val="215024158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F4F8468-24D9-44AE-A858-26A1476FECC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1600200"/>
            <a:ext cx="4123459" cy="4525963"/>
          </a:xfrm>
        </p:spPr>
        <p:txBody>
          <a:bodyPr>
            <a:normAutofit/>
          </a:bodyPr>
          <a:lstStyle/>
          <a:p>
            <a:pPr marL="0" indent="0">
              <a:spcBef>
                <a:spcPts val="2500"/>
              </a:spcBef>
              <a:buNone/>
            </a:pPr>
            <a:r>
              <a:rPr lang="en-US" sz="1400" b="1" dirty="0"/>
              <a:t>Value Leakage Post-Signing</a:t>
            </a:r>
          </a:p>
          <a:p>
            <a:pPr marL="0" lvl="1" indent="0">
              <a:spcBef>
                <a:spcPct val="0"/>
              </a:spcBef>
              <a:buNone/>
            </a:pPr>
            <a:r>
              <a:rPr lang="en-US" sz="1400" dirty="0"/>
              <a:t>Organizations lose 8–11% of contract value after signing due to poor execution and monitoring.</a:t>
            </a:r>
          </a:p>
          <a:p>
            <a:pPr marL="0" indent="0">
              <a:spcBef>
                <a:spcPts val="2500"/>
              </a:spcBef>
              <a:buNone/>
            </a:pPr>
            <a:r>
              <a:rPr lang="en-US" sz="1400" b="1" dirty="0"/>
              <a:t>Systemic Commercial Failure</a:t>
            </a:r>
          </a:p>
          <a:p>
            <a:pPr marL="0" lvl="1" indent="0">
              <a:spcBef>
                <a:spcPct val="0"/>
              </a:spcBef>
              <a:buNone/>
            </a:pPr>
            <a:r>
              <a:rPr lang="en-US" sz="1400" dirty="0"/>
              <a:t>Value loss comes from lack of ownership and enforcement, not negotiation, impacting profits and risk.</a:t>
            </a:r>
          </a:p>
          <a:p>
            <a:pPr marL="0" indent="0">
              <a:spcBef>
                <a:spcPts val="2500"/>
              </a:spcBef>
              <a:buNone/>
            </a:pPr>
            <a:r>
              <a:rPr lang="en-US" sz="1400" b="1" dirty="0"/>
              <a:t>Active Contract Management Benefits</a:t>
            </a:r>
          </a:p>
          <a:p>
            <a:pPr marL="0" lvl="1" indent="0">
              <a:spcBef>
                <a:spcPct val="0"/>
              </a:spcBef>
              <a:buNone/>
            </a:pPr>
            <a:r>
              <a:rPr lang="en-US" sz="1400" dirty="0"/>
              <a:t>Active management assigns ownership and tracks obligations to capture value and reduce losses by 30–40%.</a:t>
            </a:r>
          </a:p>
          <a:p>
            <a:pPr marL="0" indent="0">
              <a:spcBef>
                <a:spcPts val="2500"/>
              </a:spcBef>
              <a:buNone/>
            </a:pPr>
            <a:r>
              <a:rPr lang="en-US" sz="1400" b="1" dirty="0"/>
              <a:t>Profit Enablement Capability</a:t>
            </a:r>
          </a:p>
          <a:p>
            <a:pPr marL="0" lvl="1" indent="0">
              <a:spcBef>
                <a:spcPct val="0"/>
              </a:spcBef>
              <a:buNone/>
            </a:pPr>
            <a:r>
              <a:rPr lang="en-US" sz="1400" dirty="0"/>
              <a:t>Active contract management turns negotiated agreements into realized financial results and cash flow.</a:t>
            </a:r>
          </a:p>
        </p:txBody>
      </p:sp>
      <p:sp>
        <p:nvSpPr>
          <p:cNvPr id="2" name="Title 1">
            <a:extLst>
              <a:ext uri="{FF2B5EF4-FFF2-40B4-BE49-F238E27FC236}">
                <a16:creationId xmlns:a16="http://schemas.microsoft.com/office/drawing/2014/main" id="{5386EA2D-B0EB-C138-0A1A-C8E33453ACA7}"/>
              </a:ext>
            </a:extLst>
          </p:cNvPr>
          <p:cNvSpPr>
            <a:spLocks noGrp="1"/>
          </p:cNvSpPr>
          <p:nvPr>
            <p:ph type="title"/>
          </p:nvPr>
        </p:nvSpPr>
        <p:spPr>
          <a:xfrm>
            <a:off x="237507" y="90489"/>
            <a:ext cx="8443356" cy="788286"/>
          </a:xfrm>
        </p:spPr>
        <p:txBody>
          <a:bodyPr anchor="ctr">
            <a:normAutofit/>
          </a:bodyPr>
          <a:lstStyle/>
          <a:p>
            <a:r>
              <a:rPr lang="en-US" dirty="0"/>
              <a:t>Why Active Contract Management Is a Commercial Imperative</a:t>
            </a:r>
          </a:p>
        </p:txBody>
      </p:sp>
      <p:pic>
        <p:nvPicPr>
          <p:cNvPr id="5" name="Content Placeholder 4" descr="The young man holding pen writing his goal into notebook">
            <a:extLst>
              <a:ext uri="{FF2B5EF4-FFF2-40B4-BE49-F238E27FC236}">
                <a16:creationId xmlns:a16="http://schemas.microsoft.com/office/drawing/2014/main" id="{2C58867E-B687-4D61-A718-EDAF85E35F4F}"/>
              </a:ext>
            </a:extLst>
          </p:cNvPr>
          <p:cNvPicPr>
            <a:picLocks noGrp="1" noChangeAspect="1"/>
          </p:cNvPicPr>
          <p:nvPr>
            <p:ph type="pic" sz="quarter" idx="4294967295"/>
          </p:nvPr>
        </p:nvPicPr>
        <p:blipFill>
          <a:blip r:embed="rId3"/>
          <a:srcRect l="24537" r="14648" b="-1"/>
          <a:stretch>
            <a:fillRect/>
          </a:stretch>
        </p:blipFill>
        <p:spPr>
          <a:xfrm>
            <a:off x="4771159" y="1600200"/>
            <a:ext cx="4123459" cy="4525963"/>
          </a:xfrm>
          <a:prstGeom prst="rect">
            <a:avLst/>
          </a:prstGeom>
          <a:noFill/>
        </p:spPr>
      </p:pic>
      <p:sp>
        <p:nvSpPr>
          <p:cNvPr id="3" name="Date Placeholder 2">
            <a:extLst>
              <a:ext uri="{FF2B5EF4-FFF2-40B4-BE49-F238E27FC236}">
                <a16:creationId xmlns:a16="http://schemas.microsoft.com/office/drawing/2014/main" id="{4645E25A-8439-6A08-4A15-BFDB8613F717}"/>
              </a:ext>
            </a:extLst>
          </p:cNvPr>
          <p:cNvSpPr>
            <a:spLocks noGrp="1"/>
          </p:cNvSpPr>
          <p:nvPr>
            <p:ph type="dt" sz="half" idx="2"/>
          </p:nvPr>
        </p:nvSpPr>
        <p:spPr/>
        <p:txBody>
          <a:bodyPr/>
          <a:lstStyle/>
          <a:p>
            <a:fld id="{BCFD5220-14B2-4D59-AAB5-DC8635FE0AAA}"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6" name="Footer Placeholder 5">
            <a:extLst>
              <a:ext uri="{FF2B5EF4-FFF2-40B4-BE49-F238E27FC236}">
                <a16:creationId xmlns:a16="http://schemas.microsoft.com/office/drawing/2014/main" id="{52B15261-92BB-6534-B11A-4CA4D6B2A05D}"/>
              </a:ext>
            </a:extLst>
          </p:cNvPr>
          <p:cNvSpPr>
            <a:spLocks noGrp="1"/>
          </p:cNvSpPr>
          <p:nvPr>
            <p:ph type="ftr" sz="quarter" idx="3"/>
          </p:nvPr>
        </p:nvSpPr>
        <p:spPr/>
        <p:txBody>
          <a:bodyPr/>
          <a:lstStyle/>
          <a:p>
            <a:pPr algn="l"/>
            <a:r>
              <a:rPr lang="en-US" dirty="0"/>
              <a:t>AI-Powered Contract Intelligence</a:t>
            </a:r>
            <a:endParaRPr lang="en-GB" i="1" dirty="0"/>
          </a:p>
        </p:txBody>
      </p:sp>
    </p:spTree>
    <p:extLst>
      <p:ext uri="{BB962C8B-B14F-4D97-AF65-F5344CB8AC3E}">
        <p14:creationId xmlns:p14="http://schemas.microsoft.com/office/powerpoint/2010/main" val="20620518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49">
            <a:extLst>
              <a:ext uri="{FF2B5EF4-FFF2-40B4-BE49-F238E27FC236}">
                <a16:creationId xmlns:a16="http://schemas.microsoft.com/office/drawing/2014/main" id="{C0A13701-5F17-26D1-B924-606B36A35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7782" y="3045721"/>
            <a:ext cx="2506677" cy="2506677"/>
          </a:xfrm>
          <a:prstGeom prst="rect">
            <a:avLst/>
          </a:prstGeom>
        </p:spPr>
      </p:pic>
      <p:sp>
        <p:nvSpPr>
          <p:cNvPr id="3" name="Title 2">
            <a:extLst>
              <a:ext uri="{FF2B5EF4-FFF2-40B4-BE49-F238E27FC236}">
                <a16:creationId xmlns:a16="http://schemas.microsoft.com/office/drawing/2014/main" id="{C27F1DFA-D05B-16E4-5EC0-A63DDB444AFA}"/>
              </a:ext>
            </a:extLst>
          </p:cNvPr>
          <p:cNvSpPr>
            <a:spLocks noGrp="1"/>
          </p:cNvSpPr>
          <p:nvPr>
            <p:ph type="title"/>
          </p:nvPr>
        </p:nvSpPr>
        <p:spPr/>
        <p:txBody>
          <a:bodyPr/>
          <a:lstStyle/>
          <a:p>
            <a:r>
              <a:rPr lang="en-GB" dirty="0"/>
              <a:t>Evaluetor connects  contracts with the outside world, using connecters to where conditions are measurable (e.g. </a:t>
            </a:r>
            <a:r>
              <a:rPr lang="en-GB" dirty="0" err="1"/>
              <a:t>Volumes@ERP</a:t>
            </a:r>
            <a:r>
              <a:rPr lang="en-GB" dirty="0"/>
              <a:t>, </a:t>
            </a:r>
            <a:r>
              <a:rPr lang="en-GB" dirty="0" err="1"/>
              <a:t>SLA@ServiceNow</a:t>
            </a:r>
            <a:r>
              <a:rPr lang="en-GB" dirty="0"/>
              <a:t>, FX@ECB website)</a:t>
            </a:r>
          </a:p>
        </p:txBody>
      </p:sp>
      <p:sp>
        <p:nvSpPr>
          <p:cNvPr id="4" name="Date Placeholder 3">
            <a:extLst>
              <a:ext uri="{FF2B5EF4-FFF2-40B4-BE49-F238E27FC236}">
                <a16:creationId xmlns:a16="http://schemas.microsoft.com/office/drawing/2014/main" id="{EFA146B0-7F8C-1D32-554C-A2C1600FDE30}"/>
              </a:ext>
            </a:extLst>
          </p:cNvPr>
          <p:cNvSpPr>
            <a:spLocks noGrp="1"/>
          </p:cNvSpPr>
          <p:nvPr>
            <p:ph type="dt" sz="half" idx="2"/>
          </p:nvPr>
        </p:nvSpPr>
        <p:spPr/>
        <p:txBody>
          <a:bodyPr/>
          <a:lstStyle/>
          <a:p>
            <a:fld id="{29FEFA2C-A1D8-44FC-99FC-2DFF21837F17}"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5" name="Footer Placeholder 4">
            <a:extLst>
              <a:ext uri="{FF2B5EF4-FFF2-40B4-BE49-F238E27FC236}">
                <a16:creationId xmlns:a16="http://schemas.microsoft.com/office/drawing/2014/main" id="{DB2EE368-2E2C-D464-4CC4-83204249FC4A}"/>
              </a:ext>
            </a:extLst>
          </p:cNvPr>
          <p:cNvSpPr>
            <a:spLocks noGrp="1"/>
          </p:cNvSpPr>
          <p:nvPr>
            <p:ph type="ftr" sz="quarter" idx="3"/>
          </p:nvPr>
        </p:nvSpPr>
        <p:spPr/>
        <p:txBody>
          <a:bodyPr/>
          <a:lstStyle/>
          <a:p>
            <a:pPr algn="l"/>
            <a:r>
              <a:rPr lang="en-US"/>
              <a:t>AI-Powered Contract Intelligence</a:t>
            </a:r>
            <a:endParaRPr lang="en-GB" i="1" dirty="0"/>
          </a:p>
        </p:txBody>
      </p:sp>
      <p:sp>
        <p:nvSpPr>
          <p:cNvPr id="8" name="Rectangle 7">
            <a:extLst>
              <a:ext uri="{FF2B5EF4-FFF2-40B4-BE49-F238E27FC236}">
                <a16:creationId xmlns:a16="http://schemas.microsoft.com/office/drawing/2014/main" id="{39C82013-142E-C4F0-A932-8413F67D2E3D}"/>
              </a:ext>
            </a:extLst>
          </p:cNvPr>
          <p:cNvSpPr/>
          <p:nvPr/>
        </p:nvSpPr>
        <p:spPr>
          <a:xfrm>
            <a:off x="1497167" y="1685317"/>
            <a:ext cx="6172200" cy="2057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Oval 8">
            <a:extLst>
              <a:ext uri="{FF2B5EF4-FFF2-40B4-BE49-F238E27FC236}">
                <a16:creationId xmlns:a16="http://schemas.microsoft.com/office/drawing/2014/main" id="{EE6B71FC-E0B7-E70D-EA1A-5B6D46C78FF8}"/>
              </a:ext>
            </a:extLst>
          </p:cNvPr>
          <p:cNvSpPr/>
          <p:nvPr/>
        </p:nvSpPr>
        <p:spPr>
          <a:xfrm>
            <a:off x="1119977" y="1170967"/>
            <a:ext cx="754380" cy="754380"/>
          </a:xfrm>
          <a:prstGeom prst="ellipse">
            <a:avLst/>
          </a:prstGeom>
          <a:solidFill>
            <a:srgbClr val="FFFFFF"/>
          </a:solidFill>
          <a:ln w="254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TextBox 9">
            <a:extLst>
              <a:ext uri="{FF2B5EF4-FFF2-40B4-BE49-F238E27FC236}">
                <a16:creationId xmlns:a16="http://schemas.microsoft.com/office/drawing/2014/main" id="{DF07461D-491E-F81A-D2B3-C79708E99981}"/>
              </a:ext>
            </a:extLst>
          </p:cNvPr>
          <p:cNvSpPr txBox="1"/>
          <p:nvPr/>
        </p:nvSpPr>
        <p:spPr>
          <a:xfrm>
            <a:off x="1119977" y="1273837"/>
            <a:ext cx="754380" cy="617220"/>
          </a:xfrm>
          <a:prstGeom prst="rect">
            <a:avLst/>
          </a:prstGeom>
          <a:noFill/>
        </p:spPr>
        <p:txBody>
          <a:bodyPr wrap="square"/>
          <a:lstStyle/>
          <a:p>
            <a:pPr algn="ctr">
              <a:defRPr sz="2800" b="1">
                <a:solidFill>
                  <a:srgbClr val="6D28D9"/>
                </a:solidFill>
                <a:latin typeface="Calibri"/>
              </a:defRPr>
            </a:pPr>
            <a:r>
              <a:rPr sz="2100"/>
              <a:t>01</a:t>
            </a:r>
          </a:p>
        </p:txBody>
      </p:sp>
      <p:sp>
        <p:nvSpPr>
          <p:cNvPr id="11" name="TextBox 10">
            <a:extLst>
              <a:ext uri="{FF2B5EF4-FFF2-40B4-BE49-F238E27FC236}">
                <a16:creationId xmlns:a16="http://schemas.microsoft.com/office/drawing/2014/main" id="{62F5F3C1-4395-7111-3478-85AF5F82DEDD}"/>
              </a:ext>
            </a:extLst>
          </p:cNvPr>
          <p:cNvSpPr txBox="1"/>
          <p:nvPr/>
        </p:nvSpPr>
        <p:spPr>
          <a:xfrm>
            <a:off x="777077" y="2131087"/>
            <a:ext cx="1440180" cy="274320"/>
          </a:xfrm>
          <a:prstGeom prst="rect">
            <a:avLst/>
          </a:prstGeom>
          <a:noFill/>
        </p:spPr>
        <p:txBody>
          <a:bodyPr wrap="square"/>
          <a:lstStyle/>
          <a:p>
            <a:pPr algn="ctr">
              <a:defRPr sz="1800" b="1">
                <a:solidFill>
                  <a:srgbClr val="111827"/>
                </a:solidFill>
                <a:latin typeface="Calibri"/>
              </a:defRPr>
            </a:pPr>
            <a:r>
              <a:rPr sz="1350"/>
              <a:t>Upload</a:t>
            </a:r>
          </a:p>
        </p:txBody>
      </p:sp>
      <p:sp>
        <p:nvSpPr>
          <p:cNvPr id="12" name="Oval 11">
            <a:extLst>
              <a:ext uri="{FF2B5EF4-FFF2-40B4-BE49-F238E27FC236}">
                <a16:creationId xmlns:a16="http://schemas.microsoft.com/office/drawing/2014/main" id="{58B3DFF5-47E2-7664-157D-C263C935D34E}"/>
              </a:ext>
            </a:extLst>
          </p:cNvPr>
          <p:cNvSpPr/>
          <p:nvPr/>
        </p:nvSpPr>
        <p:spPr>
          <a:xfrm>
            <a:off x="3211667" y="1170967"/>
            <a:ext cx="754380" cy="754380"/>
          </a:xfrm>
          <a:prstGeom prst="ellipse">
            <a:avLst/>
          </a:prstGeom>
          <a:solidFill>
            <a:srgbClr val="FFFFFF"/>
          </a:solidFill>
          <a:ln w="25400">
            <a:solidFill>
              <a:srgbClr val="EA760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TextBox 12">
            <a:extLst>
              <a:ext uri="{FF2B5EF4-FFF2-40B4-BE49-F238E27FC236}">
                <a16:creationId xmlns:a16="http://schemas.microsoft.com/office/drawing/2014/main" id="{3C74A9ED-4639-99F5-C6BC-C0DB6A6791EC}"/>
              </a:ext>
            </a:extLst>
          </p:cNvPr>
          <p:cNvSpPr txBox="1"/>
          <p:nvPr/>
        </p:nvSpPr>
        <p:spPr>
          <a:xfrm>
            <a:off x="3211667" y="1273837"/>
            <a:ext cx="754380" cy="617220"/>
          </a:xfrm>
          <a:prstGeom prst="rect">
            <a:avLst/>
          </a:prstGeom>
          <a:noFill/>
        </p:spPr>
        <p:txBody>
          <a:bodyPr wrap="square"/>
          <a:lstStyle/>
          <a:p>
            <a:pPr algn="ctr">
              <a:defRPr sz="2800" b="1">
                <a:solidFill>
                  <a:srgbClr val="EA760D"/>
                </a:solidFill>
                <a:latin typeface="Calibri"/>
              </a:defRPr>
            </a:pPr>
            <a:r>
              <a:rPr sz="2100"/>
              <a:t>02</a:t>
            </a:r>
          </a:p>
        </p:txBody>
      </p:sp>
      <p:sp>
        <p:nvSpPr>
          <p:cNvPr id="14" name="TextBox 13">
            <a:extLst>
              <a:ext uri="{FF2B5EF4-FFF2-40B4-BE49-F238E27FC236}">
                <a16:creationId xmlns:a16="http://schemas.microsoft.com/office/drawing/2014/main" id="{FE86992D-E7C2-1342-5F07-D0C3936E57E3}"/>
              </a:ext>
            </a:extLst>
          </p:cNvPr>
          <p:cNvSpPr txBox="1"/>
          <p:nvPr/>
        </p:nvSpPr>
        <p:spPr>
          <a:xfrm>
            <a:off x="2868767" y="2131087"/>
            <a:ext cx="1440180" cy="274320"/>
          </a:xfrm>
          <a:prstGeom prst="rect">
            <a:avLst/>
          </a:prstGeom>
          <a:noFill/>
        </p:spPr>
        <p:txBody>
          <a:bodyPr wrap="square"/>
          <a:lstStyle/>
          <a:p>
            <a:pPr algn="ctr">
              <a:defRPr sz="1800" b="1">
                <a:solidFill>
                  <a:srgbClr val="111827"/>
                </a:solidFill>
                <a:latin typeface="Calibri"/>
              </a:defRPr>
            </a:pPr>
            <a:r>
              <a:rPr sz="1350"/>
              <a:t>AI Extracts</a:t>
            </a:r>
          </a:p>
        </p:txBody>
      </p:sp>
      <p:sp>
        <p:nvSpPr>
          <p:cNvPr id="15" name="Oval 14">
            <a:extLst>
              <a:ext uri="{FF2B5EF4-FFF2-40B4-BE49-F238E27FC236}">
                <a16:creationId xmlns:a16="http://schemas.microsoft.com/office/drawing/2014/main" id="{90D32C0E-77EC-DB4A-B87E-ACFAEA6B1007}"/>
              </a:ext>
            </a:extLst>
          </p:cNvPr>
          <p:cNvSpPr/>
          <p:nvPr/>
        </p:nvSpPr>
        <p:spPr>
          <a:xfrm>
            <a:off x="5269067" y="1170967"/>
            <a:ext cx="754380" cy="754380"/>
          </a:xfrm>
          <a:prstGeom prst="ellipse">
            <a:avLst/>
          </a:prstGeom>
          <a:solidFill>
            <a:srgbClr val="FFFFFF"/>
          </a:solidFill>
          <a:ln w="25400">
            <a:solidFill>
              <a:srgbClr val="DB2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TextBox 15">
            <a:extLst>
              <a:ext uri="{FF2B5EF4-FFF2-40B4-BE49-F238E27FC236}">
                <a16:creationId xmlns:a16="http://schemas.microsoft.com/office/drawing/2014/main" id="{75B45490-4BAC-D176-383F-E902F2379868}"/>
              </a:ext>
            </a:extLst>
          </p:cNvPr>
          <p:cNvSpPr txBox="1"/>
          <p:nvPr/>
        </p:nvSpPr>
        <p:spPr>
          <a:xfrm>
            <a:off x="5269067" y="1273837"/>
            <a:ext cx="754380" cy="617220"/>
          </a:xfrm>
          <a:prstGeom prst="rect">
            <a:avLst/>
          </a:prstGeom>
          <a:noFill/>
        </p:spPr>
        <p:txBody>
          <a:bodyPr wrap="square"/>
          <a:lstStyle/>
          <a:p>
            <a:pPr algn="ctr">
              <a:defRPr sz="2800" b="1">
                <a:solidFill>
                  <a:srgbClr val="DB2777"/>
                </a:solidFill>
                <a:latin typeface="Calibri"/>
              </a:defRPr>
            </a:pPr>
            <a:r>
              <a:rPr sz="2100"/>
              <a:t>03</a:t>
            </a:r>
          </a:p>
        </p:txBody>
      </p:sp>
      <p:sp>
        <p:nvSpPr>
          <p:cNvPr id="17" name="TextBox 16">
            <a:extLst>
              <a:ext uri="{FF2B5EF4-FFF2-40B4-BE49-F238E27FC236}">
                <a16:creationId xmlns:a16="http://schemas.microsoft.com/office/drawing/2014/main" id="{05261841-C5F6-3A8F-D51F-D9DA3C430F3B}"/>
              </a:ext>
            </a:extLst>
          </p:cNvPr>
          <p:cNvSpPr txBox="1"/>
          <p:nvPr/>
        </p:nvSpPr>
        <p:spPr>
          <a:xfrm>
            <a:off x="4926167" y="2131087"/>
            <a:ext cx="1440180" cy="274320"/>
          </a:xfrm>
          <a:prstGeom prst="rect">
            <a:avLst/>
          </a:prstGeom>
          <a:noFill/>
        </p:spPr>
        <p:txBody>
          <a:bodyPr wrap="square"/>
          <a:lstStyle/>
          <a:p>
            <a:pPr algn="ctr">
              <a:defRPr sz="1800" b="1">
                <a:solidFill>
                  <a:srgbClr val="111827"/>
                </a:solidFill>
                <a:latin typeface="Calibri"/>
              </a:defRPr>
            </a:pPr>
            <a:r>
              <a:rPr sz="1350"/>
              <a:t>Dashboards</a:t>
            </a:r>
          </a:p>
        </p:txBody>
      </p:sp>
      <p:sp>
        <p:nvSpPr>
          <p:cNvPr id="18" name="Oval 17">
            <a:extLst>
              <a:ext uri="{FF2B5EF4-FFF2-40B4-BE49-F238E27FC236}">
                <a16:creationId xmlns:a16="http://schemas.microsoft.com/office/drawing/2014/main" id="{F417000F-DB83-123F-15BB-325447571BFC}"/>
              </a:ext>
            </a:extLst>
          </p:cNvPr>
          <p:cNvSpPr/>
          <p:nvPr/>
        </p:nvSpPr>
        <p:spPr>
          <a:xfrm>
            <a:off x="7326467" y="1170967"/>
            <a:ext cx="754380" cy="754380"/>
          </a:xfrm>
          <a:prstGeom prst="ellipse">
            <a:avLst/>
          </a:prstGeom>
          <a:solidFill>
            <a:srgbClr val="FFFFFF"/>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TextBox 18">
            <a:extLst>
              <a:ext uri="{FF2B5EF4-FFF2-40B4-BE49-F238E27FC236}">
                <a16:creationId xmlns:a16="http://schemas.microsoft.com/office/drawing/2014/main" id="{6A78B9FD-177C-C95E-1EC3-1752C9758246}"/>
              </a:ext>
            </a:extLst>
          </p:cNvPr>
          <p:cNvSpPr txBox="1"/>
          <p:nvPr/>
        </p:nvSpPr>
        <p:spPr>
          <a:xfrm>
            <a:off x="7326467" y="1273837"/>
            <a:ext cx="754380" cy="617220"/>
          </a:xfrm>
          <a:prstGeom prst="rect">
            <a:avLst/>
          </a:prstGeom>
          <a:noFill/>
        </p:spPr>
        <p:txBody>
          <a:bodyPr wrap="square"/>
          <a:lstStyle/>
          <a:p>
            <a:pPr algn="ctr">
              <a:defRPr sz="2800" b="1">
                <a:solidFill>
                  <a:srgbClr val="059669"/>
                </a:solidFill>
                <a:latin typeface="Calibri"/>
              </a:defRPr>
            </a:pPr>
            <a:r>
              <a:rPr sz="2100"/>
              <a:t>04</a:t>
            </a:r>
          </a:p>
        </p:txBody>
      </p:sp>
      <p:sp>
        <p:nvSpPr>
          <p:cNvPr id="20" name="TextBox 19">
            <a:extLst>
              <a:ext uri="{FF2B5EF4-FFF2-40B4-BE49-F238E27FC236}">
                <a16:creationId xmlns:a16="http://schemas.microsoft.com/office/drawing/2014/main" id="{1E301173-9306-8F58-1DCF-C5534AACA07D}"/>
              </a:ext>
            </a:extLst>
          </p:cNvPr>
          <p:cNvSpPr txBox="1"/>
          <p:nvPr/>
        </p:nvSpPr>
        <p:spPr>
          <a:xfrm>
            <a:off x="6983567" y="2131087"/>
            <a:ext cx="1440180" cy="274320"/>
          </a:xfrm>
          <a:prstGeom prst="rect">
            <a:avLst/>
          </a:prstGeom>
          <a:noFill/>
        </p:spPr>
        <p:txBody>
          <a:bodyPr wrap="square"/>
          <a:lstStyle/>
          <a:p>
            <a:pPr algn="ctr">
              <a:defRPr sz="1800" b="1">
                <a:solidFill>
                  <a:srgbClr val="111827"/>
                </a:solidFill>
                <a:latin typeface="Calibri"/>
              </a:defRPr>
            </a:pPr>
            <a:r>
              <a:rPr sz="1350"/>
              <a:t>Take Action</a:t>
            </a:r>
          </a:p>
        </p:txBody>
      </p:sp>
      <p:graphicFrame>
        <p:nvGraphicFramePr>
          <p:cNvPr id="24" name="Diagram 23">
            <a:extLst>
              <a:ext uri="{FF2B5EF4-FFF2-40B4-BE49-F238E27FC236}">
                <a16:creationId xmlns:a16="http://schemas.microsoft.com/office/drawing/2014/main" id="{9355F9AF-B379-7526-91B6-B3D83DBA5902}"/>
              </a:ext>
            </a:extLst>
          </p:cNvPr>
          <p:cNvGraphicFramePr>
            <a:graphicFrameLocks noChangeAspect="1"/>
          </p:cNvGraphicFramePr>
          <p:nvPr>
            <p:extLst>
              <p:ext uri="{D42A27DB-BD31-4B8C-83A1-F6EECF244321}">
                <p14:modId xmlns:p14="http://schemas.microsoft.com/office/powerpoint/2010/main" val="3245400270"/>
              </p:ext>
            </p:extLst>
          </p:nvPr>
        </p:nvGraphicFramePr>
        <p:xfrm>
          <a:off x="4313208" y="2386638"/>
          <a:ext cx="4701164" cy="3766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8" name="Flowchart: Multidocument 37">
            <a:extLst>
              <a:ext uri="{FF2B5EF4-FFF2-40B4-BE49-F238E27FC236}">
                <a16:creationId xmlns:a16="http://schemas.microsoft.com/office/drawing/2014/main" id="{08137F61-BEA1-4B0B-06D8-C36EC3D3C59A}"/>
              </a:ext>
            </a:extLst>
          </p:cNvPr>
          <p:cNvSpPr/>
          <p:nvPr/>
        </p:nvSpPr>
        <p:spPr bwMode="auto">
          <a:xfrm>
            <a:off x="858676" y="3100695"/>
            <a:ext cx="1276982" cy="1584220"/>
          </a:xfrm>
          <a:prstGeom prst="flowChartMultidocument">
            <a:avLst/>
          </a:prstGeom>
          <a:blipFill>
            <a:blip r:embed="rId8">
              <a:extLst>
                <a:ext uri="{837473B0-CC2E-450A-ABE3-18F120FF3D39}">
                  <a1611:picAttrSrcUrl xmlns:a1611="http://schemas.microsoft.com/office/drawing/2016/11/main" r:id="rId9"/>
                </a:ext>
              </a:extLst>
            </a:blip>
            <a:stretch>
              <a:fillRect/>
            </a:stretch>
          </a:blipFill>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1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4F02B673-D27C-7017-1DDE-458136702E4A}"/>
              </a:ext>
            </a:extLst>
          </p:cNvPr>
          <p:cNvSpPr txBox="1"/>
          <p:nvPr/>
        </p:nvSpPr>
        <p:spPr>
          <a:xfrm>
            <a:off x="653322" y="4779785"/>
            <a:ext cx="1687690" cy="830997"/>
          </a:xfrm>
          <a:prstGeom prst="rect">
            <a:avLst/>
          </a:prstGeom>
          <a:noFill/>
        </p:spPr>
        <p:txBody>
          <a:bodyPr wrap="square">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a:ln>
                  <a:noFill/>
                </a:ln>
                <a:solidFill>
                  <a:schemeClr val="tx2"/>
                </a:solidFill>
                <a:effectLst/>
                <a:latin typeface="Verdana" pitchFamily="34" charset="0"/>
                <a:cs typeface="Arial" charset="0"/>
              </a:rPr>
              <a:t>Load </a:t>
            </a:r>
            <a:r>
              <a:rPr lang="en-GB" sz="1200" dirty="0"/>
              <a:t>c</a:t>
            </a:r>
            <a:r>
              <a:rPr kumimoji="0" lang="en-GB" sz="1200" b="0" i="0" u="none" strike="noStrike" cap="none" normalizeH="0" baseline="0" dirty="0">
                <a:ln>
                  <a:noFill/>
                </a:ln>
                <a:solidFill>
                  <a:schemeClr val="tx2"/>
                </a:solidFill>
                <a:effectLst/>
                <a:latin typeface="Verdana" pitchFamily="34" charset="0"/>
                <a:cs typeface="Arial" charset="0"/>
              </a:rPr>
              <a:t>ontract documents: </a:t>
            </a:r>
          </a:p>
          <a:p>
            <a:pPr marL="0" marR="0" indent="0" algn="ctr" defTabSz="914400" rtl="0" eaLnBrk="1" fontAlgn="base" latinLnBrk="0" hangingPunct="1">
              <a:lnSpc>
                <a:spcPct val="100000"/>
              </a:lnSpc>
              <a:spcBef>
                <a:spcPct val="0"/>
              </a:spcBef>
              <a:spcAft>
                <a:spcPct val="0"/>
              </a:spcAft>
              <a:buClrTx/>
              <a:buSzTx/>
              <a:buFontTx/>
              <a:buNone/>
              <a:tabLst/>
            </a:pPr>
            <a:r>
              <a:rPr kumimoji="0" lang="en-GB" sz="1200" b="0" i="0" u="none" strike="noStrike" cap="none" normalizeH="0" baseline="0" dirty="0">
                <a:ln>
                  <a:noFill/>
                </a:ln>
                <a:solidFill>
                  <a:schemeClr val="tx2"/>
                </a:solidFill>
                <a:effectLst/>
                <a:latin typeface="Verdana" pitchFamily="34" charset="0"/>
                <a:cs typeface="Arial" charset="0"/>
              </a:rPr>
              <a:t> MSA, Schedules, etc.</a:t>
            </a:r>
          </a:p>
        </p:txBody>
      </p:sp>
      <p:sp>
        <p:nvSpPr>
          <p:cNvPr id="42" name="TextBox 41">
            <a:extLst>
              <a:ext uri="{FF2B5EF4-FFF2-40B4-BE49-F238E27FC236}">
                <a16:creationId xmlns:a16="http://schemas.microsoft.com/office/drawing/2014/main" id="{849531F6-00D0-B901-0D6C-B14FACCC023A}"/>
              </a:ext>
            </a:extLst>
          </p:cNvPr>
          <p:cNvSpPr txBox="1"/>
          <p:nvPr/>
        </p:nvSpPr>
        <p:spPr>
          <a:xfrm>
            <a:off x="2693548" y="4756703"/>
            <a:ext cx="2022472" cy="877163"/>
          </a:xfrm>
          <a:prstGeom prst="rect">
            <a:avLst/>
          </a:prstGeom>
          <a:noFill/>
        </p:spPr>
        <p:txBody>
          <a:bodyPr wrap="square">
            <a:spAutoFit/>
          </a:bodyPr>
          <a:lstStyle>
            <a:defPPr>
              <a:defRPr lang="nl-NL"/>
            </a:defPPr>
            <a:lvl1pPr marL="0" marR="0" indent="0" algn="ctr" defTabSz="914400" eaLnBrk="1" latinLnBrk="0" hangingPunct="1">
              <a:lnSpc>
                <a:spcPct val="100000"/>
              </a:lnSpc>
              <a:buClrTx/>
              <a:buSzTx/>
              <a:buFontTx/>
              <a:buNone/>
              <a:tabLst/>
              <a:defRPr kumimoji="0" sz="1200" b="0" i="0" u="none" strike="noStrike" cap="none" normalizeH="0" baseline="0">
                <a:ln>
                  <a:noFill/>
                </a:ln>
                <a:effectLst/>
              </a:defRPr>
            </a:lvl1pPr>
          </a:lstStyle>
          <a:p>
            <a:r>
              <a:rPr lang="en-GB" dirty="0"/>
              <a:t>Structured &amp; Analysed</a:t>
            </a:r>
          </a:p>
          <a:p>
            <a:endParaRPr lang="en-GB" sz="300" dirty="0"/>
          </a:p>
          <a:p>
            <a:r>
              <a:rPr lang="en-GB" dirty="0"/>
              <a:t>With assigned external data sources for comparison</a:t>
            </a:r>
          </a:p>
        </p:txBody>
      </p:sp>
      <p:sp>
        <p:nvSpPr>
          <p:cNvPr id="45" name="Arrow: Bent-Up 44">
            <a:extLst>
              <a:ext uri="{FF2B5EF4-FFF2-40B4-BE49-F238E27FC236}">
                <a16:creationId xmlns:a16="http://schemas.microsoft.com/office/drawing/2014/main" id="{0E1A735D-3B06-5FC3-BA19-1B2D96BAA2D9}"/>
              </a:ext>
            </a:extLst>
          </p:cNvPr>
          <p:cNvSpPr/>
          <p:nvPr/>
        </p:nvSpPr>
        <p:spPr bwMode="auto">
          <a:xfrm>
            <a:off x="4164938" y="3974077"/>
            <a:ext cx="908714" cy="302592"/>
          </a:xfrm>
          <a:prstGeom prst="bentUpArrow">
            <a:avLst>
              <a:gd name="adj1" fmla="val 31125"/>
              <a:gd name="adj2" fmla="val 26280"/>
              <a:gd name="adj3" fmla="val 25000"/>
            </a:avLst>
          </a:prstGeom>
          <a:pattFill prst="openDmnd">
            <a:fgClr>
              <a:schemeClr val="tx1">
                <a:lumMod val="75000"/>
                <a:lumOff val="25000"/>
              </a:schemeClr>
            </a:fgClr>
            <a:bgClr>
              <a:schemeClr val="bg2">
                <a:lumMod val="40000"/>
                <a:lumOff val="60000"/>
              </a:schemeClr>
            </a:bgClr>
          </a:pattFill>
          <a:ln w="9525" cap="flat" cmpd="sng" algn="ctr">
            <a:solidFill>
              <a:schemeClr val="bg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a:ln>
                <a:noFill/>
              </a:ln>
              <a:solidFill>
                <a:schemeClr val="tx2"/>
              </a:solidFill>
              <a:effectLst/>
              <a:latin typeface="Verdana" pitchFamily="34" charset="0"/>
              <a:cs typeface="Arial" charset="0"/>
            </a:endParaRPr>
          </a:p>
        </p:txBody>
      </p:sp>
      <p:sp>
        <p:nvSpPr>
          <p:cNvPr id="23" name="Cylinder 22">
            <a:extLst>
              <a:ext uri="{FF2B5EF4-FFF2-40B4-BE49-F238E27FC236}">
                <a16:creationId xmlns:a16="http://schemas.microsoft.com/office/drawing/2014/main" id="{BE6593A6-F354-7F20-402D-FEF9BCD3F407}"/>
              </a:ext>
            </a:extLst>
          </p:cNvPr>
          <p:cNvSpPr/>
          <p:nvPr/>
        </p:nvSpPr>
        <p:spPr bwMode="auto">
          <a:xfrm>
            <a:off x="3012777" y="3068951"/>
            <a:ext cx="1152161" cy="1584220"/>
          </a:xfrm>
          <a:prstGeom prst="can">
            <a:avLst/>
          </a:prstGeom>
          <a:blipFill>
            <a:blip r:embed="rId10">
              <a:extLst>
                <a:ext uri="{837473B0-CC2E-450A-ABE3-18F120FF3D39}">
                  <a1611:picAttrSrcUrl xmlns:a1611="http://schemas.microsoft.com/office/drawing/2016/11/main" r:id="rId11"/>
                </a:ext>
              </a:extLst>
            </a:blip>
            <a:stretch>
              <a:fillRect/>
            </a:stretch>
          </a:blipFill>
          <a:ln w="9525"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a:ln>
                <a:noFill/>
              </a:ln>
              <a:solidFill>
                <a:schemeClr val="tx2"/>
              </a:solidFill>
              <a:effectLst/>
              <a:latin typeface="Verdana" pitchFamily="34" charset="0"/>
              <a:cs typeface="Arial" charset="0"/>
            </a:endParaRPr>
          </a:p>
        </p:txBody>
      </p:sp>
      <p:sp>
        <p:nvSpPr>
          <p:cNvPr id="47" name="Oval 46">
            <a:extLst>
              <a:ext uri="{FF2B5EF4-FFF2-40B4-BE49-F238E27FC236}">
                <a16:creationId xmlns:a16="http://schemas.microsoft.com/office/drawing/2014/main" id="{39B0ED70-47E2-2F4F-6381-BB7B5922AD88}"/>
              </a:ext>
            </a:extLst>
          </p:cNvPr>
          <p:cNvSpPr/>
          <p:nvPr/>
        </p:nvSpPr>
        <p:spPr bwMode="auto">
          <a:xfrm>
            <a:off x="5945894" y="3727261"/>
            <a:ext cx="1389082" cy="1323867"/>
          </a:xfrm>
          <a:prstGeom prst="ellipse">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r>
              <a:rPr lang="en-GB" sz="1100" b="1" dirty="0">
                <a:solidFill>
                  <a:srgbClr val="FF0000"/>
                </a:solidFill>
              </a:rPr>
              <a:t>Continues Control Cycle </a:t>
            </a:r>
          </a:p>
          <a:p>
            <a:pPr algn="ctr"/>
            <a:r>
              <a:rPr lang="en-GB" sz="1100" b="1" dirty="0">
                <a:solidFill>
                  <a:srgbClr val="FF0000"/>
                </a:solidFill>
              </a:rPr>
              <a:t>by </a:t>
            </a:r>
          </a:p>
          <a:p>
            <a:pPr algn="ctr"/>
            <a:r>
              <a:rPr lang="en-GB" sz="1100" b="1" dirty="0">
                <a:solidFill>
                  <a:srgbClr val="FF0000"/>
                </a:solidFill>
              </a:rPr>
              <a:t>Agentic AI Agents</a:t>
            </a:r>
          </a:p>
          <a:p>
            <a:pPr marL="0" marR="0" indent="0" algn="ctr" defTabSz="914400" rtl="0" eaLnBrk="1" fontAlgn="base" latinLnBrk="0" hangingPunct="1">
              <a:lnSpc>
                <a:spcPct val="100000"/>
              </a:lnSpc>
              <a:spcBef>
                <a:spcPct val="0"/>
              </a:spcBef>
              <a:spcAft>
                <a:spcPct val="0"/>
              </a:spcAft>
              <a:buClrTx/>
              <a:buSzTx/>
              <a:buFontTx/>
              <a:buNone/>
              <a:tabLst/>
            </a:pPr>
            <a:endParaRPr kumimoji="0" lang="en-GB" sz="900" b="0" i="0" u="none" strike="noStrike" cap="none" normalizeH="0" baseline="0" dirty="0">
              <a:ln>
                <a:noFill/>
              </a:ln>
              <a:solidFill>
                <a:srgbClr val="FF0000"/>
              </a:solidFill>
              <a:effectLst/>
              <a:latin typeface="Verdana" pitchFamily="34" charset="0"/>
              <a:cs typeface="Arial" charset="0"/>
            </a:endParaRPr>
          </a:p>
        </p:txBody>
      </p:sp>
      <p:sp>
        <p:nvSpPr>
          <p:cNvPr id="48" name="Arrow: Right 47">
            <a:extLst>
              <a:ext uri="{FF2B5EF4-FFF2-40B4-BE49-F238E27FC236}">
                <a16:creationId xmlns:a16="http://schemas.microsoft.com/office/drawing/2014/main" id="{3B84B997-1310-CB06-06BB-93B115D9CD41}"/>
              </a:ext>
            </a:extLst>
          </p:cNvPr>
          <p:cNvSpPr/>
          <p:nvPr/>
        </p:nvSpPr>
        <p:spPr bwMode="auto">
          <a:xfrm>
            <a:off x="2068987" y="4136061"/>
            <a:ext cx="943790" cy="174882"/>
          </a:xfrm>
          <a:prstGeom prst="rightArrow">
            <a:avLst/>
          </a:prstGeom>
          <a:pattFill prst="openDmnd">
            <a:fgClr>
              <a:schemeClr val="tx1">
                <a:lumMod val="75000"/>
                <a:lumOff val="25000"/>
              </a:schemeClr>
            </a:fgClr>
            <a:bgClr>
              <a:schemeClr val="bg2">
                <a:lumMod val="40000"/>
                <a:lumOff val="60000"/>
              </a:schemeClr>
            </a:bgClr>
          </a:pattFill>
          <a:ln w="9525" cap="flat" cmpd="sng" algn="ctr">
            <a:solidFill>
              <a:schemeClr val="bg2"/>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endParaRPr lang="en-GB" sz="1100" dirty="0"/>
          </a:p>
        </p:txBody>
      </p:sp>
    </p:spTree>
    <p:extLst>
      <p:ext uri="{BB962C8B-B14F-4D97-AF65-F5344CB8AC3E}">
        <p14:creationId xmlns:p14="http://schemas.microsoft.com/office/powerpoint/2010/main" val="2359452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91C8307-653D-A101-0B82-A1DFD3E9DCBC}"/>
              </a:ext>
            </a:extLst>
          </p:cNvPr>
          <p:cNvSpPr>
            <a:spLocks noGrp="1"/>
          </p:cNvSpPr>
          <p:nvPr>
            <p:ph type="title"/>
          </p:nvPr>
        </p:nvSpPr>
        <p:spPr>
          <a:xfrm>
            <a:off x="323409" y="330133"/>
            <a:ext cx="8357453" cy="548641"/>
          </a:xfrm>
        </p:spPr>
        <p:txBody>
          <a:bodyPr anchor="ctr"/>
          <a:lstStyle/>
          <a:p>
            <a:r>
              <a:rPr lang="nl-NL" b="1" i="1" dirty="0">
                <a:solidFill>
                  <a:srgbClr val="054283"/>
                </a:solidFill>
              </a:rPr>
              <a:t>	                </a:t>
            </a:r>
            <a:r>
              <a:rPr lang="en-NL" sz="2400" b="1" i="1" noProof="0" dirty="0">
                <a:solidFill>
                  <a:srgbClr val="054283"/>
                </a:solidFill>
              </a:rPr>
              <a:t>One</a:t>
            </a:r>
            <a:r>
              <a:rPr lang="nl-NL" sz="2400" b="1" i="1" dirty="0">
                <a:solidFill>
                  <a:srgbClr val="054283"/>
                </a:solidFill>
              </a:rPr>
              <a:t> platform. Complete intelligence.</a:t>
            </a:r>
            <a:br>
              <a:rPr lang="nl-NL" b="1" i="1" dirty="0">
                <a:solidFill>
                  <a:srgbClr val="054283"/>
                </a:solidFill>
              </a:rPr>
            </a:br>
            <a:r>
              <a:rPr lang="en-US" sz="1400" b="1" i="1" dirty="0">
                <a:solidFill>
                  <a:srgbClr val="054283"/>
                </a:solidFill>
              </a:rPr>
              <a:t>From upload to intelligence in minutes</a:t>
            </a:r>
            <a:br>
              <a:rPr lang="en-US" b="1" i="1" dirty="0">
                <a:solidFill>
                  <a:srgbClr val="054283"/>
                </a:solidFill>
              </a:rPr>
            </a:br>
            <a:endParaRPr lang="en-GB" b="1" i="1" dirty="0">
              <a:solidFill>
                <a:srgbClr val="054283"/>
              </a:solidFill>
            </a:endParaRPr>
          </a:p>
        </p:txBody>
      </p:sp>
      <p:sp>
        <p:nvSpPr>
          <p:cNvPr id="55" name="Date Placeholder 2">
            <a:extLst>
              <a:ext uri="{FF2B5EF4-FFF2-40B4-BE49-F238E27FC236}">
                <a16:creationId xmlns:a16="http://schemas.microsoft.com/office/drawing/2014/main" id="{D796B3BD-6C6A-A7CB-92A6-02DD581A9CFA}"/>
              </a:ext>
            </a:extLst>
          </p:cNvPr>
          <p:cNvSpPr>
            <a:spLocks noGrp="1"/>
          </p:cNvSpPr>
          <p:nvPr>
            <p:ph type="dt" sz="half" idx="2"/>
          </p:nvPr>
        </p:nvSpPr>
        <p:spPr/>
        <p:txBody>
          <a:bodyPr/>
          <a:lstStyle/>
          <a:p>
            <a:fld id="{BCFD5220-14B2-4D59-AAB5-DC8635FE0AAA}"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56" name="Footer Placeholder 5">
            <a:extLst>
              <a:ext uri="{FF2B5EF4-FFF2-40B4-BE49-F238E27FC236}">
                <a16:creationId xmlns:a16="http://schemas.microsoft.com/office/drawing/2014/main" id="{243D35A5-FA50-3407-8E6D-1A547658AC47}"/>
              </a:ext>
            </a:extLst>
          </p:cNvPr>
          <p:cNvSpPr>
            <a:spLocks noGrp="1"/>
          </p:cNvSpPr>
          <p:nvPr>
            <p:ph type="ftr" sz="quarter" idx="3"/>
          </p:nvPr>
        </p:nvSpPr>
        <p:spPr/>
        <p:txBody>
          <a:bodyPr/>
          <a:lstStyle/>
          <a:p>
            <a:pPr algn="l"/>
            <a:r>
              <a:rPr lang="en-US" dirty="0"/>
              <a:t>AI-Powered Contract Intelligence</a:t>
            </a:r>
            <a:endParaRPr lang="en-GB" i="1" dirty="0"/>
          </a:p>
        </p:txBody>
      </p:sp>
      <p:sp>
        <p:nvSpPr>
          <p:cNvPr id="8" name="TextBox 7">
            <a:extLst>
              <a:ext uri="{FF2B5EF4-FFF2-40B4-BE49-F238E27FC236}">
                <a16:creationId xmlns:a16="http://schemas.microsoft.com/office/drawing/2014/main" id="{9A7F095A-7A23-7205-D45A-AB0D975A4AF0}"/>
              </a:ext>
            </a:extLst>
          </p:cNvPr>
          <p:cNvSpPr txBox="1"/>
          <p:nvPr/>
        </p:nvSpPr>
        <p:spPr>
          <a:xfrm>
            <a:off x="537047" y="1085267"/>
            <a:ext cx="6858000" cy="548640"/>
          </a:xfrm>
          <a:prstGeom prst="rect">
            <a:avLst/>
          </a:prstGeom>
          <a:noFill/>
        </p:spPr>
        <p:txBody>
          <a:bodyPr wrap="square"/>
          <a:lstStyle/>
          <a:p>
            <a:pPr algn="l">
              <a:defRPr sz="4000" b="1">
                <a:solidFill>
                  <a:srgbClr val="111827"/>
                </a:solidFill>
                <a:latin typeface="Calibri"/>
              </a:defRPr>
            </a:pPr>
            <a:endParaRPr sz="3000" dirty="0"/>
          </a:p>
        </p:txBody>
      </p:sp>
      <p:sp>
        <p:nvSpPr>
          <p:cNvPr id="9" name="TextBox 8">
            <a:extLst>
              <a:ext uri="{FF2B5EF4-FFF2-40B4-BE49-F238E27FC236}">
                <a16:creationId xmlns:a16="http://schemas.microsoft.com/office/drawing/2014/main" id="{3FD9F73C-EBDF-4B62-674A-23BDF9D99C62}"/>
              </a:ext>
            </a:extLst>
          </p:cNvPr>
          <p:cNvSpPr txBox="1"/>
          <p:nvPr/>
        </p:nvSpPr>
        <p:spPr>
          <a:xfrm>
            <a:off x="1531457" y="4551142"/>
            <a:ext cx="5486400" cy="342900"/>
          </a:xfrm>
          <a:prstGeom prst="rect">
            <a:avLst/>
          </a:prstGeom>
          <a:noFill/>
        </p:spPr>
        <p:txBody>
          <a:bodyPr wrap="square"/>
          <a:lstStyle/>
          <a:p>
            <a:pPr algn="l">
              <a:defRPr sz="1600" b="0">
                <a:solidFill>
                  <a:srgbClr val="4B5563"/>
                </a:solidFill>
                <a:latin typeface="Calibri"/>
              </a:defRPr>
            </a:pPr>
            <a:r>
              <a:rPr sz="1200" dirty="0">
                <a:solidFill>
                  <a:srgbClr val="054283"/>
                </a:solidFill>
              </a:rPr>
              <a:t>specialized AI agents extract, analyze, and monitor everything in your contracts  automatically.</a:t>
            </a:r>
          </a:p>
        </p:txBody>
      </p:sp>
      <p:sp>
        <p:nvSpPr>
          <p:cNvPr id="10" name="Rounded Rectangle 6">
            <a:extLst>
              <a:ext uri="{FF2B5EF4-FFF2-40B4-BE49-F238E27FC236}">
                <a16:creationId xmlns:a16="http://schemas.microsoft.com/office/drawing/2014/main" id="{446EA5CC-EF6D-79EF-2CE8-F6A4499170C8}"/>
              </a:ext>
            </a:extLst>
          </p:cNvPr>
          <p:cNvSpPr/>
          <p:nvPr/>
        </p:nvSpPr>
        <p:spPr>
          <a:xfrm>
            <a:off x="548640" y="3140960"/>
            <a:ext cx="2468880" cy="144018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Oval 10">
            <a:extLst>
              <a:ext uri="{FF2B5EF4-FFF2-40B4-BE49-F238E27FC236}">
                <a16:creationId xmlns:a16="http://schemas.microsoft.com/office/drawing/2014/main" id="{2E9F7438-2EE1-BCED-03AB-1B6CBBA5BCA7}"/>
              </a:ext>
            </a:extLst>
          </p:cNvPr>
          <p:cNvSpPr/>
          <p:nvPr/>
        </p:nvSpPr>
        <p:spPr>
          <a:xfrm>
            <a:off x="754380" y="3380990"/>
            <a:ext cx="96012" cy="96012"/>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a:extLst>
              <a:ext uri="{FF2B5EF4-FFF2-40B4-BE49-F238E27FC236}">
                <a16:creationId xmlns:a16="http://schemas.microsoft.com/office/drawing/2014/main" id="{5E0C9C94-01A7-C4AB-D42F-F47227AA0A73}"/>
              </a:ext>
            </a:extLst>
          </p:cNvPr>
          <p:cNvSpPr txBox="1"/>
          <p:nvPr/>
        </p:nvSpPr>
        <p:spPr>
          <a:xfrm>
            <a:off x="925830" y="3312410"/>
            <a:ext cx="1920240" cy="240030"/>
          </a:xfrm>
          <a:prstGeom prst="rect">
            <a:avLst/>
          </a:prstGeom>
          <a:noFill/>
        </p:spPr>
        <p:txBody>
          <a:bodyPr wrap="square"/>
          <a:lstStyle/>
          <a:p>
            <a:pPr algn="l">
              <a:defRPr sz="1600" b="1">
                <a:solidFill>
                  <a:srgbClr val="111827"/>
                </a:solidFill>
                <a:latin typeface="Calibri"/>
              </a:defRPr>
            </a:pPr>
            <a:r>
              <a:rPr sz="1200"/>
              <a:t>Contract Intelligence</a:t>
            </a:r>
          </a:p>
        </p:txBody>
      </p:sp>
      <p:sp>
        <p:nvSpPr>
          <p:cNvPr id="13" name="TextBox 12">
            <a:extLst>
              <a:ext uri="{FF2B5EF4-FFF2-40B4-BE49-F238E27FC236}">
                <a16:creationId xmlns:a16="http://schemas.microsoft.com/office/drawing/2014/main" id="{41FA58A1-CCF5-2C2D-85E8-6B611CAF3129}"/>
              </a:ext>
            </a:extLst>
          </p:cNvPr>
          <p:cNvSpPr txBox="1"/>
          <p:nvPr/>
        </p:nvSpPr>
        <p:spPr>
          <a:xfrm>
            <a:off x="754380" y="3655310"/>
            <a:ext cx="2057400" cy="822960"/>
          </a:xfrm>
          <a:prstGeom prst="rect">
            <a:avLst/>
          </a:prstGeom>
          <a:noFill/>
        </p:spPr>
        <p:txBody>
          <a:bodyPr wrap="square"/>
          <a:lstStyle/>
          <a:p>
            <a:pPr algn="l">
              <a:defRPr sz="1200" b="0">
                <a:solidFill>
                  <a:srgbClr val="4B5563"/>
                </a:solidFill>
                <a:latin typeface="Calibri"/>
              </a:defRPr>
            </a:pPr>
            <a:r>
              <a:rPr sz="900"/>
              <a:t>AI extracts metadata, 30+ clause types, and risks across 10 categories. Full semantic search across entire portfolio.</a:t>
            </a:r>
          </a:p>
        </p:txBody>
      </p:sp>
      <p:sp>
        <p:nvSpPr>
          <p:cNvPr id="14" name="Rounded Rectangle 10">
            <a:extLst>
              <a:ext uri="{FF2B5EF4-FFF2-40B4-BE49-F238E27FC236}">
                <a16:creationId xmlns:a16="http://schemas.microsoft.com/office/drawing/2014/main" id="{49C99235-80F9-BD61-05DC-53DB81FACD88}"/>
              </a:ext>
            </a:extLst>
          </p:cNvPr>
          <p:cNvSpPr/>
          <p:nvPr/>
        </p:nvSpPr>
        <p:spPr>
          <a:xfrm>
            <a:off x="3291840" y="3140960"/>
            <a:ext cx="2468880" cy="144018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5" name="Oval 14">
            <a:extLst>
              <a:ext uri="{FF2B5EF4-FFF2-40B4-BE49-F238E27FC236}">
                <a16:creationId xmlns:a16="http://schemas.microsoft.com/office/drawing/2014/main" id="{D975DDD4-D339-951B-6E2C-9004FCA7EC78}"/>
              </a:ext>
            </a:extLst>
          </p:cNvPr>
          <p:cNvSpPr/>
          <p:nvPr/>
        </p:nvSpPr>
        <p:spPr>
          <a:xfrm>
            <a:off x="3497580" y="3380990"/>
            <a:ext cx="96012" cy="96012"/>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TextBox 15">
            <a:extLst>
              <a:ext uri="{FF2B5EF4-FFF2-40B4-BE49-F238E27FC236}">
                <a16:creationId xmlns:a16="http://schemas.microsoft.com/office/drawing/2014/main" id="{769F4068-CACB-EB94-D60E-81030CDEB1FB}"/>
              </a:ext>
            </a:extLst>
          </p:cNvPr>
          <p:cNvSpPr txBox="1"/>
          <p:nvPr/>
        </p:nvSpPr>
        <p:spPr>
          <a:xfrm>
            <a:off x="3669030" y="3312410"/>
            <a:ext cx="1920240" cy="240030"/>
          </a:xfrm>
          <a:prstGeom prst="rect">
            <a:avLst/>
          </a:prstGeom>
          <a:noFill/>
        </p:spPr>
        <p:txBody>
          <a:bodyPr wrap="square"/>
          <a:lstStyle/>
          <a:p>
            <a:pPr algn="l">
              <a:defRPr sz="1600" b="1">
                <a:solidFill>
                  <a:srgbClr val="111827"/>
                </a:solidFill>
                <a:latin typeface="Calibri"/>
              </a:defRPr>
            </a:pPr>
            <a:r>
              <a:rPr sz="1200"/>
              <a:t>Obligation Tracking</a:t>
            </a:r>
          </a:p>
        </p:txBody>
      </p:sp>
      <p:sp>
        <p:nvSpPr>
          <p:cNvPr id="17" name="TextBox 16">
            <a:extLst>
              <a:ext uri="{FF2B5EF4-FFF2-40B4-BE49-F238E27FC236}">
                <a16:creationId xmlns:a16="http://schemas.microsoft.com/office/drawing/2014/main" id="{2D426CB1-4B87-8D9F-228D-43BAE0F2EE54}"/>
              </a:ext>
            </a:extLst>
          </p:cNvPr>
          <p:cNvSpPr txBox="1"/>
          <p:nvPr/>
        </p:nvSpPr>
        <p:spPr>
          <a:xfrm>
            <a:off x="3497580" y="3655310"/>
            <a:ext cx="2057400" cy="822960"/>
          </a:xfrm>
          <a:prstGeom prst="rect">
            <a:avLst/>
          </a:prstGeom>
          <a:noFill/>
        </p:spPr>
        <p:txBody>
          <a:bodyPr wrap="square"/>
          <a:lstStyle/>
          <a:p>
            <a:pPr algn="l">
              <a:defRPr sz="1200" b="0">
                <a:solidFill>
                  <a:srgbClr val="4B5563"/>
                </a:solidFill>
                <a:latin typeface="Calibri"/>
              </a:defRPr>
            </a:pPr>
            <a:r>
              <a:rPr sz="900"/>
              <a:t>RAG status indicators, owner assignment, escalation paths, and automated deadline alerts. Never miss a commitment.</a:t>
            </a:r>
          </a:p>
        </p:txBody>
      </p:sp>
      <p:sp>
        <p:nvSpPr>
          <p:cNvPr id="18" name="Rounded Rectangle 14">
            <a:extLst>
              <a:ext uri="{FF2B5EF4-FFF2-40B4-BE49-F238E27FC236}">
                <a16:creationId xmlns:a16="http://schemas.microsoft.com/office/drawing/2014/main" id="{9AA365E7-FCBE-D0D1-F080-A957EB01DAE2}"/>
              </a:ext>
            </a:extLst>
          </p:cNvPr>
          <p:cNvSpPr/>
          <p:nvPr/>
        </p:nvSpPr>
        <p:spPr>
          <a:xfrm>
            <a:off x="6035040" y="3140960"/>
            <a:ext cx="2468880" cy="144018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Oval 18">
            <a:extLst>
              <a:ext uri="{FF2B5EF4-FFF2-40B4-BE49-F238E27FC236}">
                <a16:creationId xmlns:a16="http://schemas.microsoft.com/office/drawing/2014/main" id="{F084F692-7F82-7DF7-0E50-24C90FDA2C71}"/>
              </a:ext>
            </a:extLst>
          </p:cNvPr>
          <p:cNvSpPr/>
          <p:nvPr/>
        </p:nvSpPr>
        <p:spPr>
          <a:xfrm>
            <a:off x="6240780" y="3380990"/>
            <a:ext cx="96012" cy="96012"/>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TextBox 19">
            <a:extLst>
              <a:ext uri="{FF2B5EF4-FFF2-40B4-BE49-F238E27FC236}">
                <a16:creationId xmlns:a16="http://schemas.microsoft.com/office/drawing/2014/main" id="{7DFA0AB0-32D8-2DA7-357B-2FDAD8F0E7C2}"/>
              </a:ext>
            </a:extLst>
          </p:cNvPr>
          <p:cNvSpPr txBox="1"/>
          <p:nvPr/>
        </p:nvSpPr>
        <p:spPr>
          <a:xfrm>
            <a:off x="6412230" y="3312410"/>
            <a:ext cx="1920240" cy="240030"/>
          </a:xfrm>
          <a:prstGeom prst="rect">
            <a:avLst/>
          </a:prstGeom>
          <a:noFill/>
        </p:spPr>
        <p:txBody>
          <a:bodyPr wrap="square"/>
          <a:lstStyle/>
          <a:p>
            <a:pPr algn="l">
              <a:defRPr sz="1600" b="1">
                <a:solidFill>
                  <a:srgbClr val="111827"/>
                </a:solidFill>
                <a:latin typeface="Calibri"/>
              </a:defRPr>
            </a:pPr>
            <a:r>
              <a:rPr sz="1200"/>
              <a:t>SLA Monitoring</a:t>
            </a:r>
          </a:p>
        </p:txBody>
      </p:sp>
      <p:sp>
        <p:nvSpPr>
          <p:cNvPr id="21" name="TextBox 20">
            <a:extLst>
              <a:ext uri="{FF2B5EF4-FFF2-40B4-BE49-F238E27FC236}">
                <a16:creationId xmlns:a16="http://schemas.microsoft.com/office/drawing/2014/main" id="{53D6BA93-A0F8-214C-8F6F-B2D980791437}"/>
              </a:ext>
            </a:extLst>
          </p:cNvPr>
          <p:cNvSpPr txBox="1"/>
          <p:nvPr/>
        </p:nvSpPr>
        <p:spPr>
          <a:xfrm>
            <a:off x="6240780" y="3655310"/>
            <a:ext cx="2057400" cy="822960"/>
          </a:xfrm>
          <a:prstGeom prst="rect">
            <a:avLst/>
          </a:prstGeom>
          <a:noFill/>
        </p:spPr>
        <p:txBody>
          <a:bodyPr wrap="square"/>
          <a:lstStyle/>
          <a:p>
            <a:pPr algn="l">
              <a:defRPr sz="1200" b="0">
                <a:solidFill>
                  <a:srgbClr val="4B5563"/>
                </a:solidFill>
                <a:latin typeface="Calibri"/>
              </a:defRPr>
            </a:pPr>
            <a:r>
              <a:rPr sz="900"/>
              <a:t>Real-time breach detection, service credit calculation, and vendor scorecards. Know when performance falls short.</a:t>
            </a:r>
          </a:p>
        </p:txBody>
      </p:sp>
      <p:sp>
        <p:nvSpPr>
          <p:cNvPr id="22" name="Rounded Rectangle 18">
            <a:extLst>
              <a:ext uri="{FF2B5EF4-FFF2-40B4-BE49-F238E27FC236}">
                <a16:creationId xmlns:a16="http://schemas.microsoft.com/office/drawing/2014/main" id="{F88EAFE4-C981-9E67-0A72-4A581AD08FB1}"/>
              </a:ext>
            </a:extLst>
          </p:cNvPr>
          <p:cNvSpPr/>
          <p:nvPr/>
        </p:nvSpPr>
        <p:spPr>
          <a:xfrm>
            <a:off x="548640" y="4786880"/>
            <a:ext cx="2468880" cy="144018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Oval 22">
            <a:extLst>
              <a:ext uri="{FF2B5EF4-FFF2-40B4-BE49-F238E27FC236}">
                <a16:creationId xmlns:a16="http://schemas.microsoft.com/office/drawing/2014/main" id="{40E78AF3-7542-B414-5269-04796D63C60A}"/>
              </a:ext>
            </a:extLst>
          </p:cNvPr>
          <p:cNvSpPr/>
          <p:nvPr/>
        </p:nvSpPr>
        <p:spPr>
          <a:xfrm>
            <a:off x="754380" y="5026910"/>
            <a:ext cx="96012" cy="96012"/>
          </a:xfrm>
          <a:prstGeom prst="ellipse">
            <a:avLst/>
          </a:prstGeom>
          <a:solidFill>
            <a:srgbClr val="EA7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a:extLst>
              <a:ext uri="{FF2B5EF4-FFF2-40B4-BE49-F238E27FC236}">
                <a16:creationId xmlns:a16="http://schemas.microsoft.com/office/drawing/2014/main" id="{2266271B-BB88-6520-3475-0CF33EA0E63D}"/>
              </a:ext>
            </a:extLst>
          </p:cNvPr>
          <p:cNvSpPr txBox="1"/>
          <p:nvPr/>
        </p:nvSpPr>
        <p:spPr>
          <a:xfrm>
            <a:off x="925830" y="4958330"/>
            <a:ext cx="1920240" cy="240030"/>
          </a:xfrm>
          <a:prstGeom prst="rect">
            <a:avLst/>
          </a:prstGeom>
          <a:noFill/>
        </p:spPr>
        <p:txBody>
          <a:bodyPr wrap="square"/>
          <a:lstStyle/>
          <a:p>
            <a:pPr algn="l">
              <a:defRPr sz="1600" b="1">
                <a:solidFill>
                  <a:srgbClr val="111827"/>
                </a:solidFill>
                <a:latin typeface="Calibri"/>
              </a:defRPr>
            </a:pPr>
            <a:r>
              <a:rPr sz="1200"/>
              <a:t>Renewal Management</a:t>
            </a:r>
          </a:p>
        </p:txBody>
      </p:sp>
      <p:sp>
        <p:nvSpPr>
          <p:cNvPr id="25" name="TextBox 24">
            <a:extLst>
              <a:ext uri="{FF2B5EF4-FFF2-40B4-BE49-F238E27FC236}">
                <a16:creationId xmlns:a16="http://schemas.microsoft.com/office/drawing/2014/main" id="{7ED1B8B5-DA40-18B1-4D0E-EBBD6C12F035}"/>
              </a:ext>
            </a:extLst>
          </p:cNvPr>
          <p:cNvSpPr txBox="1"/>
          <p:nvPr/>
        </p:nvSpPr>
        <p:spPr>
          <a:xfrm>
            <a:off x="754380" y="5301230"/>
            <a:ext cx="2057400" cy="822960"/>
          </a:xfrm>
          <a:prstGeom prst="rect">
            <a:avLst/>
          </a:prstGeom>
          <a:noFill/>
        </p:spPr>
        <p:txBody>
          <a:bodyPr wrap="square"/>
          <a:lstStyle/>
          <a:p>
            <a:pPr algn="l">
              <a:defRPr sz="1200" b="0">
                <a:solidFill>
                  <a:srgbClr val="4B5563"/>
                </a:solidFill>
                <a:latin typeface="Calibri"/>
              </a:defRPr>
            </a:pPr>
            <a:r>
              <a:rPr sz="900"/>
              <a:t>Auto-renewal detection, notice period tracking, and AI-powered renewal recommendations. Stay ahead of every date.</a:t>
            </a:r>
          </a:p>
        </p:txBody>
      </p:sp>
      <p:sp>
        <p:nvSpPr>
          <p:cNvPr id="26" name="Rounded Rectangle 22">
            <a:extLst>
              <a:ext uri="{FF2B5EF4-FFF2-40B4-BE49-F238E27FC236}">
                <a16:creationId xmlns:a16="http://schemas.microsoft.com/office/drawing/2014/main" id="{9E3D4A6F-5F3D-5308-97F9-CCBE05504545}"/>
              </a:ext>
            </a:extLst>
          </p:cNvPr>
          <p:cNvSpPr/>
          <p:nvPr/>
        </p:nvSpPr>
        <p:spPr>
          <a:xfrm>
            <a:off x="3291840" y="4786880"/>
            <a:ext cx="2468880" cy="144018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7" name="Oval 26">
            <a:extLst>
              <a:ext uri="{FF2B5EF4-FFF2-40B4-BE49-F238E27FC236}">
                <a16:creationId xmlns:a16="http://schemas.microsoft.com/office/drawing/2014/main" id="{1BBB365D-89CC-6CDA-9500-A127054FC1D6}"/>
              </a:ext>
            </a:extLst>
          </p:cNvPr>
          <p:cNvSpPr/>
          <p:nvPr/>
        </p:nvSpPr>
        <p:spPr>
          <a:xfrm>
            <a:off x="3497580" y="5026910"/>
            <a:ext cx="96012" cy="96012"/>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8" name="TextBox 27">
            <a:extLst>
              <a:ext uri="{FF2B5EF4-FFF2-40B4-BE49-F238E27FC236}">
                <a16:creationId xmlns:a16="http://schemas.microsoft.com/office/drawing/2014/main" id="{2ECF1B87-6604-9CD2-192E-571D173470C4}"/>
              </a:ext>
            </a:extLst>
          </p:cNvPr>
          <p:cNvSpPr txBox="1"/>
          <p:nvPr/>
        </p:nvSpPr>
        <p:spPr>
          <a:xfrm>
            <a:off x="3669030" y="4958330"/>
            <a:ext cx="1920240" cy="240030"/>
          </a:xfrm>
          <a:prstGeom prst="rect">
            <a:avLst/>
          </a:prstGeom>
          <a:noFill/>
        </p:spPr>
        <p:txBody>
          <a:bodyPr wrap="square"/>
          <a:lstStyle/>
          <a:p>
            <a:pPr algn="l">
              <a:defRPr sz="1600" b="1">
                <a:solidFill>
                  <a:srgbClr val="111827"/>
                </a:solidFill>
                <a:latin typeface="Calibri"/>
              </a:defRPr>
            </a:pPr>
            <a:r>
              <a:rPr sz="1200"/>
              <a:t>Relationship Governance</a:t>
            </a:r>
          </a:p>
        </p:txBody>
      </p:sp>
      <p:sp>
        <p:nvSpPr>
          <p:cNvPr id="29" name="TextBox 28">
            <a:extLst>
              <a:ext uri="{FF2B5EF4-FFF2-40B4-BE49-F238E27FC236}">
                <a16:creationId xmlns:a16="http://schemas.microsoft.com/office/drawing/2014/main" id="{E5C324D6-B516-256F-2494-DD10E9B1C65F}"/>
              </a:ext>
            </a:extLst>
          </p:cNvPr>
          <p:cNvSpPr txBox="1"/>
          <p:nvPr/>
        </p:nvSpPr>
        <p:spPr>
          <a:xfrm>
            <a:off x="3497580" y="5301230"/>
            <a:ext cx="2057400" cy="822960"/>
          </a:xfrm>
          <a:prstGeom prst="rect">
            <a:avLst/>
          </a:prstGeom>
          <a:noFill/>
        </p:spPr>
        <p:txBody>
          <a:bodyPr wrap="square"/>
          <a:lstStyle/>
          <a:p>
            <a:pPr algn="l">
              <a:defRPr sz="1200" b="0">
                <a:solidFill>
                  <a:srgbClr val="4B5563"/>
                </a:solidFill>
                <a:latin typeface="Calibri"/>
              </a:defRPr>
            </a:pPr>
            <a:r>
              <a:rPr sz="900"/>
              <a:t>KPI perception gap analysis, vendor health scores, satisfaction surveys, and improvement tracking. Only available in Evaluetor.</a:t>
            </a:r>
          </a:p>
        </p:txBody>
      </p:sp>
      <p:sp>
        <p:nvSpPr>
          <p:cNvPr id="30" name="Rounded Rectangle 26">
            <a:extLst>
              <a:ext uri="{FF2B5EF4-FFF2-40B4-BE49-F238E27FC236}">
                <a16:creationId xmlns:a16="http://schemas.microsoft.com/office/drawing/2014/main" id="{6DE10B1F-4CDB-A329-02A9-989A92696572}"/>
              </a:ext>
            </a:extLst>
          </p:cNvPr>
          <p:cNvSpPr/>
          <p:nvPr/>
        </p:nvSpPr>
        <p:spPr>
          <a:xfrm>
            <a:off x="6035040" y="4786880"/>
            <a:ext cx="2468880" cy="144018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1" name="Oval 30">
            <a:extLst>
              <a:ext uri="{FF2B5EF4-FFF2-40B4-BE49-F238E27FC236}">
                <a16:creationId xmlns:a16="http://schemas.microsoft.com/office/drawing/2014/main" id="{BBD3C5E6-8B89-E3E7-E155-6B81E7216F74}"/>
              </a:ext>
            </a:extLst>
          </p:cNvPr>
          <p:cNvSpPr/>
          <p:nvPr/>
        </p:nvSpPr>
        <p:spPr>
          <a:xfrm>
            <a:off x="6240780" y="5026910"/>
            <a:ext cx="96012" cy="96012"/>
          </a:xfrm>
          <a:prstGeom prst="ellipse">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TextBox 31">
            <a:extLst>
              <a:ext uri="{FF2B5EF4-FFF2-40B4-BE49-F238E27FC236}">
                <a16:creationId xmlns:a16="http://schemas.microsoft.com/office/drawing/2014/main" id="{93415761-930B-6D4B-C1DB-C7DF44B0F1D1}"/>
              </a:ext>
            </a:extLst>
          </p:cNvPr>
          <p:cNvSpPr txBox="1"/>
          <p:nvPr/>
        </p:nvSpPr>
        <p:spPr>
          <a:xfrm>
            <a:off x="6412230" y="4958330"/>
            <a:ext cx="1920240" cy="240030"/>
          </a:xfrm>
          <a:prstGeom prst="rect">
            <a:avLst/>
          </a:prstGeom>
          <a:noFill/>
        </p:spPr>
        <p:txBody>
          <a:bodyPr wrap="square"/>
          <a:lstStyle/>
          <a:p>
            <a:pPr algn="l">
              <a:defRPr sz="1600" b="1">
                <a:solidFill>
                  <a:srgbClr val="111827"/>
                </a:solidFill>
                <a:latin typeface="Calibri"/>
              </a:defRPr>
            </a:pPr>
            <a:r>
              <a:rPr sz="1200"/>
              <a:t>Enterprise Security</a:t>
            </a:r>
          </a:p>
        </p:txBody>
      </p:sp>
      <p:sp>
        <p:nvSpPr>
          <p:cNvPr id="33" name="TextBox 32">
            <a:extLst>
              <a:ext uri="{FF2B5EF4-FFF2-40B4-BE49-F238E27FC236}">
                <a16:creationId xmlns:a16="http://schemas.microsoft.com/office/drawing/2014/main" id="{D8048D76-24AA-7439-0E44-5F25D3DBD7D3}"/>
              </a:ext>
            </a:extLst>
          </p:cNvPr>
          <p:cNvSpPr txBox="1"/>
          <p:nvPr/>
        </p:nvSpPr>
        <p:spPr>
          <a:xfrm>
            <a:off x="6240780" y="5301230"/>
            <a:ext cx="2057400" cy="822960"/>
          </a:xfrm>
          <a:prstGeom prst="rect">
            <a:avLst/>
          </a:prstGeom>
          <a:noFill/>
        </p:spPr>
        <p:txBody>
          <a:bodyPr wrap="square"/>
          <a:lstStyle/>
          <a:p>
            <a:pPr algn="l">
              <a:defRPr sz="1200" b="0">
                <a:solidFill>
                  <a:srgbClr val="4B5563"/>
                </a:solidFill>
                <a:latin typeface="Calibri"/>
              </a:defRPr>
            </a:pPr>
            <a:r>
              <a:rPr sz="900"/>
              <a:t>SOC 2 Type II, GDPR-ready, AES-256 encryption, SSO/SAML, role-based access, full audit trails.</a:t>
            </a:r>
          </a:p>
        </p:txBody>
      </p:sp>
      <p:pic>
        <p:nvPicPr>
          <p:cNvPr id="34" name="Picture 33">
            <a:extLst>
              <a:ext uri="{FF2B5EF4-FFF2-40B4-BE49-F238E27FC236}">
                <a16:creationId xmlns:a16="http://schemas.microsoft.com/office/drawing/2014/main" id="{51FDA971-D51F-A865-D6F5-2C13E7BD7853}"/>
              </a:ext>
            </a:extLst>
          </p:cNvPr>
          <p:cNvPicPr>
            <a:picLocks noChangeAspect="1"/>
          </p:cNvPicPr>
          <p:nvPr/>
        </p:nvPicPr>
        <p:blipFill>
          <a:blip r:embed="rId3"/>
          <a:stretch>
            <a:fillRect/>
          </a:stretch>
        </p:blipFill>
        <p:spPr>
          <a:xfrm>
            <a:off x="1011481" y="65012"/>
            <a:ext cx="2200186" cy="678335"/>
          </a:xfrm>
          <a:prstGeom prst="rect">
            <a:avLst/>
          </a:prstGeom>
        </p:spPr>
      </p:pic>
      <p:sp>
        <p:nvSpPr>
          <p:cNvPr id="35" name="TextBox 34">
            <a:extLst>
              <a:ext uri="{FF2B5EF4-FFF2-40B4-BE49-F238E27FC236}">
                <a16:creationId xmlns:a16="http://schemas.microsoft.com/office/drawing/2014/main" id="{8F70F55A-42AC-283F-7161-62F1F6F7FB5B}"/>
              </a:ext>
            </a:extLst>
          </p:cNvPr>
          <p:cNvSpPr txBox="1"/>
          <p:nvPr/>
        </p:nvSpPr>
        <p:spPr>
          <a:xfrm>
            <a:off x="712859" y="932937"/>
            <a:ext cx="6858000" cy="548640"/>
          </a:xfrm>
          <a:prstGeom prst="rect">
            <a:avLst/>
          </a:prstGeom>
          <a:noFill/>
        </p:spPr>
        <p:txBody>
          <a:bodyPr wrap="square"/>
          <a:lstStyle/>
          <a:p>
            <a:pPr algn="l">
              <a:defRPr sz="4000" b="1">
                <a:solidFill>
                  <a:srgbClr val="111827"/>
                </a:solidFill>
                <a:latin typeface="Calibri"/>
              </a:defRPr>
            </a:pPr>
            <a:endParaRPr sz="3000" dirty="0"/>
          </a:p>
        </p:txBody>
      </p:sp>
      <p:sp>
        <p:nvSpPr>
          <p:cNvPr id="36" name="TextBox 35">
            <a:extLst>
              <a:ext uri="{FF2B5EF4-FFF2-40B4-BE49-F238E27FC236}">
                <a16:creationId xmlns:a16="http://schemas.microsoft.com/office/drawing/2014/main" id="{4BCF3789-CB19-AEFD-AD67-77D97575A0D9}"/>
              </a:ext>
            </a:extLst>
          </p:cNvPr>
          <p:cNvSpPr txBox="1"/>
          <p:nvPr/>
        </p:nvSpPr>
        <p:spPr>
          <a:xfrm>
            <a:off x="1715985" y="2846066"/>
            <a:ext cx="5486400" cy="342900"/>
          </a:xfrm>
          <a:prstGeom prst="rect">
            <a:avLst/>
          </a:prstGeom>
          <a:noFill/>
        </p:spPr>
        <p:txBody>
          <a:bodyPr wrap="square"/>
          <a:lstStyle/>
          <a:p>
            <a:pPr algn="l">
              <a:defRPr sz="1600" b="0">
                <a:solidFill>
                  <a:srgbClr val="4B5563"/>
                </a:solidFill>
                <a:latin typeface="Calibri"/>
              </a:defRPr>
            </a:pPr>
            <a:r>
              <a:rPr sz="1200" dirty="0">
                <a:solidFill>
                  <a:srgbClr val="054283"/>
                </a:solidFill>
              </a:rPr>
              <a:t>No templates. No pre-configuration. No training required. Just upload and go.</a:t>
            </a:r>
          </a:p>
        </p:txBody>
      </p:sp>
      <p:sp>
        <p:nvSpPr>
          <p:cNvPr id="37" name="Rectangle 36">
            <a:extLst>
              <a:ext uri="{FF2B5EF4-FFF2-40B4-BE49-F238E27FC236}">
                <a16:creationId xmlns:a16="http://schemas.microsoft.com/office/drawing/2014/main" id="{139AC016-77A1-1253-19CD-2AA57159C17D}"/>
              </a:ext>
            </a:extLst>
          </p:cNvPr>
          <p:cNvSpPr/>
          <p:nvPr/>
        </p:nvSpPr>
        <p:spPr>
          <a:xfrm>
            <a:off x="1497167" y="1685317"/>
            <a:ext cx="6172200" cy="2057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Oval 37">
            <a:extLst>
              <a:ext uri="{FF2B5EF4-FFF2-40B4-BE49-F238E27FC236}">
                <a16:creationId xmlns:a16="http://schemas.microsoft.com/office/drawing/2014/main" id="{12AF049B-B908-7427-2553-FE98C53BCD20}"/>
              </a:ext>
            </a:extLst>
          </p:cNvPr>
          <p:cNvSpPr/>
          <p:nvPr/>
        </p:nvSpPr>
        <p:spPr>
          <a:xfrm>
            <a:off x="1154267" y="1170967"/>
            <a:ext cx="754380" cy="754380"/>
          </a:xfrm>
          <a:prstGeom prst="ellipse">
            <a:avLst/>
          </a:prstGeom>
          <a:solidFill>
            <a:srgbClr val="FFFFFF"/>
          </a:solidFill>
          <a:ln w="254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TextBox 38">
            <a:extLst>
              <a:ext uri="{FF2B5EF4-FFF2-40B4-BE49-F238E27FC236}">
                <a16:creationId xmlns:a16="http://schemas.microsoft.com/office/drawing/2014/main" id="{AF5E004C-AEE5-955E-3FF5-77CC4D45FF86}"/>
              </a:ext>
            </a:extLst>
          </p:cNvPr>
          <p:cNvSpPr txBox="1"/>
          <p:nvPr/>
        </p:nvSpPr>
        <p:spPr>
          <a:xfrm>
            <a:off x="1154267" y="1273837"/>
            <a:ext cx="754380" cy="617220"/>
          </a:xfrm>
          <a:prstGeom prst="rect">
            <a:avLst/>
          </a:prstGeom>
          <a:noFill/>
        </p:spPr>
        <p:txBody>
          <a:bodyPr wrap="square"/>
          <a:lstStyle/>
          <a:p>
            <a:pPr algn="ctr">
              <a:defRPr sz="2800" b="1">
                <a:solidFill>
                  <a:srgbClr val="6D28D9"/>
                </a:solidFill>
                <a:latin typeface="Calibri"/>
              </a:defRPr>
            </a:pPr>
            <a:r>
              <a:rPr sz="2100"/>
              <a:t>01</a:t>
            </a:r>
          </a:p>
        </p:txBody>
      </p:sp>
      <p:sp>
        <p:nvSpPr>
          <p:cNvPr id="40" name="TextBox 39">
            <a:extLst>
              <a:ext uri="{FF2B5EF4-FFF2-40B4-BE49-F238E27FC236}">
                <a16:creationId xmlns:a16="http://schemas.microsoft.com/office/drawing/2014/main" id="{B29588C9-B882-272E-88CB-1F40BB0F483D}"/>
              </a:ext>
            </a:extLst>
          </p:cNvPr>
          <p:cNvSpPr txBox="1"/>
          <p:nvPr/>
        </p:nvSpPr>
        <p:spPr>
          <a:xfrm>
            <a:off x="811367" y="2131087"/>
            <a:ext cx="1440180" cy="274320"/>
          </a:xfrm>
          <a:prstGeom prst="rect">
            <a:avLst/>
          </a:prstGeom>
          <a:noFill/>
        </p:spPr>
        <p:txBody>
          <a:bodyPr wrap="square"/>
          <a:lstStyle/>
          <a:p>
            <a:pPr algn="ctr">
              <a:defRPr sz="1800" b="1">
                <a:solidFill>
                  <a:srgbClr val="111827"/>
                </a:solidFill>
                <a:latin typeface="Calibri"/>
              </a:defRPr>
            </a:pPr>
            <a:r>
              <a:rPr sz="1350"/>
              <a:t>Upload</a:t>
            </a:r>
          </a:p>
        </p:txBody>
      </p:sp>
      <p:sp>
        <p:nvSpPr>
          <p:cNvPr id="41" name="TextBox 40">
            <a:extLst>
              <a:ext uri="{FF2B5EF4-FFF2-40B4-BE49-F238E27FC236}">
                <a16:creationId xmlns:a16="http://schemas.microsoft.com/office/drawing/2014/main" id="{D8865D58-278C-F6D8-A3E5-92A14A559503}"/>
              </a:ext>
            </a:extLst>
          </p:cNvPr>
          <p:cNvSpPr txBox="1"/>
          <p:nvPr/>
        </p:nvSpPr>
        <p:spPr>
          <a:xfrm>
            <a:off x="720090" y="2318000"/>
            <a:ext cx="1645920" cy="822960"/>
          </a:xfrm>
          <a:prstGeom prst="rect">
            <a:avLst/>
          </a:prstGeom>
          <a:noFill/>
        </p:spPr>
        <p:txBody>
          <a:bodyPr wrap="square"/>
          <a:lstStyle/>
          <a:p>
            <a:pPr algn="ctr">
              <a:defRPr sz="1200" b="0">
                <a:solidFill>
                  <a:srgbClr val="4B5563"/>
                </a:solidFill>
                <a:latin typeface="Calibri"/>
              </a:defRPr>
            </a:pPr>
            <a:r>
              <a:rPr sz="900"/>
              <a:t>Drop any PDF, DOCX, or</a:t>
            </a:r>
            <a:br>
              <a:rPr sz="900"/>
            </a:br>
            <a:r>
              <a:rPr sz="900"/>
              <a:t>batch upload a ZIP.</a:t>
            </a:r>
            <a:br>
              <a:rPr sz="900"/>
            </a:br>
            <a:r>
              <a:rPr sz="900"/>
              <a:t>OCR handles scans.</a:t>
            </a:r>
          </a:p>
        </p:txBody>
      </p:sp>
      <p:sp>
        <p:nvSpPr>
          <p:cNvPr id="42" name="Oval 41">
            <a:extLst>
              <a:ext uri="{FF2B5EF4-FFF2-40B4-BE49-F238E27FC236}">
                <a16:creationId xmlns:a16="http://schemas.microsoft.com/office/drawing/2014/main" id="{26D0B800-D384-C82E-5097-F4FD937125D1}"/>
              </a:ext>
            </a:extLst>
          </p:cNvPr>
          <p:cNvSpPr/>
          <p:nvPr/>
        </p:nvSpPr>
        <p:spPr>
          <a:xfrm>
            <a:off x="3211667" y="1170967"/>
            <a:ext cx="754380" cy="754380"/>
          </a:xfrm>
          <a:prstGeom prst="ellipse">
            <a:avLst/>
          </a:prstGeom>
          <a:solidFill>
            <a:srgbClr val="FFFFFF"/>
          </a:solidFill>
          <a:ln w="25400">
            <a:solidFill>
              <a:srgbClr val="EA760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3" name="TextBox 42">
            <a:extLst>
              <a:ext uri="{FF2B5EF4-FFF2-40B4-BE49-F238E27FC236}">
                <a16:creationId xmlns:a16="http://schemas.microsoft.com/office/drawing/2014/main" id="{DCF0ACE8-297E-ADC7-9425-922DC56A6BD9}"/>
              </a:ext>
            </a:extLst>
          </p:cNvPr>
          <p:cNvSpPr txBox="1"/>
          <p:nvPr/>
        </p:nvSpPr>
        <p:spPr>
          <a:xfrm>
            <a:off x="3211667" y="1273837"/>
            <a:ext cx="754380" cy="617220"/>
          </a:xfrm>
          <a:prstGeom prst="rect">
            <a:avLst/>
          </a:prstGeom>
          <a:noFill/>
        </p:spPr>
        <p:txBody>
          <a:bodyPr wrap="square"/>
          <a:lstStyle/>
          <a:p>
            <a:pPr algn="ctr">
              <a:defRPr sz="2800" b="1">
                <a:solidFill>
                  <a:srgbClr val="EA760D"/>
                </a:solidFill>
                <a:latin typeface="Calibri"/>
              </a:defRPr>
            </a:pPr>
            <a:r>
              <a:rPr sz="2100"/>
              <a:t>02</a:t>
            </a:r>
          </a:p>
        </p:txBody>
      </p:sp>
      <p:sp>
        <p:nvSpPr>
          <p:cNvPr id="44" name="TextBox 43">
            <a:extLst>
              <a:ext uri="{FF2B5EF4-FFF2-40B4-BE49-F238E27FC236}">
                <a16:creationId xmlns:a16="http://schemas.microsoft.com/office/drawing/2014/main" id="{A65C91EA-2B06-6FCC-AB20-B65F8CE6EA5C}"/>
              </a:ext>
            </a:extLst>
          </p:cNvPr>
          <p:cNvSpPr txBox="1"/>
          <p:nvPr/>
        </p:nvSpPr>
        <p:spPr>
          <a:xfrm>
            <a:off x="2868767" y="2131087"/>
            <a:ext cx="1440180" cy="274320"/>
          </a:xfrm>
          <a:prstGeom prst="rect">
            <a:avLst/>
          </a:prstGeom>
          <a:noFill/>
        </p:spPr>
        <p:txBody>
          <a:bodyPr wrap="square"/>
          <a:lstStyle/>
          <a:p>
            <a:pPr algn="ctr">
              <a:defRPr sz="1800" b="1">
                <a:solidFill>
                  <a:srgbClr val="111827"/>
                </a:solidFill>
                <a:latin typeface="Calibri"/>
              </a:defRPr>
            </a:pPr>
            <a:r>
              <a:rPr sz="1350"/>
              <a:t>AI Extracts</a:t>
            </a:r>
          </a:p>
        </p:txBody>
      </p:sp>
      <p:sp>
        <p:nvSpPr>
          <p:cNvPr id="45" name="TextBox 44">
            <a:extLst>
              <a:ext uri="{FF2B5EF4-FFF2-40B4-BE49-F238E27FC236}">
                <a16:creationId xmlns:a16="http://schemas.microsoft.com/office/drawing/2014/main" id="{9E8858B2-1FC7-EA2B-D2ED-49873B913540}"/>
              </a:ext>
            </a:extLst>
          </p:cNvPr>
          <p:cNvSpPr txBox="1"/>
          <p:nvPr/>
        </p:nvSpPr>
        <p:spPr>
          <a:xfrm>
            <a:off x="2777490" y="2318000"/>
            <a:ext cx="1645920" cy="822960"/>
          </a:xfrm>
          <a:prstGeom prst="rect">
            <a:avLst/>
          </a:prstGeom>
          <a:noFill/>
        </p:spPr>
        <p:txBody>
          <a:bodyPr wrap="square"/>
          <a:lstStyle/>
          <a:p>
            <a:pPr algn="ctr">
              <a:defRPr sz="1200" b="0">
                <a:solidFill>
                  <a:srgbClr val="4B5563"/>
                </a:solidFill>
                <a:latin typeface="Calibri"/>
              </a:defRPr>
            </a:pPr>
            <a:r>
              <a:rPr sz="900"/>
              <a:t>9 agents extract metadata,</a:t>
            </a:r>
            <a:br>
              <a:rPr sz="900"/>
            </a:br>
            <a:r>
              <a:rPr sz="900"/>
              <a:t>clauses, obligations, SLAs,</a:t>
            </a:r>
            <a:br>
              <a:rPr sz="900"/>
            </a:br>
            <a:r>
              <a:rPr sz="900"/>
              <a:t>risks, and renewals.</a:t>
            </a:r>
          </a:p>
        </p:txBody>
      </p:sp>
      <p:sp>
        <p:nvSpPr>
          <p:cNvPr id="46" name="Oval 45">
            <a:extLst>
              <a:ext uri="{FF2B5EF4-FFF2-40B4-BE49-F238E27FC236}">
                <a16:creationId xmlns:a16="http://schemas.microsoft.com/office/drawing/2014/main" id="{53866B7E-3385-9BC4-79B9-6A04ADCA70ED}"/>
              </a:ext>
            </a:extLst>
          </p:cNvPr>
          <p:cNvSpPr/>
          <p:nvPr/>
        </p:nvSpPr>
        <p:spPr>
          <a:xfrm>
            <a:off x="5269067" y="1170967"/>
            <a:ext cx="754380" cy="754380"/>
          </a:xfrm>
          <a:prstGeom prst="ellipse">
            <a:avLst/>
          </a:prstGeom>
          <a:solidFill>
            <a:srgbClr val="FFFFFF"/>
          </a:solidFill>
          <a:ln w="25400">
            <a:solidFill>
              <a:srgbClr val="DB27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7" name="TextBox 46">
            <a:extLst>
              <a:ext uri="{FF2B5EF4-FFF2-40B4-BE49-F238E27FC236}">
                <a16:creationId xmlns:a16="http://schemas.microsoft.com/office/drawing/2014/main" id="{4AC4E23F-B90E-3BC1-5583-B5F812F9BBA7}"/>
              </a:ext>
            </a:extLst>
          </p:cNvPr>
          <p:cNvSpPr txBox="1"/>
          <p:nvPr/>
        </p:nvSpPr>
        <p:spPr>
          <a:xfrm>
            <a:off x="5269067" y="1273837"/>
            <a:ext cx="754380" cy="617220"/>
          </a:xfrm>
          <a:prstGeom prst="rect">
            <a:avLst/>
          </a:prstGeom>
          <a:noFill/>
        </p:spPr>
        <p:txBody>
          <a:bodyPr wrap="square"/>
          <a:lstStyle/>
          <a:p>
            <a:pPr algn="ctr">
              <a:defRPr sz="2800" b="1">
                <a:solidFill>
                  <a:srgbClr val="DB2777"/>
                </a:solidFill>
                <a:latin typeface="Calibri"/>
              </a:defRPr>
            </a:pPr>
            <a:r>
              <a:rPr sz="2100"/>
              <a:t>03</a:t>
            </a:r>
          </a:p>
        </p:txBody>
      </p:sp>
      <p:sp>
        <p:nvSpPr>
          <p:cNvPr id="48" name="TextBox 47">
            <a:extLst>
              <a:ext uri="{FF2B5EF4-FFF2-40B4-BE49-F238E27FC236}">
                <a16:creationId xmlns:a16="http://schemas.microsoft.com/office/drawing/2014/main" id="{DD6F6112-B674-FFBA-4EDD-47D5D49E5C62}"/>
              </a:ext>
            </a:extLst>
          </p:cNvPr>
          <p:cNvSpPr txBox="1"/>
          <p:nvPr/>
        </p:nvSpPr>
        <p:spPr>
          <a:xfrm>
            <a:off x="4926167" y="2131087"/>
            <a:ext cx="1440180" cy="274320"/>
          </a:xfrm>
          <a:prstGeom prst="rect">
            <a:avLst/>
          </a:prstGeom>
          <a:noFill/>
        </p:spPr>
        <p:txBody>
          <a:bodyPr wrap="square"/>
          <a:lstStyle/>
          <a:p>
            <a:pPr algn="ctr">
              <a:defRPr sz="1800" b="1">
                <a:solidFill>
                  <a:srgbClr val="111827"/>
                </a:solidFill>
                <a:latin typeface="Calibri"/>
              </a:defRPr>
            </a:pPr>
            <a:r>
              <a:rPr sz="1350"/>
              <a:t>Dashboards</a:t>
            </a:r>
          </a:p>
        </p:txBody>
      </p:sp>
      <p:sp>
        <p:nvSpPr>
          <p:cNvPr id="49" name="TextBox 48">
            <a:extLst>
              <a:ext uri="{FF2B5EF4-FFF2-40B4-BE49-F238E27FC236}">
                <a16:creationId xmlns:a16="http://schemas.microsoft.com/office/drawing/2014/main" id="{96287556-C58E-C9AE-4C08-F264E275A8BD}"/>
              </a:ext>
            </a:extLst>
          </p:cNvPr>
          <p:cNvSpPr txBox="1"/>
          <p:nvPr/>
        </p:nvSpPr>
        <p:spPr>
          <a:xfrm>
            <a:off x="4834890" y="2318000"/>
            <a:ext cx="1645920" cy="822960"/>
          </a:xfrm>
          <a:prstGeom prst="rect">
            <a:avLst/>
          </a:prstGeom>
          <a:noFill/>
        </p:spPr>
        <p:txBody>
          <a:bodyPr wrap="square"/>
          <a:lstStyle/>
          <a:p>
            <a:pPr algn="ctr">
              <a:defRPr sz="1200" b="0">
                <a:solidFill>
                  <a:srgbClr val="4B5563"/>
                </a:solidFill>
                <a:latin typeface="Calibri"/>
              </a:defRPr>
            </a:pPr>
            <a:r>
              <a:rPr sz="900"/>
              <a:t>Real-time dashboards surface</a:t>
            </a:r>
            <a:br>
              <a:rPr sz="900"/>
            </a:br>
            <a:r>
              <a:rPr sz="900"/>
              <a:t>risks, deadlines, SLA breaches,</a:t>
            </a:r>
            <a:br>
              <a:rPr sz="900"/>
            </a:br>
            <a:r>
              <a:rPr sz="900"/>
              <a:t>and vendor scores.</a:t>
            </a:r>
          </a:p>
        </p:txBody>
      </p:sp>
      <p:sp>
        <p:nvSpPr>
          <p:cNvPr id="50" name="Oval 49">
            <a:extLst>
              <a:ext uri="{FF2B5EF4-FFF2-40B4-BE49-F238E27FC236}">
                <a16:creationId xmlns:a16="http://schemas.microsoft.com/office/drawing/2014/main" id="{B916CE67-8AF6-0511-6E18-7C5A2C0F9EB8}"/>
              </a:ext>
            </a:extLst>
          </p:cNvPr>
          <p:cNvSpPr/>
          <p:nvPr/>
        </p:nvSpPr>
        <p:spPr>
          <a:xfrm>
            <a:off x="7326467" y="1170967"/>
            <a:ext cx="754380" cy="754380"/>
          </a:xfrm>
          <a:prstGeom prst="ellipse">
            <a:avLst/>
          </a:prstGeom>
          <a:solidFill>
            <a:srgbClr val="FFFFFF"/>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1" name="TextBox 50">
            <a:extLst>
              <a:ext uri="{FF2B5EF4-FFF2-40B4-BE49-F238E27FC236}">
                <a16:creationId xmlns:a16="http://schemas.microsoft.com/office/drawing/2014/main" id="{E3B8BC0D-66BC-7DFA-9436-288F1C481427}"/>
              </a:ext>
            </a:extLst>
          </p:cNvPr>
          <p:cNvSpPr txBox="1"/>
          <p:nvPr/>
        </p:nvSpPr>
        <p:spPr>
          <a:xfrm>
            <a:off x="7326467" y="1273837"/>
            <a:ext cx="754380" cy="617220"/>
          </a:xfrm>
          <a:prstGeom prst="rect">
            <a:avLst/>
          </a:prstGeom>
          <a:noFill/>
        </p:spPr>
        <p:txBody>
          <a:bodyPr wrap="square"/>
          <a:lstStyle/>
          <a:p>
            <a:pPr algn="ctr">
              <a:defRPr sz="2800" b="1">
                <a:solidFill>
                  <a:srgbClr val="059669"/>
                </a:solidFill>
                <a:latin typeface="Calibri"/>
              </a:defRPr>
            </a:pPr>
            <a:r>
              <a:rPr sz="2100"/>
              <a:t>04</a:t>
            </a:r>
          </a:p>
        </p:txBody>
      </p:sp>
      <p:sp>
        <p:nvSpPr>
          <p:cNvPr id="52" name="TextBox 51">
            <a:extLst>
              <a:ext uri="{FF2B5EF4-FFF2-40B4-BE49-F238E27FC236}">
                <a16:creationId xmlns:a16="http://schemas.microsoft.com/office/drawing/2014/main" id="{F66C915B-93BE-9866-A260-506BE92371D2}"/>
              </a:ext>
            </a:extLst>
          </p:cNvPr>
          <p:cNvSpPr txBox="1"/>
          <p:nvPr/>
        </p:nvSpPr>
        <p:spPr>
          <a:xfrm>
            <a:off x="6983567" y="2131087"/>
            <a:ext cx="1440180" cy="274320"/>
          </a:xfrm>
          <a:prstGeom prst="rect">
            <a:avLst/>
          </a:prstGeom>
          <a:noFill/>
        </p:spPr>
        <p:txBody>
          <a:bodyPr wrap="square"/>
          <a:lstStyle/>
          <a:p>
            <a:pPr algn="ctr">
              <a:defRPr sz="1800" b="1">
                <a:solidFill>
                  <a:srgbClr val="111827"/>
                </a:solidFill>
                <a:latin typeface="Calibri"/>
              </a:defRPr>
            </a:pPr>
            <a:r>
              <a:rPr sz="1350"/>
              <a:t>Take Action</a:t>
            </a:r>
          </a:p>
        </p:txBody>
      </p:sp>
      <p:sp>
        <p:nvSpPr>
          <p:cNvPr id="53" name="TextBox 52">
            <a:extLst>
              <a:ext uri="{FF2B5EF4-FFF2-40B4-BE49-F238E27FC236}">
                <a16:creationId xmlns:a16="http://schemas.microsoft.com/office/drawing/2014/main" id="{8F3BC204-C139-89F4-2626-BDCDB6AA5AAC}"/>
              </a:ext>
            </a:extLst>
          </p:cNvPr>
          <p:cNvSpPr txBox="1"/>
          <p:nvPr/>
        </p:nvSpPr>
        <p:spPr>
          <a:xfrm>
            <a:off x="6892290" y="2318000"/>
            <a:ext cx="1645920" cy="822960"/>
          </a:xfrm>
          <a:prstGeom prst="rect">
            <a:avLst/>
          </a:prstGeom>
          <a:noFill/>
        </p:spPr>
        <p:txBody>
          <a:bodyPr wrap="square"/>
          <a:lstStyle/>
          <a:p>
            <a:pPr algn="ctr">
              <a:defRPr sz="1200" b="0">
                <a:solidFill>
                  <a:srgbClr val="4B5563"/>
                </a:solidFill>
                <a:latin typeface="Calibri"/>
              </a:defRPr>
            </a:pPr>
            <a:r>
              <a:rPr sz="900" dirty="0"/>
              <a:t>Claim credits, meet deadlines,</a:t>
            </a:r>
            <a:br>
              <a:rPr sz="900" dirty="0"/>
            </a:br>
            <a:r>
              <a:rPr sz="900" dirty="0"/>
              <a:t>renegotiate.</a:t>
            </a:r>
            <a:r>
              <a:rPr lang="en-US" sz="900" dirty="0"/>
              <a:t> terms, govern</a:t>
            </a:r>
            <a:br>
              <a:rPr lang="en-US" sz="900" dirty="0"/>
            </a:br>
            <a:r>
              <a:rPr lang="en-US" sz="900" dirty="0"/>
              <a:t>relationships with data</a:t>
            </a:r>
            <a:endParaRPr sz="900" dirty="0"/>
          </a:p>
        </p:txBody>
      </p:sp>
    </p:spTree>
    <p:extLst>
      <p:ext uri="{BB962C8B-B14F-4D97-AF65-F5344CB8AC3E}">
        <p14:creationId xmlns:p14="http://schemas.microsoft.com/office/powerpoint/2010/main" val="347002776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5847EBB6-D9F3-0071-4D74-E9FE249025AE}"/>
              </a:ext>
            </a:extLst>
          </p:cNvPr>
          <p:cNvPicPr>
            <a:picLocks noChangeAspect="1"/>
          </p:cNvPicPr>
          <p:nvPr/>
        </p:nvPicPr>
        <p:blipFill>
          <a:blip r:embed="rId2"/>
          <a:stretch>
            <a:fillRect/>
          </a:stretch>
        </p:blipFill>
        <p:spPr>
          <a:xfrm>
            <a:off x="6012200" y="1070514"/>
            <a:ext cx="2866165" cy="200876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itle 1">
            <a:extLst>
              <a:ext uri="{FF2B5EF4-FFF2-40B4-BE49-F238E27FC236}">
                <a16:creationId xmlns:a16="http://schemas.microsoft.com/office/drawing/2014/main" id="{34BA7A60-0856-FD85-0E96-B9511B00E612}"/>
              </a:ext>
            </a:extLst>
          </p:cNvPr>
          <p:cNvSpPr>
            <a:spLocks noGrp="1"/>
          </p:cNvSpPr>
          <p:nvPr>
            <p:ph type="title"/>
          </p:nvPr>
        </p:nvSpPr>
        <p:spPr/>
        <p:txBody>
          <a:bodyPr anchor="ctr"/>
          <a:lstStyle/>
          <a:p>
            <a:r>
              <a:rPr lang="en-US" sz="2400" dirty="0">
                <a:solidFill>
                  <a:srgbClr val="054283"/>
                </a:solidFill>
              </a:rPr>
              <a:t>Obligation Tracking: never miss a commitment</a:t>
            </a:r>
            <a:endParaRPr lang="en-GB" sz="2400" dirty="0">
              <a:solidFill>
                <a:srgbClr val="054283"/>
              </a:solidFill>
            </a:endParaRPr>
          </a:p>
        </p:txBody>
      </p:sp>
      <p:sp>
        <p:nvSpPr>
          <p:cNvPr id="4" name="TextBox 3">
            <a:extLst>
              <a:ext uri="{FF2B5EF4-FFF2-40B4-BE49-F238E27FC236}">
                <a16:creationId xmlns:a16="http://schemas.microsoft.com/office/drawing/2014/main" id="{C998814A-FB57-DC87-C286-3648B87FB6D9}"/>
              </a:ext>
            </a:extLst>
          </p:cNvPr>
          <p:cNvSpPr txBox="1"/>
          <p:nvPr/>
        </p:nvSpPr>
        <p:spPr>
          <a:xfrm>
            <a:off x="450330" y="1221675"/>
            <a:ext cx="5057800" cy="1420985"/>
          </a:xfrm>
          <a:prstGeom prst="rect">
            <a:avLst/>
          </a:prstGeom>
        </p:spPr>
        <p:style>
          <a:lnRef idx="3">
            <a:schemeClr val="lt1"/>
          </a:lnRef>
          <a:fillRef idx="1">
            <a:schemeClr val="accent3"/>
          </a:fillRef>
          <a:effectRef idx="1">
            <a:schemeClr val="accent3"/>
          </a:effectRef>
          <a:fontRef idx="minor">
            <a:schemeClr val="lt1"/>
          </a:fontRef>
        </p:style>
        <p:txBody>
          <a:bodyPr wrap="square"/>
          <a:lstStyle>
            <a:defPPr>
              <a:defRPr lang="nl-NL"/>
            </a:defPPr>
            <a:lvl1pPr algn="ctr">
              <a:defRPr sz="1800" b="0">
                <a:solidFill>
                  <a:srgbClr val="054283"/>
                </a:solidFill>
                <a:latin typeface="Calibri"/>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dirty="0"/>
              <a:t>Missed obligations cost money, damage relationships, and create compliance exposure. Evaluetor extracts every obligation from every contract and tracks them through their full lifecycle  with owners, deadlines, and evidence.</a:t>
            </a:r>
          </a:p>
        </p:txBody>
      </p:sp>
      <p:sp>
        <p:nvSpPr>
          <p:cNvPr id="5" name="TextBox 4">
            <a:extLst>
              <a:ext uri="{FF2B5EF4-FFF2-40B4-BE49-F238E27FC236}">
                <a16:creationId xmlns:a16="http://schemas.microsoft.com/office/drawing/2014/main" id="{CFC999FF-F613-1C86-D285-1DE659F5554C}"/>
              </a:ext>
            </a:extLst>
          </p:cNvPr>
          <p:cNvSpPr txBox="1"/>
          <p:nvPr/>
        </p:nvSpPr>
        <p:spPr>
          <a:xfrm>
            <a:off x="548640" y="3151290"/>
            <a:ext cx="3771900" cy="274320"/>
          </a:xfrm>
          <a:prstGeom prst="rect">
            <a:avLst/>
          </a:prstGeom>
          <a:solidFill>
            <a:schemeClr val="bg1"/>
          </a:solidFill>
        </p:spPr>
        <p:txBody>
          <a:bodyPr wrap="square"/>
          <a:lstStyle/>
          <a:p>
            <a:pPr algn="l">
              <a:defRPr sz="1800" b="1">
                <a:solidFill>
                  <a:srgbClr val="111827"/>
                </a:solidFill>
                <a:latin typeface="Calibri"/>
              </a:defRPr>
            </a:pPr>
            <a:r>
              <a:rPr sz="1350" dirty="0"/>
              <a:t>The Obligation Lifecycle</a:t>
            </a:r>
          </a:p>
        </p:txBody>
      </p:sp>
      <p:sp>
        <p:nvSpPr>
          <p:cNvPr id="6" name="TextBox 5">
            <a:extLst>
              <a:ext uri="{FF2B5EF4-FFF2-40B4-BE49-F238E27FC236}">
                <a16:creationId xmlns:a16="http://schemas.microsoft.com/office/drawing/2014/main" id="{8105A304-AE49-7427-AA35-00967AAA1255}"/>
              </a:ext>
            </a:extLst>
          </p:cNvPr>
          <p:cNvSpPr txBox="1"/>
          <p:nvPr/>
        </p:nvSpPr>
        <p:spPr>
          <a:xfrm>
            <a:off x="548640" y="3459900"/>
            <a:ext cx="3771900" cy="342900"/>
          </a:xfrm>
          <a:prstGeom prst="rect">
            <a:avLst/>
          </a:prstGeom>
          <a:noFill/>
        </p:spPr>
        <p:txBody>
          <a:bodyPr wrap="square"/>
          <a:lstStyle/>
          <a:p>
            <a:pPr algn="l">
              <a:defRPr sz="1300" b="0">
                <a:solidFill>
                  <a:srgbClr val="4B5563"/>
                </a:solidFill>
                <a:latin typeface="Calibri"/>
              </a:defRPr>
            </a:pPr>
            <a:r>
              <a:rPr sz="975"/>
              <a:t>From extraction to compliance proof:</a:t>
            </a:r>
          </a:p>
        </p:txBody>
      </p:sp>
      <p:sp>
        <p:nvSpPr>
          <p:cNvPr id="7" name="Oval 6">
            <a:extLst>
              <a:ext uri="{FF2B5EF4-FFF2-40B4-BE49-F238E27FC236}">
                <a16:creationId xmlns:a16="http://schemas.microsoft.com/office/drawing/2014/main" id="{C95F617D-5897-6468-1C0E-2810E107192D}"/>
              </a:ext>
            </a:extLst>
          </p:cNvPr>
          <p:cNvSpPr/>
          <p:nvPr/>
        </p:nvSpPr>
        <p:spPr>
          <a:xfrm>
            <a:off x="685800" y="3939960"/>
            <a:ext cx="205740" cy="205740"/>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8B8914D3-A109-D974-44D2-FD4B2820E53D}"/>
              </a:ext>
            </a:extLst>
          </p:cNvPr>
          <p:cNvSpPr txBox="1"/>
          <p:nvPr/>
        </p:nvSpPr>
        <p:spPr>
          <a:xfrm>
            <a:off x="685800" y="3946818"/>
            <a:ext cx="205740" cy="205740"/>
          </a:xfrm>
          <a:prstGeom prst="rect">
            <a:avLst/>
          </a:prstGeom>
          <a:noFill/>
        </p:spPr>
        <p:txBody>
          <a:bodyPr wrap="square"/>
          <a:lstStyle/>
          <a:p>
            <a:pPr algn="ctr">
              <a:defRPr sz="1100" b="1">
                <a:solidFill>
                  <a:srgbClr val="FFFFFF"/>
                </a:solidFill>
                <a:latin typeface="Calibri"/>
              </a:defRPr>
            </a:pPr>
            <a:r>
              <a:rPr sz="825"/>
              <a:t>1</a:t>
            </a:r>
          </a:p>
        </p:txBody>
      </p:sp>
      <p:sp>
        <p:nvSpPr>
          <p:cNvPr id="9" name="TextBox 8">
            <a:extLst>
              <a:ext uri="{FF2B5EF4-FFF2-40B4-BE49-F238E27FC236}">
                <a16:creationId xmlns:a16="http://schemas.microsoft.com/office/drawing/2014/main" id="{F70D8DB2-42EE-E8F6-1A43-724CE66F06B5}"/>
              </a:ext>
            </a:extLst>
          </p:cNvPr>
          <p:cNvSpPr txBox="1"/>
          <p:nvPr/>
        </p:nvSpPr>
        <p:spPr>
          <a:xfrm>
            <a:off x="1028700" y="3905670"/>
            <a:ext cx="1371600" cy="205740"/>
          </a:xfrm>
          <a:prstGeom prst="rect">
            <a:avLst/>
          </a:prstGeom>
          <a:noFill/>
        </p:spPr>
        <p:txBody>
          <a:bodyPr wrap="square"/>
          <a:lstStyle/>
          <a:p>
            <a:pPr algn="l">
              <a:defRPr sz="1300" b="1">
                <a:solidFill>
                  <a:srgbClr val="111827"/>
                </a:solidFill>
                <a:latin typeface="Calibri"/>
              </a:defRPr>
            </a:pPr>
            <a:r>
              <a:rPr sz="975"/>
              <a:t>AI Extraction</a:t>
            </a:r>
          </a:p>
        </p:txBody>
      </p:sp>
      <p:sp>
        <p:nvSpPr>
          <p:cNvPr id="10" name="TextBox 9">
            <a:extLst>
              <a:ext uri="{FF2B5EF4-FFF2-40B4-BE49-F238E27FC236}">
                <a16:creationId xmlns:a16="http://schemas.microsoft.com/office/drawing/2014/main" id="{A6E661B3-92C2-1F58-0DFD-5AA9AC408F67}"/>
              </a:ext>
            </a:extLst>
          </p:cNvPr>
          <p:cNvSpPr txBox="1"/>
          <p:nvPr/>
        </p:nvSpPr>
        <p:spPr>
          <a:xfrm>
            <a:off x="2400300" y="3919386"/>
            <a:ext cx="2057400" cy="205740"/>
          </a:xfrm>
          <a:prstGeom prst="rect">
            <a:avLst/>
          </a:prstGeom>
          <a:noFill/>
        </p:spPr>
        <p:txBody>
          <a:bodyPr wrap="square"/>
          <a:lstStyle/>
          <a:p>
            <a:pPr algn="l">
              <a:defRPr sz="1100" b="0">
                <a:solidFill>
                  <a:srgbClr val="4B5563"/>
                </a:solidFill>
                <a:latin typeface="Calibri"/>
              </a:defRPr>
            </a:pPr>
            <a:r>
              <a:rPr sz="825"/>
              <a:t>Obligations identified with deadlines, parties, and consequences</a:t>
            </a:r>
          </a:p>
        </p:txBody>
      </p:sp>
      <p:sp>
        <p:nvSpPr>
          <p:cNvPr id="11" name="Rectangle 10">
            <a:extLst>
              <a:ext uri="{FF2B5EF4-FFF2-40B4-BE49-F238E27FC236}">
                <a16:creationId xmlns:a16="http://schemas.microsoft.com/office/drawing/2014/main" id="{965DAA4F-670A-91D1-7365-BB2B503CDA89}"/>
              </a:ext>
            </a:extLst>
          </p:cNvPr>
          <p:cNvSpPr/>
          <p:nvPr/>
        </p:nvSpPr>
        <p:spPr>
          <a:xfrm>
            <a:off x="774953" y="416627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Oval 11">
            <a:extLst>
              <a:ext uri="{FF2B5EF4-FFF2-40B4-BE49-F238E27FC236}">
                <a16:creationId xmlns:a16="http://schemas.microsoft.com/office/drawing/2014/main" id="{9657C864-1DFA-B871-716E-95E6FCE27799}"/>
              </a:ext>
            </a:extLst>
          </p:cNvPr>
          <p:cNvSpPr/>
          <p:nvPr/>
        </p:nvSpPr>
        <p:spPr>
          <a:xfrm>
            <a:off x="685800" y="4385730"/>
            <a:ext cx="205740" cy="20574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TextBox 12">
            <a:extLst>
              <a:ext uri="{FF2B5EF4-FFF2-40B4-BE49-F238E27FC236}">
                <a16:creationId xmlns:a16="http://schemas.microsoft.com/office/drawing/2014/main" id="{45847C67-CC08-2C2F-C096-050C54582727}"/>
              </a:ext>
            </a:extLst>
          </p:cNvPr>
          <p:cNvSpPr txBox="1"/>
          <p:nvPr/>
        </p:nvSpPr>
        <p:spPr>
          <a:xfrm>
            <a:off x="685800" y="4392588"/>
            <a:ext cx="205740" cy="205740"/>
          </a:xfrm>
          <a:prstGeom prst="rect">
            <a:avLst/>
          </a:prstGeom>
          <a:noFill/>
        </p:spPr>
        <p:txBody>
          <a:bodyPr wrap="square"/>
          <a:lstStyle/>
          <a:p>
            <a:pPr algn="ctr">
              <a:defRPr sz="1100" b="1">
                <a:solidFill>
                  <a:srgbClr val="FFFFFF"/>
                </a:solidFill>
                <a:latin typeface="Calibri"/>
              </a:defRPr>
            </a:pPr>
            <a:r>
              <a:rPr sz="825"/>
              <a:t>2</a:t>
            </a:r>
          </a:p>
        </p:txBody>
      </p:sp>
      <p:sp>
        <p:nvSpPr>
          <p:cNvPr id="14" name="TextBox 13">
            <a:extLst>
              <a:ext uri="{FF2B5EF4-FFF2-40B4-BE49-F238E27FC236}">
                <a16:creationId xmlns:a16="http://schemas.microsoft.com/office/drawing/2014/main" id="{2CB4AA67-58AC-BCBF-F7AE-5546894DFE2A}"/>
              </a:ext>
            </a:extLst>
          </p:cNvPr>
          <p:cNvSpPr txBox="1"/>
          <p:nvPr/>
        </p:nvSpPr>
        <p:spPr>
          <a:xfrm>
            <a:off x="1028700" y="4351440"/>
            <a:ext cx="1371600" cy="205740"/>
          </a:xfrm>
          <a:prstGeom prst="rect">
            <a:avLst/>
          </a:prstGeom>
          <a:noFill/>
        </p:spPr>
        <p:txBody>
          <a:bodyPr wrap="square"/>
          <a:lstStyle/>
          <a:p>
            <a:pPr algn="l">
              <a:defRPr sz="1300" b="1">
                <a:solidFill>
                  <a:srgbClr val="111827"/>
                </a:solidFill>
                <a:latin typeface="Calibri"/>
              </a:defRPr>
            </a:pPr>
            <a:r>
              <a:rPr sz="975"/>
              <a:t>Classification</a:t>
            </a:r>
          </a:p>
        </p:txBody>
      </p:sp>
      <p:sp>
        <p:nvSpPr>
          <p:cNvPr id="15" name="TextBox 14">
            <a:extLst>
              <a:ext uri="{FF2B5EF4-FFF2-40B4-BE49-F238E27FC236}">
                <a16:creationId xmlns:a16="http://schemas.microsoft.com/office/drawing/2014/main" id="{AA8C1AD2-0897-2C8D-1326-047B5A73C96B}"/>
              </a:ext>
            </a:extLst>
          </p:cNvPr>
          <p:cNvSpPr txBox="1"/>
          <p:nvPr/>
        </p:nvSpPr>
        <p:spPr>
          <a:xfrm>
            <a:off x="2400300" y="4365156"/>
            <a:ext cx="2057400" cy="205740"/>
          </a:xfrm>
          <a:prstGeom prst="rect">
            <a:avLst/>
          </a:prstGeom>
          <a:noFill/>
        </p:spPr>
        <p:txBody>
          <a:bodyPr wrap="square"/>
          <a:lstStyle/>
          <a:p>
            <a:pPr algn="l">
              <a:defRPr sz="1100" b="0">
                <a:solidFill>
                  <a:srgbClr val="4B5563"/>
                </a:solidFill>
                <a:latin typeface="Calibri"/>
              </a:defRPr>
            </a:pPr>
            <a:r>
              <a:rPr sz="825"/>
              <a:t>7 types: delivery, reporting, payment, regulatory, performance, notice, compliance</a:t>
            </a:r>
          </a:p>
        </p:txBody>
      </p:sp>
      <p:sp>
        <p:nvSpPr>
          <p:cNvPr id="16" name="Rectangle 15">
            <a:extLst>
              <a:ext uri="{FF2B5EF4-FFF2-40B4-BE49-F238E27FC236}">
                <a16:creationId xmlns:a16="http://schemas.microsoft.com/office/drawing/2014/main" id="{5B9B7360-B4F5-F40D-8C19-642532A8A5B9}"/>
              </a:ext>
            </a:extLst>
          </p:cNvPr>
          <p:cNvSpPr/>
          <p:nvPr/>
        </p:nvSpPr>
        <p:spPr>
          <a:xfrm>
            <a:off x="774953" y="461204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Oval 16">
            <a:extLst>
              <a:ext uri="{FF2B5EF4-FFF2-40B4-BE49-F238E27FC236}">
                <a16:creationId xmlns:a16="http://schemas.microsoft.com/office/drawing/2014/main" id="{223E22D5-E7D0-4B79-2178-A9879C932C68}"/>
              </a:ext>
            </a:extLst>
          </p:cNvPr>
          <p:cNvSpPr/>
          <p:nvPr/>
        </p:nvSpPr>
        <p:spPr>
          <a:xfrm>
            <a:off x="685800" y="4831500"/>
            <a:ext cx="205740" cy="205740"/>
          </a:xfrm>
          <a:prstGeom prst="ellipse">
            <a:avLst/>
          </a:prstGeom>
          <a:solidFill>
            <a:srgbClr val="EA7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TextBox 17">
            <a:extLst>
              <a:ext uri="{FF2B5EF4-FFF2-40B4-BE49-F238E27FC236}">
                <a16:creationId xmlns:a16="http://schemas.microsoft.com/office/drawing/2014/main" id="{86E2BB83-4622-255D-2C5E-759785EF5547}"/>
              </a:ext>
            </a:extLst>
          </p:cNvPr>
          <p:cNvSpPr txBox="1"/>
          <p:nvPr/>
        </p:nvSpPr>
        <p:spPr>
          <a:xfrm>
            <a:off x="685800" y="4838358"/>
            <a:ext cx="205740" cy="205740"/>
          </a:xfrm>
          <a:prstGeom prst="rect">
            <a:avLst/>
          </a:prstGeom>
          <a:noFill/>
        </p:spPr>
        <p:txBody>
          <a:bodyPr wrap="square"/>
          <a:lstStyle/>
          <a:p>
            <a:pPr algn="ctr">
              <a:defRPr sz="1100" b="1">
                <a:solidFill>
                  <a:srgbClr val="FFFFFF"/>
                </a:solidFill>
                <a:latin typeface="Calibri"/>
              </a:defRPr>
            </a:pPr>
            <a:r>
              <a:rPr sz="825"/>
              <a:t>3</a:t>
            </a:r>
          </a:p>
        </p:txBody>
      </p:sp>
      <p:sp>
        <p:nvSpPr>
          <p:cNvPr id="19" name="TextBox 18">
            <a:extLst>
              <a:ext uri="{FF2B5EF4-FFF2-40B4-BE49-F238E27FC236}">
                <a16:creationId xmlns:a16="http://schemas.microsoft.com/office/drawing/2014/main" id="{BCF282D7-8BC6-FF74-F424-8A1362854C57}"/>
              </a:ext>
            </a:extLst>
          </p:cNvPr>
          <p:cNvSpPr txBox="1"/>
          <p:nvPr/>
        </p:nvSpPr>
        <p:spPr>
          <a:xfrm>
            <a:off x="1028700" y="4797210"/>
            <a:ext cx="1371600" cy="205740"/>
          </a:xfrm>
          <a:prstGeom prst="rect">
            <a:avLst/>
          </a:prstGeom>
          <a:noFill/>
        </p:spPr>
        <p:txBody>
          <a:bodyPr wrap="square"/>
          <a:lstStyle/>
          <a:p>
            <a:pPr algn="l">
              <a:defRPr sz="1300" b="1">
                <a:solidFill>
                  <a:srgbClr val="111827"/>
                </a:solidFill>
                <a:latin typeface="Calibri"/>
              </a:defRPr>
            </a:pPr>
            <a:r>
              <a:rPr sz="975"/>
              <a:t>Owner Assignment</a:t>
            </a:r>
          </a:p>
        </p:txBody>
      </p:sp>
      <p:sp>
        <p:nvSpPr>
          <p:cNvPr id="20" name="TextBox 19">
            <a:extLst>
              <a:ext uri="{FF2B5EF4-FFF2-40B4-BE49-F238E27FC236}">
                <a16:creationId xmlns:a16="http://schemas.microsoft.com/office/drawing/2014/main" id="{BFC0212D-01A0-F63F-B30A-88BFD90DF760}"/>
              </a:ext>
            </a:extLst>
          </p:cNvPr>
          <p:cNvSpPr txBox="1"/>
          <p:nvPr/>
        </p:nvSpPr>
        <p:spPr>
          <a:xfrm>
            <a:off x="2400300" y="4810926"/>
            <a:ext cx="2057400" cy="205740"/>
          </a:xfrm>
          <a:prstGeom prst="rect">
            <a:avLst/>
          </a:prstGeom>
          <a:noFill/>
        </p:spPr>
        <p:txBody>
          <a:bodyPr wrap="square"/>
          <a:lstStyle/>
          <a:p>
            <a:pPr algn="l">
              <a:defRPr sz="1100" b="0">
                <a:solidFill>
                  <a:srgbClr val="4B5563"/>
                </a:solidFill>
                <a:latin typeface="Calibri"/>
              </a:defRPr>
            </a:pPr>
            <a:r>
              <a:rPr sz="825"/>
              <a:t>Each obligation assigned to a responsible person with escalation path</a:t>
            </a:r>
          </a:p>
        </p:txBody>
      </p:sp>
      <p:sp>
        <p:nvSpPr>
          <p:cNvPr id="21" name="Rectangle 20">
            <a:extLst>
              <a:ext uri="{FF2B5EF4-FFF2-40B4-BE49-F238E27FC236}">
                <a16:creationId xmlns:a16="http://schemas.microsoft.com/office/drawing/2014/main" id="{877C0061-774F-82D0-A7F6-403D9583CFBB}"/>
              </a:ext>
            </a:extLst>
          </p:cNvPr>
          <p:cNvSpPr/>
          <p:nvPr/>
        </p:nvSpPr>
        <p:spPr>
          <a:xfrm>
            <a:off x="774953" y="505781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Oval 21">
            <a:extLst>
              <a:ext uri="{FF2B5EF4-FFF2-40B4-BE49-F238E27FC236}">
                <a16:creationId xmlns:a16="http://schemas.microsoft.com/office/drawing/2014/main" id="{B4D84083-6F35-8B48-6CA6-532F5711E621}"/>
              </a:ext>
            </a:extLst>
          </p:cNvPr>
          <p:cNvSpPr/>
          <p:nvPr/>
        </p:nvSpPr>
        <p:spPr>
          <a:xfrm>
            <a:off x="685800" y="5277270"/>
            <a:ext cx="205740" cy="20574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TextBox 22">
            <a:extLst>
              <a:ext uri="{FF2B5EF4-FFF2-40B4-BE49-F238E27FC236}">
                <a16:creationId xmlns:a16="http://schemas.microsoft.com/office/drawing/2014/main" id="{8BA8A13E-5CC2-0FC0-EBEE-D7E3C324A11F}"/>
              </a:ext>
            </a:extLst>
          </p:cNvPr>
          <p:cNvSpPr txBox="1"/>
          <p:nvPr/>
        </p:nvSpPr>
        <p:spPr>
          <a:xfrm>
            <a:off x="685800" y="5284128"/>
            <a:ext cx="205740" cy="205740"/>
          </a:xfrm>
          <a:prstGeom prst="rect">
            <a:avLst/>
          </a:prstGeom>
          <a:noFill/>
        </p:spPr>
        <p:txBody>
          <a:bodyPr wrap="square"/>
          <a:lstStyle/>
          <a:p>
            <a:pPr algn="ctr">
              <a:defRPr sz="1100" b="1">
                <a:solidFill>
                  <a:srgbClr val="FFFFFF"/>
                </a:solidFill>
                <a:latin typeface="Calibri"/>
              </a:defRPr>
            </a:pPr>
            <a:r>
              <a:rPr sz="825"/>
              <a:t>4</a:t>
            </a:r>
          </a:p>
        </p:txBody>
      </p:sp>
      <p:sp>
        <p:nvSpPr>
          <p:cNvPr id="24" name="TextBox 23">
            <a:extLst>
              <a:ext uri="{FF2B5EF4-FFF2-40B4-BE49-F238E27FC236}">
                <a16:creationId xmlns:a16="http://schemas.microsoft.com/office/drawing/2014/main" id="{9B4C9957-9E6D-3A7D-79D2-11CD0C1F09BD}"/>
              </a:ext>
            </a:extLst>
          </p:cNvPr>
          <p:cNvSpPr txBox="1"/>
          <p:nvPr/>
        </p:nvSpPr>
        <p:spPr>
          <a:xfrm>
            <a:off x="1028700" y="5242980"/>
            <a:ext cx="1371600" cy="205740"/>
          </a:xfrm>
          <a:prstGeom prst="rect">
            <a:avLst/>
          </a:prstGeom>
          <a:noFill/>
        </p:spPr>
        <p:txBody>
          <a:bodyPr wrap="square"/>
          <a:lstStyle/>
          <a:p>
            <a:pPr algn="l">
              <a:defRPr sz="1300" b="1">
                <a:solidFill>
                  <a:srgbClr val="111827"/>
                </a:solidFill>
                <a:latin typeface="Calibri"/>
              </a:defRPr>
            </a:pPr>
            <a:r>
              <a:rPr sz="975"/>
              <a:t>Status Tracking</a:t>
            </a:r>
          </a:p>
        </p:txBody>
      </p:sp>
      <p:sp>
        <p:nvSpPr>
          <p:cNvPr id="25" name="TextBox 24">
            <a:extLst>
              <a:ext uri="{FF2B5EF4-FFF2-40B4-BE49-F238E27FC236}">
                <a16:creationId xmlns:a16="http://schemas.microsoft.com/office/drawing/2014/main" id="{6C2C7DF9-A047-5CBE-B98D-A79BACB33EA1}"/>
              </a:ext>
            </a:extLst>
          </p:cNvPr>
          <p:cNvSpPr txBox="1"/>
          <p:nvPr/>
        </p:nvSpPr>
        <p:spPr>
          <a:xfrm>
            <a:off x="2400300" y="5256696"/>
            <a:ext cx="2057400" cy="205740"/>
          </a:xfrm>
          <a:prstGeom prst="rect">
            <a:avLst/>
          </a:prstGeom>
          <a:noFill/>
        </p:spPr>
        <p:txBody>
          <a:bodyPr wrap="square"/>
          <a:lstStyle/>
          <a:p>
            <a:pPr algn="l">
              <a:defRPr sz="1100" b="0">
                <a:solidFill>
                  <a:srgbClr val="4B5563"/>
                </a:solidFill>
                <a:latin typeface="Calibri"/>
              </a:defRPr>
            </a:pPr>
            <a:r>
              <a:rPr sz="825"/>
              <a:t>RAG indicators (Red / Amber / Green) updated as deadlines approach</a:t>
            </a:r>
          </a:p>
        </p:txBody>
      </p:sp>
      <p:sp>
        <p:nvSpPr>
          <p:cNvPr id="26" name="Rectangle 25">
            <a:extLst>
              <a:ext uri="{FF2B5EF4-FFF2-40B4-BE49-F238E27FC236}">
                <a16:creationId xmlns:a16="http://schemas.microsoft.com/office/drawing/2014/main" id="{3FEE18A9-4693-764D-16DA-B3F8AE570EC9}"/>
              </a:ext>
            </a:extLst>
          </p:cNvPr>
          <p:cNvSpPr/>
          <p:nvPr/>
        </p:nvSpPr>
        <p:spPr>
          <a:xfrm>
            <a:off x="774953" y="550358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7" name="Oval 26">
            <a:extLst>
              <a:ext uri="{FF2B5EF4-FFF2-40B4-BE49-F238E27FC236}">
                <a16:creationId xmlns:a16="http://schemas.microsoft.com/office/drawing/2014/main" id="{DF08EC7C-4A20-9F8C-4915-CF59A15BC0BF}"/>
              </a:ext>
            </a:extLst>
          </p:cNvPr>
          <p:cNvSpPr/>
          <p:nvPr/>
        </p:nvSpPr>
        <p:spPr>
          <a:xfrm>
            <a:off x="685800" y="5723040"/>
            <a:ext cx="205740" cy="205740"/>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8" name="TextBox 27">
            <a:extLst>
              <a:ext uri="{FF2B5EF4-FFF2-40B4-BE49-F238E27FC236}">
                <a16:creationId xmlns:a16="http://schemas.microsoft.com/office/drawing/2014/main" id="{E899B001-20D7-9148-0C82-0BFF756B9286}"/>
              </a:ext>
            </a:extLst>
          </p:cNvPr>
          <p:cNvSpPr txBox="1"/>
          <p:nvPr/>
        </p:nvSpPr>
        <p:spPr>
          <a:xfrm>
            <a:off x="685800" y="5729898"/>
            <a:ext cx="205740" cy="205740"/>
          </a:xfrm>
          <a:prstGeom prst="rect">
            <a:avLst/>
          </a:prstGeom>
          <a:noFill/>
        </p:spPr>
        <p:txBody>
          <a:bodyPr wrap="square"/>
          <a:lstStyle/>
          <a:p>
            <a:pPr algn="ctr">
              <a:defRPr sz="1100" b="1">
                <a:solidFill>
                  <a:srgbClr val="FFFFFF"/>
                </a:solidFill>
                <a:latin typeface="Calibri"/>
              </a:defRPr>
            </a:pPr>
            <a:r>
              <a:rPr sz="825"/>
              <a:t>5</a:t>
            </a:r>
          </a:p>
        </p:txBody>
      </p:sp>
      <p:sp>
        <p:nvSpPr>
          <p:cNvPr id="29" name="TextBox 28">
            <a:extLst>
              <a:ext uri="{FF2B5EF4-FFF2-40B4-BE49-F238E27FC236}">
                <a16:creationId xmlns:a16="http://schemas.microsoft.com/office/drawing/2014/main" id="{3C9C2877-4056-C43C-09F2-5C0BEF5617C8}"/>
              </a:ext>
            </a:extLst>
          </p:cNvPr>
          <p:cNvSpPr txBox="1"/>
          <p:nvPr/>
        </p:nvSpPr>
        <p:spPr>
          <a:xfrm>
            <a:off x="1028700" y="5688750"/>
            <a:ext cx="1371600" cy="205740"/>
          </a:xfrm>
          <a:prstGeom prst="rect">
            <a:avLst/>
          </a:prstGeom>
          <a:noFill/>
        </p:spPr>
        <p:txBody>
          <a:bodyPr wrap="square"/>
          <a:lstStyle/>
          <a:p>
            <a:pPr algn="l">
              <a:defRPr sz="1300" b="1">
                <a:solidFill>
                  <a:srgbClr val="111827"/>
                </a:solidFill>
                <a:latin typeface="Calibri"/>
              </a:defRPr>
            </a:pPr>
            <a:r>
              <a:rPr sz="975"/>
              <a:t>Evidence &amp; Audit</a:t>
            </a:r>
          </a:p>
        </p:txBody>
      </p:sp>
      <p:sp>
        <p:nvSpPr>
          <p:cNvPr id="30" name="TextBox 29">
            <a:extLst>
              <a:ext uri="{FF2B5EF4-FFF2-40B4-BE49-F238E27FC236}">
                <a16:creationId xmlns:a16="http://schemas.microsoft.com/office/drawing/2014/main" id="{9179485A-C856-5D3A-54AA-1A42B74F97C1}"/>
              </a:ext>
            </a:extLst>
          </p:cNvPr>
          <p:cNvSpPr txBox="1"/>
          <p:nvPr/>
        </p:nvSpPr>
        <p:spPr>
          <a:xfrm>
            <a:off x="2400300" y="5702466"/>
            <a:ext cx="2057400" cy="205740"/>
          </a:xfrm>
          <a:prstGeom prst="rect">
            <a:avLst/>
          </a:prstGeom>
          <a:noFill/>
        </p:spPr>
        <p:txBody>
          <a:bodyPr wrap="square"/>
          <a:lstStyle/>
          <a:p>
            <a:pPr algn="l">
              <a:defRPr sz="1100" b="0">
                <a:solidFill>
                  <a:srgbClr val="4B5563"/>
                </a:solidFill>
                <a:latin typeface="Calibri"/>
              </a:defRPr>
            </a:pPr>
            <a:r>
              <a:rPr sz="825"/>
              <a:t>Compliance evidence attached for audit trails and reporting</a:t>
            </a:r>
          </a:p>
        </p:txBody>
      </p:sp>
      <p:sp>
        <p:nvSpPr>
          <p:cNvPr id="31" name="TextBox 30">
            <a:extLst>
              <a:ext uri="{FF2B5EF4-FFF2-40B4-BE49-F238E27FC236}">
                <a16:creationId xmlns:a16="http://schemas.microsoft.com/office/drawing/2014/main" id="{A7273753-2D41-C9CD-B282-031717BFC277}"/>
              </a:ext>
            </a:extLst>
          </p:cNvPr>
          <p:cNvSpPr txBox="1"/>
          <p:nvPr/>
        </p:nvSpPr>
        <p:spPr>
          <a:xfrm>
            <a:off x="4937760" y="3151290"/>
            <a:ext cx="3771900" cy="274320"/>
          </a:xfrm>
          <a:prstGeom prst="rect">
            <a:avLst/>
          </a:prstGeom>
          <a:solidFill>
            <a:schemeClr val="bg1"/>
          </a:solidFill>
        </p:spPr>
        <p:txBody>
          <a:bodyPr wrap="square"/>
          <a:lstStyle/>
          <a:p>
            <a:pPr algn="l">
              <a:defRPr sz="1800" b="1">
                <a:solidFill>
                  <a:srgbClr val="111827"/>
                </a:solidFill>
                <a:latin typeface="Calibri"/>
              </a:defRPr>
            </a:pPr>
            <a:r>
              <a:rPr sz="1350"/>
              <a:t>Key Capabilities</a:t>
            </a:r>
          </a:p>
        </p:txBody>
      </p:sp>
      <p:sp>
        <p:nvSpPr>
          <p:cNvPr id="32" name="Rounded Rectangle 33">
            <a:extLst>
              <a:ext uri="{FF2B5EF4-FFF2-40B4-BE49-F238E27FC236}">
                <a16:creationId xmlns:a16="http://schemas.microsoft.com/office/drawing/2014/main" id="{465A2287-6F65-78F6-7491-7DA2B516D24B}"/>
              </a:ext>
            </a:extLst>
          </p:cNvPr>
          <p:cNvSpPr/>
          <p:nvPr/>
        </p:nvSpPr>
        <p:spPr>
          <a:xfrm>
            <a:off x="4937760" y="356277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3" name="Oval 32">
            <a:extLst>
              <a:ext uri="{FF2B5EF4-FFF2-40B4-BE49-F238E27FC236}">
                <a16:creationId xmlns:a16="http://schemas.microsoft.com/office/drawing/2014/main" id="{417BE420-A92E-C07F-B001-EC51F9C0362A}"/>
              </a:ext>
            </a:extLst>
          </p:cNvPr>
          <p:cNvSpPr/>
          <p:nvPr/>
        </p:nvSpPr>
        <p:spPr>
          <a:xfrm>
            <a:off x="5109210" y="3734220"/>
            <a:ext cx="82296" cy="82296"/>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4" name="TextBox 33">
            <a:extLst>
              <a:ext uri="{FF2B5EF4-FFF2-40B4-BE49-F238E27FC236}">
                <a16:creationId xmlns:a16="http://schemas.microsoft.com/office/drawing/2014/main" id="{A576DE21-08E4-0EEF-EB94-240A4A2F598C}"/>
              </a:ext>
            </a:extLst>
          </p:cNvPr>
          <p:cNvSpPr txBox="1"/>
          <p:nvPr/>
        </p:nvSpPr>
        <p:spPr>
          <a:xfrm>
            <a:off x="5280660" y="3665640"/>
            <a:ext cx="3086100" cy="205740"/>
          </a:xfrm>
          <a:prstGeom prst="rect">
            <a:avLst/>
          </a:prstGeom>
          <a:noFill/>
        </p:spPr>
        <p:txBody>
          <a:bodyPr wrap="square"/>
          <a:lstStyle/>
          <a:p>
            <a:pPr algn="l">
              <a:defRPr sz="1400" b="1">
                <a:solidFill>
                  <a:srgbClr val="111827"/>
                </a:solidFill>
                <a:latin typeface="Calibri"/>
              </a:defRPr>
            </a:pPr>
            <a:r>
              <a:rPr sz="1050"/>
              <a:t>RAG Status Dashboard</a:t>
            </a:r>
          </a:p>
        </p:txBody>
      </p:sp>
      <p:sp>
        <p:nvSpPr>
          <p:cNvPr id="35" name="TextBox 34">
            <a:extLst>
              <a:ext uri="{FF2B5EF4-FFF2-40B4-BE49-F238E27FC236}">
                <a16:creationId xmlns:a16="http://schemas.microsoft.com/office/drawing/2014/main" id="{4455F3F8-04AF-A8AE-F9FC-9B6A543C12CF}"/>
              </a:ext>
            </a:extLst>
          </p:cNvPr>
          <p:cNvSpPr txBox="1"/>
          <p:nvPr/>
        </p:nvSpPr>
        <p:spPr>
          <a:xfrm>
            <a:off x="5109210" y="3905670"/>
            <a:ext cx="3291840" cy="480060"/>
          </a:xfrm>
          <a:prstGeom prst="rect">
            <a:avLst/>
          </a:prstGeom>
          <a:noFill/>
        </p:spPr>
        <p:txBody>
          <a:bodyPr wrap="square"/>
          <a:lstStyle/>
          <a:p>
            <a:pPr algn="l">
              <a:defRPr sz="1100" b="0">
                <a:solidFill>
                  <a:srgbClr val="4B5563"/>
                </a:solidFill>
                <a:latin typeface="Calibri"/>
              </a:defRPr>
            </a:pPr>
            <a:r>
              <a:rPr sz="825"/>
              <a:t>At-a-glance compliance visibility across your entire portfolio. Red flags overdue items, amber shows approaching deadlines, green confirms on-track — filterable by vendor, business unit, or contract type.</a:t>
            </a:r>
          </a:p>
        </p:txBody>
      </p:sp>
      <p:sp>
        <p:nvSpPr>
          <p:cNvPr id="36" name="Rounded Rectangle 37">
            <a:extLst>
              <a:ext uri="{FF2B5EF4-FFF2-40B4-BE49-F238E27FC236}">
                <a16:creationId xmlns:a16="http://schemas.microsoft.com/office/drawing/2014/main" id="{961D6846-A50C-252F-B459-37750D04B43D}"/>
              </a:ext>
            </a:extLst>
          </p:cNvPr>
          <p:cNvSpPr/>
          <p:nvPr/>
        </p:nvSpPr>
        <p:spPr>
          <a:xfrm>
            <a:off x="4937760" y="448860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Oval 36">
            <a:extLst>
              <a:ext uri="{FF2B5EF4-FFF2-40B4-BE49-F238E27FC236}">
                <a16:creationId xmlns:a16="http://schemas.microsoft.com/office/drawing/2014/main" id="{23D067BD-BC14-6525-6AA8-018D9680B549}"/>
              </a:ext>
            </a:extLst>
          </p:cNvPr>
          <p:cNvSpPr/>
          <p:nvPr/>
        </p:nvSpPr>
        <p:spPr>
          <a:xfrm>
            <a:off x="5109210" y="4660050"/>
            <a:ext cx="82296" cy="82296"/>
          </a:xfrm>
          <a:prstGeom prst="ellipse">
            <a:avLst/>
          </a:prstGeom>
          <a:solidFill>
            <a:srgbClr val="EA7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TextBox 37">
            <a:extLst>
              <a:ext uri="{FF2B5EF4-FFF2-40B4-BE49-F238E27FC236}">
                <a16:creationId xmlns:a16="http://schemas.microsoft.com/office/drawing/2014/main" id="{3C7B2F92-09AB-E395-88A1-1DC28BBBE0B2}"/>
              </a:ext>
            </a:extLst>
          </p:cNvPr>
          <p:cNvSpPr txBox="1"/>
          <p:nvPr/>
        </p:nvSpPr>
        <p:spPr>
          <a:xfrm>
            <a:off x="5280660" y="4591470"/>
            <a:ext cx="3086100" cy="205740"/>
          </a:xfrm>
          <a:prstGeom prst="rect">
            <a:avLst/>
          </a:prstGeom>
          <a:noFill/>
        </p:spPr>
        <p:txBody>
          <a:bodyPr wrap="square"/>
          <a:lstStyle/>
          <a:p>
            <a:pPr algn="l">
              <a:defRPr sz="1400" b="1">
                <a:solidFill>
                  <a:srgbClr val="111827"/>
                </a:solidFill>
                <a:latin typeface="Calibri"/>
              </a:defRPr>
            </a:pPr>
            <a:r>
              <a:rPr sz="1050"/>
              <a:t>Configurable Deadline Alerts</a:t>
            </a:r>
          </a:p>
        </p:txBody>
      </p:sp>
      <p:sp>
        <p:nvSpPr>
          <p:cNvPr id="39" name="TextBox 38">
            <a:extLst>
              <a:ext uri="{FF2B5EF4-FFF2-40B4-BE49-F238E27FC236}">
                <a16:creationId xmlns:a16="http://schemas.microsoft.com/office/drawing/2014/main" id="{E5943ACD-E00F-3A82-8C8C-732AD2447014}"/>
              </a:ext>
            </a:extLst>
          </p:cNvPr>
          <p:cNvSpPr txBox="1"/>
          <p:nvPr/>
        </p:nvSpPr>
        <p:spPr>
          <a:xfrm>
            <a:off x="5109210" y="4831500"/>
            <a:ext cx="3291840" cy="480060"/>
          </a:xfrm>
          <a:prstGeom prst="rect">
            <a:avLst/>
          </a:prstGeom>
          <a:noFill/>
        </p:spPr>
        <p:txBody>
          <a:bodyPr wrap="square"/>
          <a:lstStyle/>
          <a:p>
            <a:pPr algn="l">
              <a:defRPr sz="1100" b="0">
                <a:solidFill>
                  <a:srgbClr val="4B5563"/>
                </a:solidFill>
                <a:latin typeface="Calibri"/>
              </a:defRPr>
            </a:pPr>
            <a:r>
              <a:rPr sz="825"/>
              <a:t>Automated notifications at configurable lead times before each deadline. Alerts route to obligation owners via email, Slack, or Microsoft Teams — with escalation when deadlines are missed.</a:t>
            </a:r>
          </a:p>
        </p:txBody>
      </p:sp>
      <p:sp>
        <p:nvSpPr>
          <p:cNvPr id="40" name="Rounded Rectangle 41">
            <a:extLst>
              <a:ext uri="{FF2B5EF4-FFF2-40B4-BE49-F238E27FC236}">
                <a16:creationId xmlns:a16="http://schemas.microsoft.com/office/drawing/2014/main" id="{7E26417C-5174-D74A-B906-3C95B9B50D7C}"/>
              </a:ext>
            </a:extLst>
          </p:cNvPr>
          <p:cNvSpPr/>
          <p:nvPr/>
        </p:nvSpPr>
        <p:spPr>
          <a:xfrm>
            <a:off x="4937760" y="541443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1" name="Oval 40">
            <a:extLst>
              <a:ext uri="{FF2B5EF4-FFF2-40B4-BE49-F238E27FC236}">
                <a16:creationId xmlns:a16="http://schemas.microsoft.com/office/drawing/2014/main" id="{9F4C938C-5C01-8F4B-F480-CA4F9371C742}"/>
              </a:ext>
            </a:extLst>
          </p:cNvPr>
          <p:cNvSpPr/>
          <p:nvPr/>
        </p:nvSpPr>
        <p:spPr>
          <a:xfrm>
            <a:off x="5109210" y="5585880"/>
            <a:ext cx="82296" cy="822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TextBox 41">
            <a:extLst>
              <a:ext uri="{FF2B5EF4-FFF2-40B4-BE49-F238E27FC236}">
                <a16:creationId xmlns:a16="http://schemas.microsoft.com/office/drawing/2014/main" id="{2AAF61F0-B07C-0088-6AE8-E833F0131623}"/>
              </a:ext>
            </a:extLst>
          </p:cNvPr>
          <p:cNvSpPr txBox="1"/>
          <p:nvPr/>
        </p:nvSpPr>
        <p:spPr>
          <a:xfrm>
            <a:off x="5280660" y="5517300"/>
            <a:ext cx="3086100" cy="205740"/>
          </a:xfrm>
          <a:prstGeom prst="rect">
            <a:avLst/>
          </a:prstGeom>
          <a:noFill/>
        </p:spPr>
        <p:txBody>
          <a:bodyPr wrap="square"/>
          <a:lstStyle/>
          <a:p>
            <a:pPr algn="l">
              <a:defRPr sz="1400" b="1">
                <a:solidFill>
                  <a:srgbClr val="111827"/>
                </a:solidFill>
                <a:latin typeface="Calibri"/>
              </a:defRPr>
            </a:pPr>
            <a:r>
              <a:rPr sz="1050"/>
              <a:t>Compliance Reporting</a:t>
            </a:r>
          </a:p>
        </p:txBody>
      </p:sp>
      <p:sp>
        <p:nvSpPr>
          <p:cNvPr id="43" name="TextBox 42">
            <a:extLst>
              <a:ext uri="{FF2B5EF4-FFF2-40B4-BE49-F238E27FC236}">
                <a16:creationId xmlns:a16="http://schemas.microsoft.com/office/drawing/2014/main" id="{CF095757-F01E-81A1-8206-9CA49F2E0113}"/>
              </a:ext>
            </a:extLst>
          </p:cNvPr>
          <p:cNvSpPr txBox="1"/>
          <p:nvPr/>
        </p:nvSpPr>
        <p:spPr>
          <a:xfrm>
            <a:off x="5109210" y="5757330"/>
            <a:ext cx="3291840" cy="480060"/>
          </a:xfrm>
          <a:prstGeom prst="rect">
            <a:avLst/>
          </a:prstGeom>
          <a:noFill/>
        </p:spPr>
        <p:txBody>
          <a:bodyPr wrap="square"/>
          <a:lstStyle/>
          <a:p>
            <a:pPr algn="l">
              <a:defRPr sz="1100" b="0">
                <a:solidFill>
                  <a:srgbClr val="4B5563"/>
                </a:solidFill>
                <a:latin typeface="Calibri"/>
              </a:defRPr>
            </a:pPr>
            <a:r>
              <a:rPr sz="825"/>
              <a:t>Generate compliance reports by date range, vendor, or obligation type. Track fulfilment rates over time with trend analysis. Attach evidence documents for audit readiness.</a:t>
            </a:r>
          </a:p>
        </p:txBody>
      </p:sp>
      <p:sp>
        <p:nvSpPr>
          <p:cNvPr id="48" name="Date Placeholder 2">
            <a:extLst>
              <a:ext uri="{FF2B5EF4-FFF2-40B4-BE49-F238E27FC236}">
                <a16:creationId xmlns:a16="http://schemas.microsoft.com/office/drawing/2014/main" id="{35657CF9-07CC-6978-6D83-84581A001531}"/>
              </a:ext>
            </a:extLst>
          </p:cNvPr>
          <p:cNvSpPr>
            <a:spLocks noGrp="1"/>
          </p:cNvSpPr>
          <p:nvPr>
            <p:ph type="dt" sz="half" idx="2"/>
          </p:nvPr>
        </p:nvSpPr>
        <p:spPr>
          <a:xfrm>
            <a:off x="611450" y="6471383"/>
            <a:ext cx="2057400" cy="365125"/>
          </a:xfrm>
        </p:spPr>
        <p:txBody>
          <a:bodyPr/>
          <a:lstStyle/>
          <a:p>
            <a:fld id="{BCFD5220-14B2-4D59-AAB5-DC8635FE0AAA}"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49" name="Footer Placeholder 5">
            <a:extLst>
              <a:ext uri="{FF2B5EF4-FFF2-40B4-BE49-F238E27FC236}">
                <a16:creationId xmlns:a16="http://schemas.microsoft.com/office/drawing/2014/main" id="{8BB20A16-CE9C-DF6C-6774-4CB2144FE104}"/>
              </a:ext>
            </a:extLst>
          </p:cNvPr>
          <p:cNvSpPr>
            <a:spLocks noGrp="1"/>
          </p:cNvSpPr>
          <p:nvPr>
            <p:ph type="ftr" sz="quarter" idx="3"/>
          </p:nvPr>
        </p:nvSpPr>
        <p:spPr>
          <a:xfrm>
            <a:off x="2633434" y="6471382"/>
            <a:ext cx="3312460" cy="367086"/>
          </a:xfrm>
        </p:spPr>
        <p:txBody>
          <a:bodyPr/>
          <a:lstStyle/>
          <a:p>
            <a:pPr algn="l"/>
            <a:r>
              <a:rPr lang="en-US" dirty="0"/>
              <a:t>AI-Powered Contract Intelligence</a:t>
            </a:r>
            <a:endParaRPr lang="en-GB" i="1" dirty="0"/>
          </a:p>
        </p:txBody>
      </p:sp>
    </p:spTree>
    <p:extLst>
      <p:ext uri="{BB962C8B-B14F-4D97-AF65-F5344CB8AC3E}">
        <p14:creationId xmlns:p14="http://schemas.microsoft.com/office/powerpoint/2010/main" val="1299501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3146A17-D9EA-BE2E-869F-4D7306169ED8}"/>
              </a:ext>
            </a:extLst>
          </p:cNvPr>
          <p:cNvPicPr>
            <a:picLocks noChangeAspect="1"/>
          </p:cNvPicPr>
          <p:nvPr/>
        </p:nvPicPr>
        <p:blipFill>
          <a:blip r:embed="rId2"/>
          <a:stretch>
            <a:fillRect/>
          </a:stretch>
        </p:blipFill>
        <p:spPr>
          <a:xfrm>
            <a:off x="6156220" y="1034865"/>
            <a:ext cx="2728820" cy="24936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itle 1">
            <a:extLst>
              <a:ext uri="{FF2B5EF4-FFF2-40B4-BE49-F238E27FC236}">
                <a16:creationId xmlns:a16="http://schemas.microsoft.com/office/drawing/2014/main" id="{6FEA8D65-7CBE-F6D4-19B0-CAA3AB375EDC}"/>
              </a:ext>
            </a:extLst>
          </p:cNvPr>
          <p:cNvSpPr>
            <a:spLocks noGrp="1"/>
          </p:cNvSpPr>
          <p:nvPr>
            <p:ph type="title"/>
          </p:nvPr>
        </p:nvSpPr>
        <p:spPr/>
        <p:txBody>
          <a:bodyPr anchor="ctr"/>
          <a:lstStyle/>
          <a:p>
            <a:r>
              <a:rPr lang="en-US" sz="2400" dirty="0">
                <a:solidFill>
                  <a:srgbClr val="054283"/>
                </a:solidFill>
              </a:rPr>
              <a:t>Risk Detection: see what others miss</a:t>
            </a:r>
            <a:endParaRPr lang="en-GB" sz="2400" dirty="0">
              <a:solidFill>
                <a:srgbClr val="054283"/>
              </a:solidFill>
            </a:endParaRPr>
          </a:p>
        </p:txBody>
      </p:sp>
      <p:sp>
        <p:nvSpPr>
          <p:cNvPr id="4" name="TextBox 3">
            <a:extLst>
              <a:ext uri="{FF2B5EF4-FFF2-40B4-BE49-F238E27FC236}">
                <a16:creationId xmlns:a16="http://schemas.microsoft.com/office/drawing/2014/main" id="{EE591262-69C5-7AE2-A3F3-AA243FF260BE}"/>
              </a:ext>
            </a:extLst>
          </p:cNvPr>
          <p:cNvSpPr txBox="1"/>
          <p:nvPr/>
        </p:nvSpPr>
        <p:spPr>
          <a:xfrm>
            <a:off x="395420" y="1557117"/>
            <a:ext cx="7543800" cy="548640"/>
          </a:xfrm>
          <a:prstGeom prst="rect">
            <a:avLst/>
          </a:prstGeom>
          <a:noFill/>
        </p:spPr>
        <p:txBody>
          <a:bodyPr wrap="square"/>
          <a:lstStyle/>
          <a:p>
            <a:pPr algn="l">
              <a:defRPr sz="4000" b="1">
                <a:solidFill>
                  <a:srgbClr val="111827"/>
                </a:solidFill>
                <a:latin typeface="Calibri"/>
              </a:defRPr>
            </a:pPr>
            <a:endParaRPr sz="3000" dirty="0"/>
          </a:p>
        </p:txBody>
      </p:sp>
      <p:sp>
        <p:nvSpPr>
          <p:cNvPr id="5" name="TextBox 4">
            <a:extLst>
              <a:ext uri="{FF2B5EF4-FFF2-40B4-BE49-F238E27FC236}">
                <a16:creationId xmlns:a16="http://schemas.microsoft.com/office/drawing/2014/main" id="{2FC83481-03C7-798C-5EFB-AFFA9B207452}"/>
              </a:ext>
            </a:extLst>
          </p:cNvPr>
          <p:cNvSpPr txBox="1"/>
          <p:nvPr/>
        </p:nvSpPr>
        <p:spPr>
          <a:xfrm>
            <a:off x="467430" y="1265340"/>
            <a:ext cx="5112710" cy="1673274"/>
          </a:xfrm>
          <a:prstGeom prst="rect">
            <a:avLst/>
          </a:prstGeom>
        </p:spPr>
        <p:style>
          <a:lnRef idx="3">
            <a:schemeClr val="lt1"/>
          </a:lnRef>
          <a:fillRef idx="1">
            <a:schemeClr val="accent3"/>
          </a:fillRef>
          <a:effectRef idx="1">
            <a:schemeClr val="accent3"/>
          </a:effectRef>
          <a:fontRef idx="minor">
            <a:schemeClr val="lt1"/>
          </a:fontRef>
        </p:style>
        <p:txBody>
          <a:bodyPr wrap="square"/>
          <a:lstStyle>
            <a:defPPr>
              <a:defRPr lang="nl-NL"/>
            </a:defPPr>
            <a:lvl1pPr algn="ctr">
              <a:defRPr sz="1800" b="0">
                <a:solidFill>
                  <a:srgbClr val="054283"/>
                </a:solidFill>
                <a:latin typeface="Calibri"/>
              </a:defRPr>
            </a:lvl1pPr>
          </a:lstStyle>
          <a:p>
            <a:r>
              <a:rPr dirty="0"/>
              <a:t>Every contract carries risk</a:t>
            </a:r>
            <a:r>
              <a:rPr lang="nl-NL" dirty="0"/>
              <a:t>,</a:t>
            </a:r>
            <a:r>
              <a:rPr dirty="0"/>
              <a:t> hidden indemnities, uncapped liabilities, ambiguous termination clauses.</a:t>
            </a:r>
            <a:endParaRPr lang="nl-NL" dirty="0"/>
          </a:p>
          <a:p>
            <a:endParaRPr lang="nl-NL" dirty="0"/>
          </a:p>
          <a:p>
            <a:r>
              <a:rPr dirty="0"/>
              <a:t>Evaluetor’s AI scores and categories risk automatically so your team can focus on what matters most.</a:t>
            </a:r>
          </a:p>
        </p:txBody>
      </p:sp>
      <p:sp>
        <p:nvSpPr>
          <p:cNvPr id="6" name="TextBox 5">
            <a:extLst>
              <a:ext uri="{FF2B5EF4-FFF2-40B4-BE49-F238E27FC236}">
                <a16:creationId xmlns:a16="http://schemas.microsoft.com/office/drawing/2014/main" id="{1E70A375-5FF4-009C-7EDE-7315306D62D9}"/>
              </a:ext>
            </a:extLst>
          </p:cNvPr>
          <p:cNvSpPr txBox="1"/>
          <p:nvPr/>
        </p:nvSpPr>
        <p:spPr>
          <a:xfrm>
            <a:off x="548640" y="3226690"/>
            <a:ext cx="3771900" cy="274320"/>
          </a:xfrm>
          <a:prstGeom prst="rect">
            <a:avLst/>
          </a:prstGeom>
          <a:noFill/>
        </p:spPr>
        <p:txBody>
          <a:bodyPr wrap="square"/>
          <a:lstStyle/>
          <a:p>
            <a:pPr algn="l">
              <a:defRPr sz="1800" b="1">
                <a:solidFill>
                  <a:srgbClr val="111827"/>
                </a:solidFill>
                <a:latin typeface="Calibri"/>
              </a:defRPr>
            </a:pPr>
            <a:r>
              <a:rPr sz="1350"/>
              <a:t>How Risk Analysis Works</a:t>
            </a:r>
          </a:p>
        </p:txBody>
      </p:sp>
      <p:sp>
        <p:nvSpPr>
          <p:cNvPr id="7" name="TextBox 6">
            <a:extLst>
              <a:ext uri="{FF2B5EF4-FFF2-40B4-BE49-F238E27FC236}">
                <a16:creationId xmlns:a16="http://schemas.microsoft.com/office/drawing/2014/main" id="{6F2C9EEF-6A5C-4E89-2341-6251BB1884DB}"/>
              </a:ext>
            </a:extLst>
          </p:cNvPr>
          <p:cNvSpPr txBox="1"/>
          <p:nvPr/>
        </p:nvSpPr>
        <p:spPr>
          <a:xfrm>
            <a:off x="548640" y="3459900"/>
            <a:ext cx="3771900" cy="342900"/>
          </a:xfrm>
          <a:prstGeom prst="rect">
            <a:avLst/>
          </a:prstGeom>
          <a:noFill/>
        </p:spPr>
        <p:txBody>
          <a:bodyPr wrap="square"/>
          <a:lstStyle/>
          <a:p>
            <a:pPr algn="l">
              <a:defRPr sz="1300" b="0">
                <a:solidFill>
                  <a:srgbClr val="4B5563"/>
                </a:solidFill>
                <a:latin typeface="Calibri"/>
              </a:defRPr>
            </a:pPr>
            <a:r>
              <a:rPr sz="975"/>
              <a:t>Fully automated from upload to alert:</a:t>
            </a:r>
          </a:p>
        </p:txBody>
      </p:sp>
      <p:sp>
        <p:nvSpPr>
          <p:cNvPr id="8" name="Oval 7">
            <a:extLst>
              <a:ext uri="{FF2B5EF4-FFF2-40B4-BE49-F238E27FC236}">
                <a16:creationId xmlns:a16="http://schemas.microsoft.com/office/drawing/2014/main" id="{56F19BF2-36A0-86FF-D5AA-9E3CA3025E98}"/>
              </a:ext>
            </a:extLst>
          </p:cNvPr>
          <p:cNvSpPr/>
          <p:nvPr/>
        </p:nvSpPr>
        <p:spPr>
          <a:xfrm>
            <a:off x="685800" y="3939960"/>
            <a:ext cx="205740" cy="205740"/>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TextBox 8">
            <a:extLst>
              <a:ext uri="{FF2B5EF4-FFF2-40B4-BE49-F238E27FC236}">
                <a16:creationId xmlns:a16="http://schemas.microsoft.com/office/drawing/2014/main" id="{90522721-71DE-694D-7793-9115EF734044}"/>
              </a:ext>
            </a:extLst>
          </p:cNvPr>
          <p:cNvSpPr txBox="1"/>
          <p:nvPr/>
        </p:nvSpPr>
        <p:spPr>
          <a:xfrm>
            <a:off x="685800" y="3946818"/>
            <a:ext cx="205740" cy="205740"/>
          </a:xfrm>
          <a:prstGeom prst="rect">
            <a:avLst/>
          </a:prstGeom>
          <a:noFill/>
        </p:spPr>
        <p:txBody>
          <a:bodyPr wrap="square"/>
          <a:lstStyle/>
          <a:p>
            <a:pPr algn="ctr">
              <a:defRPr sz="1100" b="1">
                <a:solidFill>
                  <a:srgbClr val="FFFFFF"/>
                </a:solidFill>
                <a:latin typeface="Calibri"/>
              </a:defRPr>
            </a:pPr>
            <a:r>
              <a:rPr sz="825"/>
              <a:t>1</a:t>
            </a:r>
          </a:p>
        </p:txBody>
      </p:sp>
      <p:sp>
        <p:nvSpPr>
          <p:cNvPr id="10" name="TextBox 9">
            <a:extLst>
              <a:ext uri="{FF2B5EF4-FFF2-40B4-BE49-F238E27FC236}">
                <a16:creationId xmlns:a16="http://schemas.microsoft.com/office/drawing/2014/main" id="{1F49ED72-2979-B9DD-D881-BF994AF81323}"/>
              </a:ext>
            </a:extLst>
          </p:cNvPr>
          <p:cNvSpPr txBox="1"/>
          <p:nvPr/>
        </p:nvSpPr>
        <p:spPr>
          <a:xfrm>
            <a:off x="1028700" y="3905670"/>
            <a:ext cx="1371600" cy="205740"/>
          </a:xfrm>
          <a:prstGeom prst="rect">
            <a:avLst/>
          </a:prstGeom>
          <a:noFill/>
        </p:spPr>
        <p:txBody>
          <a:bodyPr wrap="square"/>
          <a:lstStyle/>
          <a:p>
            <a:pPr algn="l">
              <a:defRPr sz="1300" b="1">
                <a:solidFill>
                  <a:srgbClr val="111827"/>
                </a:solidFill>
                <a:latin typeface="Calibri"/>
              </a:defRPr>
            </a:pPr>
            <a:r>
              <a:rPr sz="975"/>
              <a:t>Document Parsing</a:t>
            </a:r>
          </a:p>
        </p:txBody>
      </p:sp>
      <p:sp>
        <p:nvSpPr>
          <p:cNvPr id="11" name="TextBox 10">
            <a:extLst>
              <a:ext uri="{FF2B5EF4-FFF2-40B4-BE49-F238E27FC236}">
                <a16:creationId xmlns:a16="http://schemas.microsoft.com/office/drawing/2014/main" id="{B92A5EBD-ECAB-2E7A-DED8-6FEA8223B824}"/>
              </a:ext>
            </a:extLst>
          </p:cNvPr>
          <p:cNvSpPr txBox="1"/>
          <p:nvPr/>
        </p:nvSpPr>
        <p:spPr>
          <a:xfrm>
            <a:off x="2400300" y="3919386"/>
            <a:ext cx="2057400" cy="205740"/>
          </a:xfrm>
          <a:prstGeom prst="rect">
            <a:avLst/>
          </a:prstGeom>
          <a:noFill/>
        </p:spPr>
        <p:txBody>
          <a:bodyPr wrap="square"/>
          <a:lstStyle/>
          <a:p>
            <a:pPr algn="l">
              <a:defRPr sz="1100" b="0">
                <a:solidFill>
                  <a:srgbClr val="4B5563"/>
                </a:solidFill>
                <a:latin typeface="Calibri"/>
              </a:defRPr>
            </a:pPr>
            <a:r>
              <a:rPr sz="825"/>
              <a:t>Text extracted from PDF, DOCX, or scanned images via OCR</a:t>
            </a:r>
          </a:p>
        </p:txBody>
      </p:sp>
      <p:sp>
        <p:nvSpPr>
          <p:cNvPr id="12" name="Rectangle 11">
            <a:extLst>
              <a:ext uri="{FF2B5EF4-FFF2-40B4-BE49-F238E27FC236}">
                <a16:creationId xmlns:a16="http://schemas.microsoft.com/office/drawing/2014/main" id="{1B8ECE61-BA0E-B32A-BC42-87BF6C7E88B1}"/>
              </a:ext>
            </a:extLst>
          </p:cNvPr>
          <p:cNvSpPr/>
          <p:nvPr/>
        </p:nvSpPr>
        <p:spPr>
          <a:xfrm>
            <a:off x="774953" y="416627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Oval 12">
            <a:extLst>
              <a:ext uri="{FF2B5EF4-FFF2-40B4-BE49-F238E27FC236}">
                <a16:creationId xmlns:a16="http://schemas.microsoft.com/office/drawing/2014/main" id="{AB55EA93-ADF4-921A-5A3C-90F60301F3F7}"/>
              </a:ext>
            </a:extLst>
          </p:cNvPr>
          <p:cNvSpPr/>
          <p:nvPr/>
        </p:nvSpPr>
        <p:spPr>
          <a:xfrm>
            <a:off x="685800" y="4385730"/>
            <a:ext cx="205740" cy="2057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TextBox 13">
            <a:extLst>
              <a:ext uri="{FF2B5EF4-FFF2-40B4-BE49-F238E27FC236}">
                <a16:creationId xmlns:a16="http://schemas.microsoft.com/office/drawing/2014/main" id="{305D248E-CDF3-909A-26D1-ADAAF2E24079}"/>
              </a:ext>
            </a:extLst>
          </p:cNvPr>
          <p:cNvSpPr txBox="1"/>
          <p:nvPr/>
        </p:nvSpPr>
        <p:spPr>
          <a:xfrm>
            <a:off x="685800" y="4392588"/>
            <a:ext cx="205740" cy="205740"/>
          </a:xfrm>
          <a:prstGeom prst="rect">
            <a:avLst/>
          </a:prstGeom>
          <a:noFill/>
        </p:spPr>
        <p:txBody>
          <a:bodyPr wrap="square"/>
          <a:lstStyle/>
          <a:p>
            <a:pPr algn="ctr">
              <a:defRPr sz="1100" b="1">
                <a:solidFill>
                  <a:srgbClr val="FFFFFF"/>
                </a:solidFill>
                <a:latin typeface="Calibri"/>
              </a:defRPr>
            </a:pPr>
            <a:r>
              <a:rPr sz="825"/>
              <a:t>2</a:t>
            </a:r>
          </a:p>
        </p:txBody>
      </p:sp>
      <p:sp>
        <p:nvSpPr>
          <p:cNvPr id="15" name="TextBox 14">
            <a:extLst>
              <a:ext uri="{FF2B5EF4-FFF2-40B4-BE49-F238E27FC236}">
                <a16:creationId xmlns:a16="http://schemas.microsoft.com/office/drawing/2014/main" id="{987FC348-1B3D-3C2E-14C7-0B227C46AB16}"/>
              </a:ext>
            </a:extLst>
          </p:cNvPr>
          <p:cNvSpPr txBox="1"/>
          <p:nvPr/>
        </p:nvSpPr>
        <p:spPr>
          <a:xfrm>
            <a:off x="1028700" y="4351440"/>
            <a:ext cx="1371600" cy="205740"/>
          </a:xfrm>
          <a:prstGeom prst="rect">
            <a:avLst/>
          </a:prstGeom>
          <a:noFill/>
        </p:spPr>
        <p:txBody>
          <a:bodyPr wrap="square"/>
          <a:lstStyle/>
          <a:p>
            <a:pPr algn="l">
              <a:defRPr sz="1300" b="1">
                <a:solidFill>
                  <a:srgbClr val="111827"/>
                </a:solidFill>
                <a:latin typeface="Calibri"/>
              </a:defRPr>
            </a:pPr>
            <a:r>
              <a:rPr sz="975"/>
              <a:t>Clause Classification</a:t>
            </a:r>
          </a:p>
        </p:txBody>
      </p:sp>
      <p:sp>
        <p:nvSpPr>
          <p:cNvPr id="16" name="TextBox 15">
            <a:extLst>
              <a:ext uri="{FF2B5EF4-FFF2-40B4-BE49-F238E27FC236}">
                <a16:creationId xmlns:a16="http://schemas.microsoft.com/office/drawing/2014/main" id="{F9C18F49-3614-32DC-DB59-3FCFA09056D5}"/>
              </a:ext>
            </a:extLst>
          </p:cNvPr>
          <p:cNvSpPr txBox="1"/>
          <p:nvPr/>
        </p:nvSpPr>
        <p:spPr>
          <a:xfrm>
            <a:off x="2400300" y="4365156"/>
            <a:ext cx="2057400" cy="205740"/>
          </a:xfrm>
          <a:prstGeom prst="rect">
            <a:avLst/>
          </a:prstGeom>
          <a:noFill/>
        </p:spPr>
        <p:txBody>
          <a:bodyPr wrap="square"/>
          <a:lstStyle/>
          <a:p>
            <a:pPr algn="l">
              <a:defRPr sz="1100" b="0">
                <a:solidFill>
                  <a:srgbClr val="4B5563"/>
                </a:solidFill>
                <a:latin typeface="Calibri"/>
              </a:defRPr>
            </a:pPr>
            <a:r>
              <a:rPr sz="825"/>
              <a:t>AI identifies 30+ clause types across the full document</a:t>
            </a:r>
          </a:p>
        </p:txBody>
      </p:sp>
      <p:sp>
        <p:nvSpPr>
          <p:cNvPr id="17" name="Rectangle 16">
            <a:extLst>
              <a:ext uri="{FF2B5EF4-FFF2-40B4-BE49-F238E27FC236}">
                <a16:creationId xmlns:a16="http://schemas.microsoft.com/office/drawing/2014/main" id="{770FB868-DB87-3FC9-F5A5-22292AE19611}"/>
              </a:ext>
            </a:extLst>
          </p:cNvPr>
          <p:cNvSpPr/>
          <p:nvPr/>
        </p:nvSpPr>
        <p:spPr>
          <a:xfrm>
            <a:off x="774953" y="461204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Oval 17">
            <a:extLst>
              <a:ext uri="{FF2B5EF4-FFF2-40B4-BE49-F238E27FC236}">
                <a16:creationId xmlns:a16="http://schemas.microsoft.com/office/drawing/2014/main" id="{CDD16D8B-92C6-9827-4C75-2609B315C95E}"/>
              </a:ext>
            </a:extLst>
          </p:cNvPr>
          <p:cNvSpPr/>
          <p:nvPr/>
        </p:nvSpPr>
        <p:spPr>
          <a:xfrm>
            <a:off x="685800" y="4831500"/>
            <a:ext cx="205740" cy="205740"/>
          </a:xfrm>
          <a:prstGeom prst="ellipse">
            <a:avLst/>
          </a:prstGeom>
          <a:solidFill>
            <a:srgbClr val="EA7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9" name="TextBox 18">
            <a:extLst>
              <a:ext uri="{FF2B5EF4-FFF2-40B4-BE49-F238E27FC236}">
                <a16:creationId xmlns:a16="http://schemas.microsoft.com/office/drawing/2014/main" id="{2F43C012-52CB-6B91-0F15-E019EBAE87EA}"/>
              </a:ext>
            </a:extLst>
          </p:cNvPr>
          <p:cNvSpPr txBox="1"/>
          <p:nvPr/>
        </p:nvSpPr>
        <p:spPr>
          <a:xfrm>
            <a:off x="685800" y="4838358"/>
            <a:ext cx="205740" cy="205740"/>
          </a:xfrm>
          <a:prstGeom prst="rect">
            <a:avLst/>
          </a:prstGeom>
          <a:noFill/>
        </p:spPr>
        <p:txBody>
          <a:bodyPr wrap="square"/>
          <a:lstStyle/>
          <a:p>
            <a:pPr algn="ctr">
              <a:defRPr sz="1100" b="1">
                <a:solidFill>
                  <a:srgbClr val="FFFFFF"/>
                </a:solidFill>
                <a:latin typeface="Calibri"/>
              </a:defRPr>
            </a:pPr>
            <a:r>
              <a:rPr sz="825"/>
              <a:t>3</a:t>
            </a:r>
          </a:p>
        </p:txBody>
      </p:sp>
      <p:sp>
        <p:nvSpPr>
          <p:cNvPr id="20" name="TextBox 19">
            <a:extLst>
              <a:ext uri="{FF2B5EF4-FFF2-40B4-BE49-F238E27FC236}">
                <a16:creationId xmlns:a16="http://schemas.microsoft.com/office/drawing/2014/main" id="{196A45B6-89D6-CE82-E479-38C0FC917992}"/>
              </a:ext>
            </a:extLst>
          </p:cNvPr>
          <p:cNvSpPr txBox="1"/>
          <p:nvPr/>
        </p:nvSpPr>
        <p:spPr>
          <a:xfrm>
            <a:off x="1028700" y="4797210"/>
            <a:ext cx="1371600" cy="205740"/>
          </a:xfrm>
          <a:prstGeom prst="rect">
            <a:avLst/>
          </a:prstGeom>
          <a:noFill/>
        </p:spPr>
        <p:txBody>
          <a:bodyPr wrap="square"/>
          <a:lstStyle/>
          <a:p>
            <a:pPr algn="l">
              <a:defRPr sz="1300" b="1">
                <a:solidFill>
                  <a:srgbClr val="111827"/>
                </a:solidFill>
                <a:latin typeface="Calibri"/>
              </a:defRPr>
            </a:pPr>
            <a:r>
              <a:rPr sz="975"/>
              <a:t>Risk Categorisation</a:t>
            </a:r>
          </a:p>
        </p:txBody>
      </p:sp>
      <p:sp>
        <p:nvSpPr>
          <p:cNvPr id="21" name="TextBox 20">
            <a:extLst>
              <a:ext uri="{FF2B5EF4-FFF2-40B4-BE49-F238E27FC236}">
                <a16:creationId xmlns:a16="http://schemas.microsoft.com/office/drawing/2014/main" id="{3EAB6855-F72E-1A0D-0D37-49CAE8CD5C0E}"/>
              </a:ext>
            </a:extLst>
          </p:cNvPr>
          <p:cNvSpPr txBox="1"/>
          <p:nvPr/>
        </p:nvSpPr>
        <p:spPr>
          <a:xfrm>
            <a:off x="2400300" y="4810926"/>
            <a:ext cx="2057400" cy="205740"/>
          </a:xfrm>
          <a:prstGeom prst="rect">
            <a:avLst/>
          </a:prstGeom>
          <a:noFill/>
        </p:spPr>
        <p:txBody>
          <a:bodyPr wrap="square"/>
          <a:lstStyle/>
          <a:p>
            <a:pPr algn="l">
              <a:defRPr sz="1100" b="0">
                <a:solidFill>
                  <a:srgbClr val="4B5563"/>
                </a:solidFill>
                <a:latin typeface="Calibri"/>
              </a:defRPr>
            </a:pPr>
            <a:r>
              <a:rPr sz="825"/>
              <a:t>Each clause scored across 10 risk categories</a:t>
            </a:r>
          </a:p>
        </p:txBody>
      </p:sp>
      <p:sp>
        <p:nvSpPr>
          <p:cNvPr id="22" name="Rectangle 21">
            <a:extLst>
              <a:ext uri="{FF2B5EF4-FFF2-40B4-BE49-F238E27FC236}">
                <a16:creationId xmlns:a16="http://schemas.microsoft.com/office/drawing/2014/main" id="{5C337D64-FA2E-6FBB-90C3-A81A31AB11BB}"/>
              </a:ext>
            </a:extLst>
          </p:cNvPr>
          <p:cNvSpPr/>
          <p:nvPr/>
        </p:nvSpPr>
        <p:spPr>
          <a:xfrm>
            <a:off x="774953" y="505781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3" name="Oval 22">
            <a:extLst>
              <a:ext uri="{FF2B5EF4-FFF2-40B4-BE49-F238E27FC236}">
                <a16:creationId xmlns:a16="http://schemas.microsoft.com/office/drawing/2014/main" id="{5D44CB37-DC98-3120-445D-706F6FEA0F72}"/>
              </a:ext>
            </a:extLst>
          </p:cNvPr>
          <p:cNvSpPr/>
          <p:nvPr/>
        </p:nvSpPr>
        <p:spPr>
          <a:xfrm>
            <a:off x="685800" y="5277270"/>
            <a:ext cx="205740" cy="2057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a:extLst>
              <a:ext uri="{FF2B5EF4-FFF2-40B4-BE49-F238E27FC236}">
                <a16:creationId xmlns:a16="http://schemas.microsoft.com/office/drawing/2014/main" id="{94341F19-7507-3DA3-4E3F-FA84BED84C31}"/>
              </a:ext>
            </a:extLst>
          </p:cNvPr>
          <p:cNvSpPr txBox="1"/>
          <p:nvPr/>
        </p:nvSpPr>
        <p:spPr>
          <a:xfrm>
            <a:off x="685800" y="5284128"/>
            <a:ext cx="205740" cy="205740"/>
          </a:xfrm>
          <a:prstGeom prst="rect">
            <a:avLst/>
          </a:prstGeom>
          <a:noFill/>
        </p:spPr>
        <p:txBody>
          <a:bodyPr wrap="square"/>
          <a:lstStyle/>
          <a:p>
            <a:pPr algn="ctr">
              <a:defRPr sz="1100" b="1">
                <a:solidFill>
                  <a:srgbClr val="FFFFFF"/>
                </a:solidFill>
                <a:latin typeface="Calibri"/>
              </a:defRPr>
            </a:pPr>
            <a:r>
              <a:rPr sz="825"/>
              <a:t>4</a:t>
            </a:r>
          </a:p>
        </p:txBody>
      </p:sp>
      <p:sp>
        <p:nvSpPr>
          <p:cNvPr id="25" name="TextBox 24">
            <a:extLst>
              <a:ext uri="{FF2B5EF4-FFF2-40B4-BE49-F238E27FC236}">
                <a16:creationId xmlns:a16="http://schemas.microsoft.com/office/drawing/2014/main" id="{2A3C772D-F7A4-7702-376D-1E83C232C0ED}"/>
              </a:ext>
            </a:extLst>
          </p:cNvPr>
          <p:cNvSpPr txBox="1"/>
          <p:nvPr/>
        </p:nvSpPr>
        <p:spPr>
          <a:xfrm>
            <a:off x="1028700" y="5242980"/>
            <a:ext cx="1371600" cy="205740"/>
          </a:xfrm>
          <a:prstGeom prst="rect">
            <a:avLst/>
          </a:prstGeom>
          <a:noFill/>
        </p:spPr>
        <p:txBody>
          <a:bodyPr wrap="square"/>
          <a:lstStyle/>
          <a:p>
            <a:pPr algn="l">
              <a:defRPr sz="1300" b="1">
                <a:solidFill>
                  <a:srgbClr val="111827"/>
                </a:solidFill>
                <a:latin typeface="Calibri"/>
              </a:defRPr>
            </a:pPr>
            <a:r>
              <a:rPr sz="975"/>
              <a:t>Severity Scoring</a:t>
            </a:r>
          </a:p>
        </p:txBody>
      </p:sp>
      <p:sp>
        <p:nvSpPr>
          <p:cNvPr id="26" name="TextBox 25">
            <a:extLst>
              <a:ext uri="{FF2B5EF4-FFF2-40B4-BE49-F238E27FC236}">
                <a16:creationId xmlns:a16="http://schemas.microsoft.com/office/drawing/2014/main" id="{F12C4D99-8812-8A69-B904-B15B27A413C0}"/>
              </a:ext>
            </a:extLst>
          </p:cNvPr>
          <p:cNvSpPr txBox="1"/>
          <p:nvPr/>
        </p:nvSpPr>
        <p:spPr>
          <a:xfrm>
            <a:off x="2400300" y="5256696"/>
            <a:ext cx="2057400" cy="205740"/>
          </a:xfrm>
          <a:prstGeom prst="rect">
            <a:avLst/>
          </a:prstGeom>
          <a:noFill/>
        </p:spPr>
        <p:txBody>
          <a:bodyPr wrap="square"/>
          <a:lstStyle/>
          <a:p>
            <a:pPr algn="l">
              <a:defRPr sz="1100" b="0">
                <a:solidFill>
                  <a:srgbClr val="4B5563"/>
                </a:solidFill>
                <a:latin typeface="Calibri"/>
              </a:defRPr>
            </a:pPr>
            <a:r>
              <a:rPr sz="825"/>
              <a:t>4-level scale: Low, Medium, High, Critical with confidence</a:t>
            </a:r>
          </a:p>
        </p:txBody>
      </p:sp>
      <p:sp>
        <p:nvSpPr>
          <p:cNvPr id="27" name="Rectangle 26">
            <a:extLst>
              <a:ext uri="{FF2B5EF4-FFF2-40B4-BE49-F238E27FC236}">
                <a16:creationId xmlns:a16="http://schemas.microsoft.com/office/drawing/2014/main" id="{475F976A-94DB-2C27-447A-6814E2B9D616}"/>
              </a:ext>
            </a:extLst>
          </p:cNvPr>
          <p:cNvSpPr/>
          <p:nvPr/>
        </p:nvSpPr>
        <p:spPr>
          <a:xfrm>
            <a:off x="774953" y="550358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8" name="Oval 27">
            <a:extLst>
              <a:ext uri="{FF2B5EF4-FFF2-40B4-BE49-F238E27FC236}">
                <a16:creationId xmlns:a16="http://schemas.microsoft.com/office/drawing/2014/main" id="{123583AA-6033-F0DA-99AC-5334B91FA898}"/>
              </a:ext>
            </a:extLst>
          </p:cNvPr>
          <p:cNvSpPr/>
          <p:nvPr/>
        </p:nvSpPr>
        <p:spPr>
          <a:xfrm>
            <a:off x="685800" y="5723040"/>
            <a:ext cx="205740" cy="205740"/>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9" name="TextBox 28">
            <a:extLst>
              <a:ext uri="{FF2B5EF4-FFF2-40B4-BE49-F238E27FC236}">
                <a16:creationId xmlns:a16="http://schemas.microsoft.com/office/drawing/2014/main" id="{8A3CC711-6F3B-2254-7521-2649308B1A0A}"/>
              </a:ext>
            </a:extLst>
          </p:cNvPr>
          <p:cNvSpPr txBox="1"/>
          <p:nvPr/>
        </p:nvSpPr>
        <p:spPr>
          <a:xfrm>
            <a:off x="685800" y="5729898"/>
            <a:ext cx="205740" cy="205740"/>
          </a:xfrm>
          <a:prstGeom prst="rect">
            <a:avLst/>
          </a:prstGeom>
          <a:noFill/>
        </p:spPr>
        <p:txBody>
          <a:bodyPr wrap="square"/>
          <a:lstStyle/>
          <a:p>
            <a:pPr algn="ctr">
              <a:defRPr sz="1100" b="1">
                <a:solidFill>
                  <a:srgbClr val="FFFFFF"/>
                </a:solidFill>
                <a:latin typeface="Calibri"/>
              </a:defRPr>
            </a:pPr>
            <a:r>
              <a:rPr sz="825"/>
              <a:t>5</a:t>
            </a:r>
          </a:p>
        </p:txBody>
      </p:sp>
      <p:sp>
        <p:nvSpPr>
          <p:cNvPr id="30" name="TextBox 29">
            <a:extLst>
              <a:ext uri="{FF2B5EF4-FFF2-40B4-BE49-F238E27FC236}">
                <a16:creationId xmlns:a16="http://schemas.microsoft.com/office/drawing/2014/main" id="{A6D7CB4D-E555-B57D-8FEF-9B35FB8C5AA0}"/>
              </a:ext>
            </a:extLst>
          </p:cNvPr>
          <p:cNvSpPr txBox="1"/>
          <p:nvPr/>
        </p:nvSpPr>
        <p:spPr>
          <a:xfrm>
            <a:off x="1028700" y="5688750"/>
            <a:ext cx="1371600" cy="205740"/>
          </a:xfrm>
          <a:prstGeom prst="rect">
            <a:avLst/>
          </a:prstGeom>
          <a:noFill/>
        </p:spPr>
        <p:txBody>
          <a:bodyPr wrap="square"/>
          <a:lstStyle/>
          <a:p>
            <a:pPr algn="l">
              <a:defRPr sz="1300" b="1">
                <a:solidFill>
                  <a:srgbClr val="111827"/>
                </a:solidFill>
                <a:latin typeface="Calibri"/>
              </a:defRPr>
            </a:pPr>
            <a:r>
              <a:rPr sz="975"/>
              <a:t>Portfolio Alerts</a:t>
            </a:r>
          </a:p>
        </p:txBody>
      </p:sp>
      <p:sp>
        <p:nvSpPr>
          <p:cNvPr id="31" name="TextBox 30">
            <a:extLst>
              <a:ext uri="{FF2B5EF4-FFF2-40B4-BE49-F238E27FC236}">
                <a16:creationId xmlns:a16="http://schemas.microsoft.com/office/drawing/2014/main" id="{466A2D82-FF24-3968-1571-95DE38CCA657}"/>
              </a:ext>
            </a:extLst>
          </p:cNvPr>
          <p:cNvSpPr txBox="1"/>
          <p:nvPr/>
        </p:nvSpPr>
        <p:spPr>
          <a:xfrm>
            <a:off x="2400300" y="5702466"/>
            <a:ext cx="2057400" cy="205740"/>
          </a:xfrm>
          <a:prstGeom prst="rect">
            <a:avLst/>
          </a:prstGeom>
          <a:noFill/>
        </p:spPr>
        <p:txBody>
          <a:bodyPr wrap="square"/>
          <a:lstStyle/>
          <a:p>
            <a:pPr algn="l">
              <a:defRPr sz="1100" b="0">
                <a:solidFill>
                  <a:srgbClr val="4B5563"/>
                </a:solidFill>
                <a:latin typeface="Calibri"/>
              </a:defRPr>
            </a:pPr>
            <a:r>
              <a:rPr sz="825"/>
              <a:t>High-risk items surfaced on dashboards with recommended actions</a:t>
            </a:r>
          </a:p>
        </p:txBody>
      </p:sp>
      <p:sp>
        <p:nvSpPr>
          <p:cNvPr id="32" name="TextBox 31">
            <a:extLst>
              <a:ext uri="{FF2B5EF4-FFF2-40B4-BE49-F238E27FC236}">
                <a16:creationId xmlns:a16="http://schemas.microsoft.com/office/drawing/2014/main" id="{A0F7EC35-C5DA-5649-DC7B-BA20A6BF1971}"/>
              </a:ext>
            </a:extLst>
          </p:cNvPr>
          <p:cNvSpPr txBox="1"/>
          <p:nvPr/>
        </p:nvSpPr>
        <p:spPr>
          <a:xfrm>
            <a:off x="4937760" y="3226690"/>
            <a:ext cx="3771900" cy="274320"/>
          </a:xfrm>
          <a:prstGeom prst="rect">
            <a:avLst/>
          </a:prstGeom>
          <a:noFill/>
        </p:spPr>
        <p:txBody>
          <a:bodyPr wrap="square"/>
          <a:lstStyle/>
          <a:p>
            <a:pPr algn="l">
              <a:defRPr sz="1800" b="1">
                <a:solidFill>
                  <a:srgbClr val="111827"/>
                </a:solidFill>
                <a:latin typeface="Calibri"/>
              </a:defRPr>
            </a:pPr>
            <a:r>
              <a:rPr sz="1350" dirty="0"/>
              <a:t>Key Capabilities</a:t>
            </a:r>
          </a:p>
        </p:txBody>
      </p:sp>
      <p:sp>
        <p:nvSpPr>
          <p:cNvPr id="33" name="Rounded Rectangle 32">
            <a:extLst>
              <a:ext uri="{FF2B5EF4-FFF2-40B4-BE49-F238E27FC236}">
                <a16:creationId xmlns:a16="http://schemas.microsoft.com/office/drawing/2014/main" id="{7E3577F4-BA7E-5B04-E586-F0CBACD07555}"/>
              </a:ext>
            </a:extLst>
          </p:cNvPr>
          <p:cNvSpPr/>
          <p:nvPr/>
        </p:nvSpPr>
        <p:spPr>
          <a:xfrm>
            <a:off x="4937760" y="356277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4" name="Oval 33">
            <a:extLst>
              <a:ext uri="{FF2B5EF4-FFF2-40B4-BE49-F238E27FC236}">
                <a16:creationId xmlns:a16="http://schemas.microsoft.com/office/drawing/2014/main" id="{3B3FE52F-6B1B-1C6C-0E1F-E24DC4C9FBE2}"/>
              </a:ext>
            </a:extLst>
          </p:cNvPr>
          <p:cNvSpPr/>
          <p:nvPr/>
        </p:nvSpPr>
        <p:spPr>
          <a:xfrm>
            <a:off x="5109210" y="3734220"/>
            <a:ext cx="82296" cy="82296"/>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5" name="TextBox 34">
            <a:extLst>
              <a:ext uri="{FF2B5EF4-FFF2-40B4-BE49-F238E27FC236}">
                <a16:creationId xmlns:a16="http://schemas.microsoft.com/office/drawing/2014/main" id="{8A59D159-BCD6-C2FF-172D-13DC99221345}"/>
              </a:ext>
            </a:extLst>
          </p:cNvPr>
          <p:cNvSpPr txBox="1"/>
          <p:nvPr/>
        </p:nvSpPr>
        <p:spPr>
          <a:xfrm>
            <a:off x="5280660" y="3665640"/>
            <a:ext cx="3086100" cy="205740"/>
          </a:xfrm>
          <a:prstGeom prst="rect">
            <a:avLst/>
          </a:prstGeom>
          <a:noFill/>
        </p:spPr>
        <p:txBody>
          <a:bodyPr wrap="square"/>
          <a:lstStyle/>
          <a:p>
            <a:pPr algn="l">
              <a:defRPr sz="1400" b="1">
                <a:solidFill>
                  <a:srgbClr val="111827"/>
                </a:solidFill>
                <a:latin typeface="Calibri"/>
              </a:defRPr>
            </a:pPr>
            <a:r>
              <a:rPr sz="1050"/>
              <a:t>10 Risk Categories</a:t>
            </a:r>
          </a:p>
        </p:txBody>
      </p:sp>
      <p:sp>
        <p:nvSpPr>
          <p:cNvPr id="36" name="TextBox 35">
            <a:extLst>
              <a:ext uri="{FF2B5EF4-FFF2-40B4-BE49-F238E27FC236}">
                <a16:creationId xmlns:a16="http://schemas.microsoft.com/office/drawing/2014/main" id="{FEBB9AC7-1FD9-AB34-21F5-CFA72C26B711}"/>
              </a:ext>
            </a:extLst>
          </p:cNvPr>
          <p:cNvSpPr txBox="1"/>
          <p:nvPr/>
        </p:nvSpPr>
        <p:spPr>
          <a:xfrm>
            <a:off x="5109210" y="3905670"/>
            <a:ext cx="3291840" cy="480060"/>
          </a:xfrm>
          <a:prstGeom prst="rect">
            <a:avLst/>
          </a:prstGeom>
          <a:noFill/>
        </p:spPr>
        <p:txBody>
          <a:bodyPr wrap="square"/>
          <a:lstStyle/>
          <a:p>
            <a:pPr algn="l">
              <a:defRPr sz="1100" b="0">
                <a:solidFill>
                  <a:srgbClr val="4B5563"/>
                </a:solidFill>
                <a:latin typeface="Calibri"/>
              </a:defRPr>
            </a:pPr>
            <a:r>
              <a:rPr sz="825"/>
              <a:t>Indemnification, liability caps, IP assignment, termination, confidentiality, non-compete, data protection, insurance, warranty, and force majeure — each scored with weighted severity from 0–100.</a:t>
            </a:r>
          </a:p>
        </p:txBody>
      </p:sp>
      <p:sp>
        <p:nvSpPr>
          <p:cNvPr id="37" name="Rounded Rectangle 36">
            <a:extLst>
              <a:ext uri="{FF2B5EF4-FFF2-40B4-BE49-F238E27FC236}">
                <a16:creationId xmlns:a16="http://schemas.microsoft.com/office/drawing/2014/main" id="{7F399CC5-C84C-7F76-A1C2-4610FFCD94F2}"/>
              </a:ext>
            </a:extLst>
          </p:cNvPr>
          <p:cNvSpPr/>
          <p:nvPr/>
        </p:nvSpPr>
        <p:spPr>
          <a:xfrm>
            <a:off x="4937760" y="448860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Oval 37">
            <a:extLst>
              <a:ext uri="{FF2B5EF4-FFF2-40B4-BE49-F238E27FC236}">
                <a16:creationId xmlns:a16="http://schemas.microsoft.com/office/drawing/2014/main" id="{9191DEF5-2F69-15F6-190A-0BA9FB33B531}"/>
              </a:ext>
            </a:extLst>
          </p:cNvPr>
          <p:cNvSpPr/>
          <p:nvPr/>
        </p:nvSpPr>
        <p:spPr>
          <a:xfrm>
            <a:off x="5109210" y="4660050"/>
            <a:ext cx="82296" cy="82296"/>
          </a:xfrm>
          <a:prstGeom prst="ellipse">
            <a:avLst/>
          </a:prstGeom>
          <a:solidFill>
            <a:srgbClr val="EA7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9" name="TextBox 38">
            <a:extLst>
              <a:ext uri="{FF2B5EF4-FFF2-40B4-BE49-F238E27FC236}">
                <a16:creationId xmlns:a16="http://schemas.microsoft.com/office/drawing/2014/main" id="{EF87B146-580B-90F8-B624-E51370C96271}"/>
              </a:ext>
            </a:extLst>
          </p:cNvPr>
          <p:cNvSpPr txBox="1"/>
          <p:nvPr/>
        </p:nvSpPr>
        <p:spPr>
          <a:xfrm>
            <a:off x="5280660" y="4591470"/>
            <a:ext cx="3086100" cy="205740"/>
          </a:xfrm>
          <a:prstGeom prst="rect">
            <a:avLst/>
          </a:prstGeom>
          <a:noFill/>
        </p:spPr>
        <p:txBody>
          <a:bodyPr wrap="square"/>
          <a:lstStyle/>
          <a:p>
            <a:pPr algn="l">
              <a:defRPr sz="1400" b="1">
                <a:solidFill>
                  <a:srgbClr val="111827"/>
                </a:solidFill>
                <a:latin typeface="Calibri"/>
              </a:defRPr>
            </a:pPr>
            <a:r>
              <a:rPr sz="1050"/>
              <a:t>Cross-Contract Anomaly Detection</a:t>
            </a:r>
          </a:p>
        </p:txBody>
      </p:sp>
      <p:sp>
        <p:nvSpPr>
          <p:cNvPr id="40" name="TextBox 39">
            <a:extLst>
              <a:ext uri="{FF2B5EF4-FFF2-40B4-BE49-F238E27FC236}">
                <a16:creationId xmlns:a16="http://schemas.microsoft.com/office/drawing/2014/main" id="{BB994011-3963-ADB2-3943-E67245B00D33}"/>
              </a:ext>
            </a:extLst>
          </p:cNvPr>
          <p:cNvSpPr txBox="1"/>
          <p:nvPr/>
        </p:nvSpPr>
        <p:spPr>
          <a:xfrm>
            <a:off x="5109210" y="4831500"/>
            <a:ext cx="3291840" cy="480060"/>
          </a:xfrm>
          <a:prstGeom prst="rect">
            <a:avLst/>
          </a:prstGeom>
          <a:noFill/>
        </p:spPr>
        <p:txBody>
          <a:bodyPr wrap="square"/>
          <a:lstStyle/>
          <a:p>
            <a:pPr algn="l">
              <a:defRPr sz="1100" b="0">
                <a:solidFill>
                  <a:srgbClr val="4B5563"/>
                </a:solidFill>
                <a:latin typeface="Calibri"/>
              </a:defRPr>
            </a:pPr>
            <a:r>
              <a:rPr sz="825"/>
              <a:t>Knowledge graph compares terms across your portfolio and flags deviations from your norms. Example: “This vendor usually has 30-day payment terms — this contract has 45.”</a:t>
            </a:r>
          </a:p>
        </p:txBody>
      </p:sp>
      <p:sp>
        <p:nvSpPr>
          <p:cNvPr id="41" name="Rounded Rectangle 40">
            <a:extLst>
              <a:ext uri="{FF2B5EF4-FFF2-40B4-BE49-F238E27FC236}">
                <a16:creationId xmlns:a16="http://schemas.microsoft.com/office/drawing/2014/main" id="{FFE7C263-852E-6865-1848-31FAD6EFADEA}"/>
              </a:ext>
            </a:extLst>
          </p:cNvPr>
          <p:cNvSpPr/>
          <p:nvPr/>
        </p:nvSpPr>
        <p:spPr>
          <a:xfrm>
            <a:off x="4937760" y="541443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Oval 41">
            <a:extLst>
              <a:ext uri="{FF2B5EF4-FFF2-40B4-BE49-F238E27FC236}">
                <a16:creationId xmlns:a16="http://schemas.microsoft.com/office/drawing/2014/main" id="{384B6DEB-12D4-0E1B-441B-8A9C5C8F63A7}"/>
              </a:ext>
            </a:extLst>
          </p:cNvPr>
          <p:cNvSpPr/>
          <p:nvPr/>
        </p:nvSpPr>
        <p:spPr>
          <a:xfrm>
            <a:off x="5109210" y="5585880"/>
            <a:ext cx="82296" cy="82296"/>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3" name="TextBox 42">
            <a:extLst>
              <a:ext uri="{FF2B5EF4-FFF2-40B4-BE49-F238E27FC236}">
                <a16:creationId xmlns:a16="http://schemas.microsoft.com/office/drawing/2014/main" id="{FCEEAD1F-BE5E-0108-AFF1-3DF989B9934E}"/>
              </a:ext>
            </a:extLst>
          </p:cNvPr>
          <p:cNvSpPr txBox="1"/>
          <p:nvPr/>
        </p:nvSpPr>
        <p:spPr>
          <a:xfrm>
            <a:off x="5280660" y="5517300"/>
            <a:ext cx="3086100" cy="205740"/>
          </a:xfrm>
          <a:prstGeom prst="rect">
            <a:avLst/>
          </a:prstGeom>
          <a:noFill/>
        </p:spPr>
        <p:txBody>
          <a:bodyPr wrap="square"/>
          <a:lstStyle/>
          <a:p>
            <a:pPr algn="l">
              <a:defRPr sz="1400" b="1">
                <a:solidFill>
                  <a:srgbClr val="111827"/>
                </a:solidFill>
                <a:latin typeface="Calibri"/>
              </a:defRPr>
            </a:pPr>
            <a:r>
              <a:rPr sz="1050"/>
              <a:t>Portfolio Risk Dashboard</a:t>
            </a:r>
          </a:p>
        </p:txBody>
      </p:sp>
      <p:sp>
        <p:nvSpPr>
          <p:cNvPr id="44" name="TextBox 43">
            <a:extLst>
              <a:ext uri="{FF2B5EF4-FFF2-40B4-BE49-F238E27FC236}">
                <a16:creationId xmlns:a16="http://schemas.microsoft.com/office/drawing/2014/main" id="{737ADA82-C6AE-2E85-6F2A-EECC0030267E}"/>
              </a:ext>
            </a:extLst>
          </p:cNvPr>
          <p:cNvSpPr txBox="1"/>
          <p:nvPr/>
        </p:nvSpPr>
        <p:spPr>
          <a:xfrm>
            <a:off x="5109210" y="5757330"/>
            <a:ext cx="3291840" cy="480060"/>
          </a:xfrm>
          <a:prstGeom prst="rect">
            <a:avLst/>
          </a:prstGeom>
          <a:noFill/>
        </p:spPr>
        <p:txBody>
          <a:bodyPr wrap="square"/>
          <a:lstStyle/>
          <a:p>
            <a:pPr algn="l">
              <a:defRPr sz="1100" b="0">
                <a:solidFill>
                  <a:srgbClr val="4B5563"/>
                </a:solidFill>
                <a:latin typeface="Calibri"/>
              </a:defRPr>
            </a:pPr>
            <a:r>
              <a:rPr sz="825"/>
              <a:t>Aggregate risk posture across all contracts with drill-down by vendor, contract type, business unit, or risk category. Trend analysis shows whether your portfolio risk is improving over time.</a:t>
            </a:r>
          </a:p>
        </p:txBody>
      </p:sp>
      <p:sp>
        <p:nvSpPr>
          <p:cNvPr id="47" name="Rectangle 46">
            <a:extLst>
              <a:ext uri="{FF2B5EF4-FFF2-40B4-BE49-F238E27FC236}">
                <a16:creationId xmlns:a16="http://schemas.microsoft.com/office/drawing/2014/main" id="{265E7B94-F4E3-F54B-153A-A764DCE2CE06}"/>
              </a:ext>
            </a:extLst>
          </p:cNvPr>
          <p:cNvSpPr/>
          <p:nvPr/>
        </p:nvSpPr>
        <p:spPr bwMode="auto">
          <a:xfrm>
            <a:off x="6156220" y="3356990"/>
            <a:ext cx="2808390" cy="20574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100" b="0" i="0" u="none" strike="noStrike" cap="none" normalizeH="0" baseline="0" dirty="0">
              <a:ln>
                <a:noFill/>
              </a:ln>
              <a:solidFill>
                <a:schemeClr val="tx2"/>
              </a:solidFill>
              <a:effectLst/>
              <a:latin typeface="Verdana" pitchFamily="34" charset="0"/>
              <a:cs typeface="Arial" charset="0"/>
            </a:endParaRPr>
          </a:p>
        </p:txBody>
      </p:sp>
      <p:sp>
        <p:nvSpPr>
          <p:cNvPr id="48" name="Date Placeholder 2">
            <a:extLst>
              <a:ext uri="{FF2B5EF4-FFF2-40B4-BE49-F238E27FC236}">
                <a16:creationId xmlns:a16="http://schemas.microsoft.com/office/drawing/2014/main" id="{AB0D93C9-4C86-DD60-837B-CBC9A060FEDA}"/>
              </a:ext>
            </a:extLst>
          </p:cNvPr>
          <p:cNvSpPr>
            <a:spLocks noGrp="1"/>
          </p:cNvSpPr>
          <p:nvPr>
            <p:ph type="dt" sz="half" idx="2"/>
          </p:nvPr>
        </p:nvSpPr>
        <p:spPr>
          <a:xfrm>
            <a:off x="611450" y="6471383"/>
            <a:ext cx="2057400" cy="365125"/>
          </a:xfrm>
        </p:spPr>
        <p:txBody>
          <a:bodyPr/>
          <a:lstStyle/>
          <a:p>
            <a:fld id="{BCFD5220-14B2-4D59-AAB5-DC8635FE0AAA}"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49" name="Footer Placeholder 5">
            <a:extLst>
              <a:ext uri="{FF2B5EF4-FFF2-40B4-BE49-F238E27FC236}">
                <a16:creationId xmlns:a16="http://schemas.microsoft.com/office/drawing/2014/main" id="{BD70AE49-5651-4ED6-EC5F-C8D516CAD791}"/>
              </a:ext>
            </a:extLst>
          </p:cNvPr>
          <p:cNvSpPr>
            <a:spLocks noGrp="1"/>
          </p:cNvSpPr>
          <p:nvPr>
            <p:ph type="ftr" sz="quarter" idx="3"/>
          </p:nvPr>
        </p:nvSpPr>
        <p:spPr>
          <a:xfrm>
            <a:off x="2633434" y="6471382"/>
            <a:ext cx="3312460" cy="367086"/>
          </a:xfrm>
        </p:spPr>
        <p:txBody>
          <a:bodyPr/>
          <a:lstStyle/>
          <a:p>
            <a:pPr algn="l"/>
            <a:r>
              <a:rPr lang="en-US" dirty="0"/>
              <a:t>AI-Powered Contract Intelligence</a:t>
            </a:r>
            <a:endParaRPr lang="en-GB" i="1" dirty="0"/>
          </a:p>
        </p:txBody>
      </p:sp>
    </p:spTree>
    <p:extLst>
      <p:ext uri="{BB962C8B-B14F-4D97-AF65-F5344CB8AC3E}">
        <p14:creationId xmlns:p14="http://schemas.microsoft.com/office/powerpoint/2010/main" val="776753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8A6FD4BD-A577-7E96-CA25-2A0369CF1542}"/>
              </a:ext>
            </a:extLst>
          </p:cNvPr>
          <p:cNvPicPr>
            <a:picLocks noChangeAspect="1"/>
          </p:cNvPicPr>
          <p:nvPr/>
        </p:nvPicPr>
        <p:blipFill>
          <a:blip r:embed="rId2"/>
          <a:stretch>
            <a:fillRect/>
          </a:stretch>
        </p:blipFill>
        <p:spPr>
          <a:xfrm>
            <a:off x="5478918" y="1005736"/>
            <a:ext cx="3025002" cy="26784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itle 1">
            <a:extLst>
              <a:ext uri="{FF2B5EF4-FFF2-40B4-BE49-F238E27FC236}">
                <a16:creationId xmlns:a16="http://schemas.microsoft.com/office/drawing/2014/main" id="{2C3350BF-FB2F-D9C1-97D6-D556AFF237E5}"/>
              </a:ext>
            </a:extLst>
          </p:cNvPr>
          <p:cNvSpPr>
            <a:spLocks noGrp="1"/>
          </p:cNvSpPr>
          <p:nvPr>
            <p:ph type="title"/>
          </p:nvPr>
        </p:nvSpPr>
        <p:spPr/>
        <p:txBody>
          <a:bodyPr anchor="ctr"/>
          <a:lstStyle/>
          <a:p>
            <a:r>
              <a:rPr lang="en-US" sz="2400" dirty="0">
                <a:solidFill>
                  <a:srgbClr val="054283"/>
                </a:solidFill>
              </a:rPr>
              <a:t>SLA Monitoring: recover what you’re owed</a:t>
            </a:r>
            <a:endParaRPr lang="en-GB" sz="2400" dirty="0">
              <a:solidFill>
                <a:srgbClr val="054283"/>
              </a:solidFill>
            </a:endParaRPr>
          </a:p>
        </p:txBody>
      </p:sp>
      <p:sp>
        <p:nvSpPr>
          <p:cNvPr id="3" name="TextBox 2">
            <a:extLst>
              <a:ext uri="{FF2B5EF4-FFF2-40B4-BE49-F238E27FC236}">
                <a16:creationId xmlns:a16="http://schemas.microsoft.com/office/drawing/2014/main" id="{C1FF8903-565E-C5BE-3184-16E41095E22B}"/>
              </a:ext>
            </a:extLst>
          </p:cNvPr>
          <p:cNvSpPr txBox="1"/>
          <p:nvPr/>
        </p:nvSpPr>
        <p:spPr>
          <a:xfrm>
            <a:off x="323410" y="1196690"/>
            <a:ext cx="4464620" cy="1546510"/>
          </a:xfrm>
          <a:prstGeom prst="rect">
            <a:avLst/>
          </a:prstGeom>
        </p:spPr>
        <p:style>
          <a:lnRef idx="3">
            <a:schemeClr val="lt1"/>
          </a:lnRef>
          <a:fillRef idx="1">
            <a:schemeClr val="accent3"/>
          </a:fillRef>
          <a:effectRef idx="1">
            <a:schemeClr val="accent3"/>
          </a:effectRef>
          <a:fontRef idx="minor">
            <a:schemeClr val="lt1"/>
          </a:fontRef>
        </p:style>
        <p:txBody>
          <a:bodyPr wrap="square"/>
          <a:lstStyle>
            <a:defPPr>
              <a:defRPr lang="nl-NL"/>
            </a:defPPr>
            <a:lvl1pPr algn="ctr">
              <a:defRPr sz="1800" b="0">
                <a:solidFill>
                  <a:srgbClr val="054283"/>
                </a:solidFill>
                <a:latin typeface="Calibri"/>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dirty="0"/>
              <a:t>SLA breaches happen constantly</a:t>
            </a:r>
            <a:r>
              <a:rPr lang="nl-NL" dirty="0"/>
              <a:t>,</a:t>
            </a:r>
            <a:r>
              <a:rPr dirty="0"/>
              <a:t> the</a:t>
            </a:r>
            <a:r>
              <a:rPr lang="nl-NL" dirty="0"/>
              <a:t> </a:t>
            </a:r>
            <a:r>
              <a:rPr dirty="0"/>
              <a:t>challenge is detecting them. </a:t>
            </a:r>
            <a:endParaRPr lang="nl-NL" dirty="0"/>
          </a:p>
          <a:p>
            <a:r>
              <a:rPr dirty="0"/>
              <a:t>Evaluetor extracts SLA terms, compares them against actual performance, and calculates every service credit you’re entitled to.</a:t>
            </a:r>
          </a:p>
        </p:txBody>
      </p:sp>
      <p:sp>
        <p:nvSpPr>
          <p:cNvPr id="4" name="TextBox 3">
            <a:extLst>
              <a:ext uri="{FF2B5EF4-FFF2-40B4-BE49-F238E27FC236}">
                <a16:creationId xmlns:a16="http://schemas.microsoft.com/office/drawing/2014/main" id="{09559F4C-941D-4817-E372-05D2A13E84D2}"/>
              </a:ext>
            </a:extLst>
          </p:cNvPr>
          <p:cNvSpPr txBox="1"/>
          <p:nvPr/>
        </p:nvSpPr>
        <p:spPr>
          <a:xfrm>
            <a:off x="548640" y="3226690"/>
            <a:ext cx="3771900" cy="274320"/>
          </a:xfrm>
          <a:prstGeom prst="rect">
            <a:avLst/>
          </a:prstGeom>
          <a:solidFill>
            <a:schemeClr val="bg1"/>
          </a:solidFill>
        </p:spPr>
        <p:txBody>
          <a:bodyPr wrap="square"/>
          <a:lstStyle/>
          <a:p>
            <a:pPr algn="l">
              <a:defRPr sz="1800" b="1">
                <a:solidFill>
                  <a:srgbClr val="111827"/>
                </a:solidFill>
                <a:latin typeface="Calibri"/>
              </a:defRPr>
            </a:pPr>
            <a:r>
              <a:rPr sz="1350"/>
              <a:t>From Contract to Credit Recovery</a:t>
            </a:r>
          </a:p>
        </p:txBody>
      </p:sp>
      <p:sp>
        <p:nvSpPr>
          <p:cNvPr id="5" name="TextBox 4">
            <a:extLst>
              <a:ext uri="{FF2B5EF4-FFF2-40B4-BE49-F238E27FC236}">
                <a16:creationId xmlns:a16="http://schemas.microsoft.com/office/drawing/2014/main" id="{13E309DF-FE91-9354-8F9A-24CF02863986}"/>
              </a:ext>
            </a:extLst>
          </p:cNvPr>
          <p:cNvSpPr txBox="1"/>
          <p:nvPr/>
        </p:nvSpPr>
        <p:spPr>
          <a:xfrm>
            <a:off x="548640" y="3459900"/>
            <a:ext cx="3771900" cy="342900"/>
          </a:xfrm>
          <a:prstGeom prst="rect">
            <a:avLst/>
          </a:prstGeom>
          <a:noFill/>
        </p:spPr>
        <p:txBody>
          <a:bodyPr wrap="square"/>
          <a:lstStyle/>
          <a:p>
            <a:pPr algn="l">
              <a:defRPr sz="1300" b="0">
                <a:solidFill>
                  <a:srgbClr val="4B5563"/>
                </a:solidFill>
                <a:latin typeface="Calibri"/>
              </a:defRPr>
            </a:pPr>
            <a:r>
              <a:rPr sz="975"/>
              <a:t>Automated end-to-end:</a:t>
            </a:r>
          </a:p>
        </p:txBody>
      </p:sp>
      <p:sp>
        <p:nvSpPr>
          <p:cNvPr id="6" name="Oval 5">
            <a:extLst>
              <a:ext uri="{FF2B5EF4-FFF2-40B4-BE49-F238E27FC236}">
                <a16:creationId xmlns:a16="http://schemas.microsoft.com/office/drawing/2014/main" id="{DD7D2F0B-6E0E-CA82-5A86-153F14B939FA}"/>
              </a:ext>
            </a:extLst>
          </p:cNvPr>
          <p:cNvSpPr/>
          <p:nvPr/>
        </p:nvSpPr>
        <p:spPr>
          <a:xfrm>
            <a:off x="685800" y="3939960"/>
            <a:ext cx="205740" cy="205740"/>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TextBox 6">
            <a:extLst>
              <a:ext uri="{FF2B5EF4-FFF2-40B4-BE49-F238E27FC236}">
                <a16:creationId xmlns:a16="http://schemas.microsoft.com/office/drawing/2014/main" id="{A258C471-A2FC-46BB-3352-99E54F1107D3}"/>
              </a:ext>
            </a:extLst>
          </p:cNvPr>
          <p:cNvSpPr txBox="1"/>
          <p:nvPr/>
        </p:nvSpPr>
        <p:spPr>
          <a:xfrm>
            <a:off x="685800" y="3946818"/>
            <a:ext cx="205740" cy="205740"/>
          </a:xfrm>
          <a:prstGeom prst="rect">
            <a:avLst/>
          </a:prstGeom>
          <a:noFill/>
        </p:spPr>
        <p:txBody>
          <a:bodyPr wrap="square"/>
          <a:lstStyle/>
          <a:p>
            <a:pPr algn="ctr">
              <a:defRPr sz="1100" b="1">
                <a:solidFill>
                  <a:srgbClr val="FFFFFF"/>
                </a:solidFill>
                <a:latin typeface="Calibri"/>
              </a:defRPr>
            </a:pPr>
            <a:r>
              <a:rPr sz="825"/>
              <a:t>1</a:t>
            </a:r>
          </a:p>
        </p:txBody>
      </p:sp>
      <p:sp>
        <p:nvSpPr>
          <p:cNvPr id="8" name="TextBox 7">
            <a:extLst>
              <a:ext uri="{FF2B5EF4-FFF2-40B4-BE49-F238E27FC236}">
                <a16:creationId xmlns:a16="http://schemas.microsoft.com/office/drawing/2014/main" id="{4E7CB13B-16C2-9A1C-1926-5B1FB98FCA61}"/>
              </a:ext>
            </a:extLst>
          </p:cNvPr>
          <p:cNvSpPr txBox="1"/>
          <p:nvPr/>
        </p:nvSpPr>
        <p:spPr>
          <a:xfrm>
            <a:off x="1028700" y="3905670"/>
            <a:ext cx="1371600" cy="205740"/>
          </a:xfrm>
          <a:prstGeom prst="rect">
            <a:avLst/>
          </a:prstGeom>
          <a:noFill/>
        </p:spPr>
        <p:txBody>
          <a:bodyPr wrap="square"/>
          <a:lstStyle/>
          <a:p>
            <a:pPr algn="l">
              <a:defRPr sz="1300" b="1">
                <a:solidFill>
                  <a:srgbClr val="111827"/>
                </a:solidFill>
                <a:latin typeface="Calibri"/>
              </a:defRPr>
            </a:pPr>
            <a:r>
              <a:rPr sz="975"/>
              <a:t>SLA Extraction</a:t>
            </a:r>
          </a:p>
        </p:txBody>
      </p:sp>
      <p:sp>
        <p:nvSpPr>
          <p:cNvPr id="9" name="TextBox 8">
            <a:extLst>
              <a:ext uri="{FF2B5EF4-FFF2-40B4-BE49-F238E27FC236}">
                <a16:creationId xmlns:a16="http://schemas.microsoft.com/office/drawing/2014/main" id="{D4F42220-B1BD-DEA7-ED27-9CB92C14E518}"/>
              </a:ext>
            </a:extLst>
          </p:cNvPr>
          <p:cNvSpPr txBox="1"/>
          <p:nvPr/>
        </p:nvSpPr>
        <p:spPr>
          <a:xfrm>
            <a:off x="2400300" y="3919386"/>
            <a:ext cx="2057400" cy="205740"/>
          </a:xfrm>
          <a:prstGeom prst="rect">
            <a:avLst/>
          </a:prstGeom>
          <a:noFill/>
        </p:spPr>
        <p:txBody>
          <a:bodyPr wrap="square"/>
          <a:lstStyle/>
          <a:p>
            <a:pPr algn="l">
              <a:defRPr sz="1100" b="0">
                <a:solidFill>
                  <a:srgbClr val="4B5563"/>
                </a:solidFill>
                <a:latin typeface="Calibri"/>
              </a:defRPr>
            </a:pPr>
            <a:r>
              <a:rPr sz="825"/>
              <a:t>AI identifies metrics, targets, measurement periods, and penalties</a:t>
            </a:r>
          </a:p>
        </p:txBody>
      </p:sp>
      <p:sp>
        <p:nvSpPr>
          <p:cNvPr id="10" name="Rectangle 9">
            <a:extLst>
              <a:ext uri="{FF2B5EF4-FFF2-40B4-BE49-F238E27FC236}">
                <a16:creationId xmlns:a16="http://schemas.microsoft.com/office/drawing/2014/main" id="{1F26D172-BDE8-4846-31EA-399159AAEF1E}"/>
              </a:ext>
            </a:extLst>
          </p:cNvPr>
          <p:cNvSpPr/>
          <p:nvPr/>
        </p:nvSpPr>
        <p:spPr>
          <a:xfrm>
            <a:off x="774953" y="416627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Oval 10">
            <a:extLst>
              <a:ext uri="{FF2B5EF4-FFF2-40B4-BE49-F238E27FC236}">
                <a16:creationId xmlns:a16="http://schemas.microsoft.com/office/drawing/2014/main" id="{C8909399-53E0-F389-E1E3-6C9CBE278753}"/>
              </a:ext>
            </a:extLst>
          </p:cNvPr>
          <p:cNvSpPr/>
          <p:nvPr/>
        </p:nvSpPr>
        <p:spPr>
          <a:xfrm>
            <a:off x="685800" y="4385730"/>
            <a:ext cx="205740" cy="2057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a:extLst>
              <a:ext uri="{FF2B5EF4-FFF2-40B4-BE49-F238E27FC236}">
                <a16:creationId xmlns:a16="http://schemas.microsoft.com/office/drawing/2014/main" id="{7B5ADA24-5DAB-9A0D-16C2-C3CB5D11B219}"/>
              </a:ext>
            </a:extLst>
          </p:cNvPr>
          <p:cNvSpPr txBox="1"/>
          <p:nvPr/>
        </p:nvSpPr>
        <p:spPr>
          <a:xfrm>
            <a:off x="685800" y="4392588"/>
            <a:ext cx="205740" cy="205740"/>
          </a:xfrm>
          <a:prstGeom prst="rect">
            <a:avLst/>
          </a:prstGeom>
          <a:noFill/>
        </p:spPr>
        <p:txBody>
          <a:bodyPr wrap="square"/>
          <a:lstStyle/>
          <a:p>
            <a:pPr algn="ctr">
              <a:defRPr sz="1100" b="1">
                <a:solidFill>
                  <a:srgbClr val="FFFFFF"/>
                </a:solidFill>
                <a:latin typeface="Calibri"/>
              </a:defRPr>
            </a:pPr>
            <a:r>
              <a:rPr sz="825"/>
              <a:t>2</a:t>
            </a:r>
          </a:p>
        </p:txBody>
      </p:sp>
      <p:sp>
        <p:nvSpPr>
          <p:cNvPr id="13" name="TextBox 12">
            <a:extLst>
              <a:ext uri="{FF2B5EF4-FFF2-40B4-BE49-F238E27FC236}">
                <a16:creationId xmlns:a16="http://schemas.microsoft.com/office/drawing/2014/main" id="{4D66AD91-0D28-7F30-0F75-727210392E7C}"/>
              </a:ext>
            </a:extLst>
          </p:cNvPr>
          <p:cNvSpPr txBox="1"/>
          <p:nvPr/>
        </p:nvSpPr>
        <p:spPr>
          <a:xfrm>
            <a:off x="1028700" y="4351440"/>
            <a:ext cx="1371600" cy="205740"/>
          </a:xfrm>
          <a:prstGeom prst="rect">
            <a:avLst/>
          </a:prstGeom>
          <a:noFill/>
        </p:spPr>
        <p:txBody>
          <a:bodyPr wrap="square"/>
          <a:lstStyle/>
          <a:p>
            <a:pPr algn="l">
              <a:defRPr sz="1300" b="1">
                <a:solidFill>
                  <a:srgbClr val="111827"/>
                </a:solidFill>
                <a:latin typeface="Calibri"/>
              </a:defRPr>
            </a:pPr>
            <a:r>
              <a:rPr sz="975"/>
              <a:t>Performance Ingestion</a:t>
            </a:r>
          </a:p>
        </p:txBody>
      </p:sp>
      <p:sp>
        <p:nvSpPr>
          <p:cNvPr id="14" name="TextBox 13">
            <a:extLst>
              <a:ext uri="{FF2B5EF4-FFF2-40B4-BE49-F238E27FC236}">
                <a16:creationId xmlns:a16="http://schemas.microsoft.com/office/drawing/2014/main" id="{CBACADD9-AD66-18A6-B057-E6423757208A}"/>
              </a:ext>
            </a:extLst>
          </p:cNvPr>
          <p:cNvSpPr txBox="1"/>
          <p:nvPr/>
        </p:nvSpPr>
        <p:spPr>
          <a:xfrm>
            <a:off x="2400300" y="4365156"/>
            <a:ext cx="2057400" cy="205740"/>
          </a:xfrm>
          <a:prstGeom prst="rect">
            <a:avLst/>
          </a:prstGeom>
          <a:noFill/>
        </p:spPr>
        <p:txBody>
          <a:bodyPr wrap="square"/>
          <a:lstStyle/>
          <a:p>
            <a:pPr algn="l">
              <a:defRPr sz="1100" b="0">
                <a:solidFill>
                  <a:srgbClr val="4B5563"/>
                </a:solidFill>
                <a:latin typeface="Calibri"/>
              </a:defRPr>
            </a:pPr>
            <a:r>
              <a:rPr sz="825"/>
              <a:t>Actual performance data imported via API or manual entry</a:t>
            </a:r>
          </a:p>
        </p:txBody>
      </p:sp>
      <p:sp>
        <p:nvSpPr>
          <p:cNvPr id="15" name="Rectangle 14">
            <a:extLst>
              <a:ext uri="{FF2B5EF4-FFF2-40B4-BE49-F238E27FC236}">
                <a16:creationId xmlns:a16="http://schemas.microsoft.com/office/drawing/2014/main" id="{EF360617-4432-0F20-BF5B-2A06883F7A82}"/>
              </a:ext>
            </a:extLst>
          </p:cNvPr>
          <p:cNvSpPr/>
          <p:nvPr/>
        </p:nvSpPr>
        <p:spPr>
          <a:xfrm>
            <a:off x="774953" y="461204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Oval 15">
            <a:extLst>
              <a:ext uri="{FF2B5EF4-FFF2-40B4-BE49-F238E27FC236}">
                <a16:creationId xmlns:a16="http://schemas.microsoft.com/office/drawing/2014/main" id="{0C31226C-7FD9-CBA1-19A3-2F264F5A0D50}"/>
              </a:ext>
            </a:extLst>
          </p:cNvPr>
          <p:cNvSpPr/>
          <p:nvPr/>
        </p:nvSpPr>
        <p:spPr>
          <a:xfrm>
            <a:off x="685800" y="4831500"/>
            <a:ext cx="205740" cy="20574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TextBox 16">
            <a:extLst>
              <a:ext uri="{FF2B5EF4-FFF2-40B4-BE49-F238E27FC236}">
                <a16:creationId xmlns:a16="http://schemas.microsoft.com/office/drawing/2014/main" id="{07AB9EB4-4E7B-AB36-53C4-F808C2737530}"/>
              </a:ext>
            </a:extLst>
          </p:cNvPr>
          <p:cNvSpPr txBox="1"/>
          <p:nvPr/>
        </p:nvSpPr>
        <p:spPr>
          <a:xfrm>
            <a:off x="685800" y="4838358"/>
            <a:ext cx="205740" cy="205740"/>
          </a:xfrm>
          <a:prstGeom prst="rect">
            <a:avLst/>
          </a:prstGeom>
          <a:noFill/>
        </p:spPr>
        <p:txBody>
          <a:bodyPr wrap="square"/>
          <a:lstStyle/>
          <a:p>
            <a:pPr algn="ctr">
              <a:defRPr sz="1100" b="1">
                <a:solidFill>
                  <a:srgbClr val="FFFFFF"/>
                </a:solidFill>
                <a:latin typeface="Calibri"/>
              </a:defRPr>
            </a:pPr>
            <a:r>
              <a:rPr sz="825"/>
              <a:t>3</a:t>
            </a:r>
          </a:p>
        </p:txBody>
      </p:sp>
      <p:sp>
        <p:nvSpPr>
          <p:cNvPr id="18" name="TextBox 17">
            <a:extLst>
              <a:ext uri="{FF2B5EF4-FFF2-40B4-BE49-F238E27FC236}">
                <a16:creationId xmlns:a16="http://schemas.microsoft.com/office/drawing/2014/main" id="{B5D78D8A-0E74-4A05-C951-49A834F43EE7}"/>
              </a:ext>
            </a:extLst>
          </p:cNvPr>
          <p:cNvSpPr txBox="1"/>
          <p:nvPr/>
        </p:nvSpPr>
        <p:spPr>
          <a:xfrm>
            <a:off x="1028700" y="4797210"/>
            <a:ext cx="1371600" cy="205740"/>
          </a:xfrm>
          <a:prstGeom prst="rect">
            <a:avLst/>
          </a:prstGeom>
          <a:noFill/>
        </p:spPr>
        <p:txBody>
          <a:bodyPr wrap="square"/>
          <a:lstStyle/>
          <a:p>
            <a:pPr algn="l">
              <a:defRPr sz="1300" b="1">
                <a:solidFill>
                  <a:srgbClr val="111827"/>
                </a:solidFill>
                <a:latin typeface="Calibri"/>
              </a:defRPr>
            </a:pPr>
            <a:r>
              <a:rPr sz="975"/>
              <a:t>Threshold Comparison</a:t>
            </a:r>
          </a:p>
        </p:txBody>
      </p:sp>
      <p:sp>
        <p:nvSpPr>
          <p:cNvPr id="19" name="TextBox 18">
            <a:extLst>
              <a:ext uri="{FF2B5EF4-FFF2-40B4-BE49-F238E27FC236}">
                <a16:creationId xmlns:a16="http://schemas.microsoft.com/office/drawing/2014/main" id="{8F3ABF1C-B52D-DF99-62A4-FEC3C6CB0A5C}"/>
              </a:ext>
            </a:extLst>
          </p:cNvPr>
          <p:cNvSpPr txBox="1"/>
          <p:nvPr/>
        </p:nvSpPr>
        <p:spPr>
          <a:xfrm>
            <a:off x="2400300" y="4810926"/>
            <a:ext cx="2057400" cy="205740"/>
          </a:xfrm>
          <a:prstGeom prst="rect">
            <a:avLst/>
          </a:prstGeom>
          <a:noFill/>
        </p:spPr>
        <p:txBody>
          <a:bodyPr wrap="square"/>
          <a:lstStyle/>
          <a:p>
            <a:pPr algn="l">
              <a:defRPr sz="1100" b="0">
                <a:solidFill>
                  <a:srgbClr val="4B5563"/>
                </a:solidFill>
                <a:latin typeface="Calibri"/>
              </a:defRPr>
            </a:pPr>
            <a:r>
              <a:rPr sz="825"/>
              <a:t>Contracted targets compared against actuals in real time</a:t>
            </a:r>
          </a:p>
        </p:txBody>
      </p:sp>
      <p:sp>
        <p:nvSpPr>
          <p:cNvPr id="20" name="Rectangle 19">
            <a:extLst>
              <a:ext uri="{FF2B5EF4-FFF2-40B4-BE49-F238E27FC236}">
                <a16:creationId xmlns:a16="http://schemas.microsoft.com/office/drawing/2014/main" id="{0B231BF3-D68F-ADC4-E15E-7B6F2F2FA8DB}"/>
              </a:ext>
            </a:extLst>
          </p:cNvPr>
          <p:cNvSpPr/>
          <p:nvPr/>
        </p:nvSpPr>
        <p:spPr>
          <a:xfrm>
            <a:off x="774953" y="505781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Oval 20">
            <a:extLst>
              <a:ext uri="{FF2B5EF4-FFF2-40B4-BE49-F238E27FC236}">
                <a16:creationId xmlns:a16="http://schemas.microsoft.com/office/drawing/2014/main" id="{2ADBA418-3EDF-0248-B484-50D7A9746D1F}"/>
              </a:ext>
            </a:extLst>
          </p:cNvPr>
          <p:cNvSpPr/>
          <p:nvPr/>
        </p:nvSpPr>
        <p:spPr>
          <a:xfrm>
            <a:off x="685800" y="5277270"/>
            <a:ext cx="205740" cy="205740"/>
          </a:xfrm>
          <a:prstGeom prst="ellipse">
            <a:avLst/>
          </a:prstGeom>
          <a:solidFill>
            <a:srgbClr val="EA7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TextBox 21">
            <a:extLst>
              <a:ext uri="{FF2B5EF4-FFF2-40B4-BE49-F238E27FC236}">
                <a16:creationId xmlns:a16="http://schemas.microsoft.com/office/drawing/2014/main" id="{716ACBFD-B172-CD8C-C9B0-D683C9DBA075}"/>
              </a:ext>
            </a:extLst>
          </p:cNvPr>
          <p:cNvSpPr txBox="1"/>
          <p:nvPr/>
        </p:nvSpPr>
        <p:spPr>
          <a:xfrm>
            <a:off x="685800" y="5284128"/>
            <a:ext cx="205740" cy="205740"/>
          </a:xfrm>
          <a:prstGeom prst="rect">
            <a:avLst/>
          </a:prstGeom>
          <a:noFill/>
        </p:spPr>
        <p:txBody>
          <a:bodyPr wrap="square"/>
          <a:lstStyle/>
          <a:p>
            <a:pPr algn="ctr">
              <a:defRPr sz="1100" b="1">
                <a:solidFill>
                  <a:srgbClr val="FFFFFF"/>
                </a:solidFill>
                <a:latin typeface="Calibri"/>
              </a:defRPr>
            </a:pPr>
            <a:r>
              <a:rPr sz="825"/>
              <a:t>4</a:t>
            </a:r>
          </a:p>
        </p:txBody>
      </p:sp>
      <p:sp>
        <p:nvSpPr>
          <p:cNvPr id="23" name="TextBox 22">
            <a:extLst>
              <a:ext uri="{FF2B5EF4-FFF2-40B4-BE49-F238E27FC236}">
                <a16:creationId xmlns:a16="http://schemas.microsoft.com/office/drawing/2014/main" id="{6F25800F-C030-D50B-3220-4B1B4EC44E4B}"/>
              </a:ext>
            </a:extLst>
          </p:cNvPr>
          <p:cNvSpPr txBox="1"/>
          <p:nvPr/>
        </p:nvSpPr>
        <p:spPr>
          <a:xfrm>
            <a:off x="1028700" y="5242980"/>
            <a:ext cx="1371600" cy="205740"/>
          </a:xfrm>
          <a:prstGeom prst="rect">
            <a:avLst/>
          </a:prstGeom>
          <a:noFill/>
        </p:spPr>
        <p:txBody>
          <a:bodyPr wrap="square"/>
          <a:lstStyle/>
          <a:p>
            <a:pPr algn="l">
              <a:defRPr sz="1300" b="1">
                <a:solidFill>
                  <a:srgbClr val="111827"/>
                </a:solidFill>
                <a:latin typeface="Calibri"/>
              </a:defRPr>
            </a:pPr>
            <a:r>
              <a:rPr sz="975"/>
              <a:t>Breach Detection</a:t>
            </a:r>
          </a:p>
        </p:txBody>
      </p:sp>
      <p:sp>
        <p:nvSpPr>
          <p:cNvPr id="24" name="TextBox 23">
            <a:extLst>
              <a:ext uri="{FF2B5EF4-FFF2-40B4-BE49-F238E27FC236}">
                <a16:creationId xmlns:a16="http://schemas.microsoft.com/office/drawing/2014/main" id="{7BC827A8-2EC1-8007-79EB-00F771912380}"/>
              </a:ext>
            </a:extLst>
          </p:cNvPr>
          <p:cNvSpPr txBox="1"/>
          <p:nvPr/>
        </p:nvSpPr>
        <p:spPr>
          <a:xfrm>
            <a:off x="2400300" y="5256696"/>
            <a:ext cx="2057400" cy="205740"/>
          </a:xfrm>
          <a:prstGeom prst="rect">
            <a:avLst/>
          </a:prstGeom>
          <a:noFill/>
        </p:spPr>
        <p:txBody>
          <a:bodyPr wrap="square"/>
          <a:lstStyle/>
          <a:p>
            <a:pPr algn="l">
              <a:defRPr sz="1100" b="0">
                <a:solidFill>
                  <a:srgbClr val="4B5563"/>
                </a:solidFill>
                <a:latin typeface="Calibri"/>
              </a:defRPr>
            </a:pPr>
            <a:r>
              <a:rPr sz="825"/>
              <a:t>Violations classified by severity: Minor, Moderate, Major, Critical</a:t>
            </a:r>
          </a:p>
        </p:txBody>
      </p:sp>
      <p:sp>
        <p:nvSpPr>
          <p:cNvPr id="25" name="Rectangle 24">
            <a:extLst>
              <a:ext uri="{FF2B5EF4-FFF2-40B4-BE49-F238E27FC236}">
                <a16:creationId xmlns:a16="http://schemas.microsoft.com/office/drawing/2014/main" id="{1CA8AB6D-AA5D-FAF4-67B6-080A8E1DD7E3}"/>
              </a:ext>
            </a:extLst>
          </p:cNvPr>
          <p:cNvSpPr/>
          <p:nvPr/>
        </p:nvSpPr>
        <p:spPr>
          <a:xfrm>
            <a:off x="774953" y="550358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Oval 25">
            <a:extLst>
              <a:ext uri="{FF2B5EF4-FFF2-40B4-BE49-F238E27FC236}">
                <a16:creationId xmlns:a16="http://schemas.microsoft.com/office/drawing/2014/main" id="{CD7C7553-C76F-01FB-FA87-A696172EDEE8}"/>
              </a:ext>
            </a:extLst>
          </p:cNvPr>
          <p:cNvSpPr/>
          <p:nvPr/>
        </p:nvSpPr>
        <p:spPr>
          <a:xfrm>
            <a:off x="685800" y="5723040"/>
            <a:ext cx="205740" cy="20574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7" name="TextBox 26">
            <a:extLst>
              <a:ext uri="{FF2B5EF4-FFF2-40B4-BE49-F238E27FC236}">
                <a16:creationId xmlns:a16="http://schemas.microsoft.com/office/drawing/2014/main" id="{85765ECA-3C70-61EB-E85D-682BB70F0093}"/>
              </a:ext>
            </a:extLst>
          </p:cNvPr>
          <p:cNvSpPr txBox="1"/>
          <p:nvPr/>
        </p:nvSpPr>
        <p:spPr>
          <a:xfrm>
            <a:off x="685800" y="5729898"/>
            <a:ext cx="205740" cy="205740"/>
          </a:xfrm>
          <a:prstGeom prst="rect">
            <a:avLst/>
          </a:prstGeom>
          <a:noFill/>
        </p:spPr>
        <p:txBody>
          <a:bodyPr wrap="square"/>
          <a:lstStyle/>
          <a:p>
            <a:pPr algn="ctr">
              <a:defRPr sz="1100" b="1">
                <a:solidFill>
                  <a:srgbClr val="FFFFFF"/>
                </a:solidFill>
                <a:latin typeface="Calibri"/>
              </a:defRPr>
            </a:pPr>
            <a:r>
              <a:rPr sz="825"/>
              <a:t>5</a:t>
            </a:r>
          </a:p>
        </p:txBody>
      </p:sp>
      <p:sp>
        <p:nvSpPr>
          <p:cNvPr id="28" name="TextBox 27">
            <a:extLst>
              <a:ext uri="{FF2B5EF4-FFF2-40B4-BE49-F238E27FC236}">
                <a16:creationId xmlns:a16="http://schemas.microsoft.com/office/drawing/2014/main" id="{607A9D06-8EF4-183F-CEE0-B8AFE20EF1C9}"/>
              </a:ext>
            </a:extLst>
          </p:cNvPr>
          <p:cNvSpPr txBox="1"/>
          <p:nvPr/>
        </p:nvSpPr>
        <p:spPr>
          <a:xfrm>
            <a:off x="1028700" y="5688750"/>
            <a:ext cx="1371600" cy="205740"/>
          </a:xfrm>
          <a:prstGeom prst="rect">
            <a:avLst/>
          </a:prstGeom>
          <a:noFill/>
        </p:spPr>
        <p:txBody>
          <a:bodyPr wrap="square"/>
          <a:lstStyle/>
          <a:p>
            <a:pPr algn="l">
              <a:defRPr sz="1300" b="1">
                <a:solidFill>
                  <a:srgbClr val="111827"/>
                </a:solidFill>
                <a:latin typeface="Calibri"/>
              </a:defRPr>
            </a:pPr>
            <a:r>
              <a:rPr sz="975"/>
              <a:t>Credit Calculation</a:t>
            </a:r>
          </a:p>
        </p:txBody>
      </p:sp>
      <p:sp>
        <p:nvSpPr>
          <p:cNvPr id="29" name="TextBox 28">
            <a:extLst>
              <a:ext uri="{FF2B5EF4-FFF2-40B4-BE49-F238E27FC236}">
                <a16:creationId xmlns:a16="http://schemas.microsoft.com/office/drawing/2014/main" id="{4E6AF67B-0F4F-CC15-5FE3-3E16C18246AF}"/>
              </a:ext>
            </a:extLst>
          </p:cNvPr>
          <p:cNvSpPr txBox="1"/>
          <p:nvPr/>
        </p:nvSpPr>
        <p:spPr>
          <a:xfrm>
            <a:off x="2400300" y="5702466"/>
            <a:ext cx="2057400" cy="205740"/>
          </a:xfrm>
          <a:prstGeom prst="rect">
            <a:avLst/>
          </a:prstGeom>
          <a:noFill/>
        </p:spPr>
        <p:txBody>
          <a:bodyPr wrap="square"/>
          <a:lstStyle/>
          <a:p>
            <a:pPr algn="l">
              <a:defRPr sz="1100" b="0">
                <a:solidFill>
                  <a:srgbClr val="4B5563"/>
                </a:solidFill>
                <a:latin typeface="Calibri"/>
              </a:defRPr>
            </a:pPr>
            <a:r>
              <a:rPr sz="825"/>
              <a:t>Service credits and penalties computed automatically per contract terms</a:t>
            </a:r>
          </a:p>
        </p:txBody>
      </p:sp>
      <p:sp>
        <p:nvSpPr>
          <p:cNvPr id="30" name="TextBox 29">
            <a:extLst>
              <a:ext uri="{FF2B5EF4-FFF2-40B4-BE49-F238E27FC236}">
                <a16:creationId xmlns:a16="http://schemas.microsoft.com/office/drawing/2014/main" id="{0F3B0CD8-1E03-A5C9-9096-BF3D5C00E8CC}"/>
              </a:ext>
            </a:extLst>
          </p:cNvPr>
          <p:cNvSpPr txBox="1"/>
          <p:nvPr/>
        </p:nvSpPr>
        <p:spPr>
          <a:xfrm>
            <a:off x="4937760" y="3226690"/>
            <a:ext cx="3771900" cy="274320"/>
          </a:xfrm>
          <a:prstGeom prst="rect">
            <a:avLst/>
          </a:prstGeom>
          <a:solidFill>
            <a:schemeClr val="bg1"/>
          </a:solidFill>
        </p:spPr>
        <p:txBody>
          <a:bodyPr wrap="square"/>
          <a:lstStyle/>
          <a:p>
            <a:pPr algn="l">
              <a:defRPr sz="1800" b="1">
                <a:solidFill>
                  <a:srgbClr val="111827"/>
                </a:solidFill>
                <a:latin typeface="Calibri"/>
              </a:defRPr>
            </a:pPr>
            <a:r>
              <a:rPr sz="1350"/>
              <a:t>Key Capabilities</a:t>
            </a:r>
          </a:p>
        </p:txBody>
      </p:sp>
      <p:sp>
        <p:nvSpPr>
          <p:cNvPr id="31" name="Rounded Rectangle 32">
            <a:extLst>
              <a:ext uri="{FF2B5EF4-FFF2-40B4-BE49-F238E27FC236}">
                <a16:creationId xmlns:a16="http://schemas.microsoft.com/office/drawing/2014/main" id="{01C169ED-0046-9A35-745A-E11B76FA7089}"/>
              </a:ext>
            </a:extLst>
          </p:cNvPr>
          <p:cNvSpPr/>
          <p:nvPr/>
        </p:nvSpPr>
        <p:spPr>
          <a:xfrm>
            <a:off x="4937760" y="356277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Oval 31">
            <a:extLst>
              <a:ext uri="{FF2B5EF4-FFF2-40B4-BE49-F238E27FC236}">
                <a16:creationId xmlns:a16="http://schemas.microsoft.com/office/drawing/2014/main" id="{A54B484F-5A42-6E6D-732B-DC4E0671F914}"/>
              </a:ext>
            </a:extLst>
          </p:cNvPr>
          <p:cNvSpPr/>
          <p:nvPr/>
        </p:nvSpPr>
        <p:spPr>
          <a:xfrm>
            <a:off x="5109210" y="3734220"/>
            <a:ext cx="82296" cy="8229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3" name="TextBox 32">
            <a:extLst>
              <a:ext uri="{FF2B5EF4-FFF2-40B4-BE49-F238E27FC236}">
                <a16:creationId xmlns:a16="http://schemas.microsoft.com/office/drawing/2014/main" id="{F17B5226-1E2E-8F14-58A6-F61839564475}"/>
              </a:ext>
            </a:extLst>
          </p:cNvPr>
          <p:cNvSpPr txBox="1"/>
          <p:nvPr/>
        </p:nvSpPr>
        <p:spPr>
          <a:xfrm>
            <a:off x="5280660" y="3665640"/>
            <a:ext cx="3086100" cy="205740"/>
          </a:xfrm>
          <a:prstGeom prst="rect">
            <a:avLst/>
          </a:prstGeom>
          <a:noFill/>
        </p:spPr>
        <p:txBody>
          <a:bodyPr wrap="square"/>
          <a:lstStyle/>
          <a:p>
            <a:pPr algn="l">
              <a:defRPr sz="1400" b="1">
                <a:solidFill>
                  <a:srgbClr val="111827"/>
                </a:solidFill>
                <a:latin typeface="Calibri"/>
              </a:defRPr>
            </a:pPr>
            <a:r>
              <a:rPr sz="1050"/>
              <a:t>9 SLA Metric Types</a:t>
            </a:r>
          </a:p>
        </p:txBody>
      </p:sp>
      <p:sp>
        <p:nvSpPr>
          <p:cNvPr id="34" name="TextBox 33">
            <a:extLst>
              <a:ext uri="{FF2B5EF4-FFF2-40B4-BE49-F238E27FC236}">
                <a16:creationId xmlns:a16="http://schemas.microsoft.com/office/drawing/2014/main" id="{838FE0F6-8D78-31C1-86B2-DF205FED850C}"/>
              </a:ext>
            </a:extLst>
          </p:cNvPr>
          <p:cNvSpPr txBox="1"/>
          <p:nvPr/>
        </p:nvSpPr>
        <p:spPr>
          <a:xfrm>
            <a:off x="5109210" y="3905670"/>
            <a:ext cx="3291840" cy="480060"/>
          </a:xfrm>
          <a:prstGeom prst="rect">
            <a:avLst/>
          </a:prstGeom>
          <a:noFill/>
        </p:spPr>
        <p:txBody>
          <a:bodyPr wrap="square"/>
          <a:lstStyle/>
          <a:p>
            <a:pPr algn="l">
              <a:defRPr sz="1100" b="0">
                <a:solidFill>
                  <a:srgbClr val="4B5563"/>
                </a:solidFill>
                <a:latin typeface="Calibri"/>
              </a:defRPr>
            </a:pPr>
            <a:r>
              <a:rPr sz="825"/>
              <a:t>Uptime, Response Time, Resolution Time, Throughput, Error Rate, Availability, Latency, MTTR, and Custom metrics — each with targets, thresholds, and measurement windows extracted by AI.</a:t>
            </a:r>
          </a:p>
        </p:txBody>
      </p:sp>
      <p:sp>
        <p:nvSpPr>
          <p:cNvPr id="35" name="Rounded Rectangle 36">
            <a:extLst>
              <a:ext uri="{FF2B5EF4-FFF2-40B4-BE49-F238E27FC236}">
                <a16:creationId xmlns:a16="http://schemas.microsoft.com/office/drawing/2014/main" id="{14A6CF93-0C51-6D9A-26E9-64EF4E8B4203}"/>
              </a:ext>
            </a:extLst>
          </p:cNvPr>
          <p:cNvSpPr/>
          <p:nvPr/>
        </p:nvSpPr>
        <p:spPr>
          <a:xfrm>
            <a:off x="4937760" y="448860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6" name="Oval 35">
            <a:extLst>
              <a:ext uri="{FF2B5EF4-FFF2-40B4-BE49-F238E27FC236}">
                <a16:creationId xmlns:a16="http://schemas.microsoft.com/office/drawing/2014/main" id="{DF1DF563-66B1-8D95-87C7-AFF3B2FB978C}"/>
              </a:ext>
            </a:extLst>
          </p:cNvPr>
          <p:cNvSpPr/>
          <p:nvPr/>
        </p:nvSpPr>
        <p:spPr>
          <a:xfrm>
            <a:off x="5109210" y="4660050"/>
            <a:ext cx="82296" cy="82296"/>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TextBox 36">
            <a:extLst>
              <a:ext uri="{FF2B5EF4-FFF2-40B4-BE49-F238E27FC236}">
                <a16:creationId xmlns:a16="http://schemas.microsoft.com/office/drawing/2014/main" id="{D3458D40-BAEB-ADDA-D95E-0453588F202A}"/>
              </a:ext>
            </a:extLst>
          </p:cNvPr>
          <p:cNvSpPr txBox="1"/>
          <p:nvPr/>
        </p:nvSpPr>
        <p:spPr>
          <a:xfrm>
            <a:off x="5280660" y="4591470"/>
            <a:ext cx="3086100" cy="205740"/>
          </a:xfrm>
          <a:prstGeom prst="rect">
            <a:avLst/>
          </a:prstGeom>
          <a:noFill/>
        </p:spPr>
        <p:txBody>
          <a:bodyPr wrap="square"/>
          <a:lstStyle/>
          <a:p>
            <a:pPr algn="l">
              <a:defRPr sz="1400" b="1">
                <a:solidFill>
                  <a:srgbClr val="111827"/>
                </a:solidFill>
                <a:latin typeface="Calibri"/>
              </a:defRPr>
            </a:pPr>
            <a:r>
              <a:rPr sz="1050"/>
              <a:t>Service Credit Recovery</a:t>
            </a:r>
          </a:p>
        </p:txBody>
      </p:sp>
      <p:sp>
        <p:nvSpPr>
          <p:cNvPr id="38" name="TextBox 37">
            <a:extLst>
              <a:ext uri="{FF2B5EF4-FFF2-40B4-BE49-F238E27FC236}">
                <a16:creationId xmlns:a16="http://schemas.microsoft.com/office/drawing/2014/main" id="{1D2E42DA-7F4A-8F6C-5520-72471AA0D28E}"/>
              </a:ext>
            </a:extLst>
          </p:cNvPr>
          <p:cNvSpPr txBox="1"/>
          <p:nvPr/>
        </p:nvSpPr>
        <p:spPr>
          <a:xfrm>
            <a:off x="5109210" y="4831500"/>
            <a:ext cx="3291840" cy="480060"/>
          </a:xfrm>
          <a:prstGeom prst="rect">
            <a:avLst/>
          </a:prstGeom>
          <a:noFill/>
        </p:spPr>
        <p:txBody>
          <a:bodyPr wrap="square"/>
          <a:lstStyle/>
          <a:p>
            <a:pPr algn="l">
              <a:defRPr sz="1100" b="0">
                <a:solidFill>
                  <a:srgbClr val="4B5563"/>
                </a:solidFill>
                <a:latin typeface="Calibri"/>
              </a:defRPr>
            </a:pPr>
            <a:r>
              <a:rPr sz="825"/>
              <a:t>Automatic calculation of credits owed based on breach severity and contract terms. Track recovery status from detection through claim to resolution. Customers report 3–5x more credits found.</a:t>
            </a:r>
          </a:p>
        </p:txBody>
      </p:sp>
      <p:sp>
        <p:nvSpPr>
          <p:cNvPr id="39" name="Rounded Rectangle 40">
            <a:extLst>
              <a:ext uri="{FF2B5EF4-FFF2-40B4-BE49-F238E27FC236}">
                <a16:creationId xmlns:a16="http://schemas.microsoft.com/office/drawing/2014/main" id="{167E4DA5-67FD-A371-DBC7-5E9341814678}"/>
              </a:ext>
            </a:extLst>
          </p:cNvPr>
          <p:cNvSpPr/>
          <p:nvPr/>
        </p:nvSpPr>
        <p:spPr>
          <a:xfrm>
            <a:off x="4937760" y="541443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Oval 39">
            <a:extLst>
              <a:ext uri="{FF2B5EF4-FFF2-40B4-BE49-F238E27FC236}">
                <a16:creationId xmlns:a16="http://schemas.microsoft.com/office/drawing/2014/main" id="{F6C356D2-24B5-02E0-982D-A84AF0F08413}"/>
              </a:ext>
            </a:extLst>
          </p:cNvPr>
          <p:cNvSpPr/>
          <p:nvPr/>
        </p:nvSpPr>
        <p:spPr>
          <a:xfrm>
            <a:off x="5109210" y="5585880"/>
            <a:ext cx="82296" cy="82296"/>
          </a:xfrm>
          <a:prstGeom prst="ellipse">
            <a:avLst/>
          </a:prstGeom>
          <a:solidFill>
            <a:srgbClr val="EA7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1" name="TextBox 40">
            <a:extLst>
              <a:ext uri="{FF2B5EF4-FFF2-40B4-BE49-F238E27FC236}">
                <a16:creationId xmlns:a16="http://schemas.microsoft.com/office/drawing/2014/main" id="{37240D18-5408-06D0-451A-5336D432E574}"/>
              </a:ext>
            </a:extLst>
          </p:cNvPr>
          <p:cNvSpPr txBox="1"/>
          <p:nvPr/>
        </p:nvSpPr>
        <p:spPr>
          <a:xfrm>
            <a:off x="5280660" y="5517300"/>
            <a:ext cx="3086100" cy="205740"/>
          </a:xfrm>
          <a:prstGeom prst="rect">
            <a:avLst/>
          </a:prstGeom>
          <a:noFill/>
        </p:spPr>
        <p:txBody>
          <a:bodyPr wrap="square"/>
          <a:lstStyle/>
          <a:p>
            <a:pPr algn="l">
              <a:defRPr sz="1400" b="1">
                <a:solidFill>
                  <a:srgbClr val="111827"/>
                </a:solidFill>
                <a:latin typeface="Calibri"/>
              </a:defRPr>
            </a:pPr>
            <a:r>
              <a:rPr sz="1050"/>
              <a:t>Vendor Scorecards</a:t>
            </a:r>
          </a:p>
        </p:txBody>
      </p:sp>
      <p:sp>
        <p:nvSpPr>
          <p:cNvPr id="42" name="TextBox 41">
            <a:extLst>
              <a:ext uri="{FF2B5EF4-FFF2-40B4-BE49-F238E27FC236}">
                <a16:creationId xmlns:a16="http://schemas.microsoft.com/office/drawing/2014/main" id="{3A32DB9B-924C-0BEC-D1AD-FA7E2CFCEA85}"/>
              </a:ext>
            </a:extLst>
          </p:cNvPr>
          <p:cNvSpPr txBox="1"/>
          <p:nvPr/>
        </p:nvSpPr>
        <p:spPr>
          <a:xfrm>
            <a:off x="5109210" y="5757330"/>
            <a:ext cx="3291840" cy="480060"/>
          </a:xfrm>
          <a:prstGeom prst="rect">
            <a:avLst/>
          </a:prstGeom>
          <a:noFill/>
        </p:spPr>
        <p:txBody>
          <a:bodyPr wrap="square"/>
          <a:lstStyle/>
          <a:p>
            <a:pPr algn="l">
              <a:defRPr sz="1100" b="0">
                <a:solidFill>
                  <a:srgbClr val="4B5563"/>
                </a:solidFill>
                <a:latin typeface="Calibri"/>
              </a:defRPr>
            </a:pPr>
            <a:r>
              <a:rPr sz="825"/>
              <a:t>A–F grade vendor ratings combining SLA compliance rate, breach frequency, financial impact, and trend direction. Compare vendor performance across your portfolio with historical benchmarking.</a:t>
            </a:r>
          </a:p>
        </p:txBody>
      </p:sp>
      <p:sp>
        <p:nvSpPr>
          <p:cNvPr id="45" name="Date Placeholder 2">
            <a:extLst>
              <a:ext uri="{FF2B5EF4-FFF2-40B4-BE49-F238E27FC236}">
                <a16:creationId xmlns:a16="http://schemas.microsoft.com/office/drawing/2014/main" id="{B86410AD-A603-C489-58B1-D1B563F87622}"/>
              </a:ext>
            </a:extLst>
          </p:cNvPr>
          <p:cNvSpPr>
            <a:spLocks noGrp="1"/>
          </p:cNvSpPr>
          <p:nvPr>
            <p:ph type="dt" sz="half" idx="2"/>
          </p:nvPr>
        </p:nvSpPr>
        <p:spPr>
          <a:xfrm>
            <a:off x="611450" y="6471383"/>
            <a:ext cx="2057400" cy="365125"/>
          </a:xfrm>
        </p:spPr>
        <p:txBody>
          <a:bodyPr/>
          <a:lstStyle/>
          <a:p>
            <a:fld id="{BCFD5220-14B2-4D59-AAB5-DC8635FE0AAA}"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46" name="Footer Placeholder 5">
            <a:extLst>
              <a:ext uri="{FF2B5EF4-FFF2-40B4-BE49-F238E27FC236}">
                <a16:creationId xmlns:a16="http://schemas.microsoft.com/office/drawing/2014/main" id="{B039188F-FEAF-CDDB-F4E5-CF14A45FED8B}"/>
              </a:ext>
            </a:extLst>
          </p:cNvPr>
          <p:cNvSpPr>
            <a:spLocks noGrp="1"/>
          </p:cNvSpPr>
          <p:nvPr>
            <p:ph type="ftr" sz="quarter" idx="3"/>
          </p:nvPr>
        </p:nvSpPr>
        <p:spPr>
          <a:xfrm>
            <a:off x="2633434" y="6471382"/>
            <a:ext cx="3312460" cy="367086"/>
          </a:xfrm>
        </p:spPr>
        <p:txBody>
          <a:bodyPr/>
          <a:lstStyle/>
          <a:p>
            <a:pPr algn="l"/>
            <a:r>
              <a:rPr lang="en-US" dirty="0"/>
              <a:t>AI-Powered Contract Intelligence</a:t>
            </a:r>
            <a:endParaRPr lang="en-GB" i="1" dirty="0"/>
          </a:p>
        </p:txBody>
      </p:sp>
    </p:spTree>
    <p:extLst>
      <p:ext uri="{BB962C8B-B14F-4D97-AF65-F5344CB8AC3E}">
        <p14:creationId xmlns:p14="http://schemas.microsoft.com/office/powerpoint/2010/main" val="1326186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B4D4BF2D-72C1-DE9B-A2D3-6E32A1552080}"/>
              </a:ext>
            </a:extLst>
          </p:cNvPr>
          <p:cNvPicPr>
            <a:picLocks noChangeAspect="1"/>
          </p:cNvPicPr>
          <p:nvPr/>
        </p:nvPicPr>
        <p:blipFill>
          <a:blip r:embed="rId2"/>
          <a:stretch>
            <a:fillRect/>
          </a:stretch>
        </p:blipFill>
        <p:spPr>
          <a:xfrm>
            <a:off x="5004060" y="1023777"/>
            <a:ext cx="3855400" cy="2394464"/>
          </a:xfrm>
          <a:prstGeom prst="rect">
            <a:avLst/>
          </a:prstGeom>
        </p:spPr>
      </p:pic>
      <p:sp>
        <p:nvSpPr>
          <p:cNvPr id="2" name="Title 1">
            <a:extLst>
              <a:ext uri="{FF2B5EF4-FFF2-40B4-BE49-F238E27FC236}">
                <a16:creationId xmlns:a16="http://schemas.microsoft.com/office/drawing/2014/main" id="{47DD9014-8435-45EA-FCC0-3FE6BDF8D92C}"/>
              </a:ext>
            </a:extLst>
          </p:cNvPr>
          <p:cNvSpPr>
            <a:spLocks noGrp="1"/>
          </p:cNvSpPr>
          <p:nvPr>
            <p:ph type="title" idx="4294967295"/>
          </p:nvPr>
        </p:nvSpPr>
        <p:spPr>
          <a:xfrm>
            <a:off x="0" y="90488"/>
            <a:ext cx="8442325" cy="788987"/>
          </a:xfrm>
          <a:prstGeom prst="rect">
            <a:avLst/>
          </a:prstGeom>
        </p:spPr>
        <p:txBody>
          <a:bodyPr anchor="ctr"/>
          <a:lstStyle/>
          <a:p>
            <a:r>
              <a:rPr lang="en-US" sz="2400" dirty="0">
                <a:solidFill>
                  <a:srgbClr val="054283"/>
                </a:solidFill>
              </a:rPr>
              <a:t>Relationship Governance: only in </a:t>
            </a:r>
            <a:r>
              <a:rPr lang="en-US" sz="2400" i="1" dirty="0">
                <a:solidFill>
                  <a:srgbClr val="054283"/>
                </a:solidFill>
              </a:rPr>
              <a:t>Evaluetor</a:t>
            </a:r>
            <a:endParaRPr lang="en-GB" sz="2400" i="1" dirty="0">
              <a:solidFill>
                <a:srgbClr val="054283"/>
              </a:solidFill>
            </a:endParaRPr>
          </a:p>
        </p:txBody>
      </p:sp>
      <p:sp>
        <p:nvSpPr>
          <p:cNvPr id="3" name="TextBox 2">
            <a:extLst>
              <a:ext uri="{FF2B5EF4-FFF2-40B4-BE49-F238E27FC236}">
                <a16:creationId xmlns:a16="http://schemas.microsoft.com/office/drawing/2014/main" id="{89F48677-0E1F-47C9-8301-6314F9038C15}"/>
              </a:ext>
            </a:extLst>
          </p:cNvPr>
          <p:cNvSpPr txBox="1"/>
          <p:nvPr/>
        </p:nvSpPr>
        <p:spPr>
          <a:xfrm>
            <a:off x="548640" y="1175803"/>
            <a:ext cx="4389120" cy="1533097"/>
          </a:xfrm>
          <a:prstGeom prst="rect">
            <a:avLst/>
          </a:prstGeom>
        </p:spPr>
        <p:style>
          <a:lnRef idx="3">
            <a:schemeClr val="lt1"/>
          </a:lnRef>
          <a:fillRef idx="1">
            <a:schemeClr val="accent3"/>
          </a:fillRef>
          <a:effectRef idx="1">
            <a:schemeClr val="accent3"/>
          </a:effectRef>
          <a:fontRef idx="minor">
            <a:schemeClr val="lt1"/>
          </a:fontRef>
        </p:style>
        <p:txBody>
          <a:bodyPr wrap="square"/>
          <a:lstStyle>
            <a:defPPr>
              <a:defRPr lang="nl-NL"/>
            </a:defPPr>
            <a:lvl1pPr algn="ctr">
              <a:defRPr sz="1800" b="0">
                <a:solidFill>
                  <a:srgbClr val="054283"/>
                </a:solidFill>
                <a:latin typeface="Calibri"/>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dirty="0"/>
              <a:t>Most CLM platforms stop at the contract. Evaluetor goes further</a:t>
            </a:r>
            <a:r>
              <a:rPr lang="nl-NL" dirty="0"/>
              <a:t>,</a:t>
            </a:r>
            <a:r>
              <a:rPr dirty="0"/>
              <a:t> automatically connecting contract data to the business relationships they support. </a:t>
            </a:r>
            <a:endParaRPr lang="nl-NL" dirty="0"/>
          </a:p>
          <a:p>
            <a:r>
              <a:rPr dirty="0"/>
              <a:t>No other CLM vendor offers this capability.</a:t>
            </a:r>
          </a:p>
        </p:txBody>
      </p:sp>
      <p:sp>
        <p:nvSpPr>
          <p:cNvPr id="4" name="TextBox 3">
            <a:extLst>
              <a:ext uri="{FF2B5EF4-FFF2-40B4-BE49-F238E27FC236}">
                <a16:creationId xmlns:a16="http://schemas.microsoft.com/office/drawing/2014/main" id="{6F5373F2-F10F-077B-D9A6-B045F5FBDF1B}"/>
              </a:ext>
            </a:extLst>
          </p:cNvPr>
          <p:cNvSpPr txBox="1"/>
          <p:nvPr/>
        </p:nvSpPr>
        <p:spPr>
          <a:xfrm>
            <a:off x="548640" y="3151290"/>
            <a:ext cx="3771900" cy="274320"/>
          </a:xfrm>
          <a:prstGeom prst="rect">
            <a:avLst/>
          </a:prstGeom>
          <a:solidFill>
            <a:schemeClr val="bg1"/>
          </a:solidFill>
        </p:spPr>
        <p:txBody>
          <a:bodyPr wrap="square"/>
          <a:lstStyle/>
          <a:p>
            <a:pPr algn="l">
              <a:defRPr sz="1800" b="1">
                <a:solidFill>
                  <a:srgbClr val="111827"/>
                </a:solidFill>
                <a:latin typeface="Calibri"/>
              </a:defRPr>
            </a:pPr>
            <a:r>
              <a:rPr sz="1350"/>
              <a:t>The Automated Governance Bridge</a:t>
            </a:r>
          </a:p>
        </p:txBody>
      </p:sp>
      <p:sp>
        <p:nvSpPr>
          <p:cNvPr id="5" name="TextBox 4">
            <a:extLst>
              <a:ext uri="{FF2B5EF4-FFF2-40B4-BE49-F238E27FC236}">
                <a16:creationId xmlns:a16="http://schemas.microsoft.com/office/drawing/2014/main" id="{F5471EDD-75FD-7BE1-DAB5-F64496E390F3}"/>
              </a:ext>
            </a:extLst>
          </p:cNvPr>
          <p:cNvSpPr txBox="1"/>
          <p:nvPr/>
        </p:nvSpPr>
        <p:spPr>
          <a:xfrm>
            <a:off x="548640" y="3459900"/>
            <a:ext cx="3771900" cy="342900"/>
          </a:xfrm>
          <a:prstGeom prst="rect">
            <a:avLst/>
          </a:prstGeom>
          <a:noFill/>
        </p:spPr>
        <p:txBody>
          <a:bodyPr wrap="square"/>
          <a:lstStyle/>
          <a:p>
            <a:pPr algn="l">
              <a:defRPr sz="1300" b="0">
                <a:solidFill>
                  <a:srgbClr val="4B5563"/>
                </a:solidFill>
                <a:latin typeface="Calibri"/>
              </a:defRPr>
            </a:pPr>
            <a:r>
              <a:rPr sz="975"/>
              <a:t>Contract upload triggers a fully automated pipeline:</a:t>
            </a:r>
          </a:p>
        </p:txBody>
      </p:sp>
      <p:sp>
        <p:nvSpPr>
          <p:cNvPr id="6" name="Oval 5">
            <a:extLst>
              <a:ext uri="{FF2B5EF4-FFF2-40B4-BE49-F238E27FC236}">
                <a16:creationId xmlns:a16="http://schemas.microsoft.com/office/drawing/2014/main" id="{FD497DA7-D6E4-98C2-F307-69FA890C8249}"/>
              </a:ext>
            </a:extLst>
          </p:cNvPr>
          <p:cNvSpPr/>
          <p:nvPr/>
        </p:nvSpPr>
        <p:spPr>
          <a:xfrm>
            <a:off x="685800" y="3939960"/>
            <a:ext cx="205740" cy="205740"/>
          </a:xfrm>
          <a:prstGeom prst="ellipse">
            <a:avLst/>
          </a:prstGeom>
          <a:solidFill>
            <a:srgbClr val="EA7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TextBox 6">
            <a:extLst>
              <a:ext uri="{FF2B5EF4-FFF2-40B4-BE49-F238E27FC236}">
                <a16:creationId xmlns:a16="http://schemas.microsoft.com/office/drawing/2014/main" id="{34F118C6-74DD-07F9-3739-1864E80AA51D}"/>
              </a:ext>
            </a:extLst>
          </p:cNvPr>
          <p:cNvSpPr txBox="1"/>
          <p:nvPr/>
        </p:nvSpPr>
        <p:spPr>
          <a:xfrm>
            <a:off x="685800" y="3946818"/>
            <a:ext cx="205740" cy="205740"/>
          </a:xfrm>
          <a:prstGeom prst="rect">
            <a:avLst/>
          </a:prstGeom>
          <a:noFill/>
        </p:spPr>
        <p:txBody>
          <a:bodyPr wrap="square"/>
          <a:lstStyle/>
          <a:p>
            <a:pPr algn="ctr">
              <a:defRPr sz="1100" b="1">
                <a:solidFill>
                  <a:srgbClr val="FFFFFF"/>
                </a:solidFill>
                <a:latin typeface="Calibri"/>
              </a:defRPr>
            </a:pPr>
            <a:r>
              <a:rPr sz="825"/>
              <a:t>1</a:t>
            </a:r>
          </a:p>
        </p:txBody>
      </p:sp>
      <p:sp>
        <p:nvSpPr>
          <p:cNvPr id="8" name="TextBox 7">
            <a:extLst>
              <a:ext uri="{FF2B5EF4-FFF2-40B4-BE49-F238E27FC236}">
                <a16:creationId xmlns:a16="http://schemas.microsoft.com/office/drawing/2014/main" id="{B11DC909-08D9-AD8E-C697-182EF16999D8}"/>
              </a:ext>
            </a:extLst>
          </p:cNvPr>
          <p:cNvSpPr txBox="1"/>
          <p:nvPr/>
        </p:nvSpPr>
        <p:spPr>
          <a:xfrm>
            <a:off x="1028700" y="3905670"/>
            <a:ext cx="1371600" cy="205740"/>
          </a:xfrm>
          <a:prstGeom prst="rect">
            <a:avLst/>
          </a:prstGeom>
          <a:noFill/>
        </p:spPr>
        <p:txBody>
          <a:bodyPr wrap="square"/>
          <a:lstStyle/>
          <a:p>
            <a:pPr algn="l">
              <a:defRPr sz="1300" b="1">
                <a:solidFill>
                  <a:srgbClr val="111827"/>
                </a:solidFill>
                <a:latin typeface="Calibri"/>
              </a:defRPr>
            </a:pPr>
            <a:r>
              <a:rPr sz="975"/>
              <a:t>Contract Upload</a:t>
            </a:r>
          </a:p>
        </p:txBody>
      </p:sp>
      <p:sp>
        <p:nvSpPr>
          <p:cNvPr id="9" name="TextBox 8">
            <a:extLst>
              <a:ext uri="{FF2B5EF4-FFF2-40B4-BE49-F238E27FC236}">
                <a16:creationId xmlns:a16="http://schemas.microsoft.com/office/drawing/2014/main" id="{1BA4048C-7455-ED10-80F1-7F2E957CF4CC}"/>
              </a:ext>
            </a:extLst>
          </p:cNvPr>
          <p:cNvSpPr txBox="1"/>
          <p:nvPr/>
        </p:nvSpPr>
        <p:spPr>
          <a:xfrm>
            <a:off x="2400300" y="3919386"/>
            <a:ext cx="2057400" cy="205740"/>
          </a:xfrm>
          <a:prstGeom prst="rect">
            <a:avLst/>
          </a:prstGeom>
          <a:noFill/>
        </p:spPr>
        <p:txBody>
          <a:bodyPr wrap="square"/>
          <a:lstStyle/>
          <a:p>
            <a:pPr algn="l">
              <a:defRPr sz="1100" b="0">
                <a:solidFill>
                  <a:srgbClr val="4B5563"/>
                </a:solidFill>
                <a:latin typeface="Calibri"/>
              </a:defRPr>
            </a:pPr>
            <a:r>
              <a:rPr sz="825"/>
              <a:t>AI extracts parties, terms, SLAs, and obligations</a:t>
            </a:r>
          </a:p>
        </p:txBody>
      </p:sp>
      <p:sp>
        <p:nvSpPr>
          <p:cNvPr id="10" name="Rectangle 9">
            <a:extLst>
              <a:ext uri="{FF2B5EF4-FFF2-40B4-BE49-F238E27FC236}">
                <a16:creationId xmlns:a16="http://schemas.microsoft.com/office/drawing/2014/main" id="{A2617042-AA93-91DC-BFC8-1272FC17864C}"/>
              </a:ext>
            </a:extLst>
          </p:cNvPr>
          <p:cNvSpPr/>
          <p:nvPr/>
        </p:nvSpPr>
        <p:spPr>
          <a:xfrm>
            <a:off x="774953" y="416627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Oval 10">
            <a:extLst>
              <a:ext uri="{FF2B5EF4-FFF2-40B4-BE49-F238E27FC236}">
                <a16:creationId xmlns:a16="http://schemas.microsoft.com/office/drawing/2014/main" id="{A417F42E-0CAB-7EEC-755C-2DFAE486E773}"/>
              </a:ext>
            </a:extLst>
          </p:cNvPr>
          <p:cNvSpPr/>
          <p:nvPr/>
        </p:nvSpPr>
        <p:spPr>
          <a:xfrm>
            <a:off x="685800" y="4385730"/>
            <a:ext cx="205740" cy="2057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a:extLst>
              <a:ext uri="{FF2B5EF4-FFF2-40B4-BE49-F238E27FC236}">
                <a16:creationId xmlns:a16="http://schemas.microsoft.com/office/drawing/2014/main" id="{B173F550-7B1C-9FCE-5011-DBF42FC5F355}"/>
              </a:ext>
            </a:extLst>
          </p:cNvPr>
          <p:cNvSpPr txBox="1"/>
          <p:nvPr/>
        </p:nvSpPr>
        <p:spPr>
          <a:xfrm>
            <a:off x="685800" y="4392588"/>
            <a:ext cx="205740" cy="205740"/>
          </a:xfrm>
          <a:prstGeom prst="rect">
            <a:avLst/>
          </a:prstGeom>
          <a:noFill/>
        </p:spPr>
        <p:txBody>
          <a:bodyPr wrap="square"/>
          <a:lstStyle/>
          <a:p>
            <a:pPr algn="ctr">
              <a:defRPr sz="1100" b="1">
                <a:solidFill>
                  <a:srgbClr val="FFFFFF"/>
                </a:solidFill>
                <a:latin typeface="Calibri"/>
              </a:defRPr>
            </a:pPr>
            <a:r>
              <a:rPr sz="825"/>
              <a:t>2</a:t>
            </a:r>
          </a:p>
        </p:txBody>
      </p:sp>
      <p:sp>
        <p:nvSpPr>
          <p:cNvPr id="13" name="TextBox 12">
            <a:extLst>
              <a:ext uri="{FF2B5EF4-FFF2-40B4-BE49-F238E27FC236}">
                <a16:creationId xmlns:a16="http://schemas.microsoft.com/office/drawing/2014/main" id="{1993C3A7-1072-8A3E-C727-428631C56A17}"/>
              </a:ext>
            </a:extLst>
          </p:cNvPr>
          <p:cNvSpPr txBox="1"/>
          <p:nvPr/>
        </p:nvSpPr>
        <p:spPr>
          <a:xfrm>
            <a:off x="1028700" y="4351440"/>
            <a:ext cx="1371600" cy="205740"/>
          </a:xfrm>
          <a:prstGeom prst="rect">
            <a:avLst/>
          </a:prstGeom>
          <a:noFill/>
        </p:spPr>
        <p:txBody>
          <a:bodyPr wrap="square"/>
          <a:lstStyle/>
          <a:p>
            <a:pPr algn="l">
              <a:defRPr sz="1300" b="1">
                <a:solidFill>
                  <a:srgbClr val="111827"/>
                </a:solidFill>
                <a:latin typeface="Calibri"/>
              </a:defRPr>
            </a:pPr>
            <a:r>
              <a:rPr sz="975"/>
              <a:t>Organizations</a:t>
            </a:r>
          </a:p>
        </p:txBody>
      </p:sp>
      <p:sp>
        <p:nvSpPr>
          <p:cNvPr id="14" name="TextBox 13">
            <a:extLst>
              <a:ext uri="{FF2B5EF4-FFF2-40B4-BE49-F238E27FC236}">
                <a16:creationId xmlns:a16="http://schemas.microsoft.com/office/drawing/2014/main" id="{14EC6594-DEA7-52B7-A09A-D28E0C095421}"/>
              </a:ext>
            </a:extLst>
          </p:cNvPr>
          <p:cNvSpPr txBox="1"/>
          <p:nvPr/>
        </p:nvSpPr>
        <p:spPr>
          <a:xfrm>
            <a:off x="2400300" y="4365156"/>
            <a:ext cx="2057400" cy="205740"/>
          </a:xfrm>
          <a:prstGeom prst="rect">
            <a:avLst/>
          </a:prstGeom>
          <a:noFill/>
        </p:spPr>
        <p:txBody>
          <a:bodyPr wrap="square"/>
          <a:lstStyle/>
          <a:p>
            <a:pPr algn="l">
              <a:defRPr sz="1100" b="0">
                <a:solidFill>
                  <a:srgbClr val="4B5563"/>
                </a:solidFill>
                <a:latin typeface="Calibri"/>
              </a:defRPr>
            </a:pPr>
            <a:r>
              <a:rPr sz="825"/>
              <a:t>Counterparties auto-linked to your org directory</a:t>
            </a:r>
          </a:p>
        </p:txBody>
      </p:sp>
      <p:sp>
        <p:nvSpPr>
          <p:cNvPr id="15" name="Rectangle 14">
            <a:extLst>
              <a:ext uri="{FF2B5EF4-FFF2-40B4-BE49-F238E27FC236}">
                <a16:creationId xmlns:a16="http://schemas.microsoft.com/office/drawing/2014/main" id="{C6D51BCF-9F15-7BFC-6B64-088B7D8524DE}"/>
              </a:ext>
            </a:extLst>
          </p:cNvPr>
          <p:cNvSpPr/>
          <p:nvPr/>
        </p:nvSpPr>
        <p:spPr>
          <a:xfrm>
            <a:off x="774953" y="461204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Oval 15">
            <a:extLst>
              <a:ext uri="{FF2B5EF4-FFF2-40B4-BE49-F238E27FC236}">
                <a16:creationId xmlns:a16="http://schemas.microsoft.com/office/drawing/2014/main" id="{CB2DEC75-F7C7-2A08-563A-6FD1981A1E74}"/>
              </a:ext>
            </a:extLst>
          </p:cNvPr>
          <p:cNvSpPr/>
          <p:nvPr/>
        </p:nvSpPr>
        <p:spPr>
          <a:xfrm>
            <a:off x="685800" y="4831500"/>
            <a:ext cx="205740" cy="20574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TextBox 16">
            <a:extLst>
              <a:ext uri="{FF2B5EF4-FFF2-40B4-BE49-F238E27FC236}">
                <a16:creationId xmlns:a16="http://schemas.microsoft.com/office/drawing/2014/main" id="{8DB173B3-4FEC-9BEA-58E2-0453689247AC}"/>
              </a:ext>
            </a:extLst>
          </p:cNvPr>
          <p:cNvSpPr txBox="1"/>
          <p:nvPr/>
        </p:nvSpPr>
        <p:spPr>
          <a:xfrm>
            <a:off x="685800" y="4838358"/>
            <a:ext cx="205740" cy="205740"/>
          </a:xfrm>
          <a:prstGeom prst="rect">
            <a:avLst/>
          </a:prstGeom>
          <a:noFill/>
        </p:spPr>
        <p:txBody>
          <a:bodyPr wrap="square"/>
          <a:lstStyle/>
          <a:p>
            <a:pPr algn="ctr">
              <a:defRPr sz="1100" b="1">
                <a:solidFill>
                  <a:srgbClr val="FFFFFF"/>
                </a:solidFill>
                <a:latin typeface="Calibri"/>
              </a:defRPr>
            </a:pPr>
            <a:r>
              <a:rPr sz="825"/>
              <a:t>3</a:t>
            </a:r>
          </a:p>
        </p:txBody>
      </p:sp>
      <p:sp>
        <p:nvSpPr>
          <p:cNvPr id="18" name="TextBox 17">
            <a:extLst>
              <a:ext uri="{FF2B5EF4-FFF2-40B4-BE49-F238E27FC236}">
                <a16:creationId xmlns:a16="http://schemas.microsoft.com/office/drawing/2014/main" id="{EC4BF0D5-9D64-F71C-F2DF-21B2A3011ABE}"/>
              </a:ext>
            </a:extLst>
          </p:cNvPr>
          <p:cNvSpPr txBox="1"/>
          <p:nvPr/>
        </p:nvSpPr>
        <p:spPr>
          <a:xfrm>
            <a:off x="1028700" y="4797210"/>
            <a:ext cx="1371600" cy="205740"/>
          </a:xfrm>
          <a:prstGeom prst="rect">
            <a:avLst/>
          </a:prstGeom>
          <a:noFill/>
        </p:spPr>
        <p:txBody>
          <a:bodyPr wrap="square"/>
          <a:lstStyle/>
          <a:p>
            <a:pPr algn="l">
              <a:defRPr sz="1300" b="1">
                <a:solidFill>
                  <a:srgbClr val="111827"/>
                </a:solidFill>
                <a:latin typeface="Calibri"/>
              </a:defRPr>
            </a:pPr>
            <a:r>
              <a:rPr sz="975"/>
              <a:t>Relationships</a:t>
            </a:r>
          </a:p>
        </p:txBody>
      </p:sp>
      <p:sp>
        <p:nvSpPr>
          <p:cNvPr id="19" name="TextBox 18">
            <a:extLst>
              <a:ext uri="{FF2B5EF4-FFF2-40B4-BE49-F238E27FC236}">
                <a16:creationId xmlns:a16="http://schemas.microsoft.com/office/drawing/2014/main" id="{21B65170-93FD-7339-3A2D-FA43B0378C07}"/>
              </a:ext>
            </a:extLst>
          </p:cNvPr>
          <p:cNvSpPr txBox="1"/>
          <p:nvPr/>
        </p:nvSpPr>
        <p:spPr>
          <a:xfrm>
            <a:off x="2400300" y="4810926"/>
            <a:ext cx="2057400" cy="205740"/>
          </a:xfrm>
          <a:prstGeom prst="rect">
            <a:avLst/>
          </a:prstGeom>
          <a:noFill/>
        </p:spPr>
        <p:txBody>
          <a:bodyPr wrap="square"/>
          <a:lstStyle/>
          <a:p>
            <a:pPr algn="l">
              <a:defRPr sz="1100" b="0">
                <a:solidFill>
                  <a:srgbClr val="4B5563"/>
                </a:solidFill>
                <a:latin typeface="Calibri"/>
              </a:defRPr>
            </a:pPr>
            <a:r>
              <a:rPr sz="825"/>
              <a:t>Business relationships created with health scoring</a:t>
            </a:r>
          </a:p>
        </p:txBody>
      </p:sp>
      <p:sp>
        <p:nvSpPr>
          <p:cNvPr id="20" name="Rectangle 19">
            <a:extLst>
              <a:ext uri="{FF2B5EF4-FFF2-40B4-BE49-F238E27FC236}">
                <a16:creationId xmlns:a16="http://schemas.microsoft.com/office/drawing/2014/main" id="{1B942D47-AB10-5ED7-9B34-342ADF5775DD}"/>
              </a:ext>
            </a:extLst>
          </p:cNvPr>
          <p:cNvSpPr/>
          <p:nvPr/>
        </p:nvSpPr>
        <p:spPr>
          <a:xfrm>
            <a:off x="774953" y="505781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Oval 20">
            <a:extLst>
              <a:ext uri="{FF2B5EF4-FFF2-40B4-BE49-F238E27FC236}">
                <a16:creationId xmlns:a16="http://schemas.microsoft.com/office/drawing/2014/main" id="{94DFCA58-9A2E-36C1-14EA-07D6297E094C}"/>
              </a:ext>
            </a:extLst>
          </p:cNvPr>
          <p:cNvSpPr/>
          <p:nvPr/>
        </p:nvSpPr>
        <p:spPr>
          <a:xfrm>
            <a:off x="685800" y="5277270"/>
            <a:ext cx="205740" cy="20574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TextBox 21">
            <a:extLst>
              <a:ext uri="{FF2B5EF4-FFF2-40B4-BE49-F238E27FC236}">
                <a16:creationId xmlns:a16="http://schemas.microsoft.com/office/drawing/2014/main" id="{ED15CB74-9F29-AC11-1235-783CE657AE15}"/>
              </a:ext>
            </a:extLst>
          </p:cNvPr>
          <p:cNvSpPr txBox="1"/>
          <p:nvPr/>
        </p:nvSpPr>
        <p:spPr>
          <a:xfrm>
            <a:off x="685800" y="5284128"/>
            <a:ext cx="205740" cy="205740"/>
          </a:xfrm>
          <a:prstGeom prst="rect">
            <a:avLst/>
          </a:prstGeom>
          <a:noFill/>
        </p:spPr>
        <p:txBody>
          <a:bodyPr wrap="square"/>
          <a:lstStyle/>
          <a:p>
            <a:pPr algn="ctr">
              <a:defRPr sz="1100" b="1">
                <a:solidFill>
                  <a:srgbClr val="FFFFFF"/>
                </a:solidFill>
                <a:latin typeface="Calibri"/>
              </a:defRPr>
            </a:pPr>
            <a:r>
              <a:rPr sz="825"/>
              <a:t>4</a:t>
            </a:r>
          </a:p>
        </p:txBody>
      </p:sp>
      <p:sp>
        <p:nvSpPr>
          <p:cNvPr id="23" name="TextBox 22">
            <a:extLst>
              <a:ext uri="{FF2B5EF4-FFF2-40B4-BE49-F238E27FC236}">
                <a16:creationId xmlns:a16="http://schemas.microsoft.com/office/drawing/2014/main" id="{6D62D23F-2243-5204-9073-3ADE84C8F298}"/>
              </a:ext>
            </a:extLst>
          </p:cNvPr>
          <p:cNvSpPr txBox="1"/>
          <p:nvPr/>
        </p:nvSpPr>
        <p:spPr>
          <a:xfrm>
            <a:off x="1028700" y="5242980"/>
            <a:ext cx="1371600" cy="205740"/>
          </a:xfrm>
          <a:prstGeom prst="rect">
            <a:avLst/>
          </a:prstGeom>
          <a:noFill/>
        </p:spPr>
        <p:txBody>
          <a:bodyPr wrap="square"/>
          <a:lstStyle/>
          <a:p>
            <a:pPr algn="l">
              <a:defRPr sz="1300" b="1">
                <a:solidFill>
                  <a:srgbClr val="111827"/>
                </a:solidFill>
                <a:latin typeface="Calibri"/>
              </a:defRPr>
            </a:pPr>
            <a:r>
              <a:rPr sz="975"/>
              <a:t>KPIs &amp; Scoring</a:t>
            </a:r>
          </a:p>
        </p:txBody>
      </p:sp>
      <p:sp>
        <p:nvSpPr>
          <p:cNvPr id="24" name="TextBox 23">
            <a:extLst>
              <a:ext uri="{FF2B5EF4-FFF2-40B4-BE49-F238E27FC236}">
                <a16:creationId xmlns:a16="http://schemas.microsoft.com/office/drawing/2014/main" id="{53783CBA-291F-7541-DCEC-5415444D1DC5}"/>
              </a:ext>
            </a:extLst>
          </p:cNvPr>
          <p:cNvSpPr txBox="1"/>
          <p:nvPr/>
        </p:nvSpPr>
        <p:spPr>
          <a:xfrm>
            <a:off x="2400300" y="5256696"/>
            <a:ext cx="2057400" cy="205740"/>
          </a:xfrm>
          <a:prstGeom prst="rect">
            <a:avLst/>
          </a:prstGeom>
          <a:noFill/>
        </p:spPr>
        <p:txBody>
          <a:bodyPr wrap="square"/>
          <a:lstStyle/>
          <a:p>
            <a:pPr algn="l">
              <a:defRPr sz="1100" b="0">
                <a:solidFill>
                  <a:srgbClr val="4B5563"/>
                </a:solidFill>
                <a:latin typeface="Calibri"/>
              </a:defRPr>
            </a:pPr>
            <a:r>
              <a:rPr sz="825"/>
              <a:t>Performance metrics tracked with dual-perspective scoring</a:t>
            </a:r>
          </a:p>
        </p:txBody>
      </p:sp>
      <p:sp>
        <p:nvSpPr>
          <p:cNvPr id="25" name="Rectangle 24">
            <a:extLst>
              <a:ext uri="{FF2B5EF4-FFF2-40B4-BE49-F238E27FC236}">
                <a16:creationId xmlns:a16="http://schemas.microsoft.com/office/drawing/2014/main" id="{4BD56549-FD97-AA49-F355-12AC55FA93D1}"/>
              </a:ext>
            </a:extLst>
          </p:cNvPr>
          <p:cNvSpPr/>
          <p:nvPr/>
        </p:nvSpPr>
        <p:spPr>
          <a:xfrm>
            <a:off x="774953" y="5503584"/>
            <a:ext cx="27432" cy="192024"/>
          </a:xfrm>
          <a:prstGeom prst="rect">
            <a:avLst/>
          </a:prstGeom>
          <a:solidFill>
            <a:srgbClr val="D1D5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Oval 25">
            <a:extLst>
              <a:ext uri="{FF2B5EF4-FFF2-40B4-BE49-F238E27FC236}">
                <a16:creationId xmlns:a16="http://schemas.microsoft.com/office/drawing/2014/main" id="{715795A7-F4B0-C992-4F85-E7FD62FB1FC1}"/>
              </a:ext>
            </a:extLst>
          </p:cNvPr>
          <p:cNvSpPr/>
          <p:nvPr/>
        </p:nvSpPr>
        <p:spPr>
          <a:xfrm>
            <a:off x="685800" y="5723040"/>
            <a:ext cx="205740" cy="205740"/>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7" name="TextBox 26">
            <a:extLst>
              <a:ext uri="{FF2B5EF4-FFF2-40B4-BE49-F238E27FC236}">
                <a16:creationId xmlns:a16="http://schemas.microsoft.com/office/drawing/2014/main" id="{12BFADAD-4132-2DD7-32E4-DA806B58B7D5}"/>
              </a:ext>
            </a:extLst>
          </p:cNvPr>
          <p:cNvSpPr txBox="1"/>
          <p:nvPr/>
        </p:nvSpPr>
        <p:spPr>
          <a:xfrm>
            <a:off x="685800" y="5729898"/>
            <a:ext cx="205740" cy="205740"/>
          </a:xfrm>
          <a:prstGeom prst="rect">
            <a:avLst/>
          </a:prstGeom>
          <a:noFill/>
        </p:spPr>
        <p:txBody>
          <a:bodyPr wrap="square"/>
          <a:lstStyle/>
          <a:p>
            <a:pPr algn="ctr">
              <a:defRPr sz="1100" b="1">
                <a:solidFill>
                  <a:srgbClr val="FFFFFF"/>
                </a:solidFill>
                <a:latin typeface="Calibri"/>
              </a:defRPr>
            </a:pPr>
            <a:r>
              <a:rPr sz="825"/>
              <a:t>5</a:t>
            </a:r>
          </a:p>
        </p:txBody>
      </p:sp>
      <p:sp>
        <p:nvSpPr>
          <p:cNvPr id="28" name="TextBox 27">
            <a:extLst>
              <a:ext uri="{FF2B5EF4-FFF2-40B4-BE49-F238E27FC236}">
                <a16:creationId xmlns:a16="http://schemas.microsoft.com/office/drawing/2014/main" id="{1F588DDF-1598-1006-FA23-CDB4A5DDFF08}"/>
              </a:ext>
            </a:extLst>
          </p:cNvPr>
          <p:cNvSpPr txBox="1"/>
          <p:nvPr/>
        </p:nvSpPr>
        <p:spPr>
          <a:xfrm>
            <a:off x="1028700" y="5688750"/>
            <a:ext cx="1371600" cy="205740"/>
          </a:xfrm>
          <a:prstGeom prst="rect">
            <a:avLst/>
          </a:prstGeom>
          <a:noFill/>
        </p:spPr>
        <p:txBody>
          <a:bodyPr wrap="square"/>
          <a:lstStyle/>
          <a:p>
            <a:pPr algn="l">
              <a:defRPr sz="1300" b="1">
                <a:solidFill>
                  <a:srgbClr val="111827"/>
                </a:solidFill>
                <a:latin typeface="Calibri"/>
              </a:defRPr>
            </a:pPr>
            <a:r>
              <a:rPr sz="975"/>
              <a:t>Improvement Points</a:t>
            </a:r>
          </a:p>
        </p:txBody>
      </p:sp>
      <p:sp>
        <p:nvSpPr>
          <p:cNvPr id="29" name="TextBox 28">
            <a:extLst>
              <a:ext uri="{FF2B5EF4-FFF2-40B4-BE49-F238E27FC236}">
                <a16:creationId xmlns:a16="http://schemas.microsoft.com/office/drawing/2014/main" id="{A470E58E-9F54-65B3-F28B-7EBB2141FE3B}"/>
              </a:ext>
            </a:extLst>
          </p:cNvPr>
          <p:cNvSpPr txBox="1"/>
          <p:nvPr/>
        </p:nvSpPr>
        <p:spPr>
          <a:xfrm>
            <a:off x="2400300" y="5702466"/>
            <a:ext cx="2057400" cy="205740"/>
          </a:xfrm>
          <a:prstGeom prst="rect">
            <a:avLst/>
          </a:prstGeom>
          <a:noFill/>
        </p:spPr>
        <p:txBody>
          <a:bodyPr wrap="square"/>
          <a:lstStyle/>
          <a:p>
            <a:pPr algn="l">
              <a:defRPr sz="1100" b="0">
                <a:solidFill>
                  <a:srgbClr val="4B5563"/>
                </a:solidFill>
                <a:latin typeface="Calibri"/>
              </a:defRPr>
            </a:pPr>
            <a:r>
              <a:rPr sz="825"/>
              <a:t>Gaps automatically surface with action recommendations</a:t>
            </a:r>
          </a:p>
        </p:txBody>
      </p:sp>
      <p:sp>
        <p:nvSpPr>
          <p:cNvPr id="30" name="TextBox 29">
            <a:extLst>
              <a:ext uri="{FF2B5EF4-FFF2-40B4-BE49-F238E27FC236}">
                <a16:creationId xmlns:a16="http://schemas.microsoft.com/office/drawing/2014/main" id="{E2375B9D-5D42-3ABC-F317-3D5BE87FC840}"/>
              </a:ext>
            </a:extLst>
          </p:cNvPr>
          <p:cNvSpPr txBox="1"/>
          <p:nvPr/>
        </p:nvSpPr>
        <p:spPr>
          <a:xfrm>
            <a:off x="4937760" y="3151290"/>
            <a:ext cx="3771900" cy="274320"/>
          </a:xfrm>
          <a:prstGeom prst="rect">
            <a:avLst/>
          </a:prstGeom>
          <a:solidFill>
            <a:schemeClr val="bg1"/>
          </a:solidFill>
        </p:spPr>
        <p:txBody>
          <a:bodyPr wrap="square"/>
          <a:lstStyle/>
          <a:p>
            <a:pPr algn="l">
              <a:defRPr sz="1800" b="1">
                <a:solidFill>
                  <a:srgbClr val="111827"/>
                </a:solidFill>
                <a:latin typeface="Calibri"/>
              </a:defRPr>
            </a:pPr>
            <a:r>
              <a:rPr sz="1350" dirty="0"/>
              <a:t>What Makes This Unique</a:t>
            </a:r>
          </a:p>
        </p:txBody>
      </p:sp>
      <p:sp>
        <p:nvSpPr>
          <p:cNvPr id="31" name="Rounded Rectangle 33">
            <a:extLst>
              <a:ext uri="{FF2B5EF4-FFF2-40B4-BE49-F238E27FC236}">
                <a16:creationId xmlns:a16="http://schemas.microsoft.com/office/drawing/2014/main" id="{465BBE76-B231-4F75-23D0-EFB238BA84BE}"/>
              </a:ext>
            </a:extLst>
          </p:cNvPr>
          <p:cNvSpPr/>
          <p:nvPr/>
        </p:nvSpPr>
        <p:spPr>
          <a:xfrm>
            <a:off x="4937760" y="356277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Oval 31">
            <a:extLst>
              <a:ext uri="{FF2B5EF4-FFF2-40B4-BE49-F238E27FC236}">
                <a16:creationId xmlns:a16="http://schemas.microsoft.com/office/drawing/2014/main" id="{BEC5B3D9-71A5-6913-B678-AB04CC702DE4}"/>
              </a:ext>
            </a:extLst>
          </p:cNvPr>
          <p:cNvSpPr/>
          <p:nvPr/>
        </p:nvSpPr>
        <p:spPr>
          <a:xfrm>
            <a:off x="5109210" y="3734220"/>
            <a:ext cx="82296" cy="82296"/>
          </a:xfrm>
          <a:prstGeom prst="ellipse">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3" name="TextBox 32">
            <a:extLst>
              <a:ext uri="{FF2B5EF4-FFF2-40B4-BE49-F238E27FC236}">
                <a16:creationId xmlns:a16="http://schemas.microsoft.com/office/drawing/2014/main" id="{2796616F-E719-9F02-C9EA-430CB3A979A9}"/>
              </a:ext>
            </a:extLst>
          </p:cNvPr>
          <p:cNvSpPr txBox="1"/>
          <p:nvPr/>
        </p:nvSpPr>
        <p:spPr>
          <a:xfrm>
            <a:off x="5280660" y="3665640"/>
            <a:ext cx="3086100" cy="205740"/>
          </a:xfrm>
          <a:prstGeom prst="rect">
            <a:avLst/>
          </a:prstGeom>
          <a:noFill/>
        </p:spPr>
        <p:txBody>
          <a:bodyPr wrap="square"/>
          <a:lstStyle/>
          <a:p>
            <a:pPr algn="l">
              <a:defRPr sz="1400" b="1">
                <a:solidFill>
                  <a:srgbClr val="111827"/>
                </a:solidFill>
                <a:latin typeface="Calibri"/>
              </a:defRPr>
            </a:pPr>
            <a:r>
              <a:rPr sz="1050"/>
              <a:t>Perception Gap Analysis</a:t>
            </a:r>
          </a:p>
        </p:txBody>
      </p:sp>
      <p:sp>
        <p:nvSpPr>
          <p:cNvPr id="34" name="TextBox 33">
            <a:extLst>
              <a:ext uri="{FF2B5EF4-FFF2-40B4-BE49-F238E27FC236}">
                <a16:creationId xmlns:a16="http://schemas.microsoft.com/office/drawing/2014/main" id="{367178DF-E6FD-9487-4217-30A9C296CFDB}"/>
              </a:ext>
            </a:extLst>
          </p:cNvPr>
          <p:cNvSpPr txBox="1"/>
          <p:nvPr/>
        </p:nvSpPr>
        <p:spPr>
          <a:xfrm>
            <a:off x="5109210" y="3905670"/>
            <a:ext cx="3291840" cy="480060"/>
          </a:xfrm>
          <a:prstGeom prst="rect">
            <a:avLst/>
          </a:prstGeom>
          <a:noFill/>
        </p:spPr>
        <p:txBody>
          <a:bodyPr wrap="square"/>
          <a:lstStyle/>
          <a:p>
            <a:pPr algn="l">
              <a:defRPr sz="1100" b="0">
                <a:solidFill>
                  <a:srgbClr val="4B5563"/>
                </a:solidFill>
                <a:latin typeface="Calibri"/>
              </a:defRPr>
            </a:pPr>
            <a:r>
              <a:rPr sz="825"/>
              <a:t>Dual-perspective scoring reveals misalignment between how you see vendor performance and how they see it — with severity classification that drives targeted improvement.</a:t>
            </a:r>
          </a:p>
        </p:txBody>
      </p:sp>
      <p:sp>
        <p:nvSpPr>
          <p:cNvPr id="35" name="Rounded Rectangle 37">
            <a:extLst>
              <a:ext uri="{FF2B5EF4-FFF2-40B4-BE49-F238E27FC236}">
                <a16:creationId xmlns:a16="http://schemas.microsoft.com/office/drawing/2014/main" id="{0E4C8E08-8042-405D-9F46-247F9CBA2CB5}"/>
              </a:ext>
            </a:extLst>
          </p:cNvPr>
          <p:cNvSpPr/>
          <p:nvPr/>
        </p:nvSpPr>
        <p:spPr>
          <a:xfrm>
            <a:off x="4937760" y="448860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6" name="Oval 35">
            <a:extLst>
              <a:ext uri="{FF2B5EF4-FFF2-40B4-BE49-F238E27FC236}">
                <a16:creationId xmlns:a16="http://schemas.microsoft.com/office/drawing/2014/main" id="{EB40F438-BD43-8A64-E2D0-176D585E5980}"/>
              </a:ext>
            </a:extLst>
          </p:cNvPr>
          <p:cNvSpPr/>
          <p:nvPr/>
        </p:nvSpPr>
        <p:spPr>
          <a:xfrm>
            <a:off x="5109210" y="4660050"/>
            <a:ext cx="82296" cy="82296"/>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7" name="TextBox 36">
            <a:extLst>
              <a:ext uri="{FF2B5EF4-FFF2-40B4-BE49-F238E27FC236}">
                <a16:creationId xmlns:a16="http://schemas.microsoft.com/office/drawing/2014/main" id="{09D094FA-C599-F0D4-5841-93112E1C2538}"/>
              </a:ext>
            </a:extLst>
          </p:cNvPr>
          <p:cNvSpPr txBox="1"/>
          <p:nvPr/>
        </p:nvSpPr>
        <p:spPr>
          <a:xfrm>
            <a:off x="5280660" y="4591470"/>
            <a:ext cx="3086100" cy="205740"/>
          </a:xfrm>
          <a:prstGeom prst="rect">
            <a:avLst/>
          </a:prstGeom>
          <a:noFill/>
        </p:spPr>
        <p:txBody>
          <a:bodyPr wrap="square"/>
          <a:lstStyle/>
          <a:p>
            <a:pPr algn="l">
              <a:defRPr sz="1400" b="1">
                <a:solidFill>
                  <a:srgbClr val="111827"/>
                </a:solidFill>
                <a:latin typeface="Calibri"/>
              </a:defRPr>
            </a:pPr>
            <a:r>
              <a:rPr sz="1050"/>
              <a:t>Composite Health Scoring</a:t>
            </a:r>
          </a:p>
        </p:txBody>
      </p:sp>
      <p:sp>
        <p:nvSpPr>
          <p:cNvPr id="38" name="TextBox 37">
            <a:extLst>
              <a:ext uri="{FF2B5EF4-FFF2-40B4-BE49-F238E27FC236}">
                <a16:creationId xmlns:a16="http://schemas.microsoft.com/office/drawing/2014/main" id="{94BE4E76-7E48-2858-F0A7-810B3B4F6020}"/>
              </a:ext>
            </a:extLst>
          </p:cNvPr>
          <p:cNvSpPr txBox="1"/>
          <p:nvPr/>
        </p:nvSpPr>
        <p:spPr>
          <a:xfrm>
            <a:off x="5109210" y="4831500"/>
            <a:ext cx="3291840" cy="480060"/>
          </a:xfrm>
          <a:prstGeom prst="rect">
            <a:avLst/>
          </a:prstGeom>
          <a:noFill/>
        </p:spPr>
        <p:txBody>
          <a:bodyPr wrap="square"/>
          <a:lstStyle/>
          <a:p>
            <a:pPr algn="l">
              <a:defRPr sz="1100" b="0">
                <a:solidFill>
                  <a:srgbClr val="4B5563"/>
                </a:solidFill>
                <a:latin typeface="Calibri"/>
              </a:defRPr>
            </a:pPr>
            <a:r>
              <a:rPr sz="825"/>
              <a:t>Relationship health calculated from Risk (30%), SLA Compliance (40%), and Obligation Fulfillment (30%) — a single score that tells you where each relationship truly stands.</a:t>
            </a:r>
          </a:p>
        </p:txBody>
      </p:sp>
      <p:sp>
        <p:nvSpPr>
          <p:cNvPr id="39" name="Rounded Rectangle 41">
            <a:extLst>
              <a:ext uri="{FF2B5EF4-FFF2-40B4-BE49-F238E27FC236}">
                <a16:creationId xmlns:a16="http://schemas.microsoft.com/office/drawing/2014/main" id="{173006D1-2C22-AC65-2351-6E02D9EFD143}"/>
              </a:ext>
            </a:extLst>
          </p:cNvPr>
          <p:cNvSpPr/>
          <p:nvPr/>
        </p:nvSpPr>
        <p:spPr>
          <a:xfrm>
            <a:off x="4937760" y="5414430"/>
            <a:ext cx="3634740" cy="82296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Oval 39">
            <a:extLst>
              <a:ext uri="{FF2B5EF4-FFF2-40B4-BE49-F238E27FC236}">
                <a16:creationId xmlns:a16="http://schemas.microsoft.com/office/drawing/2014/main" id="{81837066-B71C-9A4A-3A44-BF35E042A5A5}"/>
              </a:ext>
            </a:extLst>
          </p:cNvPr>
          <p:cNvSpPr/>
          <p:nvPr/>
        </p:nvSpPr>
        <p:spPr>
          <a:xfrm>
            <a:off x="5109210" y="5585880"/>
            <a:ext cx="82296" cy="82296"/>
          </a:xfrm>
          <a:prstGeom prst="ellipse">
            <a:avLst/>
          </a:prstGeom>
          <a:solidFill>
            <a:srgbClr val="EA7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1" name="TextBox 40">
            <a:extLst>
              <a:ext uri="{FF2B5EF4-FFF2-40B4-BE49-F238E27FC236}">
                <a16:creationId xmlns:a16="http://schemas.microsoft.com/office/drawing/2014/main" id="{95EDBD1E-8581-25E3-8A86-B8A5205837A4}"/>
              </a:ext>
            </a:extLst>
          </p:cNvPr>
          <p:cNvSpPr txBox="1"/>
          <p:nvPr/>
        </p:nvSpPr>
        <p:spPr>
          <a:xfrm>
            <a:off x="5280660" y="5517300"/>
            <a:ext cx="3086100" cy="205740"/>
          </a:xfrm>
          <a:prstGeom prst="rect">
            <a:avLst/>
          </a:prstGeom>
          <a:noFill/>
        </p:spPr>
        <p:txBody>
          <a:bodyPr wrap="square"/>
          <a:lstStyle/>
          <a:p>
            <a:pPr algn="l">
              <a:defRPr sz="1400" b="1">
                <a:solidFill>
                  <a:srgbClr val="111827"/>
                </a:solidFill>
                <a:latin typeface="Calibri"/>
              </a:defRPr>
            </a:pPr>
            <a:r>
              <a:rPr sz="1050"/>
              <a:t>Automated Improvement Tracking</a:t>
            </a:r>
          </a:p>
        </p:txBody>
      </p:sp>
      <p:sp>
        <p:nvSpPr>
          <p:cNvPr id="42" name="TextBox 41">
            <a:extLst>
              <a:ext uri="{FF2B5EF4-FFF2-40B4-BE49-F238E27FC236}">
                <a16:creationId xmlns:a16="http://schemas.microsoft.com/office/drawing/2014/main" id="{A73C9B01-E593-22C6-55B1-1F00D55A3BA4}"/>
              </a:ext>
            </a:extLst>
          </p:cNvPr>
          <p:cNvSpPr txBox="1"/>
          <p:nvPr/>
        </p:nvSpPr>
        <p:spPr>
          <a:xfrm>
            <a:off x="5109210" y="5757330"/>
            <a:ext cx="3291840" cy="480060"/>
          </a:xfrm>
          <a:prstGeom prst="rect">
            <a:avLst/>
          </a:prstGeom>
          <a:noFill/>
        </p:spPr>
        <p:txBody>
          <a:bodyPr wrap="square"/>
          <a:lstStyle/>
          <a:p>
            <a:pPr algn="l">
              <a:defRPr sz="1100" b="0">
                <a:solidFill>
                  <a:srgbClr val="4B5563"/>
                </a:solidFill>
                <a:latin typeface="Calibri"/>
              </a:defRPr>
            </a:pPr>
            <a:r>
              <a:rPr sz="825"/>
              <a:t>When perception gaps exceed thresholds, improvement points are auto-generated with ownership, priority, and action items. From insight to action without manual intervention.</a:t>
            </a:r>
          </a:p>
        </p:txBody>
      </p:sp>
      <p:sp>
        <p:nvSpPr>
          <p:cNvPr id="48" name="Date Placeholder 47">
            <a:extLst>
              <a:ext uri="{FF2B5EF4-FFF2-40B4-BE49-F238E27FC236}">
                <a16:creationId xmlns:a16="http://schemas.microsoft.com/office/drawing/2014/main" id="{FB2247CE-9F8D-43CD-DEB3-6AB54244E199}"/>
              </a:ext>
            </a:extLst>
          </p:cNvPr>
          <p:cNvSpPr>
            <a:spLocks noGrp="1"/>
          </p:cNvSpPr>
          <p:nvPr>
            <p:ph type="dt" sz="half" idx="2"/>
          </p:nvPr>
        </p:nvSpPr>
        <p:spPr/>
        <p:txBody>
          <a:bodyPr/>
          <a:lstStyle/>
          <a:p>
            <a:fld id="{B20F3A6A-4208-405A-9EF2-029F3391C841}"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49" name="Footer Placeholder 48">
            <a:extLst>
              <a:ext uri="{FF2B5EF4-FFF2-40B4-BE49-F238E27FC236}">
                <a16:creationId xmlns:a16="http://schemas.microsoft.com/office/drawing/2014/main" id="{F278366F-DA53-B336-A85A-2BC7BA02B2E9}"/>
              </a:ext>
            </a:extLst>
          </p:cNvPr>
          <p:cNvSpPr>
            <a:spLocks noGrp="1"/>
          </p:cNvSpPr>
          <p:nvPr>
            <p:ph type="ftr" sz="quarter" idx="3"/>
          </p:nvPr>
        </p:nvSpPr>
        <p:spPr/>
        <p:txBody>
          <a:bodyPr/>
          <a:lstStyle/>
          <a:p>
            <a:pPr algn="l"/>
            <a:r>
              <a:rPr lang="en-US"/>
              <a:t>AI-Powered Contract Intelligence</a:t>
            </a:r>
            <a:endParaRPr lang="en-GB" i="1" dirty="0"/>
          </a:p>
        </p:txBody>
      </p:sp>
    </p:spTree>
    <p:extLst>
      <p:ext uri="{BB962C8B-B14F-4D97-AF65-F5344CB8AC3E}">
        <p14:creationId xmlns:p14="http://schemas.microsoft.com/office/powerpoint/2010/main" val="1211048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685D-9555-E850-839A-5ECDD28F06A2}"/>
              </a:ext>
            </a:extLst>
          </p:cNvPr>
          <p:cNvSpPr>
            <a:spLocks noGrp="1"/>
          </p:cNvSpPr>
          <p:nvPr>
            <p:ph type="title"/>
          </p:nvPr>
        </p:nvSpPr>
        <p:spPr/>
        <p:txBody>
          <a:bodyPr anchor="ctr"/>
          <a:lstStyle/>
          <a:p>
            <a:r>
              <a:rPr lang="en-US" sz="2400" dirty="0">
                <a:solidFill>
                  <a:srgbClr val="054283"/>
                </a:solidFill>
              </a:rPr>
              <a:t>Measurable impact from day one</a:t>
            </a:r>
            <a:endParaRPr lang="en-GB" sz="2400" dirty="0">
              <a:solidFill>
                <a:srgbClr val="054283"/>
              </a:solidFill>
            </a:endParaRPr>
          </a:p>
        </p:txBody>
      </p:sp>
      <p:sp>
        <p:nvSpPr>
          <p:cNvPr id="3" name="TextBox 2">
            <a:extLst>
              <a:ext uri="{FF2B5EF4-FFF2-40B4-BE49-F238E27FC236}">
                <a16:creationId xmlns:a16="http://schemas.microsoft.com/office/drawing/2014/main" id="{44978AF6-0D17-CE33-D715-23227DFBE344}"/>
              </a:ext>
            </a:extLst>
          </p:cNvPr>
          <p:cNvSpPr txBox="1"/>
          <p:nvPr/>
        </p:nvSpPr>
        <p:spPr>
          <a:xfrm>
            <a:off x="548640" y="1369981"/>
            <a:ext cx="8229600" cy="996029"/>
          </a:xfrm>
          <a:prstGeom prst="rect">
            <a:avLst/>
          </a:prstGeom>
        </p:spPr>
        <p:style>
          <a:lnRef idx="3">
            <a:schemeClr val="lt1"/>
          </a:lnRef>
          <a:fillRef idx="1">
            <a:schemeClr val="accent3"/>
          </a:fillRef>
          <a:effectRef idx="1">
            <a:schemeClr val="accent3"/>
          </a:effectRef>
          <a:fontRef idx="minor">
            <a:schemeClr val="lt1"/>
          </a:fontRef>
        </p:style>
        <p:txBody>
          <a:bodyPr wrap="square"/>
          <a:lstStyle>
            <a:defPPr>
              <a:defRPr lang="nl-NL"/>
            </a:defPPr>
            <a:lvl1pPr algn="ctr">
              <a:defRPr sz="1800" b="0">
                <a:solidFill>
                  <a:srgbClr val="054283"/>
                </a:solidFill>
                <a:latin typeface="Calibri"/>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dirty="0"/>
              <a:t>Immediate, quantifiable results — not months of implementation before you see</a:t>
            </a:r>
            <a:endParaRPr lang="nl-NL" dirty="0"/>
          </a:p>
          <a:p>
            <a:endParaRPr lang="nl-NL" dirty="0"/>
          </a:p>
          <a:p>
            <a:r>
              <a:rPr dirty="0"/>
              <a:t> </a:t>
            </a:r>
            <a:r>
              <a:rPr lang="nl-NL" sz="2800" dirty="0"/>
              <a:t>VALUE</a:t>
            </a:r>
            <a:r>
              <a:rPr dirty="0"/>
              <a:t>.</a:t>
            </a:r>
          </a:p>
        </p:txBody>
      </p:sp>
      <p:sp>
        <p:nvSpPr>
          <p:cNvPr id="4" name="Rounded Rectangle 5">
            <a:extLst>
              <a:ext uri="{FF2B5EF4-FFF2-40B4-BE49-F238E27FC236}">
                <a16:creationId xmlns:a16="http://schemas.microsoft.com/office/drawing/2014/main" id="{B2EBF331-B06D-9623-FBE7-9C122B8FDCCD}"/>
              </a:ext>
            </a:extLst>
          </p:cNvPr>
          <p:cNvSpPr/>
          <p:nvPr/>
        </p:nvSpPr>
        <p:spPr>
          <a:xfrm>
            <a:off x="548640" y="2708910"/>
            <a:ext cx="1851660" cy="12344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5" name="TextBox 4">
            <a:extLst>
              <a:ext uri="{FF2B5EF4-FFF2-40B4-BE49-F238E27FC236}">
                <a16:creationId xmlns:a16="http://schemas.microsoft.com/office/drawing/2014/main" id="{3C7CE55B-5C22-A00E-93ED-48A5D88093F0}"/>
              </a:ext>
            </a:extLst>
          </p:cNvPr>
          <p:cNvSpPr txBox="1"/>
          <p:nvPr/>
        </p:nvSpPr>
        <p:spPr>
          <a:xfrm>
            <a:off x="754380" y="2846070"/>
            <a:ext cx="1440180" cy="548640"/>
          </a:xfrm>
          <a:prstGeom prst="rect">
            <a:avLst/>
          </a:prstGeom>
          <a:noFill/>
        </p:spPr>
        <p:txBody>
          <a:bodyPr wrap="square"/>
          <a:lstStyle/>
          <a:p>
            <a:pPr algn="ctr">
              <a:defRPr sz="4200" b="1">
                <a:solidFill>
                  <a:srgbClr val="6D28D9"/>
                </a:solidFill>
                <a:latin typeface="Calibri"/>
              </a:defRPr>
            </a:pPr>
            <a:r>
              <a:rPr sz="3150"/>
              <a:t>90%</a:t>
            </a:r>
          </a:p>
        </p:txBody>
      </p:sp>
      <p:sp>
        <p:nvSpPr>
          <p:cNvPr id="6" name="TextBox 5">
            <a:extLst>
              <a:ext uri="{FF2B5EF4-FFF2-40B4-BE49-F238E27FC236}">
                <a16:creationId xmlns:a16="http://schemas.microsoft.com/office/drawing/2014/main" id="{FAEB4F9B-7A2F-D883-9AFE-64F86AA49CE6}"/>
              </a:ext>
            </a:extLst>
          </p:cNvPr>
          <p:cNvSpPr txBox="1"/>
          <p:nvPr/>
        </p:nvSpPr>
        <p:spPr>
          <a:xfrm>
            <a:off x="754380" y="3360420"/>
            <a:ext cx="1440180" cy="480060"/>
          </a:xfrm>
          <a:prstGeom prst="rect">
            <a:avLst/>
          </a:prstGeom>
          <a:noFill/>
        </p:spPr>
        <p:txBody>
          <a:bodyPr wrap="square"/>
          <a:lstStyle/>
          <a:p>
            <a:pPr algn="ctr">
              <a:defRPr sz="1300" b="0">
                <a:solidFill>
                  <a:srgbClr val="4B5563"/>
                </a:solidFill>
                <a:latin typeface="Calibri"/>
              </a:defRPr>
            </a:pPr>
            <a:r>
              <a:rPr sz="975"/>
              <a:t>Less time</a:t>
            </a:r>
            <a:br>
              <a:rPr sz="975"/>
            </a:br>
            <a:r>
              <a:rPr sz="975"/>
              <a:t>reviewing contracts</a:t>
            </a:r>
          </a:p>
        </p:txBody>
      </p:sp>
      <p:sp>
        <p:nvSpPr>
          <p:cNvPr id="7" name="Rounded Rectangle 8">
            <a:extLst>
              <a:ext uri="{FF2B5EF4-FFF2-40B4-BE49-F238E27FC236}">
                <a16:creationId xmlns:a16="http://schemas.microsoft.com/office/drawing/2014/main" id="{D7721B22-62A5-ADB7-5FE2-2A1F7C86E0C4}"/>
              </a:ext>
            </a:extLst>
          </p:cNvPr>
          <p:cNvSpPr/>
          <p:nvPr/>
        </p:nvSpPr>
        <p:spPr>
          <a:xfrm>
            <a:off x="2674620" y="2708910"/>
            <a:ext cx="1851660" cy="12344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a:extLst>
              <a:ext uri="{FF2B5EF4-FFF2-40B4-BE49-F238E27FC236}">
                <a16:creationId xmlns:a16="http://schemas.microsoft.com/office/drawing/2014/main" id="{60493934-4F5E-751A-3021-D6FD2A70C4F7}"/>
              </a:ext>
            </a:extLst>
          </p:cNvPr>
          <p:cNvSpPr txBox="1"/>
          <p:nvPr/>
        </p:nvSpPr>
        <p:spPr>
          <a:xfrm>
            <a:off x="2880360" y="2846070"/>
            <a:ext cx="1440180" cy="548640"/>
          </a:xfrm>
          <a:prstGeom prst="rect">
            <a:avLst/>
          </a:prstGeom>
          <a:noFill/>
        </p:spPr>
        <p:txBody>
          <a:bodyPr wrap="square"/>
          <a:lstStyle/>
          <a:p>
            <a:pPr algn="ctr">
              <a:defRPr sz="4200" b="1">
                <a:solidFill>
                  <a:srgbClr val="EA760D"/>
                </a:solidFill>
                <a:latin typeface="Calibri"/>
              </a:defRPr>
            </a:pPr>
            <a:r>
              <a:rPr sz="3150"/>
              <a:t>3–5x</a:t>
            </a:r>
          </a:p>
        </p:txBody>
      </p:sp>
      <p:sp>
        <p:nvSpPr>
          <p:cNvPr id="9" name="TextBox 8">
            <a:extLst>
              <a:ext uri="{FF2B5EF4-FFF2-40B4-BE49-F238E27FC236}">
                <a16:creationId xmlns:a16="http://schemas.microsoft.com/office/drawing/2014/main" id="{989C7FFE-5316-911D-2445-038DC33AE44B}"/>
              </a:ext>
            </a:extLst>
          </p:cNvPr>
          <p:cNvSpPr txBox="1"/>
          <p:nvPr/>
        </p:nvSpPr>
        <p:spPr>
          <a:xfrm>
            <a:off x="2880360" y="3360420"/>
            <a:ext cx="1440180" cy="480060"/>
          </a:xfrm>
          <a:prstGeom prst="rect">
            <a:avLst/>
          </a:prstGeom>
          <a:noFill/>
        </p:spPr>
        <p:txBody>
          <a:bodyPr wrap="square"/>
          <a:lstStyle/>
          <a:p>
            <a:pPr algn="ctr">
              <a:defRPr sz="1300" b="0">
                <a:solidFill>
                  <a:srgbClr val="4B5563"/>
                </a:solidFill>
                <a:latin typeface="Calibri"/>
              </a:defRPr>
            </a:pPr>
            <a:r>
              <a:rPr sz="975"/>
              <a:t>More SLA credits</a:t>
            </a:r>
            <a:br>
              <a:rPr sz="975"/>
            </a:br>
            <a:r>
              <a:rPr sz="975"/>
              <a:t>recovered</a:t>
            </a:r>
          </a:p>
        </p:txBody>
      </p:sp>
      <p:sp>
        <p:nvSpPr>
          <p:cNvPr id="10" name="Rounded Rectangle 11">
            <a:extLst>
              <a:ext uri="{FF2B5EF4-FFF2-40B4-BE49-F238E27FC236}">
                <a16:creationId xmlns:a16="http://schemas.microsoft.com/office/drawing/2014/main" id="{DD9C9C73-B380-FF85-DD5D-0F2B131B7AC9}"/>
              </a:ext>
            </a:extLst>
          </p:cNvPr>
          <p:cNvSpPr/>
          <p:nvPr/>
        </p:nvSpPr>
        <p:spPr>
          <a:xfrm>
            <a:off x="4800600" y="2708910"/>
            <a:ext cx="1851660" cy="12344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TextBox 10">
            <a:extLst>
              <a:ext uri="{FF2B5EF4-FFF2-40B4-BE49-F238E27FC236}">
                <a16:creationId xmlns:a16="http://schemas.microsoft.com/office/drawing/2014/main" id="{6565F07A-2B6B-79F6-1E38-33C821B259A7}"/>
              </a:ext>
            </a:extLst>
          </p:cNvPr>
          <p:cNvSpPr txBox="1"/>
          <p:nvPr/>
        </p:nvSpPr>
        <p:spPr>
          <a:xfrm>
            <a:off x="5006340" y="2846070"/>
            <a:ext cx="1440180" cy="548640"/>
          </a:xfrm>
          <a:prstGeom prst="rect">
            <a:avLst/>
          </a:prstGeom>
          <a:noFill/>
        </p:spPr>
        <p:txBody>
          <a:bodyPr wrap="square"/>
          <a:lstStyle/>
          <a:p>
            <a:pPr algn="ctr">
              <a:defRPr sz="4200" b="1">
                <a:solidFill>
                  <a:srgbClr val="DC2626"/>
                </a:solidFill>
                <a:latin typeface="Calibri"/>
              </a:defRPr>
            </a:pPr>
            <a:r>
              <a:rPr sz="3150"/>
              <a:t>95%</a:t>
            </a:r>
          </a:p>
        </p:txBody>
      </p:sp>
      <p:sp>
        <p:nvSpPr>
          <p:cNvPr id="12" name="TextBox 11">
            <a:extLst>
              <a:ext uri="{FF2B5EF4-FFF2-40B4-BE49-F238E27FC236}">
                <a16:creationId xmlns:a16="http://schemas.microsoft.com/office/drawing/2014/main" id="{0420D639-EA29-C535-B04B-CA515366CBEF}"/>
              </a:ext>
            </a:extLst>
          </p:cNvPr>
          <p:cNvSpPr txBox="1"/>
          <p:nvPr/>
        </p:nvSpPr>
        <p:spPr>
          <a:xfrm>
            <a:off x="5006340" y="3360420"/>
            <a:ext cx="1440180" cy="480060"/>
          </a:xfrm>
          <a:prstGeom prst="rect">
            <a:avLst/>
          </a:prstGeom>
          <a:noFill/>
        </p:spPr>
        <p:txBody>
          <a:bodyPr wrap="square"/>
          <a:lstStyle/>
          <a:p>
            <a:pPr algn="ctr">
              <a:defRPr sz="1300" b="0">
                <a:solidFill>
                  <a:srgbClr val="4B5563"/>
                </a:solidFill>
                <a:latin typeface="Calibri"/>
              </a:defRPr>
            </a:pPr>
            <a:r>
              <a:rPr sz="975"/>
              <a:t>Fewer missed</a:t>
            </a:r>
            <a:br>
              <a:rPr sz="975"/>
            </a:br>
            <a:r>
              <a:rPr sz="975"/>
              <a:t>deadlines</a:t>
            </a:r>
          </a:p>
        </p:txBody>
      </p:sp>
      <p:sp>
        <p:nvSpPr>
          <p:cNvPr id="13" name="Rounded Rectangle 14">
            <a:extLst>
              <a:ext uri="{FF2B5EF4-FFF2-40B4-BE49-F238E27FC236}">
                <a16:creationId xmlns:a16="http://schemas.microsoft.com/office/drawing/2014/main" id="{58926CBA-3D1D-1FC5-461C-9808428C52DF}"/>
              </a:ext>
            </a:extLst>
          </p:cNvPr>
          <p:cNvSpPr/>
          <p:nvPr/>
        </p:nvSpPr>
        <p:spPr>
          <a:xfrm>
            <a:off x="6926580" y="2708910"/>
            <a:ext cx="1851660" cy="123444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TextBox 13">
            <a:extLst>
              <a:ext uri="{FF2B5EF4-FFF2-40B4-BE49-F238E27FC236}">
                <a16:creationId xmlns:a16="http://schemas.microsoft.com/office/drawing/2014/main" id="{17F01B76-15D0-5F25-E043-C1A558045692}"/>
              </a:ext>
            </a:extLst>
          </p:cNvPr>
          <p:cNvSpPr txBox="1"/>
          <p:nvPr/>
        </p:nvSpPr>
        <p:spPr>
          <a:xfrm>
            <a:off x="7132320" y="2846070"/>
            <a:ext cx="1440180" cy="548640"/>
          </a:xfrm>
          <a:prstGeom prst="rect">
            <a:avLst/>
          </a:prstGeom>
          <a:noFill/>
        </p:spPr>
        <p:txBody>
          <a:bodyPr wrap="square"/>
          <a:lstStyle/>
          <a:p>
            <a:pPr algn="ctr">
              <a:defRPr sz="4200" b="1">
                <a:solidFill>
                  <a:srgbClr val="059669"/>
                </a:solidFill>
                <a:latin typeface="Calibri"/>
              </a:defRPr>
            </a:pPr>
            <a:r>
              <a:rPr sz="3150"/>
              <a:t>$2M+</a:t>
            </a:r>
          </a:p>
        </p:txBody>
      </p:sp>
      <p:sp>
        <p:nvSpPr>
          <p:cNvPr id="15" name="TextBox 14">
            <a:extLst>
              <a:ext uri="{FF2B5EF4-FFF2-40B4-BE49-F238E27FC236}">
                <a16:creationId xmlns:a16="http://schemas.microsoft.com/office/drawing/2014/main" id="{2CD120A9-0A0C-3684-9632-F7076401A341}"/>
              </a:ext>
            </a:extLst>
          </p:cNvPr>
          <p:cNvSpPr txBox="1"/>
          <p:nvPr/>
        </p:nvSpPr>
        <p:spPr>
          <a:xfrm>
            <a:off x="7132320" y="3360420"/>
            <a:ext cx="1440180" cy="480060"/>
          </a:xfrm>
          <a:prstGeom prst="rect">
            <a:avLst/>
          </a:prstGeom>
          <a:noFill/>
        </p:spPr>
        <p:txBody>
          <a:bodyPr wrap="square"/>
          <a:lstStyle/>
          <a:p>
            <a:pPr algn="ctr">
              <a:defRPr sz="1300" b="0">
                <a:solidFill>
                  <a:srgbClr val="4B5563"/>
                </a:solidFill>
                <a:latin typeface="Calibri"/>
              </a:defRPr>
            </a:pPr>
            <a:r>
              <a:rPr sz="975"/>
              <a:t>Credits recovered</a:t>
            </a:r>
            <a:br>
              <a:rPr sz="975"/>
            </a:br>
            <a:r>
              <a:rPr sz="975"/>
              <a:t>across customers</a:t>
            </a:r>
          </a:p>
        </p:txBody>
      </p:sp>
      <p:sp>
        <p:nvSpPr>
          <p:cNvPr id="16" name="Rounded Rectangle 17">
            <a:extLst>
              <a:ext uri="{FF2B5EF4-FFF2-40B4-BE49-F238E27FC236}">
                <a16:creationId xmlns:a16="http://schemas.microsoft.com/office/drawing/2014/main" id="{B0DFB2A2-5EE2-59DB-A5E7-EB4F40BD3DEE}"/>
              </a:ext>
            </a:extLst>
          </p:cNvPr>
          <p:cNvSpPr/>
          <p:nvPr/>
        </p:nvSpPr>
        <p:spPr>
          <a:xfrm>
            <a:off x="548640" y="4286250"/>
            <a:ext cx="2468880" cy="109728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Oval 16">
            <a:extLst>
              <a:ext uri="{FF2B5EF4-FFF2-40B4-BE49-F238E27FC236}">
                <a16:creationId xmlns:a16="http://schemas.microsoft.com/office/drawing/2014/main" id="{A9B4308D-6941-150F-84BF-ED174FBA7F0C}"/>
              </a:ext>
            </a:extLst>
          </p:cNvPr>
          <p:cNvSpPr/>
          <p:nvPr/>
        </p:nvSpPr>
        <p:spPr>
          <a:xfrm>
            <a:off x="754380" y="4491990"/>
            <a:ext cx="82296" cy="82296"/>
          </a:xfrm>
          <a:prstGeom prst="ellipse">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TextBox 17">
            <a:extLst>
              <a:ext uri="{FF2B5EF4-FFF2-40B4-BE49-F238E27FC236}">
                <a16:creationId xmlns:a16="http://schemas.microsoft.com/office/drawing/2014/main" id="{6DCF6288-B2D0-BFA3-BA70-C40F6B169701}"/>
              </a:ext>
            </a:extLst>
          </p:cNvPr>
          <p:cNvSpPr txBox="1"/>
          <p:nvPr/>
        </p:nvSpPr>
        <p:spPr>
          <a:xfrm>
            <a:off x="925830" y="4423410"/>
            <a:ext cx="1920240" cy="240030"/>
          </a:xfrm>
          <a:prstGeom prst="rect">
            <a:avLst/>
          </a:prstGeom>
          <a:noFill/>
        </p:spPr>
        <p:txBody>
          <a:bodyPr wrap="square"/>
          <a:lstStyle/>
          <a:p>
            <a:pPr algn="l">
              <a:defRPr sz="1600" b="1">
                <a:solidFill>
                  <a:srgbClr val="111827"/>
                </a:solidFill>
                <a:latin typeface="Calibri"/>
              </a:defRPr>
            </a:pPr>
            <a:r>
              <a:rPr sz="1200"/>
              <a:t>For Legal</a:t>
            </a:r>
          </a:p>
        </p:txBody>
      </p:sp>
      <p:sp>
        <p:nvSpPr>
          <p:cNvPr id="19" name="TextBox 18">
            <a:extLst>
              <a:ext uri="{FF2B5EF4-FFF2-40B4-BE49-F238E27FC236}">
                <a16:creationId xmlns:a16="http://schemas.microsoft.com/office/drawing/2014/main" id="{4BB97CE8-4A23-8C9B-25E6-B0B6258ADC67}"/>
              </a:ext>
            </a:extLst>
          </p:cNvPr>
          <p:cNvSpPr txBox="1"/>
          <p:nvPr/>
        </p:nvSpPr>
        <p:spPr>
          <a:xfrm>
            <a:off x="754380" y="4732020"/>
            <a:ext cx="2057400" cy="582930"/>
          </a:xfrm>
          <a:prstGeom prst="rect">
            <a:avLst/>
          </a:prstGeom>
          <a:noFill/>
        </p:spPr>
        <p:txBody>
          <a:bodyPr wrap="square"/>
          <a:lstStyle/>
          <a:p>
            <a:pPr algn="l">
              <a:defRPr sz="1200" b="0">
                <a:solidFill>
                  <a:srgbClr val="4B5563"/>
                </a:solidFill>
                <a:latin typeface="Calibri"/>
              </a:defRPr>
            </a:pPr>
            <a:r>
              <a:rPr sz="900"/>
              <a:t>Days of contract review compressed to minutes. Automated risk scoring across 10 categories. Portfolio-wide semantic search.</a:t>
            </a:r>
          </a:p>
        </p:txBody>
      </p:sp>
      <p:sp>
        <p:nvSpPr>
          <p:cNvPr id="20" name="Rounded Rectangle 21">
            <a:extLst>
              <a:ext uri="{FF2B5EF4-FFF2-40B4-BE49-F238E27FC236}">
                <a16:creationId xmlns:a16="http://schemas.microsoft.com/office/drawing/2014/main" id="{42A0838E-93ED-C59D-F54B-1B37FB1D6384}"/>
              </a:ext>
            </a:extLst>
          </p:cNvPr>
          <p:cNvSpPr/>
          <p:nvPr/>
        </p:nvSpPr>
        <p:spPr>
          <a:xfrm>
            <a:off x="3291840" y="4286250"/>
            <a:ext cx="2468880" cy="109728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Oval 20">
            <a:extLst>
              <a:ext uri="{FF2B5EF4-FFF2-40B4-BE49-F238E27FC236}">
                <a16:creationId xmlns:a16="http://schemas.microsoft.com/office/drawing/2014/main" id="{5D736991-A899-4D59-E901-56250AE7E24A}"/>
              </a:ext>
            </a:extLst>
          </p:cNvPr>
          <p:cNvSpPr/>
          <p:nvPr/>
        </p:nvSpPr>
        <p:spPr>
          <a:xfrm>
            <a:off x="3497580" y="4491990"/>
            <a:ext cx="82296" cy="82296"/>
          </a:xfrm>
          <a:prstGeom prst="ellipse">
            <a:avLst/>
          </a:prstGeom>
          <a:solidFill>
            <a:srgbClr val="EA76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TextBox 21">
            <a:extLst>
              <a:ext uri="{FF2B5EF4-FFF2-40B4-BE49-F238E27FC236}">
                <a16:creationId xmlns:a16="http://schemas.microsoft.com/office/drawing/2014/main" id="{901284FF-0A89-804E-C28C-8447CD273BE2}"/>
              </a:ext>
            </a:extLst>
          </p:cNvPr>
          <p:cNvSpPr txBox="1"/>
          <p:nvPr/>
        </p:nvSpPr>
        <p:spPr>
          <a:xfrm>
            <a:off x="3669030" y="4423410"/>
            <a:ext cx="1920240" cy="240030"/>
          </a:xfrm>
          <a:prstGeom prst="rect">
            <a:avLst/>
          </a:prstGeom>
          <a:noFill/>
        </p:spPr>
        <p:txBody>
          <a:bodyPr wrap="square"/>
          <a:lstStyle/>
          <a:p>
            <a:pPr algn="l">
              <a:defRPr sz="1600" b="1">
                <a:solidFill>
                  <a:srgbClr val="111827"/>
                </a:solidFill>
                <a:latin typeface="Calibri"/>
              </a:defRPr>
            </a:pPr>
            <a:r>
              <a:rPr sz="1200"/>
              <a:t>For Procurement</a:t>
            </a:r>
          </a:p>
        </p:txBody>
      </p:sp>
      <p:sp>
        <p:nvSpPr>
          <p:cNvPr id="23" name="TextBox 22">
            <a:extLst>
              <a:ext uri="{FF2B5EF4-FFF2-40B4-BE49-F238E27FC236}">
                <a16:creationId xmlns:a16="http://schemas.microsoft.com/office/drawing/2014/main" id="{9D8933ED-948F-F17B-3AAE-71B48D64951D}"/>
              </a:ext>
            </a:extLst>
          </p:cNvPr>
          <p:cNvSpPr txBox="1"/>
          <p:nvPr/>
        </p:nvSpPr>
        <p:spPr>
          <a:xfrm>
            <a:off x="3497580" y="4732020"/>
            <a:ext cx="2057400" cy="582930"/>
          </a:xfrm>
          <a:prstGeom prst="rect">
            <a:avLst/>
          </a:prstGeom>
          <a:noFill/>
        </p:spPr>
        <p:txBody>
          <a:bodyPr wrap="square"/>
          <a:lstStyle/>
          <a:p>
            <a:pPr algn="l">
              <a:defRPr sz="1200" b="0">
                <a:solidFill>
                  <a:srgbClr val="4B5563"/>
                </a:solidFill>
                <a:latin typeface="Calibri"/>
              </a:defRPr>
            </a:pPr>
            <a:r>
              <a:rPr sz="900"/>
              <a:t>Real-time SLA monitoring. Detect breaches the moment they happen. Recover every service credit owed.</a:t>
            </a:r>
          </a:p>
        </p:txBody>
      </p:sp>
      <p:sp>
        <p:nvSpPr>
          <p:cNvPr id="24" name="Rounded Rectangle 25">
            <a:extLst>
              <a:ext uri="{FF2B5EF4-FFF2-40B4-BE49-F238E27FC236}">
                <a16:creationId xmlns:a16="http://schemas.microsoft.com/office/drawing/2014/main" id="{E5CDB409-400C-B2BB-A0E8-B9ACBC685391}"/>
              </a:ext>
            </a:extLst>
          </p:cNvPr>
          <p:cNvSpPr/>
          <p:nvPr/>
        </p:nvSpPr>
        <p:spPr>
          <a:xfrm>
            <a:off x="6035040" y="4286250"/>
            <a:ext cx="2468880" cy="1097280"/>
          </a:xfrm>
          <a:prstGeom prst="roundRect">
            <a:avLst/>
          </a:prstGeom>
          <a:solidFill>
            <a:srgbClr val="F9FAFB"/>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5" name="Oval 24">
            <a:extLst>
              <a:ext uri="{FF2B5EF4-FFF2-40B4-BE49-F238E27FC236}">
                <a16:creationId xmlns:a16="http://schemas.microsoft.com/office/drawing/2014/main" id="{527FF0ED-472D-B88E-ADC2-B351B3E42775}"/>
              </a:ext>
            </a:extLst>
          </p:cNvPr>
          <p:cNvSpPr/>
          <p:nvPr/>
        </p:nvSpPr>
        <p:spPr>
          <a:xfrm>
            <a:off x="6240780" y="4491990"/>
            <a:ext cx="82296" cy="82296"/>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TextBox 25">
            <a:extLst>
              <a:ext uri="{FF2B5EF4-FFF2-40B4-BE49-F238E27FC236}">
                <a16:creationId xmlns:a16="http://schemas.microsoft.com/office/drawing/2014/main" id="{8C78890B-A117-634E-7340-633D381F2D58}"/>
              </a:ext>
            </a:extLst>
          </p:cNvPr>
          <p:cNvSpPr txBox="1"/>
          <p:nvPr/>
        </p:nvSpPr>
        <p:spPr>
          <a:xfrm>
            <a:off x="6412230" y="4423410"/>
            <a:ext cx="1920240" cy="240030"/>
          </a:xfrm>
          <a:prstGeom prst="rect">
            <a:avLst/>
          </a:prstGeom>
          <a:noFill/>
        </p:spPr>
        <p:txBody>
          <a:bodyPr wrap="square"/>
          <a:lstStyle/>
          <a:p>
            <a:pPr algn="l">
              <a:defRPr sz="1600" b="1">
                <a:solidFill>
                  <a:srgbClr val="111827"/>
                </a:solidFill>
                <a:latin typeface="Calibri"/>
              </a:defRPr>
            </a:pPr>
            <a:r>
              <a:rPr sz="1200"/>
              <a:t>For Finance</a:t>
            </a:r>
          </a:p>
        </p:txBody>
      </p:sp>
      <p:sp>
        <p:nvSpPr>
          <p:cNvPr id="27" name="TextBox 26">
            <a:extLst>
              <a:ext uri="{FF2B5EF4-FFF2-40B4-BE49-F238E27FC236}">
                <a16:creationId xmlns:a16="http://schemas.microsoft.com/office/drawing/2014/main" id="{4A31B1B9-C121-0D93-6087-415D590A07A6}"/>
              </a:ext>
            </a:extLst>
          </p:cNvPr>
          <p:cNvSpPr txBox="1"/>
          <p:nvPr/>
        </p:nvSpPr>
        <p:spPr>
          <a:xfrm>
            <a:off x="6240780" y="4732020"/>
            <a:ext cx="2057400" cy="582930"/>
          </a:xfrm>
          <a:prstGeom prst="rect">
            <a:avLst/>
          </a:prstGeom>
          <a:noFill/>
        </p:spPr>
        <p:txBody>
          <a:bodyPr wrap="square"/>
          <a:lstStyle/>
          <a:p>
            <a:pPr algn="l">
              <a:defRPr sz="1200" b="0">
                <a:solidFill>
                  <a:srgbClr val="4B5563"/>
                </a:solidFill>
                <a:latin typeface="Calibri"/>
              </a:defRPr>
            </a:pPr>
            <a:r>
              <a:rPr sz="900"/>
              <a:t>Track every obligation and deadline. Detect auto-renewal traps before they trigger. Understand true financial exposure.</a:t>
            </a:r>
          </a:p>
        </p:txBody>
      </p:sp>
      <p:sp>
        <p:nvSpPr>
          <p:cNvPr id="30" name="Date Placeholder 2">
            <a:extLst>
              <a:ext uri="{FF2B5EF4-FFF2-40B4-BE49-F238E27FC236}">
                <a16:creationId xmlns:a16="http://schemas.microsoft.com/office/drawing/2014/main" id="{119057B6-5B9C-9998-413E-D043D5CA154A}"/>
              </a:ext>
            </a:extLst>
          </p:cNvPr>
          <p:cNvSpPr>
            <a:spLocks noGrp="1"/>
          </p:cNvSpPr>
          <p:nvPr>
            <p:ph type="dt" sz="half" idx="2"/>
          </p:nvPr>
        </p:nvSpPr>
        <p:spPr>
          <a:xfrm>
            <a:off x="611450" y="6471383"/>
            <a:ext cx="2057400" cy="365125"/>
          </a:xfrm>
        </p:spPr>
        <p:txBody>
          <a:bodyPr/>
          <a:lstStyle/>
          <a:p>
            <a:fld id="{BCFD5220-14B2-4D59-AAB5-DC8635FE0AAA}"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31" name="Footer Placeholder 5">
            <a:extLst>
              <a:ext uri="{FF2B5EF4-FFF2-40B4-BE49-F238E27FC236}">
                <a16:creationId xmlns:a16="http://schemas.microsoft.com/office/drawing/2014/main" id="{A5756B26-7324-1A92-37E5-40D523EAAB55}"/>
              </a:ext>
            </a:extLst>
          </p:cNvPr>
          <p:cNvSpPr>
            <a:spLocks noGrp="1"/>
          </p:cNvSpPr>
          <p:nvPr>
            <p:ph type="ftr" sz="quarter" idx="3"/>
          </p:nvPr>
        </p:nvSpPr>
        <p:spPr>
          <a:xfrm>
            <a:off x="2633434" y="6471382"/>
            <a:ext cx="3312460" cy="367086"/>
          </a:xfrm>
        </p:spPr>
        <p:txBody>
          <a:bodyPr/>
          <a:lstStyle/>
          <a:p>
            <a:pPr algn="l"/>
            <a:r>
              <a:rPr lang="en-US" dirty="0"/>
              <a:t>AI-Powered Contract Intelligence</a:t>
            </a:r>
            <a:endParaRPr lang="en-GB" i="1" dirty="0"/>
          </a:p>
        </p:txBody>
      </p:sp>
    </p:spTree>
    <p:extLst>
      <p:ext uri="{BB962C8B-B14F-4D97-AF65-F5344CB8AC3E}">
        <p14:creationId xmlns:p14="http://schemas.microsoft.com/office/powerpoint/2010/main" val="2088411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pPr lvl="0"/>
            <a:r>
              <a:rPr lang="en-GB" sz="2800" i="1" dirty="0">
                <a:solidFill>
                  <a:schemeClr val="accent5">
                    <a:lumMod val="25000"/>
                  </a:schemeClr>
                </a:solidFill>
              </a:rPr>
              <a:t>	Value delivered</a:t>
            </a:r>
          </a:p>
        </p:txBody>
      </p:sp>
      <p:sp>
        <p:nvSpPr>
          <p:cNvPr id="28" name="Freeform 27"/>
          <p:cNvSpPr/>
          <p:nvPr/>
        </p:nvSpPr>
        <p:spPr>
          <a:xfrm>
            <a:off x="539440" y="1732304"/>
            <a:ext cx="2664370" cy="735112"/>
          </a:xfrm>
          <a:custGeom>
            <a:avLst/>
            <a:gdLst>
              <a:gd name="connsiteX0" fmla="*/ 0 w 2248102"/>
              <a:gd name="connsiteY0" fmla="*/ 0 h 555254"/>
              <a:gd name="connsiteX1" fmla="*/ 2248102 w 2248102"/>
              <a:gd name="connsiteY1" fmla="*/ 0 h 555254"/>
              <a:gd name="connsiteX2" fmla="*/ 2248102 w 2248102"/>
              <a:gd name="connsiteY2" fmla="*/ 555254 h 555254"/>
              <a:gd name="connsiteX3" fmla="*/ 0 w 2248102"/>
              <a:gd name="connsiteY3" fmla="*/ 555254 h 555254"/>
              <a:gd name="connsiteX4" fmla="*/ 0 w 2248102"/>
              <a:gd name="connsiteY4" fmla="*/ 0 h 555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8102" h="555254">
                <a:moveTo>
                  <a:pt x="0" y="0"/>
                </a:moveTo>
                <a:lnTo>
                  <a:pt x="2248102" y="0"/>
                </a:lnTo>
                <a:lnTo>
                  <a:pt x="2248102" y="555254"/>
                </a:lnTo>
                <a:lnTo>
                  <a:pt x="0" y="55525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NL" sz="1400" b="1" noProof="0" dirty="0">
                <a:ln w="18415" cmpd="sng">
                  <a:prstDash val="solid"/>
                </a:ln>
                <a:solidFill>
                  <a:srgbClr val="054283"/>
                </a:solidFill>
                <a:latin typeface="Calibri" pitchFamily="34" charset="0"/>
                <a:cs typeface="Calibri" pitchFamily="34" charset="0"/>
              </a:rPr>
              <a:t>Increase return on contract base </a:t>
            </a:r>
          </a:p>
          <a:p>
            <a:pPr algn="ctr"/>
            <a:r>
              <a:rPr lang="en-NL" sz="1400" b="1" noProof="0" dirty="0">
                <a:ln w="18415" cmpd="sng">
                  <a:prstDash val="solid"/>
                </a:ln>
                <a:solidFill>
                  <a:srgbClr val="054283"/>
                </a:solidFill>
                <a:latin typeface="Calibri" pitchFamily="34" charset="0"/>
                <a:cs typeface="Calibri" pitchFamily="34" charset="0"/>
              </a:rPr>
              <a:t>by 3-</a:t>
            </a:r>
            <a:r>
              <a:rPr lang="nl-NL" sz="1400" b="1" noProof="0" dirty="0">
                <a:ln w="18415" cmpd="sng">
                  <a:prstDash val="solid"/>
                </a:ln>
                <a:solidFill>
                  <a:srgbClr val="054283"/>
                </a:solidFill>
                <a:latin typeface="Calibri" pitchFamily="34" charset="0"/>
                <a:cs typeface="Calibri" pitchFamily="34" charset="0"/>
              </a:rPr>
              <a:t>6</a:t>
            </a:r>
            <a:r>
              <a:rPr lang="en-NL" sz="1400" b="1" noProof="0" dirty="0">
                <a:ln w="18415" cmpd="sng">
                  <a:prstDash val="solid"/>
                </a:ln>
                <a:solidFill>
                  <a:srgbClr val="054283"/>
                </a:solidFill>
                <a:latin typeface="Calibri" pitchFamily="34" charset="0"/>
                <a:cs typeface="Calibri" pitchFamily="34" charset="0"/>
              </a:rPr>
              <a:t>%</a:t>
            </a:r>
          </a:p>
        </p:txBody>
      </p:sp>
      <p:sp>
        <p:nvSpPr>
          <p:cNvPr id="29" name="Freeform 28"/>
          <p:cNvSpPr/>
          <p:nvPr/>
        </p:nvSpPr>
        <p:spPr>
          <a:xfrm>
            <a:off x="539440" y="2668434"/>
            <a:ext cx="2664370" cy="735112"/>
          </a:xfrm>
          <a:custGeom>
            <a:avLst/>
            <a:gdLst>
              <a:gd name="connsiteX0" fmla="*/ 0 w 2248102"/>
              <a:gd name="connsiteY0" fmla="*/ 0 h 555254"/>
              <a:gd name="connsiteX1" fmla="*/ 2248102 w 2248102"/>
              <a:gd name="connsiteY1" fmla="*/ 0 h 555254"/>
              <a:gd name="connsiteX2" fmla="*/ 2248102 w 2248102"/>
              <a:gd name="connsiteY2" fmla="*/ 555254 h 555254"/>
              <a:gd name="connsiteX3" fmla="*/ 0 w 2248102"/>
              <a:gd name="connsiteY3" fmla="*/ 555254 h 555254"/>
              <a:gd name="connsiteX4" fmla="*/ 0 w 2248102"/>
              <a:gd name="connsiteY4" fmla="*/ 0 h 555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8102" h="555254">
                <a:moveTo>
                  <a:pt x="0" y="0"/>
                </a:moveTo>
                <a:lnTo>
                  <a:pt x="2248102" y="0"/>
                </a:lnTo>
                <a:lnTo>
                  <a:pt x="2248102" y="555254"/>
                </a:lnTo>
                <a:lnTo>
                  <a:pt x="0" y="55525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NL" sz="1400" b="1" noProof="0" dirty="0">
                <a:ln w="18415" cmpd="sng">
                  <a:prstDash val="solid"/>
                </a:ln>
                <a:solidFill>
                  <a:srgbClr val="054283"/>
                </a:solidFill>
                <a:latin typeface="Calibri" pitchFamily="34" charset="0"/>
                <a:cs typeface="Calibri" pitchFamily="34" charset="0"/>
              </a:rPr>
              <a:t>Increase renewal rate </a:t>
            </a:r>
          </a:p>
          <a:p>
            <a:pPr algn="ctr"/>
            <a:r>
              <a:rPr lang="en-NL" sz="1400" b="1" noProof="0" dirty="0">
                <a:ln w="18415" cmpd="sng">
                  <a:prstDash val="solid"/>
                </a:ln>
                <a:solidFill>
                  <a:srgbClr val="054283"/>
                </a:solidFill>
                <a:latin typeface="Calibri" pitchFamily="34" charset="0"/>
                <a:cs typeface="Calibri" pitchFamily="34" charset="0"/>
              </a:rPr>
              <a:t>and </a:t>
            </a:r>
          </a:p>
          <a:p>
            <a:pPr algn="ctr"/>
            <a:r>
              <a:rPr lang="en-NL" sz="1400" b="1" noProof="0" dirty="0">
                <a:ln w="18415" cmpd="sng">
                  <a:prstDash val="solid"/>
                </a:ln>
                <a:solidFill>
                  <a:srgbClr val="054283"/>
                </a:solidFill>
                <a:latin typeface="Calibri" pitchFamily="34" charset="0"/>
                <a:cs typeface="Calibri" pitchFamily="34" charset="0"/>
              </a:rPr>
              <a:t>Contract extensions</a:t>
            </a:r>
          </a:p>
        </p:txBody>
      </p:sp>
      <p:sp>
        <p:nvSpPr>
          <p:cNvPr id="30" name="Freeform 29"/>
          <p:cNvSpPr/>
          <p:nvPr/>
        </p:nvSpPr>
        <p:spPr>
          <a:xfrm>
            <a:off x="539440" y="3604564"/>
            <a:ext cx="2664370" cy="735112"/>
          </a:xfrm>
          <a:custGeom>
            <a:avLst/>
            <a:gdLst>
              <a:gd name="connsiteX0" fmla="*/ 0 w 2248102"/>
              <a:gd name="connsiteY0" fmla="*/ 0 h 555254"/>
              <a:gd name="connsiteX1" fmla="*/ 2248102 w 2248102"/>
              <a:gd name="connsiteY1" fmla="*/ 0 h 555254"/>
              <a:gd name="connsiteX2" fmla="*/ 2248102 w 2248102"/>
              <a:gd name="connsiteY2" fmla="*/ 555254 h 555254"/>
              <a:gd name="connsiteX3" fmla="*/ 0 w 2248102"/>
              <a:gd name="connsiteY3" fmla="*/ 555254 h 555254"/>
              <a:gd name="connsiteX4" fmla="*/ 0 w 2248102"/>
              <a:gd name="connsiteY4" fmla="*/ 0 h 555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8102" h="555254">
                <a:moveTo>
                  <a:pt x="0" y="0"/>
                </a:moveTo>
                <a:lnTo>
                  <a:pt x="2248102" y="0"/>
                </a:lnTo>
                <a:lnTo>
                  <a:pt x="2248102" y="555254"/>
                </a:lnTo>
                <a:lnTo>
                  <a:pt x="0" y="55525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NL" sz="1400" b="1" noProof="0" dirty="0">
                <a:ln w="18415" cmpd="sng">
                  <a:prstDash val="solid"/>
                </a:ln>
                <a:solidFill>
                  <a:srgbClr val="054283"/>
                </a:solidFill>
                <a:latin typeface="Calibri" pitchFamily="34" charset="0"/>
                <a:cs typeface="Calibri" pitchFamily="34" charset="0"/>
              </a:rPr>
              <a:t>Improve margins (decrease costs)</a:t>
            </a:r>
          </a:p>
        </p:txBody>
      </p:sp>
      <p:sp>
        <p:nvSpPr>
          <p:cNvPr id="31" name="Freeform 30"/>
          <p:cNvSpPr/>
          <p:nvPr/>
        </p:nvSpPr>
        <p:spPr>
          <a:xfrm>
            <a:off x="539440" y="4566148"/>
            <a:ext cx="2664370" cy="735112"/>
          </a:xfrm>
          <a:custGeom>
            <a:avLst/>
            <a:gdLst>
              <a:gd name="connsiteX0" fmla="*/ 0 w 2248102"/>
              <a:gd name="connsiteY0" fmla="*/ 0 h 555254"/>
              <a:gd name="connsiteX1" fmla="*/ 2248102 w 2248102"/>
              <a:gd name="connsiteY1" fmla="*/ 0 h 555254"/>
              <a:gd name="connsiteX2" fmla="*/ 2248102 w 2248102"/>
              <a:gd name="connsiteY2" fmla="*/ 555254 h 555254"/>
              <a:gd name="connsiteX3" fmla="*/ 0 w 2248102"/>
              <a:gd name="connsiteY3" fmla="*/ 555254 h 555254"/>
              <a:gd name="connsiteX4" fmla="*/ 0 w 2248102"/>
              <a:gd name="connsiteY4" fmla="*/ 0 h 555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8102" h="555254">
                <a:moveTo>
                  <a:pt x="0" y="0"/>
                </a:moveTo>
                <a:lnTo>
                  <a:pt x="2248102" y="0"/>
                </a:lnTo>
                <a:lnTo>
                  <a:pt x="2248102" y="555254"/>
                </a:lnTo>
                <a:lnTo>
                  <a:pt x="0" y="55525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NL" sz="1400" b="1" noProof="0" dirty="0">
                <a:ln w="18415" cmpd="sng">
                  <a:prstDash val="solid"/>
                </a:ln>
                <a:solidFill>
                  <a:srgbClr val="054283"/>
                </a:solidFill>
                <a:latin typeface="Calibri" pitchFamily="34" charset="0"/>
                <a:cs typeface="Calibri" pitchFamily="34" charset="0"/>
              </a:rPr>
              <a:t>Increase revenue</a:t>
            </a:r>
          </a:p>
        </p:txBody>
      </p:sp>
      <p:sp>
        <p:nvSpPr>
          <p:cNvPr id="24" name="Freeform 23"/>
          <p:cNvSpPr/>
          <p:nvPr/>
        </p:nvSpPr>
        <p:spPr>
          <a:xfrm>
            <a:off x="3398034" y="1732304"/>
            <a:ext cx="4990496" cy="735112"/>
          </a:xfrm>
          <a:custGeom>
            <a:avLst/>
            <a:gdLst>
              <a:gd name="connsiteX0" fmla="*/ 0 w 2994542"/>
              <a:gd name="connsiteY0" fmla="*/ 0 h 653164"/>
              <a:gd name="connsiteX1" fmla="*/ 2994542 w 2994542"/>
              <a:gd name="connsiteY1" fmla="*/ 0 h 653164"/>
              <a:gd name="connsiteX2" fmla="*/ 2994542 w 2994542"/>
              <a:gd name="connsiteY2" fmla="*/ 653164 h 653164"/>
              <a:gd name="connsiteX3" fmla="*/ 0 w 2994542"/>
              <a:gd name="connsiteY3" fmla="*/ 653164 h 653164"/>
              <a:gd name="connsiteX4" fmla="*/ 0 w 2994542"/>
              <a:gd name="connsiteY4" fmla="*/ 0 h 653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4542" h="653164">
                <a:moveTo>
                  <a:pt x="0" y="0"/>
                </a:moveTo>
                <a:lnTo>
                  <a:pt x="2994542" y="0"/>
                </a:lnTo>
                <a:lnTo>
                  <a:pt x="2994542" y="653164"/>
                </a:lnTo>
                <a:lnTo>
                  <a:pt x="0" y="65316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NL" sz="1400" b="1" noProof="0" dirty="0">
                <a:ln w="18415" cmpd="sng">
                  <a:prstDash val="solid"/>
                </a:ln>
                <a:solidFill>
                  <a:srgbClr val="054283"/>
                </a:solidFill>
                <a:latin typeface="Calibri" pitchFamily="34" charset="0"/>
                <a:cs typeface="Calibri" pitchFamily="34" charset="0"/>
              </a:rPr>
              <a:t>Developed by seasoned industry experts</a:t>
            </a:r>
          </a:p>
        </p:txBody>
      </p:sp>
      <p:sp>
        <p:nvSpPr>
          <p:cNvPr id="25" name="Freeform 24"/>
          <p:cNvSpPr/>
          <p:nvPr/>
        </p:nvSpPr>
        <p:spPr>
          <a:xfrm>
            <a:off x="3398034" y="2668434"/>
            <a:ext cx="4990496" cy="735112"/>
          </a:xfrm>
          <a:custGeom>
            <a:avLst/>
            <a:gdLst>
              <a:gd name="connsiteX0" fmla="*/ 0 w 2994542"/>
              <a:gd name="connsiteY0" fmla="*/ 0 h 653164"/>
              <a:gd name="connsiteX1" fmla="*/ 2994542 w 2994542"/>
              <a:gd name="connsiteY1" fmla="*/ 0 h 653164"/>
              <a:gd name="connsiteX2" fmla="*/ 2994542 w 2994542"/>
              <a:gd name="connsiteY2" fmla="*/ 653164 h 653164"/>
              <a:gd name="connsiteX3" fmla="*/ 0 w 2994542"/>
              <a:gd name="connsiteY3" fmla="*/ 653164 h 653164"/>
              <a:gd name="connsiteX4" fmla="*/ 0 w 2994542"/>
              <a:gd name="connsiteY4" fmla="*/ 0 h 653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4542" h="653164">
                <a:moveTo>
                  <a:pt x="0" y="0"/>
                </a:moveTo>
                <a:lnTo>
                  <a:pt x="2994542" y="0"/>
                </a:lnTo>
                <a:lnTo>
                  <a:pt x="2994542" y="653164"/>
                </a:lnTo>
                <a:lnTo>
                  <a:pt x="0" y="65316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NL" sz="1400" b="1" noProof="0" dirty="0">
                <a:ln w="18415" cmpd="sng">
                  <a:prstDash val="solid"/>
                </a:ln>
                <a:solidFill>
                  <a:srgbClr val="054283"/>
                </a:solidFill>
                <a:latin typeface="Calibri" pitchFamily="34" charset="0"/>
                <a:cs typeface="Calibri" pitchFamily="34" charset="0"/>
              </a:rPr>
              <a:t>Trusted Transparent relationship</a:t>
            </a:r>
          </a:p>
          <a:p>
            <a:pPr algn="ctr"/>
            <a:endParaRPr lang="en-NL" sz="1200" b="1" noProof="0" dirty="0">
              <a:ln w="18415" cmpd="sng">
                <a:prstDash val="solid"/>
              </a:ln>
              <a:solidFill>
                <a:srgbClr val="054283"/>
              </a:solidFill>
              <a:latin typeface="Calibri" pitchFamily="34" charset="0"/>
              <a:cs typeface="Calibri" pitchFamily="34" charset="0"/>
            </a:endParaRPr>
          </a:p>
          <a:p>
            <a:pPr algn="ctr"/>
            <a:r>
              <a:rPr lang="en-NL" sz="1400" b="1" noProof="0" dirty="0">
                <a:ln w="18415" cmpd="sng">
                  <a:prstDash val="solid"/>
                </a:ln>
                <a:solidFill>
                  <a:srgbClr val="054283"/>
                </a:solidFill>
                <a:latin typeface="Calibri" pitchFamily="34" charset="0"/>
                <a:cs typeface="Calibri" pitchFamily="34" charset="0"/>
              </a:rPr>
              <a:t>Avoid transition costs</a:t>
            </a:r>
          </a:p>
        </p:txBody>
      </p:sp>
      <p:sp>
        <p:nvSpPr>
          <p:cNvPr id="26" name="Freeform 25"/>
          <p:cNvSpPr/>
          <p:nvPr/>
        </p:nvSpPr>
        <p:spPr>
          <a:xfrm>
            <a:off x="3398034" y="3604564"/>
            <a:ext cx="4990496" cy="735112"/>
          </a:xfrm>
          <a:custGeom>
            <a:avLst/>
            <a:gdLst>
              <a:gd name="connsiteX0" fmla="*/ 0 w 2994542"/>
              <a:gd name="connsiteY0" fmla="*/ 0 h 653164"/>
              <a:gd name="connsiteX1" fmla="*/ 2994542 w 2994542"/>
              <a:gd name="connsiteY1" fmla="*/ 0 h 653164"/>
              <a:gd name="connsiteX2" fmla="*/ 2994542 w 2994542"/>
              <a:gd name="connsiteY2" fmla="*/ 653164 h 653164"/>
              <a:gd name="connsiteX3" fmla="*/ 0 w 2994542"/>
              <a:gd name="connsiteY3" fmla="*/ 653164 h 653164"/>
              <a:gd name="connsiteX4" fmla="*/ 0 w 2994542"/>
              <a:gd name="connsiteY4" fmla="*/ 0 h 653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4542" h="653164">
                <a:moveTo>
                  <a:pt x="0" y="0"/>
                </a:moveTo>
                <a:lnTo>
                  <a:pt x="2994542" y="0"/>
                </a:lnTo>
                <a:lnTo>
                  <a:pt x="2994542" y="653164"/>
                </a:lnTo>
                <a:lnTo>
                  <a:pt x="0" y="65316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NL" sz="1400" b="1" noProof="0" dirty="0">
                <a:ln w="18415" cmpd="sng">
                  <a:prstDash val="solid"/>
                </a:ln>
                <a:solidFill>
                  <a:srgbClr val="054283"/>
                </a:solidFill>
                <a:latin typeface="Calibri" pitchFamily="34" charset="0"/>
                <a:cs typeface="Calibri" pitchFamily="34" charset="0"/>
              </a:rPr>
              <a:t>Pro-actively action commitments and avoid omissions</a:t>
            </a:r>
          </a:p>
        </p:txBody>
      </p:sp>
      <p:sp>
        <p:nvSpPr>
          <p:cNvPr id="45" name="Freeform 44"/>
          <p:cNvSpPr/>
          <p:nvPr/>
        </p:nvSpPr>
        <p:spPr>
          <a:xfrm>
            <a:off x="3398034" y="4566148"/>
            <a:ext cx="4990496" cy="735112"/>
          </a:xfrm>
          <a:custGeom>
            <a:avLst/>
            <a:gdLst>
              <a:gd name="connsiteX0" fmla="*/ 0 w 2994542"/>
              <a:gd name="connsiteY0" fmla="*/ 0 h 653164"/>
              <a:gd name="connsiteX1" fmla="*/ 2994542 w 2994542"/>
              <a:gd name="connsiteY1" fmla="*/ 0 h 653164"/>
              <a:gd name="connsiteX2" fmla="*/ 2994542 w 2994542"/>
              <a:gd name="connsiteY2" fmla="*/ 653164 h 653164"/>
              <a:gd name="connsiteX3" fmla="*/ 0 w 2994542"/>
              <a:gd name="connsiteY3" fmla="*/ 653164 h 653164"/>
              <a:gd name="connsiteX4" fmla="*/ 0 w 2994542"/>
              <a:gd name="connsiteY4" fmla="*/ 0 h 653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4542" h="653164">
                <a:moveTo>
                  <a:pt x="0" y="0"/>
                </a:moveTo>
                <a:lnTo>
                  <a:pt x="2994542" y="0"/>
                </a:lnTo>
                <a:lnTo>
                  <a:pt x="2994542" y="653164"/>
                </a:lnTo>
                <a:lnTo>
                  <a:pt x="0" y="653164"/>
                </a:lnTo>
                <a:lnTo>
                  <a:pt x="0" y="0"/>
                </a:lnTo>
                <a:close/>
              </a:path>
            </a:pathLst>
          </a:custGeom>
          <a:ln>
            <a:solidFill>
              <a:schemeClr val="bg1">
                <a:lumMod val="75000"/>
              </a:schemeClr>
            </a:solidFill>
          </a:ln>
          <a:effectLst>
            <a:innerShdw blurRad="114300">
              <a:prstClr val="black"/>
            </a:innerShdw>
          </a:effectLst>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rtlCol="0" anchor="ctr">
            <a:noAutofit/>
          </a:bodyPr>
          <a:lstStyle/>
          <a:p>
            <a:pPr algn="ctr"/>
            <a:r>
              <a:rPr lang="en-NL" sz="1400" b="1" noProof="0" dirty="0">
                <a:ln w="18415" cmpd="sng">
                  <a:prstDash val="solid"/>
                </a:ln>
                <a:solidFill>
                  <a:srgbClr val="054283"/>
                </a:solidFill>
                <a:latin typeface="Calibri" pitchFamily="34" charset="0"/>
                <a:cs typeface="Calibri" pitchFamily="34" charset="0"/>
              </a:rPr>
              <a:t>Growth of add-on business within the existing customer portfolio</a:t>
            </a:r>
          </a:p>
        </p:txBody>
      </p:sp>
      <p:pic>
        <p:nvPicPr>
          <p:cNvPr id="6" name="Picture 5">
            <a:extLst>
              <a:ext uri="{FF2B5EF4-FFF2-40B4-BE49-F238E27FC236}">
                <a16:creationId xmlns:a16="http://schemas.microsoft.com/office/drawing/2014/main" id="{1AD541A0-98D7-60E8-42FE-99F123D206EA}"/>
              </a:ext>
            </a:extLst>
          </p:cNvPr>
          <p:cNvPicPr>
            <a:picLocks noChangeAspect="1"/>
          </p:cNvPicPr>
          <p:nvPr/>
        </p:nvPicPr>
        <p:blipFill>
          <a:blip r:embed="rId2"/>
          <a:stretch>
            <a:fillRect/>
          </a:stretch>
        </p:blipFill>
        <p:spPr>
          <a:xfrm>
            <a:off x="1619590" y="187439"/>
            <a:ext cx="2242353" cy="691336"/>
          </a:xfrm>
          <a:prstGeom prst="rect">
            <a:avLst/>
          </a:prstGeom>
        </p:spPr>
      </p:pic>
      <p:sp>
        <p:nvSpPr>
          <p:cNvPr id="7" name="Date Placeholder 6">
            <a:extLst>
              <a:ext uri="{FF2B5EF4-FFF2-40B4-BE49-F238E27FC236}">
                <a16:creationId xmlns:a16="http://schemas.microsoft.com/office/drawing/2014/main" id="{D238E548-AB3C-31D9-35CA-D5B501145494}"/>
              </a:ext>
            </a:extLst>
          </p:cNvPr>
          <p:cNvSpPr>
            <a:spLocks noGrp="1"/>
          </p:cNvSpPr>
          <p:nvPr>
            <p:ph type="dt" sz="half" idx="2"/>
          </p:nvPr>
        </p:nvSpPr>
        <p:spPr/>
        <p:txBody>
          <a:bodyPr/>
          <a:lstStyle/>
          <a:p>
            <a:fld id="{AC3B164C-6B4F-4F5F-85D5-5D15146F3CB7}"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8" name="Footer Placeholder 7">
            <a:extLst>
              <a:ext uri="{FF2B5EF4-FFF2-40B4-BE49-F238E27FC236}">
                <a16:creationId xmlns:a16="http://schemas.microsoft.com/office/drawing/2014/main" id="{1679BF16-804D-51DA-EDDF-41BF186945B7}"/>
              </a:ext>
            </a:extLst>
          </p:cNvPr>
          <p:cNvSpPr>
            <a:spLocks noGrp="1"/>
          </p:cNvSpPr>
          <p:nvPr>
            <p:ph type="ftr" sz="quarter" idx="3"/>
          </p:nvPr>
        </p:nvSpPr>
        <p:spPr/>
        <p:txBody>
          <a:bodyPr/>
          <a:lstStyle/>
          <a:p>
            <a:pPr algn="l"/>
            <a:r>
              <a:rPr lang="en-US"/>
              <a:t>AI-Powered Contract Intelligence</a:t>
            </a:r>
            <a:endParaRPr lang="en-GB" i="1" dirty="0"/>
          </a:p>
        </p:txBody>
      </p:sp>
      <p:grpSp>
        <p:nvGrpSpPr>
          <p:cNvPr id="13" name="Group 12">
            <a:extLst>
              <a:ext uri="{FF2B5EF4-FFF2-40B4-BE49-F238E27FC236}">
                <a16:creationId xmlns:a16="http://schemas.microsoft.com/office/drawing/2014/main" id="{E6CC1643-DE31-A66D-1CA8-6B8D9C0DB618}"/>
              </a:ext>
            </a:extLst>
          </p:cNvPr>
          <p:cNvGrpSpPr/>
          <p:nvPr/>
        </p:nvGrpSpPr>
        <p:grpSpPr>
          <a:xfrm>
            <a:off x="3231882" y="5712097"/>
            <a:ext cx="2743200" cy="390906"/>
            <a:chOff x="3341370" y="5707380"/>
            <a:chExt cx="2743200" cy="390906"/>
          </a:xfrm>
        </p:grpSpPr>
        <p:sp>
          <p:nvSpPr>
            <p:cNvPr id="11" name="Rounded Rectangle 29">
              <a:extLst>
                <a:ext uri="{FF2B5EF4-FFF2-40B4-BE49-F238E27FC236}">
                  <a16:creationId xmlns:a16="http://schemas.microsoft.com/office/drawing/2014/main" id="{674D641A-F269-4AAD-4B8B-67AED6F118A4}"/>
                </a:ext>
              </a:extLst>
            </p:cNvPr>
            <p:cNvSpPr/>
            <p:nvPr/>
          </p:nvSpPr>
          <p:spPr>
            <a:xfrm>
              <a:off x="3341370" y="5707380"/>
              <a:ext cx="2743200" cy="377190"/>
            </a:xfrm>
            <a:prstGeom prst="roundRect">
              <a:avLst/>
            </a:prstGeom>
            <a:solidFill>
              <a:srgbClr val="EA760D"/>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a:extLst>
                <a:ext uri="{FF2B5EF4-FFF2-40B4-BE49-F238E27FC236}">
                  <a16:creationId xmlns:a16="http://schemas.microsoft.com/office/drawing/2014/main" id="{A9FBA106-594B-81CD-2362-C699BF67BE5F}"/>
                </a:ext>
              </a:extLst>
            </p:cNvPr>
            <p:cNvSpPr txBox="1"/>
            <p:nvPr/>
          </p:nvSpPr>
          <p:spPr>
            <a:xfrm>
              <a:off x="3341370" y="5721096"/>
              <a:ext cx="2743200" cy="377190"/>
            </a:xfrm>
            <a:prstGeom prst="rect">
              <a:avLst/>
            </a:prstGeom>
            <a:noFill/>
          </p:spPr>
          <p:txBody>
            <a:bodyPr wrap="square"/>
            <a:lstStyle/>
            <a:p>
              <a:pPr algn="ctr">
                <a:defRPr sz="1800" b="1">
                  <a:solidFill>
                    <a:srgbClr val="FFFFFF"/>
                  </a:solidFill>
                  <a:latin typeface="Calibri"/>
                </a:defRPr>
              </a:pPr>
              <a:r>
                <a:rPr sz="1350" dirty="0"/>
                <a:t>Let’s schedule a live </a:t>
              </a:r>
              <a:r>
                <a:rPr lang="nl-NL" sz="1350" dirty="0" err="1">
                  <a:hlinkClick r:id="rId3"/>
                </a:rPr>
                <a:t>Goto</a:t>
              </a:r>
              <a:r>
                <a:rPr lang="nl-NL" sz="1350" dirty="0">
                  <a:hlinkClick r:id="rId3"/>
                </a:rPr>
                <a:t> Login</a:t>
              </a:r>
              <a:r>
                <a:rPr sz="1350" dirty="0"/>
                <a:t>  →</a:t>
              </a:r>
            </a:p>
          </p:txBody>
        </p:sp>
      </p:grpSp>
    </p:spTree>
    <p:extLst>
      <p:ext uri="{BB962C8B-B14F-4D97-AF65-F5344CB8AC3E}">
        <p14:creationId xmlns:p14="http://schemas.microsoft.com/office/powerpoint/2010/main" val="1280503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sz="2400" dirty="0">
                <a:solidFill>
                  <a:srgbClr val="054283"/>
                </a:solidFill>
              </a:rPr>
              <a:t>Contact</a:t>
            </a:r>
          </a:p>
        </p:txBody>
      </p:sp>
      <p:sp>
        <p:nvSpPr>
          <p:cNvPr id="6" name="TextBox 5"/>
          <p:cNvSpPr txBox="1"/>
          <p:nvPr/>
        </p:nvSpPr>
        <p:spPr>
          <a:xfrm>
            <a:off x="261257" y="2416629"/>
            <a:ext cx="184731" cy="646331"/>
          </a:xfrm>
          <a:prstGeom prst="rect">
            <a:avLst/>
          </a:prstGeom>
          <a:noFill/>
        </p:spPr>
        <p:txBody>
          <a:bodyPr wrap="none" rtlCol="0">
            <a:spAutoFit/>
          </a:bodyPr>
          <a:lstStyle/>
          <a:p>
            <a:endParaRPr lang="nl-NL" dirty="0"/>
          </a:p>
        </p:txBody>
      </p:sp>
      <p:sp>
        <p:nvSpPr>
          <p:cNvPr id="8" name="Rectangle 7"/>
          <p:cNvSpPr/>
          <p:nvPr/>
        </p:nvSpPr>
        <p:spPr>
          <a:xfrm>
            <a:off x="436664" y="2477226"/>
            <a:ext cx="3847296" cy="2169825"/>
          </a:xfrm>
          <a:prstGeom prst="rect">
            <a:avLst/>
          </a:prstGeom>
        </p:spPr>
        <p:txBody>
          <a:bodyPr wrap="square">
            <a:spAutoFit/>
          </a:bodyPr>
          <a:lstStyle/>
          <a:p>
            <a:r>
              <a:rPr lang="en-US" sz="1200" b="1" i="1" dirty="0">
                <a:solidFill>
                  <a:srgbClr val="054283"/>
                </a:solidFill>
              </a:rPr>
              <a:t>Steven  Visser</a:t>
            </a:r>
          </a:p>
          <a:p>
            <a:r>
              <a:rPr lang="en-US" sz="1200" i="1" dirty="0">
                <a:solidFill>
                  <a:srgbClr val="054283"/>
                </a:solidFill>
              </a:rPr>
              <a:t>Managing Partner - </a:t>
            </a:r>
            <a:r>
              <a:rPr lang="en-US" sz="1200" i="1" dirty="0" err="1">
                <a:solidFill>
                  <a:srgbClr val="054283"/>
                </a:solidFill>
              </a:rPr>
              <a:t>Evaluetor</a:t>
            </a:r>
            <a:r>
              <a:rPr lang="en-US" sz="1200" i="1" baseline="50000" dirty="0" err="1">
                <a:solidFill>
                  <a:srgbClr val="054283"/>
                </a:solidFill>
              </a:rPr>
              <a:t>©</a:t>
            </a:r>
            <a:r>
              <a:rPr lang="en-US" sz="1200" i="1" dirty="0" err="1">
                <a:solidFill>
                  <a:srgbClr val="054283"/>
                </a:solidFill>
              </a:rPr>
              <a:t>AI</a:t>
            </a:r>
            <a:endParaRPr lang="en-US" sz="1200" i="1" dirty="0">
              <a:solidFill>
                <a:srgbClr val="054283"/>
              </a:solidFill>
            </a:endParaRPr>
          </a:p>
          <a:p>
            <a:br>
              <a:rPr lang="en-US" sz="1200" b="1" i="1" dirty="0">
                <a:solidFill>
                  <a:srgbClr val="054283"/>
                </a:solidFill>
              </a:rPr>
            </a:br>
            <a:r>
              <a:rPr lang="nl-NL" sz="1100" i="1" noProof="0" dirty="0">
                <a:solidFill>
                  <a:srgbClr val="054283"/>
                </a:solidFill>
              </a:rPr>
              <a:t>Burgemeester</a:t>
            </a:r>
            <a:r>
              <a:rPr lang="en-US" sz="1100" i="1" dirty="0">
                <a:solidFill>
                  <a:srgbClr val="054283"/>
                </a:solidFill>
              </a:rPr>
              <a:t> Le Fevre de Montignylaan 264</a:t>
            </a:r>
            <a:br>
              <a:rPr lang="en-US" sz="1100" i="1" dirty="0">
                <a:solidFill>
                  <a:srgbClr val="054283"/>
                </a:solidFill>
              </a:rPr>
            </a:br>
            <a:r>
              <a:rPr lang="en-US" sz="1100" i="1" dirty="0">
                <a:solidFill>
                  <a:srgbClr val="054283"/>
                </a:solidFill>
              </a:rPr>
              <a:t>3055 NK Rotterdam</a:t>
            </a:r>
          </a:p>
          <a:p>
            <a:r>
              <a:rPr lang="en-US" sz="1100" i="1" dirty="0">
                <a:solidFill>
                  <a:srgbClr val="054283"/>
                </a:solidFill>
              </a:rPr>
              <a:t>The Netherlands</a:t>
            </a:r>
            <a:br>
              <a:rPr lang="en-US" sz="1100" i="1" dirty="0">
                <a:solidFill>
                  <a:srgbClr val="054283"/>
                </a:solidFill>
              </a:rPr>
            </a:br>
            <a:br>
              <a:rPr lang="en-US" sz="1100" i="1" dirty="0">
                <a:solidFill>
                  <a:srgbClr val="054283"/>
                </a:solidFill>
              </a:rPr>
            </a:br>
            <a:r>
              <a:rPr lang="en-US" sz="1100" i="1" dirty="0">
                <a:solidFill>
                  <a:srgbClr val="054283"/>
                </a:solidFill>
              </a:rPr>
              <a:t>Mobile: +31 (0) 631003495</a:t>
            </a:r>
            <a:br>
              <a:rPr lang="en-US" sz="1100" dirty="0">
                <a:solidFill>
                  <a:srgbClr val="054283"/>
                </a:solidFill>
              </a:rPr>
            </a:br>
            <a:br>
              <a:rPr lang="en-US" sz="1100" i="1" dirty="0">
                <a:solidFill>
                  <a:srgbClr val="054283"/>
                </a:solidFill>
              </a:rPr>
            </a:br>
            <a:r>
              <a:rPr lang="en-US" sz="1100" i="1" u="sng" dirty="0">
                <a:solidFill>
                  <a:srgbClr val="054283"/>
                </a:solidFill>
                <a:hlinkClick r:id="rId3">
                  <a:extLst>
                    <a:ext uri="{A12FA001-AC4F-418D-AE19-62706E023703}">
                      <ahyp:hlinkClr xmlns:ahyp="http://schemas.microsoft.com/office/drawing/2018/hyperlinkcolor" val="tx"/>
                    </a:ext>
                  </a:extLst>
                </a:hlinkClick>
              </a:rPr>
              <a:t>Steven.Visser@</a:t>
            </a:r>
            <a:r>
              <a:rPr lang="en-US" sz="1100" i="1" u="sng" dirty="0">
                <a:solidFill>
                  <a:srgbClr val="054283"/>
                </a:solidFill>
              </a:rPr>
              <a:t>Evaluetor.com</a:t>
            </a:r>
            <a:br>
              <a:rPr lang="en-US" sz="1100" i="1" dirty="0">
                <a:solidFill>
                  <a:srgbClr val="054283"/>
                </a:solidFill>
              </a:rPr>
            </a:br>
            <a:r>
              <a:rPr lang="en-US" sz="1100" i="1" u="sng" dirty="0">
                <a:solidFill>
                  <a:srgbClr val="054283"/>
                </a:solidFill>
                <a:hlinkClick r:id="rId4">
                  <a:extLst>
                    <a:ext uri="{A12FA001-AC4F-418D-AE19-62706E023703}">
                      <ahyp:hlinkClr xmlns:ahyp="http://schemas.microsoft.com/office/drawing/2018/hyperlinkcolor" val="tx"/>
                    </a:ext>
                  </a:extLst>
                </a:hlinkClick>
              </a:rPr>
              <a:t>www.Evaluetor.com</a:t>
            </a:r>
            <a:r>
              <a:rPr lang="en-US" sz="1100" i="1" dirty="0">
                <a:solidFill>
                  <a:srgbClr val="054283"/>
                </a:solidFill>
              </a:rPr>
              <a:t> </a:t>
            </a:r>
            <a:br>
              <a:rPr lang="en-US" sz="1100" i="1" dirty="0">
                <a:solidFill>
                  <a:srgbClr val="054283"/>
                </a:solidFill>
              </a:rPr>
            </a:br>
            <a:endParaRPr lang="nl-NL" sz="1100" dirty="0">
              <a:solidFill>
                <a:srgbClr val="054283"/>
              </a:solidFill>
            </a:endParaRPr>
          </a:p>
        </p:txBody>
      </p:sp>
      <p:sp>
        <p:nvSpPr>
          <p:cNvPr id="10" name="Rectangle 9"/>
          <p:cNvSpPr/>
          <p:nvPr/>
        </p:nvSpPr>
        <p:spPr bwMode="auto">
          <a:xfrm>
            <a:off x="3951514" y="1970314"/>
            <a:ext cx="914400" cy="9144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nl-NL" sz="4400" b="0" i="0" u="none" strike="noStrike" cap="none" normalizeH="0" baseline="0" dirty="0">
              <a:ln>
                <a:noFill/>
              </a:ln>
              <a:solidFill>
                <a:schemeClr val="tx2"/>
              </a:solidFill>
              <a:effectLst/>
              <a:latin typeface="Verdana" pitchFamily="34" charset="0"/>
              <a:cs typeface="Arial" charset="0"/>
            </a:endParaRPr>
          </a:p>
        </p:txBody>
      </p:sp>
      <p:sp>
        <p:nvSpPr>
          <p:cNvPr id="4" name="Date Placeholder 3">
            <a:extLst>
              <a:ext uri="{FF2B5EF4-FFF2-40B4-BE49-F238E27FC236}">
                <a16:creationId xmlns:a16="http://schemas.microsoft.com/office/drawing/2014/main" id="{62134B4E-C0AE-2C6E-1252-41842B8C85E4}"/>
              </a:ext>
            </a:extLst>
          </p:cNvPr>
          <p:cNvSpPr>
            <a:spLocks noGrp="1"/>
          </p:cNvSpPr>
          <p:nvPr>
            <p:ph type="dt" sz="half" idx="2"/>
          </p:nvPr>
        </p:nvSpPr>
        <p:spPr/>
        <p:txBody>
          <a:bodyPr/>
          <a:lstStyle/>
          <a:p>
            <a:fld id="{F628D13A-66B7-4D35-8B3C-20FA074BEE61}"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5" name="Footer Placeholder 4">
            <a:extLst>
              <a:ext uri="{FF2B5EF4-FFF2-40B4-BE49-F238E27FC236}">
                <a16:creationId xmlns:a16="http://schemas.microsoft.com/office/drawing/2014/main" id="{3E8AE84F-9C85-4522-332A-8A8901FCF6D2}"/>
              </a:ext>
            </a:extLst>
          </p:cNvPr>
          <p:cNvSpPr>
            <a:spLocks noGrp="1"/>
          </p:cNvSpPr>
          <p:nvPr>
            <p:ph type="ftr" sz="quarter" idx="3"/>
          </p:nvPr>
        </p:nvSpPr>
        <p:spPr/>
        <p:txBody>
          <a:bodyPr/>
          <a:lstStyle/>
          <a:p>
            <a:pPr algn="l"/>
            <a:r>
              <a:rPr lang="en-US"/>
              <a:t>AI-Powered Contract Intelligence</a:t>
            </a:r>
            <a:endParaRPr lang="en-GB" i="1" dirty="0"/>
          </a:p>
        </p:txBody>
      </p:sp>
      <p:grpSp>
        <p:nvGrpSpPr>
          <p:cNvPr id="14" name="Group 13">
            <a:extLst>
              <a:ext uri="{FF2B5EF4-FFF2-40B4-BE49-F238E27FC236}">
                <a16:creationId xmlns:a16="http://schemas.microsoft.com/office/drawing/2014/main" id="{B622CE25-445F-F29A-33E0-62CD8AB66A69}"/>
              </a:ext>
            </a:extLst>
          </p:cNvPr>
          <p:cNvGrpSpPr/>
          <p:nvPr/>
        </p:nvGrpSpPr>
        <p:grpSpPr>
          <a:xfrm>
            <a:off x="5292100" y="2204830"/>
            <a:ext cx="2714616" cy="2714616"/>
            <a:chOff x="5068867" y="2568559"/>
            <a:chExt cx="2714616" cy="2714616"/>
          </a:xfrm>
        </p:grpSpPr>
        <p:pic>
          <p:nvPicPr>
            <p:cNvPr id="9" name="Picture 8">
              <a:extLst>
                <a:ext uri="{FF2B5EF4-FFF2-40B4-BE49-F238E27FC236}">
                  <a16:creationId xmlns:a16="http://schemas.microsoft.com/office/drawing/2014/main" id="{7B265164-08CB-0650-C2E5-664859608A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8867" y="2568559"/>
              <a:ext cx="2714616" cy="2714616"/>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a:effectLst>
              <a:softEdge rad="12700"/>
            </a:effectLst>
          </p:spPr>
        </p:pic>
        <p:pic>
          <p:nvPicPr>
            <p:cNvPr id="13" name="Picture 12">
              <a:extLst>
                <a:ext uri="{FF2B5EF4-FFF2-40B4-BE49-F238E27FC236}">
                  <a16:creationId xmlns:a16="http://schemas.microsoft.com/office/drawing/2014/main" id="{C42CFE35-AD17-E78C-F335-57ABC246B386}"/>
                </a:ext>
              </a:extLst>
            </p:cNvPr>
            <p:cNvPicPr>
              <a:picLocks noChangeAspect="1"/>
            </p:cNvPicPr>
            <p:nvPr/>
          </p:nvPicPr>
          <p:blipFill>
            <a:blip r:embed="rId6"/>
            <a:stretch>
              <a:fillRect/>
            </a:stretch>
          </p:blipFill>
          <p:spPr>
            <a:xfrm>
              <a:off x="5718095" y="3320453"/>
              <a:ext cx="1416159" cy="1416159"/>
            </a:xfrm>
            <a:prstGeom prst="ellipse">
              <a:avLst/>
            </a:prstGeom>
            <a:ln>
              <a:noFill/>
            </a:ln>
            <a:effectLst>
              <a:softEdge rad="112500"/>
            </a:effectLst>
          </p:spPr>
        </p:pic>
      </p:grpSp>
    </p:spTree>
    <p:extLst>
      <p:ext uri="{BB962C8B-B14F-4D97-AF65-F5344CB8AC3E}">
        <p14:creationId xmlns:p14="http://schemas.microsoft.com/office/powerpoint/2010/main" val="4047426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43E9D-78CC-4005-DE72-5B49DEEFB8F1}"/>
              </a:ext>
            </a:extLst>
          </p:cNvPr>
          <p:cNvSpPr>
            <a:spLocks noGrp="1"/>
          </p:cNvSpPr>
          <p:nvPr>
            <p:ph type="title"/>
          </p:nvPr>
        </p:nvSpPr>
        <p:spPr/>
        <p:txBody>
          <a:bodyPr anchor="ctr"/>
          <a:lstStyle/>
          <a:p>
            <a:r>
              <a:rPr lang="nl-NL" sz="2400" dirty="0">
                <a:solidFill>
                  <a:srgbClr val="054283"/>
                </a:solidFill>
              </a:rPr>
              <a:t>AI-native. </a:t>
            </a:r>
            <a:br>
              <a:rPr lang="nl-NL" sz="2400" dirty="0">
                <a:solidFill>
                  <a:srgbClr val="054283"/>
                </a:solidFill>
              </a:rPr>
            </a:br>
            <a:r>
              <a:rPr lang="nl-NL" sz="2400" dirty="0" err="1">
                <a:solidFill>
                  <a:srgbClr val="054283"/>
                </a:solidFill>
              </a:rPr>
              <a:t>Not</a:t>
            </a:r>
            <a:r>
              <a:rPr lang="nl-NL" sz="2400" dirty="0">
                <a:solidFill>
                  <a:srgbClr val="054283"/>
                </a:solidFill>
              </a:rPr>
              <a:t> AI-</a:t>
            </a:r>
            <a:r>
              <a:rPr lang="nl-NL" sz="2400" dirty="0" err="1">
                <a:solidFill>
                  <a:srgbClr val="054283"/>
                </a:solidFill>
              </a:rPr>
              <a:t>bolted</a:t>
            </a:r>
            <a:r>
              <a:rPr lang="nl-NL" sz="2400" dirty="0">
                <a:solidFill>
                  <a:srgbClr val="054283"/>
                </a:solidFill>
              </a:rPr>
              <a:t>-on.</a:t>
            </a:r>
            <a:endParaRPr lang="en-GB" sz="2400" dirty="0">
              <a:solidFill>
                <a:srgbClr val="054283"/>
              </a:solidFill>
            </a:endParaRPr>
          </a:p>
        </p:txBody>
      </p:sp>
      <p:sp>
        <p:nvSpPr>
          <p:cNvPr id="5" name="TextBox 4">
            <a:extLst>
              <a:ext uri="{FF2B5EF4-FFF2-40B4-BE49-F238E27FC236}">
                <a16:creationId xmlns:a16="http://schemas.microsoft.com/office/drawing/2014/main" id="{808CC732-4F54-CDEF-5D3D-493E9A4B76A9}"/>
              </a:ext>
            </a:extLst>
          </p:cNvPr>
          <p:cNvSpPr txBox="1"/>
          <p:nvPr/>
        </p:nvSpPr>
        <p:spPr>
          <a:xfrm>
            <a:off x="548640" y="1240682"/>
            <a:ext cx="8132223" cy="1108168"/>
          </a:xfrm>
          <a:prstGeom prst="rect">
            <a:avLst/>
          </a:prstGeom>
        </p:spPr>
        <p:style>
          <a:lnRef idx="3">
            <a:schemeClr val="lt1"/>
          </a:lnRef>
          <a:fillRef idx="1">
            <a:schemeClr val="accent3"/>
          </a:fillRef>
          <a:effectRef idx="1">
            <a:schemeClr val="accent3"/>
          </a:effectRef>
          <a:fontRef idx="minor">
            <a:schemeClr val="lt1"/>
          </a:fontRef>
        </p:style>
        <p:txBody>
          <a:bodyPr wrap="square"/>
          <a:lstStyle>
            <a:defPPr>
              <a:defRPr lang="nl-NL"/>
            </a:defPPr>
            <a:lvl1pPr algn="ctr">
              <a:defRPr sz="1800" b="0">
                <a:solidFill>
                  <a:srgbClr val="054283"/>
                </a:solidFill>
                <a:latin typeface="Calibri"/>
                <a:cs typeface="+mn-cs"/>
              </a:defRPr>
            </a:lvl1pPr>
            <a:lvl2pPr>
              <a:defRPr>
                <a:solidFill>
                  <a:schemeClr val="lt1"/>
                </a:solidFill>
                <a:latin typeface="+mn-lt"/>
                <a:cs typeface="+mn-cs"/>
              </a:defRPr>
            </a:lvl2pPr>
            <a:lvl3pPr>
              <a:defRPr>
                <a:solidFill>
                  <a:schemeClr val="lt1"/>
                </a:solidFill>
                <a:latin typeface="+mn-lt"/>
                <a:cs typeface="+mn-cs"/>
              </a:defRPr>
            </a:lvl3pPr>
            <a:lvl4pPr>
              <a:defRPr>
                <a:solidFill>
                  <a:schemeClr val="lt1"/>
                </a:solidFill>
                <a:latin typeface="+mn-lt"/>
                <a:cs typeface="+mn-cs"/>
              </a:defRPr>
            </a:lvl4pPr>
            <a:lvl5pPr>
              <a:defRPr>
                <a:solidFill>
                  <a:schemeClr val="lt1"/>
                </a:solidFill>
                <a:latin typeface="+mn-lt"/>
                <a:cs typeface="+mn-cs"/>
              </a:defRPr>
            </a:lvl5pPr>
            <a:lvl6pPr>
              <a:defRPr>
                <a:solidFill>
                  <a:schemeClr val="lt1"/>
                </a:solidFill>
                <a:latin typeface="+mn-lt"/>
                <a:cs typeface="+mn-cs"/>
              </a:defRPr>
            </a:lvl6pPr>
            <a:lvl7pPr>
              <a:defRPr>
                <a:solidFill>
                  <a:schemeClr val="lt1"/>
                </a:solidFill>
                <a:latin typeface="+mn-lt"/>
                <a:cs typeface="+mn-cs"/>
              </a:defRPr>
            </a:lvl7pPr>
            <a:lvl8pPr>
              <a:defRPr>
                <a:solidFill>
                  <a:schemeClr val="lt1"/>
                </a:solidFill>
                <a:latin typeface="+mn-lt"/>
                <a:cs typeface="+mn-cs"/>
              </a:defRPr>
            </a:lvl8pPr>
            <a:lvl9pPr>
              <a:defRPr>
                <a:solidFill>
                  <a:schemeClr val="lt1"/>
                </a:solidFill>
                <a:latin typeface="+mn-lt"/>
                <a:cs typeface="+mn-cs"/>
              </a:defRPr>
            </a:lvl9pPr>
          </a:lstStyle>
          <a:p>
            <a:r>
              <a:rPr sz="2400" dirty="0"/>
              <a:t>Legacy CLM tools added AI as an afterthought.</a:t>
            </a:r>
            <a:endParaRPr lang="nl-NL" sz="2400" dirty="0"/>
          </a:p>
          <a:p>
            <a:r>
              <a:rPr sz="2400" dirty="0"/>
              <a:t> </a:t>
            </a:r>
            <a:endParaRPr lang="nl-NL" sz="2400" dirty="0"/>
          </a:p>
          <a:p>
            <a:r>
              <a:rPr sz="2400" dirty="0"/>
              <a:t>We built intelligence into the foundation.</a:t>
            </a:r>
          </a:p>
        </p:txBody>
      </p:sp>
      <p:graphicFrame>
        <p:nvGraphicFramePr>
          <p:cNvPr id="6" name="Table 5">
            <a:extLst>
              <a:ext uri="{FF2B5EF4-FFF2-40B4-BE49-F238E27FC236}">
                <a16:creationId xmlns:a16="http://schemas.microsoft.com/office/drawing/2014/main" id="{D7FC42D7-B789-7121-3902-D65F8F50A44C}"/>
              </a:ext>
            </a:extLst>
          </p:cNvPr>
          <p:cNvGraphicFramePr>
            <a:graphicFrameLocks noGrp="1"/>
          </p:cNvGraphicFramePr>
          <p:nvPr>
            <p:extLst>
              <p:ext uri="{D42A27DB-BD31-4B8C-83A1-F6EECF244321}">
                <p14:modId xmlns:p14="http://schemas.microsoft.com/office/powerpoint/2010/main" val="1691828363"/>
              </p:ext>
            </p:extLst>
          </p:nvPr>
        </p:nvGraphicFramePr>
        <p:xfrm>
          <a:off x="548640" y="2640330"/>
          <a:ext cx="8229600" cy="329184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577340">
                  <a:extLst>
                    <a:ext uri="{9D8B030D-6E8A-4147-A177-3AD203B41FA5}">
                      <a16:colId xmlns:a16="http://schemas.microsoft.com/office/drawing/2014/main" val="20001"/>
                    </a:ext>
                  </a:extLst>
                </a:gridCol>
                <a:gridCol w="1577340">
                  <a:extLst>
                    <a:ext uri="{9D8B030D-6E8A-4147-A177-3AD203B41FA5}">
                      <a16:colId xmlns:a16="http://schemas.microsoft.com/office/drawing/2014/main" val="20002"/>
                    </a:ext>
                  </a:extLst>
                </a:gridCol>
                <a:gridCol w="1577340">
                  <a:extLst>
                    <a:ext uri="{9D8B030D-6E8A-4147-A177-3AD203B41FA5}">
                      <a16:colId xmlns:a16="http://schemas.microsoft.com/office/drawing/2014/main" val="20003"/>
                    </a:ext>
                  </a:extLst>
                </a:gridCol>
                <a:gridCol w="1577340">
                  <a:extLst>
                    <a:ext uri="{9D8B030D-6E8A-4147-A177-3AD203B41FA5}">
                      <a16:colId xmlns:a16="http://schemas.microsoft.com/office/drawing/2014/main" val="20004"/>
                    </a:ext>
                  </a:extLst>
                </a:gridCol>
              </a:tblGrid>
              <a:tr h="365760">
                <a:tc>
                  <a:txBody>
                    <a:bodyPr/>
                    <a:lstStyle/>
                    <a:p>
                      <a:pPr algn="l">
                        <a:defRPr sz="1300" b="1">
                          <a:solidFill>
                            <a:srgbClr val="6B7280"/>
                          </a:solidFill>
                          <a:latin typeface="Calibri"/>
                        </a:defRPr>
                      </a:pPr>
                      <a:r>
                        <a:rPr sz="1000"/>
                        <a:t>Capability</a:t>
                      </a:r>
                    </a:p>
                  </a:txBody>
                  <a:tcPr marL="68580" marR="68580" marT="34290" marB="34290">
                    <a:solidFill>
                      <a:srgbClr val="F3F4F6"/>
                    </a:solidFill>
                  </a:tcPr>
                </a:tc>
                <a:tc>
                  <a:txBody>
                    <a:bodyPr/>
                    <a:lstStyle/>
                    <a:p>
                      <a:pPr algn="ctr">
                        <a:defRPr sz="1300" b="1">
                          <a:solidFill>
                            <a:srgbClr val="EA760D"/>
                          </a:solidFill>
                          <a:latin typeface="Calibri"/>
                        </a:defRPr>
                      </a:pPr>
                      <a:r>
                        <a:rPr sz="1000" dirty="0">
                          <a:solidFill>
                            <a:srgbClr val="FF0000"/>
                          </a:solidFill>
                        </a:rPr>
                        <a:t>Evaluetor</a:t>
                      </a:r>
                    </a:p>
                  </a:txBody>
                  <a:tcPr marL="68580" marR="68580" marT="34290" marB="34290">
                    <a:solidFill>
                      <a:srgbClr val="F3F4F6"/>
                    </a:solidFill>
                  </a:tcPr>
                </a:tc>
                <a:tc>
                  <a:txBody>
                    <a:bodyPr/>
                    <a:lstStyle/>
                    <a:p>
                      <a:pPr algn="ctr">
                        <a:defRPr sz="1300" b="1">
                          <a:solidFill>
                            <a:srgbClr val="6B7280"/>
                          </a:solidFill>
                          <a:latin typeface="Calibri"/>
                        </a:defRPr>
                      </a:pPr>
                      <a:r>
                        <a:rPr sz="1000"/>
                        <a:t>DocuSign CLM</a:t>
                      </a:r>
                    </a:p>
                  </a:txBody>
                  <a:tcPr marL="68580" marR="68580" marT="34290" marB="34290">
                    <a:solidFill>
                      <a:srgbClr val="F3F4F6"/>
                    </a:solidFill>
                  </a:tcPr>
                </a:tc>
                <a:tc>
                  <a:txBody>
                    <a:bodyPr/>
                    <a:lstStyle/>
                    <a:p>
                      <a:pPr algn="ctr">
                        <a:defRPr sz="1300" b="1">
                          <a:solidFill>
                            <a:srgbClr val="6B7280"/>
                          </a:solidFill>
                          <a:latin typeface="Calibri"/>
                        </a:defRPr>
                      </a:pPr>
                      <a:r>
                        <a:rPr sz="1000"/>
                        <a:t>Icertis</a:t>
                      </a:r>
                    </a:p>
                  </a:txBody>
                  <a:tcPr marL="68580" marR="68580" marT="34290" marB="34290">
                    <a:solidFill>
                      <a:srgbClr val="F3F4F6"/>
                    </a:solidFill>
                  </a:tcPr>
                </a:tc>
                <a:tc>
                  <a:txBody>
                    <a:bodyPr/>
                    <a:lstStyle/>
                    <a:p>
                      <a:pPr algn="ctr">
                        <a:defRPr sz="1300" b="1">
                          <a:solidFill>
                            <a:srgbClr val="6B7280"/>
                          </a:solidFill>
                          <a:latin typeface="Calibri"/>
                        </a:defRPr>
                      </a:pPr>
                      <a:r>
                        <a:rPr sz="1000"/>
                        <a:t>Ironclad</a:t>
                      </a:r>
                    </a:p>
                  </a:txBody>
                  <a:tcPr marL="68580" marR="68580" marT="34290" marB="34290">
                    <a:solidFill>
                      <a:srgbClr val="F3F4F6"/>
                    </a:solidFill>
                  </a:tcPr>
                </a:tc>
                <a:extLst>
                  <a:ext uri="{0D108BD9-81ED-4DB2-BD59-A6C34878D82A}">
                    <a16:rowId xmlns:a16="http://schemas.microsoft.com/office/drawing/2014/main" val="10000"/>
                  </a:ext>
                </a:extLst>
              </a:tr>
              <a:tr h="365760">
                <a:tc>
                  <a:txBody>
                    <a:bodyPr/>
                    <a:lstStyle/>
                    <a:p>
                      <a:pPr algn="l">
                        <a:defRPr sz="1300" b="0">
                          <a:solidFill>
                            <a:srgbClr val="374151"/>
                          </a:solidFill>
                          <a:latin typeface="Calibri"/>
                        </a:defRPr>
                      </a:pPr>
                      <a:r>
                        <a:rPr sz="1000"/>
                        <a:t>Time to Value</a:t>
                      </a:r>
                    </a:p>
                  </a:txBody>
                  <a:tcPr marL="68580" marR="68580" marT="34290" marB="34290">
                    <a:solidFill>
                      <a:srgbClr val="F9FAFB"/>
                    </a:solidFill>
                  </a:tcPr>
                </a:tc>
                <a:tc>
                  <a:txBody>
                    <a:bodyPr/>
                    <a:lstStyle/>
                    <a:p>
                      <a:pPr algn="ctr">
                        <a:defRPr sz="1300" b="1">
                          <a:solidFill>
                            <a:srgbClr val="EA760D"/>
                          </a:solidFill>
                          <a:latin typeface="Calibri"/>
                        </a:defRPr>
                      </a:pPr>
                      <a:r>
                        <a:rPr sz="1000" dirty="0">
                          <a:solidFill>
                            <a:srgbClr val="FF0000"/>
                          </a:solidFill>
                        </a:rPr>
                        <a:t>Hours</a:t>
                      </a:r>
                    </a:p>
                  </a:txBody>
                  <a:tcPr marL="68580" marR="68580" marT="34290" marB="34290">
                    <a:solidFill>
                      <a:srgbClr val="F9FAFB"/>
                    </a:solidFill>
                  </a:tcPr>
                </a:tc>
                <a:tc>
                  <a:txBody>
                    <a:bodyPr/>
                    <a:lstStyle/>
                    <a:p>
                      <a:pPr algn="ctr">
                        <a:defRPr sz="1300" b="0">
                          <a:solidFill>
                            <a:srgbClr val="6B7280"/>
                          </a:solidFill>
                          <a:latin typeface="Calibri"/>
                        </a:defRPr>
                      </a:pPr>
                      <a:r>
                        <a:rPr sz="1000"/>
                        <a:t>6–12 months</a:t>
                      </a:r>
                    </a:p>
                  </a:txBody>
                  <a:tcPr marL="68580" marR="68580" marT="34290" marB="34290">
                    <a:solidFill>
                      <a:srgbClr val="F9FAFB"/>
                    </a:solidFill>
                  </a:tcPr>
                </a:tc>
                <a:tc>
                  <a:txBody>
                    <a:bodyPr/>
                    <a:lstStyle/>
                    <a:p>
                      <a:pPr algn="ctr">
                        <a:defRPr sz="1300" b="0">
                          <a:solidFill>
                            <a:srgbClr val="6B7280"/>
                          </a:solidFill>
                          <a:latin typeface="Calibri"/>
                        </a:defRPr>
                      </a:pPr>
                      <a:r>
                        <a:rPr sz="1000"/>
                        <a:t>12–18 months</a:t>
                      </a:r>
                    </a:p>
                  </a:txBody>
                  <a:tcPr marL="68580" marR="68580" marT="34290" marB="34290">
                    <a:solidFill>
                      <a:srgbClr val="F9FAFB"/>
                    </a:solidFill>
                  </a:tcPr>
                </a:tc>
                <a:tc>
                  <a:txBody>
                    <a:bodyPr/>
                    <a:lstStyle/>
                    <a:p>
                      <a:pPr algn="ctr">
                        <a:defRPr sz="1300" b="0">
                          <a:solidFill>
                            <a:srgbClr val="6B7280"/>
                          </a:solidFill>
                          <a:latin typeface="Calibri"/>
                        </a:defRPr>
                      </a:pPr>
                      <a:r>
                        <a:rPr sz="1000"/>
                        <a:t>3–6 months</a:t>
                      </a:r>
                    </a:p>
                  </a:txBody>
                  <a:tcPr marL="68580" marR="68580" marT="34290" marB="34290">
                    <a:solidFill>
                      <a:srgbClr val="F9FAFB"/>
                    </a:solidFill>
                  </a:tcPr>
                </a:tc>
                <a:extLst>
                  <a:ext uri="{0D108BD9-81ED-4DB2-BD59-A6C34878D82A}">
                    <a16:rowId xmlns:a16="http://schemas.microsoft.com/office/drawing/2014/main" val="10001"/>
                  </a:ext>
                </a:extLst>
              </a:tr>
              <a:tr h="365760">
                <a:tc>
                  <a:txBody>
                    <a:bodyPr/>
                    <a:lstStyle/>
                    <a:p>
                      <a:pPr algn="l">
                        <a:defRPr sz="1300" b="0">
                          <a:solidFill>
                            <a:srgbClr val="374151"/>
                          </a:solidFill>
                          <a:latin typeface="Calibri"/>
                        </a:defRPr>
                      </a:pPr>
                      <a:r>
                        <a:rPr sz="1000"/>
                        <a:t>AI Extraction</a:t>
                      </a:r>
                    </a:p>
                  </a:txBody>
                  <a:tcPr marL="68580" marR="68580" marT="34290" marB="34290">
                    <a:solidFill>
                      <a:srgbClr val="FFFFFF"/>
                    </a:solidFill>
                  </a:tcPr>
                </a:tc>
                <a:tc>
                  <a:txBody>
                    <a:bodyPr/>
                    <a:lstStyle/>
                    <a:p>
                      <a:pPr algn="ctr">
                        <a:defRPr sz="1300" b="1">
                          <a:solidFill>
                            <a:srgbClr val="EA760D"/>
                          </a:solidFill>
                          <a:latin typeface="Calibri"/>
                        </a:defRPr>
                      </a:pPr>
                      <a:r>
                        <a:rPr sz="1000">
                          <a:solidFill>
                            <a:srgbClr val="FF0000"/>
                          </a:solidFill>
                        </a:rPr>
                        <a:t>9 native agents</a:t>
                      </a:r>
                    </a:p>
                  </a:txBody>
                  <a:tcPr marL="68580" marR="68580" marT="34290" marB="34290">
                    <a:solidFill>
                      <a:srgbClr val="FFFFFF"/>
                    </a:solidFill>
                  </a:tcPr>
                </a:tc>
                <a:tc>
                  <a:txBody>
                    <a:bodyPr/>
                    <a:lstStyle/>
                    <a:p>
                      <a:pPr algn="ctr">
                        <a:defRPr sz="1300" b="0">
                          <a:solidFill>
                            <a:srgbClr val="6B7280"/>
                          </a:solidFill>
                          <a:latin typeface="Calibri"/>
                        </a:defRPr>
                      </a:pPr>
                      <a:r>
                        <a:rPr sz="1000"/>
                        <a:t>Limited</a:t>
                      </a:r>
                    </a:p>
                  </a:txBody>
                  <a:tcPr marL="68580" marR="68580" marT="34290" marB="34290">
                    <a:solidFill>
                      <a:srgbClr val="FFFFFF"/>
                    </a:solidFill>
                  </a:tcPr>
                </a:tc>
                <a:tc>
                  <a:txBody>
                    <a:bodyPr/>
                    <a:lstStyle/>
                    <a:p>
                      <a:pPr algn="ctr">
                        <a:defRPr sz="1300" b="0">
                          <a:solidFill>
                            <a:srgbClr val="6B7280"/>
                          </a:solidFill>
                          <a:latin typeface="Calibri"/>
                        </a:defRPr>
                      </a:pPr>
                      <a:r>
                        <a:rPr sz="1000"/>
                        <a:t>Add-on</a:t>
                      </a:r>
                    </a:p>
                  </a:txBody>
                  <a:tcPr marL="68580" marR="68580" marT="34290" marB="34290">
                    <a:solidFill>
                      <a:srgbClr val="FFFFFF"/>
                    </a:solidFill>
                  </a:tcPr>
                </a:tc>
                <a:tc>
                  <a:txBody>
                    <a:bodyPr/>
                    <a:lstStyle/>
                    <a:p>
                      <a:pPr algn="ctr">
                        <a:defRPr sz="1300" b="0">
                          <a:solidFill>
                            <a:srgbClr val="6B7280"/>
                          </a:solidFill>
                          <a:latin typeface="Calibri"/>
                        </a:defRPr>
                      </a:pPr>
                      <a:r>
                        <a:rPr sz="1000"/>
                        <a:t>Limited</a:t>
                      </a:r>
                    </a:p>
                  </a:txBody>
                  <a:tcPr marL="68580" marR="68580" marT="34290" marB="34290">
                    <a:solidFill>
                      <a:srgbClr val="FFFFFF"/>
                    </a:solidFill>
                  </a:tcPr>
                </a:tc>
                <a:extLst>
                  <a:ext uri="{0D108BD9-81ED-4DB2-BD59-A6C34878D82A}">
                    <a16:rowId xmlns:a16="http://schemas.microsoft.com/office/drawing/2014/main" val="10002"/>
                  </a:ext>
                </a:extLst>
              </a:tr>
              <a:tr h="365760">
                <a:tc>
                  <a:txBody>
                    <a:bodyPr/>
                    <a:lstStyle/>
                    <a:p>
                      <a:pPr algn="l">
                        <a:defRPr sz="1300" b="0">
                          <a:solidFill>
                            <a:srgbClr val="374151"/>
                          </a:solidFill>
                          <a:latin typeface="Calibri"/>
                        </a:defRPr>
                      </a:pPr>
                      <a:r>
                        <a:rPr sz="1000"/>
                        <a:t>SLA Monitoring</a:t>
                      </a:r>
                    </a:p>
                  </a:txBody>
                  <a:tcPr marL="68580" marR="68580" marT="34290" marB="34290">
                    <a:solidFill>
                      <a:srgbClr val="F9FAFB"/>
                    </a:solidFill>
                  </a:tcPr>
                </a:tc>
                <a:tc>
                  <a:txBody>
                    <a:bodyPr/>
                    <a:lstStyle/>
                    <a:p>
                      <a:pPr algn="ctr">
                        <a:defRPr sz="1300" b="1">
                          <a:solidFill>
                            <a:srgbClr val="EA760D"/>
                          </a:solidFill>
                          <a:latin typeface="Calibri"/>
                        </a:defRPr>
                      </a:pPr>
                      <a:r>
                        <a:rPr sz="1000">
                          <a:solidFill>
                            <a:srgbClr val="FF0000"/>
                          </a:solidFill>
                        </a:rPr>
                        <a:t>Built-in</a:t>
                      </a:r>
                    </a:p>
                  </a:txBody>
                  <a:tcPr marL="68580" marR="68580" marT="34290" marB="34290">
                    <a:solidFill>
                      <a:srgbClr val="F9FAFB"/>
                    </a:solidFill>
                  </a:tcPr>
                </a:tc>
                <a:tc>
                  <a:txBody>
                    <a:bodyPr/>
                    <a:lstStyle/>
                    <a:p>
                      <a:pPr algn="ctr">
                        <a:defRPr sz="1300" b="0">
                          <a:solidFill>
                            <a:srgbClr val="6B7280"/>
                          </a:solidFill>
                          <a:latin typeface="Calibri"/>
                        </a:defRPr>
                      </a:pPr>
                      <a:r>
                        <a:rPr sz="1000"/>
                        <a:t>No</a:t>
                      </a:r>
                    </a:p>
                  </a:txBody>
                  <a:tcPr marL="68580" marR="68580" marT="34290" marB="34290">
                    <a:solidFill>
                      <a:srgbClr val="F9FAFB"/>
                    </a:solidFill>
                  </a:tcPr>
                </a:tc>
                <a:tc>
                  <a:txBody>
                    <a:bodyPr/>
                    <a:lstStyle/>
                    <a:p>
                      <a:pPr algn="ctr">
                        <a:defRPr sz="1300" b="0">
                          <a:solidFill>
                            <a:srgbClr val="6B7280"/>
                          </a:solidFill>
                          <a:latin typeface="Calibri"/>
                        </a:defRPr>
                      </a:pPr>
                      <a:r>
                        <a:rPr sz="1000"/>
                        <a:t>Add-on</a:t>
                      </a:r>
                    </a:p>
                  </a:txBody>
                  <a:tcPr marL="68580" marR="68580" marT="34290" marB="34290">
                    <a:solidFill>
                      <a:srgbClr val="F9FAFB"/>
                    </a:solidFill>
                  </a:tcPr>
                </a:tc>
                <a:tc>
                  <a:txBody>
                    <a:bodyPr/>
                    <a:lstStyle/>
                    <a:p>
                      <a:pPr algn="ctr">
                        <a:defRPr sz="1300" b="0">
                          <a:solidFill>
                            <a:srgbClr val="6B7280"/>
                          </a:solidFill>
                          <a:latin typeface="Calibri"/>
                        </a:defRPr>
                      </a:pPr>
                      <a:r>
                        <a:rPr sz="1000"/>
                        <a:t>No</a:t>
                      </a:r>
                    </a:p>
                  </a:txBody>
                  <a:tcPr marL="68580" marR="68580" marT="34290" marB="34290">
                    <a:solidFill>
                      <a:srgbClr val="F9FAFB"/>
                    </a:solidFill>
                  </a:tcPr>
                </a:tc>
                <a:extLst>
                  <a:ext uri="{0D108BD9-81ED-4DB2-BD59-A6C34878D82A}">
                    <a16:rowId xmlns:a16="http://schemas.microsoft.com/office/drawing/2014/main" val="10003"/>
                  </a:ext>
                </a:extLst>
              </a:tr>
              <a:tr h="365760">
                <a:tc>
                  <a:txBody>
                    <a:bodyPr/>
                    <a:lstStyle/>
                    <a:p>
                      <a:pPr algn="l">
                        <a:defRPr sz="1300" b="0">
                          <a:solidFill>
                            <a:srgbClr val="374151"/>
                          </a:solidFill>
                          <a:latin typeface="Calibri"/>
                        </a:defRPr>
                      </a:pPr>
                      <a:r>
                        <a:rPr sz="1000"/>
                        <a:t>Obligation Tracking</a:t>
                      </a:r>
                    </a:p>
                  </a:txBody>
                  <a:tcPr marL="68580" marR="68580" marT="34290" marB="34290">
                    <a:solidFill>
                      <a:srgbClr val="FFFFFF"/>
                    </a:solidFill>
                  </a:tcPr>
                </a:tc>
                <a:tc>
                  <a:txBody>
                    <a:bodyPr/>
                    <a:lstStyle/>
                    <a:p>
                      <a:pPr algn="ctr">
                        <a:defRPr sz="1300" b="1">
                          <a:solidFill>
                            <a:srgbClr val="EA760D"/>
                          </a:solidFill>
                          <a:latin typeface="Calibri"/>
                        </a:defRPr>
                      </a:pPr>
                      <a:r>
                        <a:rPr sz="1000">
                          <a:solidFill>
                            <a:srgbClr val="FF0000"/>
                          </a:solidFill>
                        </a:rPr>
                        <a:t>AI-extracted</a:t>
                      </a:r>
                    </a:p>
                  </a:txBody>
                  <a:tcPr marL="68580" marR="68580" marT="34290" marB="34290">
                    <a:solidFill>
                      <a:srgbClr val="FFFFFF"/>
                    </a:solidFill>
                  </a:tcPr>
                </a:tc>
                <a:tc>
                  <a:txBody>
                    <a:bodyPr/>
                    <a:lstStyle/>
                    <a:p>
                      <a:pPr algn="ctr">
                        <a:defRPr sz="1300" b="0">
                          <a:solidFill>
                            <a:srgbClr val="6B7280"/>
                          </a:solidFill>
                          <a:latin typeface="Calibri"/>
                        </a:defRPr>
                      </a:pPr>
                      <a:r>
                        <a:rPr sz="1000"/>
                        <a:t>Manual</a:t>
                      </a:r>
                    </a:p>
                  </a:txBody>
                  <a:tcPr marL="68580" marR="68580" marT="34290" marB="34290">
                    <a:solidFill>
                      <a:srgbClr val="FFFFFF"/>
                    </a:solidFill>
                  </a:tcPr>
                </a:tc>
                <a:tc>
                  <a:txBody>
                    <a:bodyPr/>
                    <a:lstStyle/>
                    <a:p>
                      <a:pPr algn="ctr">
                        <a:defRPr sz="1300" b="0">
                          <a:solidFill>
                            <a:srgbClr val="6B7280"/>
                          </a:solidFill>
                          <a:latin typeface="Calibri"/>
                        </a:defRPr>
                      </a:pPr>
                      <a:r>
                        <a:rPr sz="1000"/>
                        <a:t>Manual</a:t>
                      </a:r>
                    </a:p>
                  </a:txBody>
                  <a:tcPr marL="68580" marR="68580" marT="34290" marB="34290">
                    <a:solidFill>
                      <a:srgbClr val="FFFFFF"/>
                    </a:solidFill>
                  </a:tcPr>
                </a:tc>
                <a:tc>
                  <a:txBody>
                    <a:bodyPr/>
                    <a:lstStyle/>
                    <a:p>
                      <a:pPr algn="ctr">
                        <a:defRPr sz="1300" b="0">
                          <a:solidFill>
                            <a:srgbClr val="6B7280"/>
                          </a:solidFill>
                          <a:latin typeface="Calibri"/>
                        </a:defRPr>
                      </a:pPr>
                      <a:r>
                        <a:rPr sz="1000"/>
                        <a:t>Limited</a:t>
                      </a:r>
                    </a:p>
                  </a:txBody>
                  <a:tcPr marL="68580" marR="68580" marT="34290" marB="34290">
                    <a:solidFill>
                      <a:srgbClr val="FFFFFF"/>
                    </a:solidFill>
                  </a:tcPr>
                </a:tc>
                <a:extLst>
                  <a:ext uri="{0D108BD9-81ED-4DB2-BD59-A6C34878D82A}">
                    <a16:rowId xmlns:a16="http://schemas.microsoft.com/office/drawing/2014/main" val="10004"/>
                  </a:ext>
                </a:extLst>
              </a:tr>
              <a:tr h="365760">
                <a:tc>
                  <a:txBody>
                    <a:bodyPr/>
                    <a:lstStyle/>
                    <a:p>
                      <a:pPr algn="l">
                        <a:defRPr sz="1300" b="0">
                          <a:solidFill>
                            <a:srgbClr val="374151"/>
                          </a:solidFill>
                          <a:latin typeface="Calibri"/>
                        </a:defRPr>
                      </a:pPr>
                      <a:r>
                        <a:rPr sz="1000"/>
                        <a:t>Relationship Governance</a:t>
                      </a:r>
                    </a:p>
                  </a:txBody>
                  <a:tcPr marL="68580" marR="68580" marT="34290" marB="34290">
                    <a:solidFill>
                      <a:srgbClr val="F9FAFB"/>
                    </a:solidFill>
                  </a:tcPr>
                </a:tc>
                <a:tc>
                  <a:txBody>
                    <a:bodyPr/>
                    <a:lstStyle/>
                    <a:p>
                      <a:pPr algn="ctr">
                        <a:defRPr sz="1300" b="1">
                          <a:solidFill>
                            <a:srgbClr val="EA760D"/>
                          </a:solidFill>
                          <a:latin typeface="Calibri"/>
                        </a:defRPr>
                      </a:pPr>
                      <a:r>
                        <a:rPr sz="1000">
                          <a:solidFill>
                            <a:srgbClr val="FF0000"/>
                          </a:solidFill>
                        </a:rPr>
                        <a:t>Built-in</a:t>
                      </a:r>
                    </a:p>
                  </a:txBody>
                  <a:tcPr marL="68580" marR="68580" marT="34290" marB="34290">
                    <a:solidFill>
                      <a:srgbClr val="F9FAFB"/>
                    </a:solidFill>
                  </a:tcPr>
                </a:tc>
                <a:tc>
                  <a:txBody>
                    <a:bodyPr/>
                    <a:lstStyle/>
                    <a:p>
                      <a:pPr algn="ctr">
                        <a:defRPr sz="1300" b="0">
                          <a:solidFill>
                            <a:srgbClr val="6B7280"/>
                          </a:solidFill>
                          <a:latin typeface="Calibri"/>
                        </a:defRPr>
                      </a:pPr>
                      <a:r>
                        <a:rPr sz="1000"/>
                        <a:t>No</a:t>
                      </a:r>
                    </a:p>
                  </a:txBody>
                  <a:tcPr marL="68580" marR="68580" marT="34290" marB="34290">
                    <a:solidFill>
                      <a:srgbClr val="F9FAFB"/>
                    </a:solidFill>
                  </a:tcPr>
                </a:tc>
                <a:tc>
                  <a:txBody>
                    <a:bodyPr/>
                    <a:lstStyle/>
                    <a:p>
                      <a:pPr algn="ctr">
                        <a:defRPr sz="1300" b="0">
                          <a:solidFill>
                            <a:srgbClr val="6B7280"/>
                          </a:solidFill>
                          <a:latin typeface="Calibri"/>
                        </a:defRPr>
                      </a:pPr>
                      <a:r>
                        <a:rPr sz="1000"/>
                        <a:t>No</a:t>
                      </a:r>
                    </a:p>
                  </a:txBody>
                  <a:tcPr marL="68580" marR="68580" marT="34290" marB="34290">
                    <a:solidFill>
                      <a:srgbClr val="F9FAFB"/>
                    </a:solidFill>
                  </a:tcPr>
                </a:tc>
                <a:tc>
                  <a:txBody>
                    <a:bodyPr/>
                    <a:lstStyle/>
                    <a:p>
                      <a:pPr algn="ctr">
                        <a:defRPr sz="1300" b="0">
                          <a:solidFill>
                            <a:srgbClr val="6B7280"/>
                          </a:solidFill>
                          <a:latin typeface="Calibri"/>
                        </a:defRPr>
                      </a:pPr>
                      <a:r>
                        <a:rPr sz="1000"/>
                        <a:t>No</a:t>
                      </a:r>
                    </a:p>
                  </a:txBody>
                  <a:tcPr marL="68580" marR="68580" marT="34290" marB="34290">
                    <a:solidFill>
                      <a:srgbClr val="F9FAFB"/>
                    </a:solidFill>
                  </a:tcPr>
                </a:tc>
                <a:extLst>
                  <a:ext uri="{0D108BD9-81ED-4DB2-BD59-A6C34878D82A}">
                    <a16:rowId xmlns:a16="http://schemas.microsoft.com/office/drawing/2014/main" val="10005"/>
                  </a:ext>
                </a:extLst>
              </a:tr>
              <a:tr h="365760">
                <a:tc>
                  <a:txBody>
                    <a:bodyPr/>
                    <a:lstStyle/>
                    <a:p>
                      <a:pPr algn="l">
                        <a:defRPr sz="1300" b="0">
                          <a:solidFill>
                            <a:srgbClr val="374151"/>
                          </a:solidFill>
                          <a:latin typeface="Calibri"/>
                        </a:defRPr>
                      </a:pPr>
                      <a:r>
                        <a:rPr sz="1000"/>
                        <a:t>Knowledge Graph</a:t>
                      </a:r>
                    </a:p>
                  </a:txBody>
                  <a:tcPr marL="68580" marR="68580" marT="34290" marB="34290">
                    <a:solidFill>
                      <a:srgbClr val="FFFFFF"/>
                    </a:solidFill>
                  </a:tcPr>
                </a:tc>
                <a:tc>
                  <a:txBody>
                    <a:bodyPr/>
                    <a:lstStyle/>
                    <a:p>
                      <a:pPr algn="ctr">
                        <a:defRPr sz="1300" b="1">
                          <a:solidFill>
                            <a:srgbClr val="EA760D"/>
                          </a:solidFill>
                          <a:latin typeface="Calibri"/>
                        </a:defRPr>
                      </a:pPr>
                      <a:r>
                        <a:rPr sz="1000">
                          <a:solidFill>
                            <a:srgbClr val="FF0000"/>
                          </a:solidFill>
                        </a:rPr>
                        <a:t>Built-in</a:t>
                      </a:r>
                    </a:p>
                  </a:txBody>
                  <a:tcPr marL="68580" marR="68580" marT="34290" marB="34290">
                    <a:solidFill>
                      <a:srgbClr val="FFFFFF"/>
                    </a:solidFill>
                  </a:tcPr>
                </a:tc>
                <a:tc>
                  <a:txBody>
                    <a:bodyPr/>
                    <a:lstStyle/>
                    <a:p>
                      <a:pPr algn="ctr">
                        <a:defRPr sz="1300" b="0">
                          <a:solidFill>
                            <a:srgbClr val="6B7280"/>
                          </a:solidFill>
                          <a:latin typeface="Calibri"/>
                        </a:defRPr>
                      </a:pPr>
                      <a:r>
                        <a:rPr sz="1000"/>
                        <a:t>No</a:t>
                      </a:r>
                    </a:p>
                  </a:txBody>
                  <a:tcPr marL="68580" marR="68580" marT="34290" marB="34290">
                    <a:solidFill>
                      <a:srgbClr val="FFFFFF"/>
                    </a:solidFill>
                  </a:tcPr>
                </a:tc>
                <a:tc>
                  <a:txBody>
                    <a:bodyPr/>
                    <a:lstStyle/>
                    <a:p>
                      <a:pPr algn="ctr">
                        <a:defRPr sz="1300" b="0">
                          <a:solidFill>
                            <a:srgbClr val="6B7280"/>
                          </a:solidFill>
                          <a:latin typeface="Calibri"/>
                        </a:defRPr>
                      </a:pPr>
                      <a:r>
                        <a:rPr sz="1000"/>
                        <a:t>No</a:t>
                      </a:r>
                    </a:p>
                  </a:txBody>
                  <a:tcPr marL="68580" marR="68580" marT="34290" marB="34290">
                    <a:solidFill>
                      <a:srgbClr val="FFFFFF"/>
                    </a:solidFill>
                  </a:tcPr>
                </a:tc>
                <a:tc>
                  <a:txBody>
                    <a:bodyPr/>
                    <a:lstStyle/>
                    <a:p>
                      <a:pPr algn="ctr">
                        <a:defRPr sz="1300" b="0">
                          <a:solidFill>
                            <a:srgbClr val="6B7280"/>
                          </a:solidFill>
                          <a:latin typeface="Calibri"/>
                        </a:defRPr>
                      </a:pPr>
                      <a:r>
                        <a:rPr sz="1000"/>
                        <a:t>No</a:t>
                      </a:r>
                    </a:p>
                  </a:txBody>
                  <a:tcPr marL="68580" marR="68580" marT="34290" marB="34290">
                    <a:solidFill>
                      <a:srgbClr val="FFFFFF"/>
                    </a:solidFill>
                  </a:tcPr>
                </a:tc>
                <a:extLst>
                  <a:ext uri="{0D108BD9-81ED-4DB2-BD59-A6C34878D82A}">
                    <a16:rowId xmlns:a16="http://schemas.microsoft.com/office/drawing/2014/main" val="10006"/>
                  </a:ext>
                </a:extLst>
              </a:tr>
              <a:tr h="365760">
                <a:tc>
                  <a:txBody>
                    <a:bodyPr/>
                    <a:lstStyle/>
                    <a:p>
                      <a:pPr algn="l">
                        <a:defRPr sz="1300" b="0">
                          <a:solidFill>
                            <a:srgbClr val="374151"/>
                          </a:solidFill>
                          <a:latin typeface="Calibri"/>
                        </a:defRPr>
                      </a:pPr>
                      <a:r>
                        <a:rPr sz="1000"/>
                        <a:t>Unlimited Users</a:t>
                      </a:r>
                    </a:p>
                  </a:txBody>
                  <a:tcPr marL="68580" marR="68580" marT="34290" marB="34290">
                    <a:solidFill>
                      <a:srgbClr val="F9FAFB"/>
                    </a:solidFill>
                  </a:tcPr>
                </a:tc>
                <a:tc>
                  <a:txBody>
                    <a:bodyPr/>
                    <a:lstStyle/>
                    <a:p>
                      <a:pPr algn="ctr">
                        <a:defRPr sz="1300" b="1">
                          <a:solidFill>
                            <a:srgbClr val="EA760D"/>
                          </a:solidFill>
                          <a:latin typeface="Calibri"/>
                        </a:defRPr>
                      </a:pPr>
                      <a:r>
                        <a:rPr sz="1000">
                          <a:solidFill>
                            <a:srgbClr val="FF0000"/>
                          </a:solidFill>
                        </a:rPr>
                        <a:t>✓ Yes</a:t>
                      </a:r>
                    </a:p>
                  </a:txBody>
                  <a:tcPr marL="68580" marR="68580" marT="34290" marB="34290">
                    <a:solidFill>
                      <a:srgbClr val="F9FAFB"/>
                    </a:solidFill>
                  </a:tcPr>
                </a:tc>
                <a:tc>
                  <a:txBody>
                    <a:bodyPr/>
                    <a:lstStyle/>
                    <a:p>
                      <a:pPr algn="ctr">
                        <a:defRPr sz="1300" b="0">
                          <a:solidFill>
                            <a:srgbClr val="6B7280"/>
                          </a:solidFill>
                          <a:latin typeface="Calibri"/>
                        </a:defRPr>
                      </a:pPr>
                      <a:r>
                        <a:rPr sz="1000"/>
                        <a:t>✗</a:t>
                      </a:r>
                    </a:p>
                  </a:txBody>
                  <a:tcPr marL="68580" marR="68580" marT="34290" marB="34290">
                    <a:solidFill>
                      <a:srgbClr val="F9FAFB"/>
                    </a:solidFill>
                  </a:tcPr>
                </a:tc>
                <a:tc>
                  <a:txBody>
                    <a:bodyPr/>
                    <a:lstStyle/>
                    <a:p>
                      <a:pPr algn="ctr">
                        <a:defRPr sz="1300" b="0">
                          <a:solidFill>
                            <a:srgbClr val="6B7280"/>
                          </a:solidFill>
                          <a:latin typeface="Calibri"/>
                        </a:defRPr>
                      </a:pPr>
                      <a:r>
                        <a:rPr sz="1000"/>
                        <a:t>✗</a:t>
                      </a:r>
                    </a:p>
                  </a:txBody>
                  <a:tcPr marL="68580" marR="68580" marT="34290" marB="34290">
                    <a:solidFill>
                      <a:srgbClr val="F9FAFB"/>
                    </a:solidFill>
                  </a:tcPr>
                </a:tc>
                <a:tc>
                  <a:txBody>
                    <a:bodyPr/>
                    <a:lstStyle/>
                    <a:p>
                      <a:pPr algn="ctr">
                        <a:defRPr sz="1300" b="0">
                          <a:solidFill>
                            <a:srgbClr val="6B7280"/>
                          </a:solidFill>
                          <a:latin typeface="Calibri"/>
                        </a:defRPr>
                      </a:pPr>
                      <a:r>
                        <a:rPr sz="1000"/>
                        <a:t>✗</a:t>
                      </a:r>
                    </a:p>
                  </a:txBody>
                  <a:tcPr marL="68580" marR="68580" marT="34290" marB="34290">
                    <a:solidFill>
                      <a:srgbClr val="F9FAFB"/>
                    </a:solidFill>
                  </a:tcPr>
                </a:tc>
                <a:extLst>
                  <a:ext uri="{0D108BD9-81ED-4DB2-BD59-A6C34878D82A}">
                    <a16:rowId xmlns:a16="http://schemas.microsoft.com/office/drawing/2014/main" val="10007"/>
                  </a:ext>
                </a:extLst>
              </a:tr>
              <a:tr h="365760">
                <a:tc>
                  <a:txBody>
                    <a:bodyPr/>
                    <a:lstStyle/>
                    <a:p>
                      <a:pPr algn="l">
                        <a:defRPr sz="1300" b="0">
                          <a:solidFill>
                            <a:srgbClr val="374151"/>
                          </a:solidFill>
                          <a:latin typeface="Calibri"/>
                        </a:defRPr>
                      </a:pPr>
                      <a:r>
                        <a:rPr sz="1000"/>
                        <a:t>LLM Observability</a:t>
                      </a:r>
                    </a:p>
                  </a:txBody>
                  <a:tcPr marL="68580" marR="68580" marT="34290" marB="34290">
                    <a:solidFill>
                      <a:srgbClr val="FFFFFF"/>
                    </a:solidFill>
                  </a:tcPr>
                </a:tc>
                <a:tc>
                  <a:txBody>
                    <a:bodyPr/>
                    <a:lstStyle/>
                    <a:p>
                      <a:pPr algn="ctr">
                        <a:defRPr sz="1300" b="1">
                          <a:solidFill>
                            <a:srgbClr val="EA760D"/>
                          </a:solidFill>
                          <a:latin typeface="Calibri"/>
                        </a:defRPr>
                      </a:pPr>
                      <a:r>
                        <a:rPr sz="1000" dirty="0" err="1">
                          <a:solidFill>
                            <a:srgbClr val="FF0000"/>
                          </a:solidFill>
                        </a:rPr>
                        <a:t>Langfuse</a:t>
                      </a:r>
                      <a:endParaRPr sz="1000" dirty="0">
                        <a:solidFill>
                          <a:srgbClr val="FF0000"/>
                        </a:solidFill>
                      </a:endParaRPr>
                    </a:p>
                  </a:txBody>
                  <a:tcPr marL="68580" marR="68580" marT="34290" marB="34290">
                    <a:solidFill>
                      <a:srgbClr val="FFFFFF"/>
                    </a:solidFill>
                  </a:tcPr>
                </a:tc>
                <a:tc>
                  <a:txBody>
                    <a:bodyPr/>
                    <a:lstStyle/>
                    <a:p>
                      <a:pPr algn="ctr">
                        <a:defRPr sz="1300" b="0">
                          <a:solidFill>
                            <a:srgbClr val="6B7280"/>
                          </a:solidFill>
                          <a:latin typeface="Calibri"/>
                        </a:defRPr>
                      </a:pPr>
                      <a:r>
                        <a:rPr sz="1000"/>
                        <a:t>No</a:t>
                      </a:r>
                    </a:p>
                  </a:txBody>
                  <a:tcPr marL="68580" marR="68580" marT="34290" marB="34290">
                    <a:solidFill>
                      <a:srgbClr val="FFFFFF"/>
                    </a:solidFill>
                  </a:tcPr>
                </a:tc>
                <a:tc>
                  <a:txBody>
                    <a:bodyPr/>
                    <a:lstStyle/>
                    <a:p>
                      <a:pPr algn="ctr">
                        <a:defRPr sz="1300" b="0">
                          <a:solidFill>
                            <a:srgbClr val="6B7280"/>
                          </a:solidFill>
                          <a:latin typeface="Calibri"/>
                        </a:defRPr>
                      </a:pPr>
                      <a:r>
                        <a:rPr sz="1000"/>
                        <a:t>No</a:t>
                      </a:r>
                    </a:p>
                  </a:txBody>
                  <a:tcPr marL="68580" marR="68580" marT="34290" marB="34290">
                    <a:solidFill>
                      <a:srgbClr val="FFFFFF"/>
                    </a:solidFill>
                  </a:tcPr>
                </a:tc>
                <a:tc>
                  <a:txBody>
                    <a:bodyPr/>
                    <a:lstStyle/>
                    <a:p>
                      <a:pPr algn="ctr">
                        <a:defRPr sz="1300" b="0">
                          <a:solidFill>
                            <a:srgbClr val="6B7280"/>
                          </a:solidFill>
                          <a:latin typeface="Calibri"/>
                        </a:defRPr>
                      </a:pPr>
                      <a:r>
                        <a:rPr sz="1000" dirty="0"/>
                        <a:t>No</a:t>
                      </a:r>
                    </a:p>
                  </a:txBody>
                  <a:tcPr marL="68580" marR="68580" marT="34290" marB="34290">
                    <a:solidFill>
                      <a:srgbClr val="FFFFFF"/>
                    </a:solidFill>
                  </a:tcPr>
                </a:tc>
                <a:extLst>
                  <a:ext uri="{0D108BD9-81ED-4DB2-BD59-A6C34878D82A}">
                    <a16:rowId xmlns:a16="http://schemas.microsoft.com/office/drawing/2014/main" val="10008"/>
                  </a:ext>
                </a:extLst>
              </a:tr>
            </a:tbl>
          </a:graphicData>
        </a:graphic>
      </p:graphicFrame>
      <p:sp>
        <p:nvSpPr>
          <p:cNvPr id="7" name="Date Placeholder 2">
            <a:extLst>
              <a:ext uri="{FF2B5EF4-FFF2-40B4-BE49-F238E27FC236}">
                <a16:creationId xmlns:a16="http://schemas.microsoft.com/office/drawing/2014/main" id="{C9025DC7-D71C-0634-2FA7-E0CD4AB458D5}"/>
              </a:ext>
            </a:extLst>
          </p:cNvPr>
          <p:cNvSpPr>
            <a:spLocks noGrp="1"/>
          </p:cNvSpPr>
          <p:nvPr>
            <p:ph type="dt" sz="half" idx="2"/>
          </p:nvPr>
        </p:nvSpPr>
        <p:spPr>
          <a:xfrm>
            <a:off x="611450" y="6471383"/>
            <a:ext cx="2057400" cy="365125"/>
          </a:xfrm>
        </p:spPr>
        <p:txBody>
          <a:bodyPr/>
          <a:lstStyle/>
          <a:p>
            <a:fld id="{BCFD5220-14B2-4D59-AAB5-DC8635FE0AAA}"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8" name="Footer Placeholder 5">
            <a:extLst>
              <a:ext uri="{FF2B5EF4-FFF2-40B4-BE49-F238E27FC236}">
                <a16:creationId xmlns:a16="http://schemas.microsoft.com/office/drawing/2014/main" id="{5F1705AA-C31C-F72C-1EE4-258D15229B01}"/>
              </a:ext>
            </a:extLst>
          </p:cNvPr>
          <p:cNvSpPr>
            <a:spLocks noGrp="1"/>
          </p:cNvSpPr>
          <p:nvPr>
            <p:ph type="ftr" sz="quarter" idx="3"/>
          </p:nvPr>
        </p:nvSpPr>
        <p:spPr>
          <a:xfrm>
            <a:off x="2633434" y="6471382"/>
            <a:ext cx="3312460" cy="367086"/>
          </a:xfrm>
        </p:spPr>
        <p:txBody>
          <a:bodyPr/>
          <a:lstStyle/>
          <a:p>
            <a:pPr algn="l"/>
            <a:r>
              <a:rPr lang="en-US" dirty="0"/>
              <a:t>AI-Powered Contract Intelligence</a:t>
            </a:r>
            <a:endParaRPr lang="en-GB" i="1" dirty="0"/>
          </a:p>
        </p:txBody>
      </p:sp>
    </p:spTree>
    <p:extLst>
      <p:ext uri="{BB962C8B-B14F-4D97-AF65-F5344CB8AC3E}">
        <p14:creationId xmlns:p14="http://schemas.microsoft.com/office/powerpoint/2010/main" val="378535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17D12C-4A25-B3D9-0965-FE2EE5CE6A40}"/>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FEEE18AF-F396-BE9C-5482-D2103B13C6C8}"/>
              </a:ext>
            </a:extLst>
          </p:cNvPr>
          <p:cNvSpPr>
            <a:spLocks noGrp="1"/>
          </p:cNvSpPr>
          <p:nvPr>
            <p:ph type="title"/>
          </p:nvPr>
        </p:nvSpPr>
        <p:spPr/>
        <p:txBody>
          <a:bodyPr/>
          <a:lstStyle/>
          <a:p>
            <a:r>
              <a:rPr lang="en-GB" dirty="0"/>
              <a:t>Backup slides</a:t>
            </a:r>
          </a:p>
        </p:txBody>
      </p:sp>
      <p:sp>
        <p:nvSpPr>
          <p:cNvPr id="4" name="Date Placeholder 3">
            <a:extLst>
              <a:ext uri="{FF2B5EF4-FFF2-40B4-BE49-F238E27FC236}">
                <a16:creationId xmlns:a16="http://schemas.microsoft.com/office/drawing/2014/main" id="{FDAFA428-BC39-DDE6-1F7D-667B2B87CD41}"/>
              </a:ext>
            </a:extLst>
          </p:cNvPr>
          <p:cNvSpPr>
            <a:spLocks noGrp="1"/>
          </p:cNvSpPr>
          <p:nvPr>
            <p:ph type="dt" sz="half" idx="2"/>
          </p:nvPr>
        </p:nvSpPr>
        <p:spPr/>
        <p:txBody>
          <a:bodyPr/>
          <a:lstStyle/>
          <a:p>
            <a:fld id="{29FEFA2C-A1D8-44FC-99FC-2DFF21837F17}"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5" name="Footer Placeholder 4">
            <a:extLst>
              <a:ext uri="{FF2B5EF4-FFF2-40B4-BE49-F238E27FC236}">
                <a16:creationId xmlns:a16="http://schemas.microsoft.com/office/drawing/2014/main" id="{59433222-32AA-DEB4-2B17-CB24B3A1876C}"/>
              </a:ext>
            </a:extLst>
          </p:cNvPr>
          <p:cNvSpPr>
            <a:spLocks noGrp="1"/>
          </p:cNvSpPr>
          <p:nvPr>
            <p:ph type="ftr" sz="quarter" idx="3"/>
          </p:nvPr>
        </p:nvSpPr>
        <p:spPr/>
        <p:txBody>
          <a:bodyPr/>
          <a:lstStyle/>
          <a:p>
            <a:pPr algn="l"/>
            <a:r>
              <a:rPr lang="en-US"/>
              <a:t>AI-Powered Contract Intelligence</a:t>
            </a:r>
            <a:endParaRPr lang="en-GB" i="1" dirty="0"/>
          </a:p>
        </p:txBody>
      </p:sp>
    </p:spTree>
    <p:extLst>
      <p:ext uri="{BB962C8B-B14F-4D97-AF65-F5344CB8AC3E}">
        <p14:creationId xmlns:p14="http://schemas.microsoft.com/office/powerpoint/2010/main" val="3793071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C6601-A18D-6D27-561B-27ED37D65753}"/>
            </a:ext>
          </a:extLst>
        </p:cNvPr>
        <p:cNvGrpSpPr/>
        <p:nvPr/>
      </p:nvGrpSpPr>
      <p:grpSpPr>
        <a:xfrm>
          <a:off x="0" y="0"/>
          <a:ext cx="0" cy="0"/>
          <a:chOff x="0" y="0"/>
          <a:chExt cx="0" cy="0"/>
        </a:xfrm>
      </p:grpSpPr>
      <p:sp>
        <p:nvSpPr>
          <p:cNvPr id="20" name="Cloud Callout 19">
            <a:extLst>
              <a:ext uri="{FF2B5EF4-FFF2-40B4-BE49-F238E27FC236}">
                <a16:creationId xmlns:a16="http://schemas.microsoft.com/office/drawing/2014/main" id="{B7A66712-B59C-6955-3FC9-AD6690465CEA}"/>
              </a:ext>
            </a:extLst>
          </p:cNvPr>
          <p:cNvSpPr/>
          <p:nvPr/>
        </p:nvSpPr>
        <p:spPr bwMode="auto">
          <a:xfrm>
            <a:off x="572241" y="1575807"/>
            <a:ext cx="7594737" cy="4392609"/>
          </a:xfrm>
          <a:prstGeom prst="cloudCallout">
            <a:avLst>
              <a:gd name="adj1" fmla="val 10330"/>
              <a:gd name="adj2" fmla="val 45301"/>
            </a:avLst>
          </a:prstGeom>
          <a:solidFill>
            <a:schemeClr val="bg1">
              <a:alpha val="0"/>
            </a:schemeClr>
          </a:solidFill>
          <a:ln w="9525" cap="flat" cmpd="sng" algn="ctr">
            <a:solidFill>
              <a:schemeClr val="accent5">
                <a:lumMod val="75000"/>
              </a:schemeClr>
            </a:solidFill>
            <a:prstDash val="solid"/>
            <a:round/>
            <a:headEnd type="none" w="med" len="med"/>
            <a:tailEnd type="none" w="med" len="med"/>
          </a:ln>
          <a:effectLst>
            <a:glow rad="101600">
              <a:schemeClr val="bg1">
                <a:lumMod val="75000"/>
                <a:alpha val="60000"/>
              </a:schemeClr>
            </a:glow>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a:ln>
                <a:noFill/>
              </a:ln>
              <a:solidFill>
                <a:schemeClr val="tx2"/>
              </a:solidFill>
              <a:effectLst/>
              <a:latin typeface="Verdana" pitchFamily="34" charset="0"/>
              <a:cs typeface="Arial" charset="0"/>
            </a:endParaRPr>
          </a:p>
        </p:txBody>
      </p:sp>
      <p:sp>
        <p:nvSpPr>
          <p:cNvPr id="3" name="Title 2">
            <a:extLst>
              <a:ext uri="{FF2B5EF4-FFF2-40B4-BE49-F238E27FC236}">
                <a16:creationId xmlns:a16="http://schemas.microsoft.com/office/drawing/2014/main" id="{6146FF77-7FE6-A763-EC08-CB37D6367B17}"/>
              </a:ext>
            </a:extLst>
          </p:cNvPr>
          <p:cNvSpPr>
            <a:spLocks noGrp="1"/>
          </p:cNvSpPr>
          <p:nvPr>
            <p:ph type="title"/>
          </p:nvPr>
        </p:nvSpPr>
        <p:spPr/>
        <p:txBody>
          <a:bodyPr anchor="ctr"/>
          <a:lstStyle/>
          <a:p>
            <a:r>
              <a:rPr lang="en-US" sz="2400" dirty="0">
                <a:solidFill>
                  <a:srgbClr val="054283"/>
                </a:solidFill>
              </a:rPr>
              <a:t>Supporting the Contract lifecycle</a:t>
            </a:r>
          </a:p>
        </p:txBody>
      </p:sp>
      <p:sp>
        <p:nvSpPr>
          <p:cNvPr id="17" name="Rectangle 16">
            <a:extLst>
              <a:ext uri="{FF2B5EF4-FFF2-40B4-BE49-F238E27FC236}">
                <a16:creationId xmlns:a16="http://schemas.microsoft.com/office/drawing/2014/main" id="{608E6E55-BCB1-00A3-4A91-BB5F09969808}"/>
              </a:ext>
            </a:extLst>
          </p:cNvPr>
          <p:cNvSpPr/>
          <p:nvPr/>
        </p:nvSpPr>
        <p:spPr bwMode="auto">
          <a:xfrm>
            <a:off x="649773" y="4869200"/>
            <a:ext cx="1008140" cy="288040"/>
          </a:xfrm>
          <a:prstGeom prst="rect">
            <a:avLst/>
          </a:prstGeom>
          <a:gradFill flip="none" rotWithShape="1">
            <a:gsLst>
              <a:gs pos="97000">
                <a:schemeClr val="accent1">
                  <a:shade val="30000"/>
                  <a:satMod val="115000"/>
                </a:schemeClr>
              </a:gs>
              <a:gs pos="47000">
                <a:schemeClr val="accent1">
                  <a:shade val="67500"/>
                  <a:satMod val="115000"/>
                </a:schemeClr>
              </a:gs>
              <a:gs pos="0">
                <a:schemeClr val="accent1">
                  <a:shade val="30000"/>
                  <a:satMod val="115000"/>
                </a:schemeClr>
              </a:gs>
              <a:gs pos="17437">
                <a:schemeClr val="bg1"/>
              </a:gs>
              <a:gs pos="0">
                <a:schemeClr val="bg1"/>
              </a:gs>
            </a:gsLst>
            <a:lin ang="10800000" scaled="1"/>
            <a:tileRect/>
          </a:gra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en-US" sz="1100" dirty="0"/>
              <a:t>Contracting</a:t>
            </a:r>
          </a:p>
        </p:txBody>
      </p:sp>
      <p:sp>
        <p:nvSpPr>
          <p:cNvPr id="18" name="Rectangle 17">
            <a:extLst>
              <a:ext uri="{FF2B5EF4-FFF2-40B4-BE49-F238E27FC236}">
                <a16:creationId xmlns:a16="http://schemas.microsoft.com/office/drawing/2014/main" id="{10BFCC65-B72C-BFDF-A353-D7312FEBD8DA}"/>
              </a:ext>
            </a:extLst>
          </p:cNvPr>
          <p:cNvSpPr/>
          <p:nvPr/>
        </p:nvSpPr>
        <p:spPr bwMode="auto">
          <a:xfrm>
            <a:off x="7411191" y="4869200"/>
            <a:ext cx="1197662" cy="288040"/>
          </a:xfrm>
          <a:prstGeom prst="rect">
            <a:avLst/>
          </a:prstGeom>
          <a:gradFill flip="none" rotWithShape="1">
            <a:gsLst>
              <a:gs pos="31000">
                <a:schemeClr val="accent1">
                  <a:shade val="30000"/>
                  <a:satMod val="115000"/>
                </a:schemeClr>
              </a:gs>
              <a:gs pos="62000">
                <a:schemeClr val="accent1">
                  <a:shade val="67500"/>
                  <a:satMod val="115000"/>
                </a:schemeClr>
              </a:gs>
              <a:gs pos="0">
                <a:schemeClr val="accent1">
                  <a:shade val="30000"/>
                  <a:satMod val="115000"/>
                </a:schemeClr>
              </a:gs>
              <a:gs pos="84000">
                <a:schemeClr val="bg1"/>
              </a:gs>
            </a:gsLst>
            <a:lin ang="10800000" scaled="1"/>
            <a:tileRect/>
          </a:grad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2"/>
                </a:solidFill>
                <a:effectLst/>
                <a:latin typeface="Verdana" pitchFamily="34" charset="0"/>
                <a:cs typeface="Arial" charset="0"/>
              </a:rPr>
              <a:t>Close/renewal</a:t>
            </a:r>
          </a:p>
        </p:txBody>
      </p:sp>
      <p:sp>
        <p:nvSpPr>
          <p:cNvPr id="19" name="Rectangle 18">
            <a:extLst>
              <a:ext uri="{FF2B5EF4-FFF2-40B4-BE49-F238E27FC236}">
                <a16:creationId xmlns:a16="http://schemas.microsoft.com/office/drawing/2014/main" id="{4BC043E5-14C5-17F7-11A8-0BF6B8AC4567}"/>
              </a:ext>
            </a:extLst>
          </p:cNvPr>
          <p:cNvSpPr/>
          <p:nvPr/>
        </p:nvSpPr>
        <p:spPr bwMode="auto">
          <a:xfrm>
            <a:off x="1657913" y="4869200"/>
            <a:ext cx="5753278" cy="288040"/>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w="9525" cap="flat" cmpd="sng" algn="ctr">
            <a:solidFill>
              <a:schemeClr val="accent5">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a:ln>
                  <a:noFill/>
                </a:ln>
                <a:solidFill>
                  <a:schemeClr val="tx2"/>
                </a:solidFill>
                <a:effectLst/>
                <a:latin typeface="Verdana" pitchFamily="34" charset="0"/>
                <a:cs typeface="Arial" charset="0"/>
              </a:rPr>
              <a:t>execution</a:t>
            </a:r>
          </a:p>
        </p:txBody>
      </p:sp>
      <p:sp>
        <p:nvSpPr>
          <p:cNvPr id="31" name="Flowchart: Multidocument 30">
            <a:extLst>
              <a:ext uri="{FF2B5EF4-FFF2-40B4-BE49-F238E27FC236}">
                <a16:creationId xmlns:a16="http://schemas.microsoft.com/office/drawing/2014/main" id="{37B5C89A-F3A0-1833-3839-80874EB3F99A}"/>
              </a:ext>
            </a:extLst>
          </p:cNvPr>
          <p:cNvSpPr/>
          <p:nvPr/>
        </p:nvSpPr>
        <p:spPr bwMode="auto">
          <a:xfrm>
            <a:off x="649773" y="3541864"/>
            <a:ext cx="1008140" cy="1008140"/>
          </a:xfrm>
          <a:prstGeom prst="flowChartMultidocument">
            <a:avLst/>
          </a:prstGeom>
          <a:blipFill>
            <a:blip r:embed="rId3">
              <a:extLst>
                <a:ext uri="{837473B0-CC2E-450A-ABE3-18F120FF3D39}">
                  <a1611:picAttrSrcUrl xmlns:a1611="http://schemas.microsoft.com/office/drawing/2016/11/main" r:id="rId4"/>
                </a:ext>
              </a:extLst>
            </a:blip>
            <a:stretch>
              <a:fillRect/>
            </a:stretch>
          </a:blipFill>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1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5" name="Flowchart: Multidocument 34">
            <a:extLst>
              <a:ext uri="{FF2B5EF4-FFF2-40B4-BE49-F238E27FC236}">
                <a16:creationId xmlns:a16="http://schemas.microsoft.com/office/drawing/2014/main" id="{D7322CCD-17A6-0A4F-8B1A-CAE90D22E6CD}"/>
              </a:ext>
            </a:extLst>
          </p:cNvPr>
          <p:cNvSpPr/>
          <p:nvPr/>
        </p:nvSpPr>
        <p:spPr bwMode="auto">
          <a:xfrm>
            <a:off x="7524410" y="3541202"/>
            <a:ext cx="1008140" cy="1008140"/>
          </a:xfrm>
          <a:prstGeom prst="flowChartMultidocument">
            <a:avLst/>
          </a:prstGeom>
          <a:blipFill>
            <a:blip r:embed="rId5">
              <a:extLst>
                <a:ext uri="{837473B0-CC2E-450A-ABE3-18F120FF3D39}">
                  <a1611:picAttrSrcUrl xmlns:a1611="http://schemas.microsoft.com/office/drawing/2016/11/main" r:id="rId6"/>
                </a:ext>
              </a:extLst>
            </a:blip>
            <a:stretch>
              <a:fillRect/>
            </a:stretch>
          </a:blipFill>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a:ln>
                <a:noFill/>
              </a:ln>
              <a:solidFill>
                <a:schemeClr val="tx2"/>
              </a:solidFill>
              <a:effectLst/>
              <a:latin typeface="Verdana" pitchFamily="34" charset="0"/>
              <a:cs typeface="Arial" charset="0"/>
            </a:endParaRPr>
          </a:p>
        </p:txBody>
      </p:sp>
      <p:sp>
        <p:nvSpPr>
          <p:cNvPr id="48" name="Rounded Rectangle 47">
            <a:extLst>
              <a:ext uri="{FF2B5EF4-FFF2-40B4-BE49-F238E27FC236}">
                <a16:creationId xmlns:a16="http://schemas.microsoft.com/office/drawing/2014/main" id="{DA7D0F33-7D3E-2934-EC51-A05C4E7172D8}"/>
              </a:ext>
            </a:extLst>
          </p:cNvPr>
          <p:cNvSpPr/>
          <p:nvPr/>
        </p:nvSpPr>
        <p:spPr bwMode="auto">
          <a:xfrm>
            <a:off x="737466" y="1497215"/>
            <a:ext cx="7695487" cy="1038037"/>
          </a:xfrm>
          <a:prstGeom prst="roundRect">
            <a:avLst/>
          </a:prstGeom>
          <a:blipFill dpi="0" rotWithShape="1">
            <a:blip r:embed="rId7">
              <a:alphaModFix amt="50000"/>
              <a:extLst>
                <a:ext uri="{837473B0-CC2E-450A-ABE3-18F120FF3D39}">
                  <a1611:picAttrSrcUrl xmlns:a1611="http://schemas.microsoft.com/office/drawing/2016/11/main" r:id="rId8"/>
                </a:ext>
              </a:extLst>
            </a:blip>
            <a:srcRect/>
            <a:tile tx="19050" ty="-463550" sx="100000" sy="100000" flip="none" algn="tl"/>
          </a:blip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dirty="0">
              <a:ln>
                <a:noFill/>
              </a:ln>
              <a:solidFill>
                <a:srgbClr val="054283"/>
              </a:solidFill>
              <a:effectLst/>
              <a:latin typeface="Verdana" pitchFamily="34" charset="0"/>
              <a:cs typeface="Arial" charset="0"/>
            </a:endParaRPr>
          </a:p>
        </p:txBody>
      </p:sp>
      <p:sp>
        <p:nvSpPr>
          <p:cNvPr id="49" name="Rounded Rectangle 48">
            <a:extLst>
              <a:ext uri="{FF2B5EF4-FFF2-40B4-BE49-F238E27FC236}">
                <a16:creationId xmlns:a16="http://schemas.microsoft.com/office/drawing/2014/main" id="{BC9863FB-EC69-C9E9-53D1-E320326C09FC}"/>
              </a:ext>
            </a:extLst>
          </p:cNvPr>
          <p:cNvSpPr/>
          <p:nvPr/>
        </p:nvSpPr>
        <p:spPr bwMode="auto">
          <a:xfrm>
            <a:off x="737467" y="5314832"/>
            <a:ext cx="7795084" cy="903313"/>
          </a:xfrm>
          <a:prstGeom prst="roundRect">
            <a:avLst/>
          </a:prstGeom>
          <a:blipFill dpi="0" rotWithShape="1">
            <a:blip r:embed="rId9">
              <a:alphaModFix amt="50000"/>
              <a:extLst>
                <a:ext uri="{837473B0-CC2E-450A-ABE3-18F120FF3D39}">
                  <a1611:picAttrSrcUrl xmlns:a1611="http://schemas.microsoft.com/office/drawing/2016/11/main" r:id="rId10"/>
                </a:ext>
              </a:extLst>
            </a:blip>
            <a:srcRect/>
            <a:tile tx="19050" ty="-463550" sx="21000" sy="9000" flip="none" algn="tl"/>
          </a:blip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a:endParaRPr lang="en-US" sz="1100" dirty="0">
              <a:solidFill>
                <a:schemeClr val="tx2"/>
              </a:solidFill>
              <a:latin typeface="Verdana" pitchFamily="34" charset="0"/>
              <a:cs typeface="Arial" charset="0"/>
            </a:endParaRPr>
          </a:p>
        </p:txBody>
      </p:sp>
      <p:sp>
        <p:nvSpPr>
          <p:cNvPr id="40" name="Explosion 1 39">
            <a:extLst>
              <a:ext uri="{FF2B5EF4-FFF2-40B4-BE49-F238E27FC236}">
                <a16:creationId xmlns:a16="http://schemas.microsoft.com/office/drawing/2014/main" id="{C8ACB33F-903E-C1FC-A673-3CDCE61B47C8}"/>
              </a:ext>
            </a:extLst>
          </p:cNvPr>
          <p:cNvSpPr/>
          <p:nvPr/>
        </p:nvSpPr>
        <p:spPr bwMode="auto">
          <a:xfrm>
            <a:off x="1620506" y="2669202"/>
            <a:ext cx="1152160" cy="1048293"/>
          </a:xfrm>
          <a:prstGeom prst="irregularSeal1">
            <a:avLst/>
          </a:prstGeom>
          <a:solidFill>
            <a:schemeClr val="bg2">
              <a:lumMod val="20000"/>
              <a:lumOff val="80000"/>
            </a:schemeClr>
          </a:solidFill>
          <a:ln>
            <a:solidFill>
              <a:srgbClr val="FF0000"/>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rgbClr val="002060"/>
                </a:solidFill>
                <a:effectLst/>
                <a:latin typeface="Verdana" pitchFamily="34" charset="0"/>
                <a:cs typeface="Arial" charset="0"/>
              </a:rPr>
              <a:t>Scope change</a:t>
            </a:r>
          </a:p>
        </p:txBody>
      </p:sp>
      <p:sp>
        <p:nvSpPr>
          <p:cNvPr id="41" name="Explosion 1 40">
            <a:extLst>
              <a:ext uri="{FF2B5EF4-FFF2-40B4-BE49-F238E27FC236}">
                <a16:creationId xmlns:a16="http://schemas.microsoft.com/office/drawing/2014/main" id="{B1ADFA4D-B0BC-6C4D-421C-CEF2B598F8A4}"/>
              </a:ext>
            </a:extLst>
          </p:cNvPr>
          <p:cNvSpPr/>
          <p:nvPr/>
        </p:nvSpPr>
        <p:spPr bwMode="auto">
          <a:xfrm>
            <a:off x="3154843" y="3759951"/>
            <a:ext cx="1168920" cy="1048293"/>
          </a:xfrm>
          <a:prstGeom prst="irregularSeal1">
            <a:avLst/>
          </a:prstGeom>
          <a:solidFill>
            <a:schemeClr val="bg2">
              <a:lumMod val="20000"/>
              <a:lumOff val="80000"/>
            </a:schemeClr>
          </a:solidFill>
          <a:ln>
            <a:solidFill>
              <a:srgbClr val="FF0000"/>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900" b="1" dirty="0">
                <a:solidFill>
                  <a:srgbClr val="002060"/>
                </a:solidFill>
              </a:rPr>
              <a:t>dispute</a:t>
            </a:r>
          </a:p>
        </p:txBody>
      </p:sp>
      <p:sp>
        <p:nvSpPr>
          <p:cNvPr id="42" name="Explosion 1 41">
            <a:extLst>
              <a:ext uri="{FF2B5EF4-FFF2-40B4-BE49-F238E27FC236}">
                <a16:creationId xmlns:a16="http://schemas.microsoft.com/office/drawing/2014/main" id="{2E7C8149-9FE0-F64B-1DBF-0D2FF4023AE1}"/>
              </a:ext>
            </a:extLst>
          </p:cNvPr>
          <p:cNvSpPr/>
          <p:nvPr/>
        </p:nvSpPr>
        <p:spPr bwMode="auto">
          <a:xfrm>
            <a:off x="2014663" y="3706737"/>
            <a:ext cx="1168920" cy="1048293"/>
          </a:xfrm>
          <a:prstGeom prst="irregularSeal1">
            <a:avLst/>
          </a:prstGeom>
          <a:solidFill>
            <a:schemeClr val="bg2">
              <a:lumMod val="20000"/>
              <a:lumOff val="80000"/>
            </a:schemeClr>
          </a:solidFill>
          <a:ln>
            <a:solidFill>
              <a:srgbClr val="FF0000"/>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900" b="1" dirty="0">
                <a:solidFill>
                  <a:srgbClr val="002060"/>
                </a:solidFill>
              </a:rPr>
              <a:t>Add-on</a:t>
            </a:r>
          </a:p>
        </p:txBody>
      </p:sp>
      <p:sp>
        <p:nvSpPr>
          <p:cNvPr id="43" name="Explosion 1 42">
            <a:extLst>
              <a:ext uri="{FF2B5EF4-FFF2-40B4-BE49-F238E27FC236}">
                <a16:creationId xmlns:a16="http://schemas.microsoft.com/office/drawing/2014/main" id="{4B789FAB-9FD8-47E9-FAE5-26B525302E21}"/>
              </a:ext>
            </a:extLst>
          </p:cNvPr>
          <p:cNvSpPr/>
          <p:nvPr/>
        </p:nvSpPr>
        <p:spPr bwMode="auto">
          <a:xfrm>
            <a:off x="4537266" y="2770634"/>
            <a:ext cx="1163571" cy="1048293"/>
          </a:xfrm>
          <a:prstGeom prst="irregularSeal1">
            <a:avLst/>
          </a:prstGeom>
          <a:solidFill>
            <a:schemeClr val="bg2">
              <a:lumMod val="20000"/>
              <a:lumOff val="80000"/>
            </a:schemeClr>
          </a:solidFill>
          <a:ln>
            <a:solidFill>
              <a:srgbClr val="FF0000"/>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r>
              <a:rPr lang="en-US" sz="900" b="1" dirty="0">
                <a:solidFill>
                  <a:srgbClr val="002060"/>
                </a:solidFill>
              </a:rPr>
              <a:t>complaint</a:t>
            </a:r>
          </a:p>
        </p:txBody>
      </p:sp>
      <p:sp>
        <p:nvSpPr>
          <p:cNvPr id="44" name="Explosion 1 43">
            <a:extLst>
              <a:ext uri="{FF2B5EF4-FFF2-40B4-BE49-F238E27FC236}">
                <a16:creationId xmlns:a16="http://schemas.microsoft.com/office/drawing/2014/main" id="{0A84AE42-D5A9-1B6D-1376-E4C5005DEEA7}"/>
              </a:ext>
            </a:extLst>
          </p:cNvPr>
          <p:cNvSpPr/>
          <p:nvPr/>
        </p:nvSpPr>
        <p:spPr bwMode="auto">
          <a:xfrm>
            <a:off x="4404625" y="3747290"/>
            <a:ext cx="1163571" cy="1048293"/>
          </a:xfrm>
          <a:prstGeom prst="irregularSeal1">
            <a:avLst/>
          </a:prstGeom>
          <a:solidFill>
            <a:schemeClr val="bg2">
              <a:lumMod val="20000"/>
              <a:lumOff val="80000"/>
            </a:schemeClr>
          </a:solidFill>
          <a:ln>
            <a:solidFill>
              <a:srgbClr val="FF0000"/>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900" b="1" dirty="0">
                <a:solidFill>
                  <a:srgbClr val="002060"/>
                </a:solidFill>
              </a:rPr>
              <a:t>Legislation change</a:t>
            </a:r>
          </a:p>
        </p:txBody>
      </p:sp>
      <p:sp>
        <p:nvSpPr>
          <p:cNvPr id="45" name="Explosion 1 44">
            <a:extLst>
              <a:ext uri="{FF2B5EF4-FFF2-40B4-BE49-F238E27FC236}">
                <a16:creationId xmlns:a16="http://schemas.microsoft.com/office/drawing/2014/main" id="{F5E24170-2F30-0032-341F-6682B060189C}"/>
              </a:ext>
            </a:extLst>
          </p:cNvPr>
          <p:cNvSpPr/>
          <p:nvPr/>
        </p:nvSpPr>
        <p:spPr bwMode="auto">
          <a:xfrm>
            <a:off x="3173302" y="2770633"/>
            <a:ext cx="1168920" cy="1048293"/>
          </a:xfrm>
          <a:prstGeom prst="irregularSeal1">
            <a:avLst/>
          </a:prstGeom>
          <a:solidFill>
            <a:schemeClr val="bg2">
              <a:lumMod val="20000"/>
              <a:lumOff val="80000"/>
            </a:schemeClr>
          </a:solidFill>
          <a:ln>
            <a:solidFill>
              <a:srgbClr val="FF0000"/>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rgbClr val="002060"/>
                </a:solidFill>
                <a:effectLst/>
                <a:latin typeface="Verdana" pitchFamily="34" charset="0"/>
                <a:cs typeface="Arial" charset="0"/>
              </a:rPr>
              <a:t>dissatisfaction</a:t>
            </a:r>
          </a:p>
        </p:txBody>
      </p:sp>
      <p:sp>
        <p:nvSpPr>
          <p:cNvPr id="46" name="Explosion 1 45">
            <a:extLst>
              <a:ext uri="{FF2B5EF4-FFF2-40B4-BE49-F238E27FC236}">
                <a16:creationId xmlns:a16="http://schemas.microsoft.com/office/drawing/2014/main" id="{9EFC702E-44B7-7257-25D0-EE3BB8E5DCC9}"/>
              </a:ext>
            </a:extLst>
          </p:cNvPr>
          <p:cNvSpPr/>
          <p:nvPr/>
        </p:nvSpPr>
        <p:spPr bwMode="auto">
          <a:xfrm>
            <a:off x="5895018" y="2658444"/>
            <a:ext cx="1152160" cy="1048293"/>
          </a:xfrm>
          <a:prstGeom prst="irregularSeal1">
            <a:avLst/>
          </a:prstGeom>
          <a:solidFill>
            <a:schemeClr val="bg2">
              <a:lumMod val="20000"/>
              <a:lumOff val="80000"/>
            </a:schemeClr>
          </a:solidFill>
          <a:ln>
            <a:solidFill>
              <a:srgbClr val="FF0000"/>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rgbClr val="002060"/>
                </a:solidFill>
                <a:effectLst/>
                <a:latin typeface="Verdana" pitchFamily="34" charset="0"/>
                <a:cs typeface="Arial" charset="0"/>
              </a:rPr>
              <a:t>Scope change</a:t>
            </a:r>
          </a:p>
        </p:txBody>
      </p:sp>
      <p:sp>
        <p:nvSpPr>
          <p:cNvPr id="47" name="Explosion 1 46">
            <a:extLst>
              <a:ext uri="{FF2B5EF4-FFF2-40B4-BE49-F238E27FC236}">
                <a16:creationId xmlns:a16="http://schemas.microsoft.com/office/drawing/2014/main" id="{8B4ACAA7-6C0E-6DCC-7B39-1975186BB02E}"/>
              </a:ext>
            </a:extLst>
          </p:cNvPr>
          <p:cNvSpPr/>
          <p:nvPr/>
        </p:nvSpPr>
        <p:spPr bwMode="auto">
          <a:xfrm>
            <a:off x="5665718" y="3734731"/>
            <a:ext cx="1152160" cy="1048293"/>
          </a:xfrm>
          <a:prstGeom prst="irregularSeal1">
            <a:avLst/>
          </a:prstGeom>
          <a:solidFill>
            <a:schemeClr val="bg2">
              <a:lumMod val="20000"/>
              <a:lumOff val="80000"/>
            </a:schemeClr>
          </a:solidFill>
          <a:ln>
            <a:solidFill>
              <a:srgbClr val="FF0000"/>
            </a:solidFill>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rgbClr val="002060"/>
                </a:solidFill>
                <a:effectLst/>
                <a:latin typeface="Verdana" pitchFamily="34" charset="0"/>
                <a:cs typeface="Arial" charset="0"/>
              </a:rPr>
              <a:t>New requirement</a:t>
            </a:r>
          </a:p>
        </p:txBody>
      </p:sp>
      <p:sp>
        <p:nvSpPr>
          <p:cNvPr id="6" name="Date Placeholder 5">
            <a:extLst>
              <a:ext uri="{FF2B5EF4-FFF2-40B4-BE49-F238E27FC236}">
                <a16:creationId xmlns:a16="http://schemas.microsoft.com/office/drawing/2014/main" id="{EF92543D-8EF9-807F-9642-1B845F4721EC}"/>
              </a:ext>
            </a:extLst>
          </p:cNvPr>
          <p:cNvSpPr>
            <a:spLocks noGrp="1"/>
          </p:cNvSpPr>
          <p:nvPr>
            <p:ph type="dt" sz="half" idx="2"/>
          </p:nvPr>
        </p:nvSpPr>
        <p:spPr/>
        <p:txBody>
          <a:bodyPr/>
          <a:lstStyle/>
          <a:p>
            <a:fld id="{A7F1BE19-C691-489A-ADF2-B32074366D94}" type="datetime1">
              <a:rPr lang="nl-NL" smtClean="0"/>
              <a:t>19-4-2026</a:t>
            </a:fld>
            <a:endParaRPr lang="en-GB" sz="900" b="1" i="1" kern="1200" dirty="0">
              <a:solidFill>
                <a:srgbClr val="002060"/>
              </a:solidFill>
              <a:effectLst>
                <a:outerShdw blurRad="38100" dist="38100" dir="2700000" algn="tl">
                  <a:srgbClr val="C0C0C0"/>
                </a:outerShdw>
              </a:effectLst>
              <a:latin typeface="Arial" charset="0"/>
              <a:ea typeface="+mn-ea"/>
              <a:cs typeface="Arial" charset="0"/>
            </a:endParaRPr>
          </a:p>
        </p:txBody>
      </p:sp>
      <p:sp>
        <p:nvSpPr>
          <p:cNvPr id="7" name="Footer Placeholder 6">
            <a:extLst>
              <a:ext uri="{FF2B5EF4-FFF2-40B4-BE49-F238E27FC236}">
                <a16:creationId xmlns:a16="http://schemas.microsoft.com/office/drawing/2014/main" id="{D436E98B-A019-9097-A764-14748D5C54F3}"/>
              </a:ext>
            </a:extLst>
          </p:cNvPr>
          <p:cNvSpPr>
            <a:spLocks noGrp="1"/>
          </p:cNvSpPr>
          <p:nvPr>
            <p:ph type="ftr" sz="quarter" idx="3"/>
          </p:nvPr>
        </p:nvSpPr>
        <p:spPr/>
        <p:txBody>
          <a:bodyPr/>
          <a:lstStyle/>
          <a:p>
            <a:pPr algn="l"/>
            <a:r>
              <a:rPr lang="en-US" dirty="0"/>
              <a:t>AI-Powered Contract Intelligence</a:t>
            </a:r>
            <a:endParaRPr lang="en-GB" i="1" dirty="0"/>
          </a:p>
        </p:txBody>
      </p:sp>
      <p:sp>
        <p:nvSpPr>
          <p:cNvPr id="9" name="TextBox 8">
            <a:extLst>
              <a:ext uri="{FF2B5EF4-FFF2-40B4-BE49-F238E27FC236}">
                <a16:creationId xmlns:a16="http://schemas.microsoft.com/office/drawing/2014/main" id="{A0CE077F-9538-36D5-1B9D-0DEBDBD4D7C0}"/>
              </a:ext>
            </a:extLst>
          </p:cNvPr>
          <p:cNvSpPr txBox="1"/>
          <p:nvPr/>
        </p:nvSpPr>
        <p:spPr>
          <a:xfrm>
            <a:off x="2599123" y="1953870"/>
            <a:ext cx="4621946" cy="646331"/>
          </a:xfrm>
          <a:prstGeom prst="rect">
            <a:avLst/>
          </a:prstGeom>
          <a:noFill/>
        </p:spPr>
        <p:txBody>
          <a:bodyPr wrap="square">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3600" b="1" i="0" u="none" strike="noStrike" cap="none" normalizeH="0" baseline="0" dirty="0">
                <a:ln>
                  <a:noFill/>
                </a:ln>
                <a:solidFill>
                  <a:srgbClr val="054283">
                    <a:alpha val="50000"/>
                  </a:srgbClr>
                </a:solidFill>
                <a:effectLst/>
                <a:latin typeface="Verdana" pitchFamily="34" charset="0"/>
                <a:cs typeface="Arial" charset="0"/>
              </a:rPr>
              <a:t>CLIENT</a:t>
            </a:r>
          </a:p>
        </p:txBody>
      </p:sp>
      <p:sp>
        <p:nvSpPr>
          <p:cNvPr id="11" name="TextBox 10">
            <a:extLst>
              <a:ext uri="{FF2B5EF4-FFF2-40B4-BE49-F238E27FC236}">
                <a16:creationId xmlns:a16="http://schemas.microsoft.com/office/drawing/2014/main" id="{6E76C6CE-20AF-77DE-04CB-AB9651CB1C1D}"/>
              </a:ext>
            </a:extLst>
          </p:cNvPr>
          <p:cNvSpPr txBox="1"/>
          <p:nvPr/>
        </p:nvSpPr>
        <p:spPr>
          <a:xfrm>
            <a:off x="3424533" y="5033206"/>
            <a:ext cx="4621946" cy="646331"/>
          </a:xfrm>
          <a:prstGeom prst="rect">
            <a:avLst/>
          </a:prstGeom>
          <a:noFill/>
        </p:spPr>
        <p:txBody>
          <a:bodyPr wrap="square">
            <a:spAutoFit/>
          </a:bodyPr>
          <a:lstStyle/>
          <a:p>
            <a:r>
              <a:rPr lang="en-US" b="1" dirty="0">
                <a:solidFill>
                  <a:srgbClr val="054283">
                    <a:alpha val="50000"/>
                  </a:srgbClr>
                </a:solidFill>
              </a:rPr>
              <a:t>SUPPLIER</a:t>
            </a:r>
            <a:endParaRPr lang="en-GB" b="1" dirty="0">
              <a:solidFill>
                <a:srgbClr val="054283">
                  <a:alpha val="50000"/>
                </a:srgbClr>
              </a:solidFill>
            </a:endParaRPr>
          </a:p>
        </p:txBody>
      </p:sp>
      <p:sp>
        <p:nvSpPr>
          <p:cNvPr id="4" name="TextBox 3">
            <a:extLst>
              <a:ext uri="{FF2B5EF4-FFF2-40B4-BE49-F238E27FC236}">
                <a16:creationId xmlns:a16="http://schemas.microsoft.com/office/drawing/2014/main" id="{B1533A22-36E9-6D4F-90EB-D3C634AA579D}"/>
              </a:ext>
            </a:extLst>
          </p:cNvPr>
          <p:cNvSpPr txBox="1"/>
          <p:nvPr/>
        </p:nvSpPr>
        <p:spPr>
          <a:xfrm>
            <a:off x="-4244229" y="956604"/>
            <a:ext cx="4621426" cy="2862322"/>
          </a:xfrm>
          <a:prstGeom prst="rect">
            <a:avLst/>
          </a:prstGeom>
          <a:noFill/>
        </p:spPr>
        <p:txBody>
          <a:bodyPr wrap="square">
            <a:spAutoFit/>
          </a:bodyPr>
          <a:lstStyle/>
          <a:p>
            <a:r>
              <a:rPr lang="en-GB" dirty="0" err="1"/>
              <a:t>Vervang</a:t>
            </a:r>
            <a:r>
              <a:rPr lang="en-GB" dirty="0"/>
              <a:t> met </a:t>
            </a:r>
            <a:r>
              <a:rPr lang="en-GB" dirty="0" err="1"/>
              <a:t>uitspraken</a:t>
            </a:r>
            <a:r>
              <a:rPr lang="en-GB" dirty="0"/>
              <a:t> </a:t>
            </a:r>
            <a:r>
              <a:rPr lang="en-GB" dirty="0" err="1"/>
              <a:t>ukt</a:t>
            </a:r>
            <a:r>
              <a:rPr lang="en-GB" dirty="0"/>
              <a:t> </a:t>
            </a:r>
            <a:r>
              <a:rPr lang="en-GB" dirty="0" err="1"/>
              <a:t>bedrijven</a:t>
            </a:r>
            <a:r>
              <a:rPr lang="en-GB" dirty="0"/>
              <a:t>… : e.g. volume </a:t>
            </a:r>
            <a:r>
              <a:rPr lang="en-GB" dirty="0" err="1"/>
              <a:t>dicountMultistrat</a:t>
            </a:r>
            <a:r>
              <a:rPr lang="en-GB" dirty="0"/>
              <a:t> </a:t>
            </a:r>
          </a:p>
        </p:txBody>
      </p:sp>
    </p:spTree>
    <p:extLst>
      <p:ext uri="{BB962C8B-B14F-4D97-AF65-F5344CB8AC3E}">
        <p14:creationId xmlns:p14="http://schemas.microsoft.com/office/powerpoint/2010/main" val="4101278028"/>
      </p:ext>
    </p:extLst>
  </p:cSld>
  <p:clrMapOvr>
    <a:masterClrMapping/>
  </p:clrMapOvr>
</p:sld>
</file>

<file path=ppt/theme/theme1.xml><?xml version="1.0" encoding="utf-8"?>
<a:theme xmlns:a="http://schemas.openxmlformats.org/drawingml/2006/main" name="Informatcis Presentation">
  <a:themeElements>
    <a:clrScheme name="Informatcis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Informatcis Presentation">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accent5">
              <a:lumMod val="75000"/>
            </a:schemeClr>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1100" b="0" i="0" u="none" strike="noStrike" cap="none" normalizeH="0" baseline="0" dirty="0" smtClean="0">
            <a:ln>
              <a:noFill/>
            </a:ln>
            <a:solidFill>
              <a:schemeClr val="tx2"/>
            </a:solidFill>
            <a:effectLst/>
            <a:latin typeface="Verdana" pitchFamily="34" charset="0"/>
            <a:cs typeface="Arial" charset="0"/>
          </a:defRPr>
        </a:defPPr>
      </a:lstStyle>
    </a:spDef>
    <a:lnDef>
      <a:spPr bwMode="auto">
        <a:noFill/>
        <a:ln w="9525" cap="flat" cmpd="sng" algn="ctr">
          <a:solidFill>
            <a:schemeClr val="accent2">
              <a:lumMod val="75000"/>
            </a:schemeClr>
          </a:solidFill>
          <a:prstDash val="solid"/>
          <a:round/>
          <a:headEnd type="none" w="med" len="med"/>
          <a:tailEnd type="none"/>
        </a:ln>
        <a:effectLst/>
      </a:spPr>
      <a:bodyPr/>
      <a:lstStyle/>
    </a:lnDef>
  </a:objectDefaults>
  <a:extraClrSchemeLst>
    <a:extraClrScheme>
      <a:clrScheme name="Informatcis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nformatcis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nformatcis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nformatcis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nformatcis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nformatcis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nformatcis Presentatio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nformatcis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nformatcis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nformatcis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nformatcis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nformatcis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Informatcis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66A54743C2BC48B3424399F3CA9005" ma:contentTypeVersion="6" ma:contentTypeDescription="Create a new document." ma:contentTypeScope="" ma:versionID="aa284a500ef9047c2fd9f1e6bdf1283e">
  <xsd:schema xmlns:xsd="http://www.w3.org/2001/XMLSchema" xmlns:xs="http://www.w3.org/2001/XMLSchema" xmlns:p="http://schemas.microsoft.com/office/2006/metadata/properties" xmlns:ns2="http://schemas.microsoft.com/sharepoint/v3/fields" xmlns:ns3="571db7d5-d68e-4462-b2ba-832951d90f7c" targetNamespace="http://schemas.microsoft.com/office/2006/metadata/properties" ma:root="true" ma:fieldsID="fb219a9c5dbdfa73f54e55e30f1624cf" ns2:_="" ns3:_="">
    <xsd:import namespace="http://schemas.microsoft.com/sharepoint/v3/fields"/>
    <xsd:import namespace="571db7d5-d68e-4462-b2ba-832951d90f7c"/>
    <xsd:element name="properties">
      <xsd:complexType>
        <xsd:sequence>
          <xsd:element name="documentManagement">
            <xsd:complexType>
              <xsd:all>
                <xsd:element ref="ns2:_Version" minOccurs="0"/>
                <xsd:element ref="ns3:Document_x0020_Type" minOccurs="0"/>
                <xsd:element ref="ns3:Received" minOccurs="0"/>
                <xsd:element ref="ns3:Sent_x002f_Publish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1" nillable="true" ma:displayName="Version" ma:internalName="_Vers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71db7d5-d68e-4462-b2ba-832951d90f7c" elementFormDefault="qualified">
    <xsd:import namespace="http://schemas.microsoft.com/office/2006/documentManagement/types"/>
    <xsd:import namespace="http://schemas.microsoft.com/office/infopath/2007/PartnerControls"/>
    <xsd:element name="Document_x0020_Type" ma:index="2" nillable="true" ma:displayName="Document Type" ma:format="Dropdown" ma:indexed="true" ma:internalName="Document_x0020_Type">
      <xsd:simpleType>
        <xsd:restriction base="dms:Choice">
          <xsd:enumeration value="Contract"/>
          <xsd:enumeration value="General info"/>
          <xsd:enumeration value="Meeting"/>
          <xsd:enumeration value="Proposal"/>
        </xsd:restriction>
      </xsd:simpleType>
    </xsd:element>
    <xsd:element name="Received" ma:index="3" nillable="true" ma:displayName="Received" ma:description="Date of receipt" ma:format="DateOnly" ma:internalName="Received">
      <xsd:simpleType>
        <xsd:restriction base="dms:DateTime"/>
      </xsd:simpleType>
    </xsd:element>
    <xsd:element name="Sent_x002f_Published" ma:index="4" nillable="true" ma:displayName="Sent/Published" ma:description="Date this document is send or published outside the organisation" ma:format="DateOnly" ma:internalName="Sent_x002f_Published">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8" ma:displayName="Content Type"/>
        <xsd:element ref="dc:title" minOccurs="0" maxOccurs="1" ma:index="5" ma:displayName="Title"/>
        <xsd:element ref="dc:subject" minOccurs="0" maxOccurs="1"/>
        <xsd:element ref="dc:description" minOccurs="0" maxOccurs="1" ma:index="12" ma:displayName="Comments"/>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Sent_x002f_Published xmlns="571db7d5-d68e-4462-b2ba-832951d90f7c" xsi:nil="true"/>
    <Received xmlns="571db7d5-d68e-4462-b2ba-832951d90f7c" xsi:nil="true"/>
    <Document_x0020_Type xmlns="571db7d5-d68e-4462-b2ba-832951d90f7c" xsi:nil="true"/>
  </documentManagement>
</p:properties>
</file>

<file path=customXml/itemProps1.xml><?xml version="1.0" encoding="utf-8"?>
<ds:datastoreItem xmlns:ds="http://schemas.openxmlformats.org/officeDocument/2006/customXml" ds:itemID="{BC1418AE-670D-49F7-A26D-D435E4802F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571db7d5-d68e-4462-b2ba-832951d90f7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09DB956-105B-4971-B706-4021CB0BAC1A}">
  <ds:schemaRefs>
    <ds:schemaRef ds:uri="http://schemas.microsoft.com/sharepoint/v3/contenttype/forms"/>
  </ds:schemaRefs>
</ds:datastoreItem>
</file>

<file path=customXml/itemProps3.xml><?xml version="1.0" encoding="utf-8"?>
<ds:datastoreItem xmlns:ds="http://schemas.openxmlformats.org/officeDocument/2006/customXml" ds:itemID="{A4F32B40-BB5B-463F-8525-F37640531401}">
  <ds:schemaRefs>
    <ds:schemaRef ds:uri="http://schemas.microsoft.com/office/2006/metadata/properties"/>
    <ds:schemaRef ds:uri="http://schemas.microsoft.com/office/infopath/2007/PartnerControls"/>
    <ds:schemaRef ds:uri="http://schemas.microsoft.com/sharepoint/v3/fields"/>
    <ds:schemaRef ds:uri="571db7d5-d68e-4462-b2ba-832951d90f7c"/>
  </ds:schemaRefs>
</ds:datastoreItem>
</file>

<file path=docProps/app.xml><?xml version="1.0" encoding="utf-8"?>
<Properties xmlns="http://schemas.openxmlformats.org/officeDocument/2006/extended-properties" xmlns:vt="http://schemas.openxmlformats.org/officeDocument/2006/docPropsVTypes">
  <Template/>
  <TotalTime>24079</TotalTime>
  <Words>2745</Words>
  <Application>Microsoft Office PowerPoint</Application>
  <PresentationFormat>On-screen Show (4:3)</PresentationFormat>
  <Paragraphs>333</Paragraphs>
  <Slides>15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Verdana</vt:lpstr>
      <vt:lpstr>Wingdings</vt:lpstr>
      <vt:lpstr>Informatcis Presentation</vt:lpstr>
      <vt:lpstr> Reducing Contract Value Leakage Through Active Contract Management</vt:lpstr>
      <vt:lpstr>Contract Value Leakages happens across Buy Side and Sell Side</vt:lpstr>
      <vt:lpstr>Why Active Contract Management Is a Commercial Imperative</vt:lpstr>
      <vt:lpstr>Evaluetor connects  contracts with the outside world, using connecters to where conditions are measurable (e.g. Volumes@ERP, SLA@ServiceNow, FX@ECB website)</vt:lpstr>
      <vt:lpstr>                 One platform. Complete intelligence. From upload to intelligence in minutes </vt:lpstr>
      <vt:lpstr>Obligation Tracking: never miss a commitment</vt:lpstr>
      <vt:lpstr>Risk Detection: see what others miss</vt:lpstr>
      <vt:lpstr>SLA Monitoring: recover what you’re owed</vt:lpstr>
      <vt:lpstr>Relationship Governance: only in Evaluetor</vt:lpstr>
      <vt:lpstr>Measurable impact from day one</vt:lpstr>
      <vt:lpstr> Value delivered</vt:lpstr>
      <vt:lpstr>Contact</vt:lpstr>
      <vt:lpstr>AI-native.  Not AI-bolted-on.</vt:lpstr>
      <vt:lpstr>Backup slides</vt:lpstr>
      <vt:lpstr>Supporting the Contract lifecycle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 Contract Services</dc:title>
  <dc:subject/>
  <dc:creator>Steven</dc:creator>
  <cp:keywords/>
  <dc:description/>
  <cp:lastModifiedBy>Steven-Laptop</cp:lastModifiedBy>
  <cp:revision>1050</cp:revision>
  <cp:lastPrinted>2012-07-02T16:24:42Z</cp:lastPrinted>
  <dcterms:created xsi:type="dcterms:W3CDTF">2009-06-02T08:52:51Z</dcterms:created>
  <dcterms:modified xsi:type="dcterms:W3CDTF">2026-04-19T12:29:50Z</dcterms:modified>
  <cp:category/>
  <cp:contentStatus>Approved for client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0x010100C766A54743C2BC48B3424399F3CA9005</vt:lpwstr>
  </property>
  <property fmtid="{D5CDD505-2E9C-101B-9397-08002B2CF9AE}" pid="3" name="AddDocumentEventProcessedId">
    <vt:lpwstr>07c884e2-237a-4e02-81a0-3a4c61b08c4a</vt:lpwstr>
  </property>
  <property fmtid="{D5CDD505-2E9C-101B-9397-08002B2CF9AE}" pid="4" name="AutoVersionDisabled">
    <vt:lpwstr>0</vt:lpwstr>
  </property>
  <property fmtid="{D5CDD505-2E9C-101B-9397-08002B2CF9AE}" pid="5" name="ItemType">
    <vt:lpwstr>1</vt:lpwstr>
  </property>
  <property fmtid="{D5CDD505-2E9C-101B-9397-08002B2CF9AE}" pid="6" name="Order">
    <vt:lpwstr/>
  </property>
  <property fmtid="{D5CDD505-2E9C-101B-9397-08002B2CF9AE}" pid="7" name="MetaInfo">
    <vt:lpwstr/>
  </property>
  <property fmtid="{D5CDD505-2E9C-101B-9397-08002B2CF9AE}" pid="8" name="Description">
    <vt:lpwstr/>
  </property>
</Properties>
</file>