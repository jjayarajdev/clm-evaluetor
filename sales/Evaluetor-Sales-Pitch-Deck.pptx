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6304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304" y="0"/>
            <a:ext cx="6095390" cy="4572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029200" y="1463040"/>
            <a:ext cx="2103120" cy="4572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0" y="1481328"/>
            <a:ext cx="21031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400" b="1">
                <a:solidFill>
                  <a:srgbClr val="A78BFA"/>
                </a:solidFill>
                <a:latin typeface="Calibri"/>
              </a:defRPr>
            </a:pPr>
            <a:r>
              <a:t>EVALUETOR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286000"/>
            <a:ext cx="94183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Your contracts hold the answers.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3200400"/>
            <a:ext cx="94183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400" b="1">
                <a:solidFill>
                  <a:srgbClr val="FB923C"/>
                </a:solidFill>
                <a:latin typeface="Calibri"/>
              </a:defRPr>
            </a:pPr>
            <a:r>
              <a:t>Now you can find them.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86000" y="4297680"/>
            <a:ext cx="758952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0">
                <a:solidFill>
                  <a:srgbClr val="9CA3AF"/>
                </a:solidFill>
                <a:latin typeface="Calibri"/>
              </a:defRPr>
            </a:pPr>
            <a:r>
              <a:t>AI-native contract intelligence that makes your contracts transparent, measurable, and actionable — in minutes, not months.</a:t>
            </a:r>
          </a:p>
        </p:txBody>
      </p:sp>
      <p:sp>
        <p:nvSpPr>
          <p:cNvPr id="9" name="Oval 8"/>
          <p:cNvSpPr/>
          <p:nvPr/>
        </p:nvSpPr>
        <p:spPr>
          <a:xfrm>
            <a:off x="3200400" y="5440680"/>
            <a:ext cx="109728" cy="109728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383280" y="5349240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B7280"/>
                </a:solidFill>
                <a:latin typeface="Calibri"/>
              </a:defRPr>
            </a:pPr>
            <a:r>
              <a:t>Contract Intelligence</a:t>
            </a:r>
          </a:p>
        </p:txBody>
      </p:sp>
      <p:sp>
        <p:nvSpPr>
          <p:cNvPr id="11" name="Oval 10"/>
          <p:cNvSpPr/>
          <p:nvPr/>
        </p:nvSpPr>
        <p:spPr>
          <a:xfrm>
            <a:off x="5303520" y="5440680"/>
            <a:ext cx="109728" cy="109728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0" y="5349240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B7280"/>
                </a:solidFill>
                <a:latin typeface="Calibri"/>
              </a:defRPr>
            </a:pPr>
            <a:r>
              <a:t>Relationship Governance</a:t>
            </a:r>
          </a:p>
        </p:txBody>
      </p:sp>
      <p:sp>
        <p:nvSpPr>
          <p:cNvPr id="13" name="Oval 12"/>
          <p:cNvSpPr/>
          <p:nvPr/>
        </p:nvSpPr>
        <p:spPr>
          <a:xfrm>
            <a:off x="7406640" y="5440680"/>
            <a:ext cx="109728" cy="109728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589520" y="5349240"/>
            <a:ext cx="18288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6B7280"/>
                </a:solidFill>
                <a:latin typeface="Calibri"/>
              </a:defRPr>
            </a:pPr>
            <a:r>
              <a:t>Enterprise Security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630936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evaluetor.com  |  AI-Powered Contract Intelligence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F87171"/>
                </a:solidFill>
                <a:latin typeface="Calibri"/>
              </a:defRPr>
            </a:pPr>
            <a:r>
              <a:t>THE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The gap between signing and managing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3152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9CA3AF"/>
                </a:solidFill>
                <a:latin typeface="Calibri"/>
              </a:defRPr>
            </a:pPr>
            <a:r>
              <a:t>Contracts are negotiated carefully, then stored away. The obligations, SLAs, and renewal terms inside them often go unmonitored — leaving real value on the table.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743200"/>
            <a:ext cx="3291840" cy="32004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017520"/>
            <a:ext cx="25603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800" b="1">
                <a:solidFill>
                  <a:srgbClr val="FB923C"/>
                </a:solidFill>
                <a:latin typeface="Calibri"/>
              </a:defRPr>
            </a:pPr>
            <a:r>
              <a:t>60%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3840480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Limited Visibility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389120"/>
            <a:ext cx="25603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9CA3AF"/>
                </a:solidFill>
                <a:latin typeface="Calibri"/>
              </a:defRPr>
            </a:pPr>
            <a:r>
              <a:t>of enterprises struggle to surface</a:t>
            </a:r>
            <a:br/>
            <a:r>
              <a:t>what’s actually inside their</a:t>
            </a:r>
            <a:br/>
            <a:r>
              <a:t>contract portfolio.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743200"/>
            <a:ext cx="3291840" cy="32004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754880" y="3017520"/>
            <a:ext cx="25603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800" b="1">
                <a:solidFill>
                  <a:srgbClr val="F87171"/>
                </a:solidFill>
                <a:latin typeface="Calibri"/>
              </a:defRPr>
            </a:pPr>
            <a:r>
              <a:t>$2M+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54880" y="3840480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Value at Risk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54880" y="4389120"/>
            <a:ext cx="25603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9CA3AF"/>
                </a:solidFill>
                <a:latin typeface="Calibri"/>
              </a:defRPr>
            </a:pPr>
            <a:r>
              <a:t>lost annually to missed obligations,</a:t>
            </a:r>
            <a:br/>
            <a:r>
              <a:t>unnoticed auto-renewals, and</a:t>
            </a:r>
            <a:br/>
            <a:r>
              <a:t>penalties that could be avoided.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2743200"/>
            <a:ext cx="3291840" cy="32004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0" y="3017520"/>
            <a:ext cx="256032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800" b="1">
                <a:solidFill>
                  <a:srgbClr val="FB923C"/>
                </a:solidFill>
                <a:latin typeface="Calibri"/>
              </a:defRPr>
            </a:pPr>
            <a:r>
              <a:t>15–30%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3840480"/>
            <a:ext cx="2560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2000" b="1">
                <a:solidFill>
                  <a:srgbClr val="FFFFFF"/>
                </a:solidFill>
                <a:latin typeface="Calibri"/>
              </a:defRPr>
            </a:pPr>
            <a:r>
              <a:t>Unclaimed Credits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4389120"/>
            <a:ext cx="256032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0">
                <a:solidFill>
                  <a:srgbClr val="9CA3AF"/>
                </a:solidFill>
                <a:latin typeface="Calibri"/>
              </a:defRPr>
            </a:pPr>
            <a:r>
              <a:t>of SLA service credits go unrecovered.</a:t>
            </a:r>
            <a:br/>
            <a:r>
              <a:t>Breaches happen — the challenge</a:t>
            </a:r>
            <a:br/>
            <a:r>
              <a:t>is detecting them in time.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6304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304" y="0"/>
            <a:ext cx="6095390" cy="4572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A78BFA"/>
                </a:solidFill>
                <a:latin typeface="Calibri"/>
              </a:defRPr>
            </a:pPr>
            <a:r>
              <a:t>THE SOLUTION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One platform. Complete intelligence.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9CA3AF"/>
                </a:solidFill>
                <a:latin typeface="Calibri"/>
              </a:defRPr>
            </a:pPr>
            <a:r>
              <a:t>9 specialized AI agents extract, analyze, and monitor everything in your contracts — automatically.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468880"/>
            <a:ext cx="3291840" cy="19202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5840" y="2788920"/>
            <a:ext cx="128016" cy="128016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234440" y="2697480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Contract Intelligence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154680"/>
            <a:ext cx="27432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9CA3AF"/>
                </a:solidFill>
                <a:latin typeface="Calibri"/>
              </a:defRPr>
            </a:pPr>
            <a:r>
              <a:t>AI extracts metadata, 30+ clause types, and risks across 10 categories. Full semantic search across entire portfolio.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89120" y="2468880"/>
            <a:ext cx="3291840" cy="19202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663440" y="2788920"/>
            <a:ext cx="128016" cy="128016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892040" y="2697480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Obligation Tracking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3154680"/>
            <a:ext cx="27432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9CA3AF"/>
                </a:solidFill>
                <a:latin typeface="Calibri"/>
              </a:defRPr>
            </a:pPr>
            <a:r>
              <a:t>RAG status indicators, owner assignment, escalation paths, and automated deadline alerts. Never miss a commitment.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046720" y="2468880"/>
            <a:ext cx="3291840" cy="19202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321040" y="2788920"/>
            <a:ext cx="128016" cy="128016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49640" y="2697480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SLA Monitoring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21040" y="3154680"/>
            <a:ext cx="27432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9CA3AF"/>
                </a:solidFill>
                <a:latin typeface="Calibri"/>
              </a:defRPr>
            </a:pPr>
            <a:r>
              <a:t>Real-time breach detection, service credit calculation, and vendor scorecards. Know when performance falls short.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4663440"/>
            <a:ext cx="3291840" cy="19202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5840" y="4983480"/>
            <a:ext cx="128016" cy="128016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4440" y="4892040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Renewal Management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5349240"/>
            <a:ext cx="27432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9CA3AF"/>
                </a:solidFill>
                <a:latin typeface="Calibri"/>
              </a:defRPr>
            </a:pPr>
            <a:r>
              <a:t>Auto-renewal detection, notice period tracking, and AI-powered renewal recommendations. Stay ahead of every date.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89120" y="4663440"/>
            <a:ext cx="3291840" cy="19202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4663440" y="4983480"/>
            <a:ext cx="128016" cy="128016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892040" y="4892040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Relationship Governance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5349240"/>
            <a:ext cx="27432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9CA3AF"/>
                </a:solidFill>
                <a:latin typeface="Calibri"/>
              </a:defRPr>
            </a:pPr>
            <a:r>
              <a:t>KPI perception gap analysis, vendor health scores, satisfaction surveys, and improvement tracking. Only available in Evaluetor.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046720" y="4663440"/>
            <a:ext cx="3291840" cy="19202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8321040" y="4983480"/>
            <a:ext cx="128016" cy="128016"/>
          </a:xfrm>
          <a:prstGeom prst="ellipse">
            <a:avLst/>
          </a:prstGeom>
          <a:solidFill>
            <a:srgbClr val="22D3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49640" y="4892040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Enterprise Security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21040" y="5349240"/>
            <a:ext cx="274320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9CA3AF"/>
                </a:solidFill>
                <a:latin typeface="Calibri"/>
              </a:defRPr>
            </a:pPr>
            <a:r>
              <a:t>SOC 2-ready architecture, GDPR-aware, AES-256 encryption, role-based access, multi-tenant isolation, full audit trails.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A78BFA"/>
                </a:solidFill>
                <a:latin typeface="Calibri"/>
              </a:defRPr>
            </a:pPr>
            <a:r>
              <a:t>HOW IT WORKS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From upload to intelligence in minutes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9CA3AF"/>
                </a:solidFill>
                <a:latin typeface="Calibri"/>
              </a:defRPr>
            </a:pPr>
            <a:r>
              <a:t>No templates. No pre-configuration. No training required. Just upload and go.</a:t>
            </a:r>
          </a:p>
        </p:txBody>
      </p:sp>
      <p:sp>
        <p:nvSpPr>
          <p:cNvPr id="6" name="Rectangle 5"/>
          <p:cNvSpPr/>
          <p:nvPr/>
        </p:nvSpPr>
        <p:spPr>
          <a:xfrm>
            <a:off x="2011680" y="3703320"/>
            <a:ext cx="8229600" cy="27432"/>
          </a:xfrm>
          <a:prstGeom prst="rect">
            <a:avLst/>
          </a:prstGeom>
          <a:solidFill>
            <a:srgbClr val="373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554480" y="3017520"/>
            <a:ext cx="1005840" cy="1005840"/>
          </a:xfrm>
          <a:prstGeom prst="ellipse">
            <a:avLst/>
          </a:prstGeom>
          <a:solidFill>
            <a:srgbClr val="030712"/>
          </a:solidFill>
          <a:ln w="254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3154680"/>
            <a:ext cx="100584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A78BFA"/>
                </a:solidFill>
                <a:latin typeface="Calibri"/>
              </a:defRPr>
            </a:pPr>
            <a: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4297680"/>
            <a:ext cx="1920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Upload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4754880"/>
            <a:ext cx="219456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9CA3AF"/>
                </a:solidFill>
                <a:latin typeface="Calibri"/>
              </a:defRPr>
            </a:pPr>
            <a:r>
              <a:t>Drop any PDF, DOCX, or</a:t>
            </a:r>
            <a:br/>
            <a:r>
              <a:t>batch upload a ZIP.</a:t>
            </a:r>
            <a:br/>
            <a:r>
              <a:t>OCR handles scans.</a:t>
            </a:r>
          </a:p>
        </p:txBody>
      </p:sp>
      <p:sp>
        <p:nvSpPr>
          <p:cNvPr id="11" name="Oval 10"/>
          <p:cNvSpPr/>
          <p:nvPr/>
        </p:nvSpPr>
        <p:spPr>
          <a:xfrm>
            <a:off x="4297680" y="3017520"/>
            <a:ext cx="1005840" cy="1005840"/>
          </a:xfrm>
          <a:prstGeom prst="ellipse">
            <a:avLst/>
          </a:prstGeom>
          <a:solidFill>
            <a:srgbClr val="030712"/>
          </a:solidFill>
          <a:ln w="254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97680" y="3154680"/>
            <a:ext cx="100584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FB923C"/>
                </a:solidFill>
                <a:latin typeface="Calibri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840480" y="4297680"/>
            <a:ext cx="1920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AI Extracts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03320" y="4754880"/>
            <a:ext cx="219456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9CA3AF"/>
                </a:solidFill>
                <a:latin typeface="Calibri"/>
              </a:defRPr>
            </a:pPr>
            <a:r>
              <a:t>9 agents extract metadata,</a:t>
            </a:r>
            <a:br/>
            <a:r>
              <a:t>clauses, obligations, SLAs,</a:t>
            </a:r>
            <a:br/>
            <a:r>
              <a:t>risks, and renewals.</a:t>
            </a:r>
          </a:p>
        </p:txBody>
      </p:sp>
      <p:sp>
        <p:nvSpPr>
          <p:cNvPr id="15" name="Oval 14"/>
          <p:cNvSpPr/>
          <p:nvPr/>
        </p:nvSpPr>
        <p:spPr>
          <a:xfrm>
            <a:off x="7040880" y="3017520"/>
            <a:ext cx="1005840" cy="1005840"/>
          </a:xfrm>
          <a:prstGeom prst="ellipse">
            <a:avLst/>
          </a:prstGeom>
          <a:solidFill>
            <a:srgbClr val="030712"/>
          </a:solidFill>
          <a:ln w="254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0" y="3154680"/>
            <a:ext cx="100584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EC4899"/>
                </a:solidFill>
                <a:latin typeface="Calibri"/>
              </a:defRPr>
            </a:pPr>
            <a:r>
              <a:t>03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83680" y="4297680"/>
            <a:ext cx="1920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Dashboards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46520" y="4754880"/>
            <a:ext cx="219456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9CA3AF"/>
                </a:solidFill>
                <a:latin typeface="Calibri"/>
              </a:defRPr>
            </a:pPr>
            <a:r>
              <a:t>Real-time dashboards surface</a:t>
            </a:r>
            <a:br/>
            <a:r>
              <a:t>risks, deadlines, SLA breaches,</a:t>
            </a:r>
            <a:br/>
            <a:r>
              <a:t>and vendor scores.</a:t>
            </a:r>
          </a:p>
        </p:txBody>
      </p:sp>
      <p:sp>
        <p:nvSpPr>
          <p:cNvPr id="19" name="Oval 18"/>
          <p:cNvSpPr/>
          <p:nvPr/>
        </p:nvSpPr>
        <p:spPr>
          <a:xfrm>
            <a:off x="9784080" y="3017520"/>
            <a:ext cx="1005840" cy="1005840"/>
          </a:xfrm>
          <a:prstGeom prst="ellipse">
            <a:avLst/>
          </a:prstGeom>
          <a:solidFill>
            <a:srgbClr val="030712"/>
          </a:solidFill>
          <a:ln w="254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784080" y="3154680"/>
            <a:ext cx="1005840" cy="8229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2800" b="1">
                <a:solidFill>
                  <a:srgbClr val="34D399"/>
                </a:solidFill>
                <a:latin typeface="Calibri"/>
              </a:defRPr>
            </a:pPr>
            <a:r>
              <a:t>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4297680"/>
            <a:ext cx="19202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Take 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89720" y="4754880"/>
            <a:ext cx="2194560" cy="10972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200" b="0">
                <a:solidFill>
                  <a:srgbClr val="9CA3AF"/>
                </a:solidFill>
                <a:latin typeface="Calibri"/>
              </a:defRPr>
            </a:pPr>
            <a:r>
              <a:t>Claim credits, meet deadlines,</a:t>
            </a:r>
            <a:br/>
            <a:r>
              <a:t>renegotiate terms, govern</a:t>
            </a:r>
            <a:br/>
            <a:r>
              <a:t>relationships with data.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6304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304" y="0"/>
            <a:ext cx="6095390" cy="4572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2860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FB923C"/>
                </a:solidFill>
                <a:latin typeface="Calibri"/>
              </a:defRPr>
            </a:pPr>
            <a:r>
              <a:t>ARCHITECTURE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Under the hood: what happens when you upload a contract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09728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A78BFA"/>
                </a:solidFill>
                <a:latin typeface="Calibri"/>
              </a:defRPr>
            </a:pPr>
            <a:r>
              <a:t>STAGE 1: AI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124712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9CA3AF"/>
                </a:solidFill>
                <a:latin typeface="Calibri"/>
              </a:defRPr>
            </a:pPr>
            <a:r>
              <a:t>9 specialized agents process every contract automatically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1417320"/>
            <a:ext cx="1143000" cy="7772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11480" y="1463040"/>
            <a:ext cx="1051560" cy="6858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Upload</a:t>
            </a:r>
            <a:br/>
            <a:r>
              <a:t>&amp; Parse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81328" y="1645920"/>
            <a:ext cx="182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373D55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645920" y="1417320"/>
            <a:ext cx="1143000" cy="7772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91640" y="1463040"/>
            <a:ext cx="1051560" cy="6858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Metadata</a:t>
            </a:r>
            <a:br/>
            <a:r>
              <a:t>Extraction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61488" y="1645920"/>
            <a:ext cx="182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373D55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926080" y="1417320"/>
            <a:ext cx="1143000" cy="7772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971800" y="1463040"/>
            <a:ext cx="1051560" cy="6858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Risk</a:t>
            </a:r>
            <a:br/>
            <a:r>
              <a:t>Detection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041648" y="1645920"/>
            <a:ext cx="182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373D55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206239" y="1417320"/>
            <a:ext cx="1143000" cy="7772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251959" y="1463040"/>
            <a:ext cx="1051560" cy="6858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Clause</a:t>
            </a:r>
            <a:br/>
            <a:r>
              <a:t>Extraction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21807" y="1645920"/>
            <a:ext cx="182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373D55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0" y="1417320"/>
            <a:ext cx="1143000" cy="7772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532120" y="1463040"/>
            <a:ext cx="1051560" cy="6858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Obligation</a:t>
            </a:r>
            <a:br/>
            <a:r>
              <a:t>Extraction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01968" y="1645920"/>
            <a:ext cx="182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373D55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766560" y="1417320"/>
            <a:ext cx="1143000" cy="7772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812280" y="1463040"/>
            <a:ext cx="1051560" cy="6858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SLA</a:t>
            </a:r>
            <a:br/>
            <a:r>
              <a:t>Extraction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882128" y="1645920"/>
            <a:ext cx="182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373D55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19" y="1417320"/>
            <a:ext cx="1143000" cy="7772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92439" y="1463040"/>
            <a:ext cx="1051560" cy="6858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Renewal</a:t>
            </a:r>
            <a:br/>
            <a:r>
              <a:t>Detection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62287" y="1645920"/>
            <a:ext cx="182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373D55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9326879" y="1417320"/>
            <a:ext cx="1143000" cy="7772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372599" y="1463040"/>
            <a:ext cx="1051560" cy="6858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Auto-Link</a:t>
            </a:r>
            <a:br/>
            <a:r>
              <a:t>Detection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442447" y="1645920"/>
            <a:ext cx="18288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373D55"/>
                </a:solidFill>
                <a:latin typeface="Calibri"/>
              </a:defRPr>
            </a:pPr>
            <a:r>
              <a:t>→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0607040" y="1417320"/>
            <a:ext cx="1143000" cy="7772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652760" y="1463040"/>
            <a:ext cx="1051560" cy="6858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FFFFF"/>
                </a:solidFill>
                <a:latin typeface="Calibri"/>
              </a:defRPr>
            </a:pPr>
            <a:r>
              <a:t>Q&amp;A</a:t>
            </a:r>
            <a:br/>
            <a:r>
              <a:t>Ready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2423160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BBF24"/>
                </a:solidFill>
                <a:latin typeface="Calibri"/>
              </a:defRPr>
            </a:pPr>
            <a:r>
              <a:t>STAGE 2: Golden Dataset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200400" y="2450592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9CA3AF"/>
                </a:solidFill>
                <a:latin typeface="Calibri"/>
              </a:defRPr>
            </a:pPr>
            <a:r>
              <a:t>Verified extractions improve accuracy over time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365760" y="2743200"/>
            <a:ext cx="2697480" cy="9144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475488" y="2852928"/>
            <a:ext cx="91440" cy="9144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40080" y="2788920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Verified Contracts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5488" y="3063240"/>
            <a:ext cx="24688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9CA3AF"/>
                </a:solidFill>
                <a:latin typeface="Calibri"/>
              </a:defRPr>
            </a:pPr>
            <a:r>
              <a:t>50+ representative contracts</a:t>
            </a:r>
            <a:br/>
            <a:r>
              <a:t>with human-verified extractions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246120" y="2743200"/>
            <a:ext cx="2697480" cy="9144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3355848" y="2852928"/>
            <a:ext cx="91440" cy="91440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3520440" y="2788920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Few-Shot Learning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355848" y="3063240"/>
            <a:ext cx="24688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9CA3AF"/>
                </a:solidFill>
                <a:latin typeface="Calibri"/>
              </a:defRPr>
            </a:pPr>
            <a:r>
              <a:t>Verified examples injected into</a:t>
            </a:r>
            <a:br/>
            <a:r>
              <a:t>AI prompts for higher accuracy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6126480" y="2743200"/>
            <a:ext cx="2697480" cy="9144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6236208" y="2852928"/>
            <a:ext cx="91440" cy="9144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400800" y="2788920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Quality Metrics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236208" y="3063240"/>
            <a:ext cx="24688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9CA3AF"/>
                </a:solidFill>
                <a:latin typeface="Calibri"/>
              </a:defRPr>
            </a:pPr>
            <a:r>
              <a:t>Precision, recall, F1 per field</a:t>
            </a:r>
            <a:br/>
            <a:r>
              <a:t>tracked across contract types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9006840" y="2743200"/>
            <a:ext cx="2697480" cy="91440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9116568" y="2852928"/>
            <a:ext cx="91440" cy="9144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281160" y="2788920"/>
            <a:ext cx="228600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FFFFFF"/>
                </a:solidFill>
                <a:latin typeface="Calibri"/>
              </a:defRPr>
            </a:pPr>
            <a:r>
              <a:t>Continuous Improvement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9116568" y="3063240"/>
            <a:ext cx="246888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9CA3AF"/>
                </a:solidFill>
                <a:latin typeface="Calibri"/>
              </a:defRPr>
            </a:pPr>
            <a:r>
              <a:t>Each correction feeds back —</a:t>
            </a:r>
            <a:br/>
            <a:r>
              <a:t>the system gets smarter over time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601200" y="242316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1">
                <a:solidFill>
                  <a:srgbClr val="FBBF24"/>
                </a:solidFill>
                <a:latin typeface="Calibri"/>
              </a:defRPr>
            </a:pPr>
            <a:r>
              <a:t>↻ feeds back into Stage 1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457200" y="388620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EC4899"/>
                </a:solidFill>
                <a:latin typeface="Calibri"/>
              </a:defRPr>
            </a:pPr>
            <a:r>
              <a:t>STAGE 3: Governance Bridge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3657600" y="3913632"/>
            <a:ext cx="5486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EC4899"/>
                </a:solidFill>
                <a:latin typeface="Calibri"/>
              </a:defRPr>
            </a:pPr>
            <a:r>
              <a:t>Unique to Evaluetor — no other CLM does this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365760" y="4251960"/>
            <a:ext cx="1783080" cy="10972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38912" y="4297680"/>
            <a:ext cx="1645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60A5FA"/>
                </a:solidFill>
                <a:latin typeface="Calibri"/>
              </a:defRPr>
            </a:pPr>
            <a:r>
              <a:t>Counterparty</a:t>
            </a:r>
            <a:br/>
            <a:r>
              <a:t>→ Organization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38912" y="4754880"/>
            <a:ext cx="1645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9CA3AF"/>
                </a:solidFill>
                <a:latin typeface="Calibri"/>
              </a:defRPr>
            </a:pPr>
            <a:r>
              <a:t>Auto-create or</a:t>
            </a:r>
            <a:br/>
            <a:r>
              <a:t>match existing org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2286000" y="4251960"/>
            <a:ext cx="1783080" cy="10972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2359152" y="4297680"/>
            <a:ext cx="1645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34D399"/>
                </a:solidFill>
                <a:latin typeface="Calibri"/>
              </a:defRPr>
            </a:pPr>
            <a:r>
              <a:t>Contract</a:t>
            </a:r>
            <a:br/>
            <a:r>
              <a:t>→ Relationship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2359152" y="4754880"/>
            <a:ext cx="1645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9CA3AF"/>
                </a:solidFill>
                <a:latin typeface="Calibri"/>
              </a:defRPr>
            </a:pPr>
            <a:r>
              <a:t>Business relationship</a:t>
            </a:r>
            <a:br/>
            <a:r>
              <a:t>with health scoring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4206240" y="4251960"/>
            <a:ext cx="1783080" cy="10972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4279392" y="4297680"/>
            <a:ext cx="1645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B923C"/>
                </a:solidFill>
                <a:latin typeface="Calibri"/>
              </a:defRPr>
            </a:pPr>
            <a:r>
              <a:t>SLA Metrics</a:t>
            </a:r>
            <a:br/>
            <a:r>
              <a:t>→ KPIs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4279392" y="4754880"/>
            <a:ext cx="1645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9CA3AF"/>
                </a:solidFill>
                <a:latin typeface="Calibri"/>
              </a:defRPr>
            </a:pPr>
            <a:r>
              <a:t>Targets &amp; thresholds</a:t>
            </a:r>
            <a:br/>
            <a:r>
              <a:t>auto-created</a:t>
            </a:r>
          </a:p>
        </p:txBody>
      </p:sp>
      <p:sp>
        <p:nvSpPr>
          <p:cNvPr id="64" name="Rounded Rectangle 63"/>
          <p:cNvSpPr/>
          <p:nvPr/>
        </p:nvSpPr>
        <p:spPr>
          <a:xfrm>
            <a:off x="6126480" y="4251960"/>
            <a:ext cx="1783080" cy="10972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6199632" y="4297680"/>
            <a:ext cx="1645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F87171"/>
                </a:solidFill>
                <a:latin typeface="Calibri"/>
              </a:defRPr>
            </a:pPr>
            <a:r>
              <a:t>Risk Clauses</a:t>
            </a:r>
            <a:br/>
            <a:r>
              <a:t>→ Improvements</a:t>
            </a:r>
          </a:p>
        </p:txBody>
      </p:sp>
      <p:sp>
        <p:nvSpPr>
          <p:cNvPr id="66" name="TextBox 65"/>
          <p:cNvSpPr txBox="1"/>
          <p:nvPr/>
        </p:nvSpPr>
        <p:spPr>
          <a:xfrm>
            <a:off x="6199632" y="4754880"/>
            <a:ext cx="1645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9CA3AF"/>
                </a:solidFill>
                <a:latin typeface="Calibri"/>
              </a:defRPr>
            </a:pPr>
            <a:r>
              <a:t>Action items from</a:t>
            </a:r>
            <a:br/>
            <a:r>
              <a:t>high-risk clauses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8046720" y="4251960"/>
            <a:ext cx="1783080" cy="10972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EC48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119872" y="4297680"/>
            <a:ext cx="1645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EC4899"/>
                </a:solidFill>
                <a:latin typeface="Calibri"/>
              </a:defRPr>
            </a:pPr>
            <a:r>
              <a:t>Health Score</a:t>
            </a:r>
            <a:br/>
            <a:r>
              <a:t>Calculation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8119872" y="4754880"/>
            <a:ext cx="1645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9CA3AF"/>
                </a:solidFill>
                <a:latin typeface="Calibri"/>
              </a:defRPr>
            </a:pPr>
            <a:r>
              <a:t>Risk 30% + SLA 40%</a:t>
            </a:r>
            <a:br/>
            <a:r>
              <a:t>+ Obligations 30%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9966960" y="4251960"/>
            <a:ext cx="1783080" cy="10972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10040112" y="4297680"/>
            <a:ext cx="16459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1">
                <a:solidFill>
                  <a:srgbClr val="A78BFA"/>
                </a:solidFill>
                <a:latin typeface="Calibri"/>
              </a:defRPr>
            </a:pPr>
            <a:r>
              <a:t>Perception</a:t>
            </a:r>
            <a:br/>
            <a:r>
              <a:t>Gap Scoring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10040112" y="4754880"/>
            <a:ext cx="164592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900" b="0">
                <a:solidFill>
                  <a:srgbClr val="9CA3AF"/>
                </a:solidFill>
                <a:latin typeface="Calibri"/>
              </a:defRPr>
            </a:pPr>
            <a:r>
              <a:t>Internal vs external</a:t>
            </a:r>
            <a:br/>
            <a:r>
              <a:t>view of performance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365760" y="5577840"/>
            <a:ext cx="11430000" cy="5943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640080" y="5623560"/>
            <a:ext cx="1371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34D399"/>
                </a:solidFill>
                <a:latin typeface="Calibri"/>
              </a:defRPr>
            </a:pPr>
            <a:r>
              <a:t>Ask Anything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2103120" y="5650992"/>
            <a:ext cx="941832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9CA3AF"/>
                </a:solidFill>
                <a:latin typeface="Calibri"/>
              </a:defRPr>
            </a:pPr>
            <a:r>
              <a:t>“What obligations are due next month?”  •  “Show me all high-risk indemnification clauses”  •  “Which vendors have SLA breaches?”  •  “Compare payment terms across all MSAs”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60A5FA"/>
                </a:solidFill>
                <a:latin typeface="Calibri"/>
              </a:defRPr>
            </a:pPr>
            <a:r>
              <a:t>TECHNICAL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50292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3000" b="1">
                <a:solidFill>
                  <a:srgbClr val="FFFFFF"/>
                </a:solidFill>
                <a:latin typeface="Calibri"/>
              </a:defRPr>
            </a:pPr>
            <a:r>
              <a:t>Built for enterprise scale, security, and observability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65760" y="1097280"/>
            <a:ext cx="11430000" cy="6400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43000"/>
            <a:ext cx="16459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60A5FA"/>
                </a:solidFill>
                <a:latin typeface="Calibri"/>
              </a:defRPr>
            </a:pPr>
            <a:r>
              <a:t>Frontend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86000" y="1188720"/>
            <a:ext cx="1828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React / TypeScript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1188720"/>
            <a:ext cx="1828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Vite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1188720"/>
            <a:ext cx="1828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30+ Pages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1188720"/>
            <a:ext cx="1828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Real-time Dashboards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66960" y="1188720"/>
            <a:ext cx="1828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Semantic Search UI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5760" y="1920240"/>
            <a:ext cx="11430000" cy="6400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48640" y="1965960"/>
            <a:ext cx="1645920" cy="5486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A78BFA"/>
                </a:solidFill>
                <a:latin typeface="Calibri"/>
              </a:defRPr>
            </a:pPr>
            <a:r>
              <a:t>API Layer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86000" y="2011680"/>
            <a:ext cx="1828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FastAPI (async)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206240" y="2011680"/>
            <a:ext cx="1828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315+ Endpoints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2011680"/>
            <a:ext cx="1828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41 Routers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46720" y="2011680"/>
            <a:ext cx="1828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Multi-Tenant Isolation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66960" y="2011680"/>
            <a:ext cx="18288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000" b="0">
                <a:solidFill>
                  <a:srgbClr val="FFFFFF"/>
                </a:solidFill>
                <a:latin typeface="Calibri"/>
              </a:defRPr>
            </a:pPr>
            <a:r>
              <a:t>JWT + RBAC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2743200"/>
            <a:ext cx="5486400" cy="17373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788920"/>
            <a:ext cx="22860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34D399"/>
                </a:solidFill>
                <a:latin typeface="Calibri"/>
              </a:defRPr>
            </a:pPr>
            <a:r>
              <a:t>Services (36 modules)</a:t>
            </a:r>
          </a:p>
        </p:txBody>
      </p:sp>
      <p:sp>
        <p:nvSpPr>
          <p:cNvPr id="21" name="Oval 20"/>
          <p:cNvSpPr/>
          <p:nvPr/>
        </p:nvSpPr>
        <p:spPr>
          <a:xfrm>
            <a:off x="548640" y="3145536"/>
            <a:ext cx="73152" cy="73152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3108960"/>
            <a:ext cx="11887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Contract Pipeline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5800" y="3310128"/>
            <a:ext cx="23774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9CA3AF"/>
                </a:solidFill>
                <a:latin typeface="Calibri"/>
              </a:defRPr>
            </a:pPr>
            <a:r>
              <a:t>Upload, parse, chunk,</a:t>
            </a:r>
            <a:br/>
            <a:r>
              <a:t>embed, index</a:t>
            </a:r>
          </a:p>
        </p:txBody>
      </p:sp>
      <p:sp>
        <p:nvSpPr>
          <p:cNvPr id="24" name="Oval 23"/>
          <p:cNvSpPr/>
          <p:nvPr/>
        </p:nvSpPr>
        <p:spPr>
          <a:xfrm>
            <a:off x="3246120" y="3145536"/>
            <a:ext cx="73152" cy="73152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383280" y="3108960"/>
            <a:ext cx="11887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Governance Bridge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383280" y="3310128"/>
            <a:ext cx="23774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9CA3AF"/>
                </a:solidFill>
                <a:latin typeface="Calibri"/>
              </a:defRPr>
            </a:pPr>
            <a:r>
              <a:t>7 automations: org, relationship,</a:t>
            </a:r>
            <a:br/>
            <a:r>
              <a:t>KPI, health, improvements</a:t>
            </a:r>
          </a:p>
        </p:txBody>
      </p:sp>
      <p:sp>
        <p:nvSpPr>
          <p:cNvPr id="27" name="Oval 26"/>
          <p:cNvSpPr/>
          <p:nvPr/>
        </p:nvSpPr>
        <p:spPr>
          <a:xfrm>
            <a:off x="548640" y="3803904"/>
            <a:ext cx="73152" cy="73152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5800" y="3767328"/>
            <a:ext cx="11887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Golden Dataset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3968496"/>
            <a:ext cx="23774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9CA3AF"/>
                </a:solidFill>
                <a:latin typeface="Calibri"/>
              </a:defRPr>
            </a:pPr>
            <a:r>
              <a:t>Few-shot learning, verified</a:t>
            </a:r>
            <a:br/>
            <a:r>
              <a:t>extractions, quality metrics</a:t>
            </a:r>
          </a:p>
        </p:txBody>
      </p:sp>
      <p:sp>
        <p:nvSpPr>
          <p:cNvPr id="30" name="Oval 29"/>
          <p:cNvSpPr/>
          <p:nvPr/>
        </p:nvSpPr>
        <p:spPr>
          <a:xfrm>
            <a:off x="3246120" y="3803904"/>
            <a:ext cx="73152" cy="73152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383280" y="3767328"/>
            <a:ext cx="11887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1">
                <a:solidFill>
                  <a:srgbClr val="FFFFFF"/>
                </a:solidFill>
                <a:latin typeface="Calibri"/>
              </a:defRPr>
            </a:pPr>
            <a:r>
              <a:t>Auto-Link Detector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0" y="3968496"/>
            <a:ext cx="237744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800" b="0">
                <a:solidFill>
                  <a:srgbClr val="9CA3AF"/>
                </a:solidFill>
                <a:latin typeface="Calibri"/>
              </a:defRPr>
            </a:pPr>
            <a:r>
              <a:t>6-signal weighted matching,</a:t>
            </a:r>
            <a:br/>
            <a:r>
              <a:t>contract family detection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126480" y="2743200"/>
            <a:ext cx="5669280" cy="173736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FB9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9360" y="2788920"/>
            <a:ext cx="3200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B923C"/>
                </a:solidFill>
                <a:latin typeface="Calibri"/>
              </a:defRPr>
            </a:pPr>
            <a:r>
              <a:t>9 AI Agents (GPT-4o + Agent Squad)</a:t>
            </a:r>
          </a:p>
        </p:txBody>
      </p:sp>
      <p:sp>
        <p:nvSpPr>
          <p:cNvPr id="35" name="Oval 34"/>
          <p:cNvSpPr/>
          <p:nvPr/>
        </p:nvSpPr>
        <p:spPr>
          <a:xfrm>
            <a:off x="6309360" y="3191256"/>
            <a:ext cx="73152" cy="73152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446520" y="3154680"/>
            <a:ext cx="1645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Metadata Extraction</a:t>
            </a:r>
          </a:p>
        </p:txBody>
      </p:sp>
      <p:sp>
        <p:nvSpPr>
          <p:cNvPr id="37" name="Oval 36"/>
          <p:cNvSpPr/>
          <p:nvPr/>
        </p:nvSpPr>
        <p:spPr>
          <a:xfrm>
            <a:off x="8138160" y="3191256"/>
            <a:ext cx="73152" cy="73152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275320" y="3154680"/>
            <a:ext cx="1645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Risk Detection</a:t>
            </a:r>
          </a:p>
        </p:txBody>
      </p:sp>
      <p:sp>
        <p:nvSpPr>
          <p:cNvPr id="39" name="Oval 38"/>
          <p:cNvSpPr/>
          <p:nvPr/>
        </p:nvSpPr>
        <p:spPr>
          <a:xfrm>
            <a:off x="9966960" y="3191256"/>
            <a:ext cx="73152" cy="73152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04120" y="3154680"/>
            <a:ext cx="1645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Clause Extraction</a:t>
            </a:r>
          </a:p>
        </p:txBody>
      </p:sp>
      <p:sp>
        <p:nvSpPr>
          <p:cNvPr id="41" name="Oval 40"/>
          <p:cNvSpPr/>
          <p:nvPr/>
        </p:nvSpPr>
        <p:spPr>
          <a:xfrm>
            <a:off x="6309360" y="3602736"/>
            <a:ext cx="73152" cy="73152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46520" y="3566160"/>
            <a:ext cx="1645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Obligation Tracking</a:t>
            </a:r>
          </a:p>
        </p:txBody>
      </p:sp>
      <p:sp>
        <p:nvSpPr>
          <p:cNvPr id="43" name="Oval 42"/>
          <p:cNvSpPr/>
          <p:nvPr/>
        </p:nvSpPr>
        <p:spPr>
          <a:xfrm>
            <a:off x="8138160" y="3602736"/>
            <a:ext cx="73152" cy="73152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75320" y="3566160"/>
            <a:ext cx="1645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SLA Extraction</a:t>
            </a:r>
          </a:p>
        </p:txBody>
      </p:sp>
      <p:sp>
        <p:nvSpPr>
          <p:cNvPr id="45" name="Oval 44"/>
          <p:cNvSpPr/>
          <p:nvPr/>
        </p:nvSpPr>
        <p:spPr>
          <a:xfrm>
            <a:off x="9966960" y="3602736"/>
            <a:ext cx="73152" cy="73152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104120" y="3566160"/>
            <a:ext cx="1645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Renewal Monitoring</a:t>
            </a:r>
          </a:p>
        </p:txBody>
      </p:sp>
      <p:sp>
        <p:nvSpPr>
          <p:cNvPr id="47" name="Oval 46"/>
          <p:cNvSpPr/>
          <p:nvPr/>
        </p:nvSpPr>
        <p:spPr>
          <a:xfrm>
            <a:off x="6309360" y="4014216"/>
            <a:ext cx="73152" cy="73152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446520" y="3977640"/>
            <a:ext cx="1645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Schema Extraction</a:t>
            </a:r>
          </a:p>
        </p:txBody>
      </p:sp>
      <p:sp>
        <p:nvSpPr>
          <p:cNvPr id="49" name="Oval 48"/>
          <p:cNvSpPr/>
          <p:nvPr/>
        </p:nvSpPr>
        <p:spPr>
          <a:xfrm>
            <a:off x="8138160" y="4014216"/>
            <a:ext cx="73152" cy="73152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275320" y="3977640"/>
            <a:ext cx="1645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Intent Router</a:t>
            </a:r>
          </a:p>
        </p:txBody>
      </p:sp>
      <p:sp>
        <p:nvSpPr>
          <p:cNvPr id="51" name="Oval 50"/>
          <p:cNvSpPr/>
          <p:nvPr/>
        </p:nvSpPr>
        <p:spPr>
          <a:xfrm>
            <a:off x="9966960" y="4014216"/>
            <a:ext cx="73152" cy="73152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104120" y="3977640"/>
            <a:ext cx="1645920" cy="2286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FFFFFF"/>
                </a:solidFill>
                <a:latin typeface="Calibri"/>
              </a:defRPr>
            </a:pPr>
            <a:r>
              <a:t>Contract Q&amp;A (RAG)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365760" y="4663440"/>
            <a:ext cx="3657600" cy="7772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48640" y="4709160"/>
            <a:ext cx="329184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60A5FA"/>
                </a:solidFill>
                <a:latin typeface="Calibri"/>
              </a:defRPr>
            </a:pPr>
            <a:r>
              <a:t>PostgreSQL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" y="4983480"/>
            <a:ext cx="329184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9CA3AF"/>
                </a:solidFill>
                <a:latin typeface="Calibri"/>
              </a:defRPr>
            </a:pPr>
            <a:r>
              <a:t>55+ tables  •  Row-level tenant isolation  •  Alembic migrations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4251960" y="4663440"/>
            <a:ext cx="3383280" cy="7772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4434840" y="4709160"/>
            <a:ext cx="30175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A78BFA"/>
                </a:solidFill>
                <a:latin typeface="Calibri"/>
              </a:defRPr>
            </a:pPr>
            <a:r>
              <a:t>ChromaDB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4434840" y="4983480"/>
            <a:ext cx="301752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9CA3AF"/>
                </a:solidFill>
                <a:latin typeface="Calibri"/>
              </a:defRPr>
            </a:pPr>
            <a:r>
              <a:t>Vector embeddings  •  Semantic search  •  RAG pipeline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863840" y="4663440"/>
            <a:ext cx="3931920" cy="7772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046720" y="4709160"/>
            <a:ext cx="356616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34D399"/>
                </a:solidFill>
                <a:latin typeface="Calibri"/>
              </a:defRPr>
            </a:pPr>
            <a:r>
              <a:t>Integrations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8046720" y="4983480"/>
            <a:ext cx="3566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9CA3AF"/>
                </a:solidFill>
                <a:latin typeface="Calibri"/>
              </a:defRPr>
            </a:pPr>
            <a:r>
              <a:t>ServiceNow  •  Salesforce  •  Teams  •  REST API  •  Webhooks</a:t>
            </a:r>
          </a:p>
        </p:txBody>
      </p:sp>
      <p:sp>
        <p:nvSpPr>
          <p:cNvPr id="62" name="Rounded Rectangle 61"/>
          <p:cNvSpPr/>
          <p:nvPr/>
        </p:nvSpPr>
        <p:spPr>
          <a:xfrm>
            <a:off x="365760" y="5623560"/>
            <a:ext cx="5486400" cy="5486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548640" y="5669280"/>
            <a:ext cx="109728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F87171"/>
                </a:solidFill>
                <a:latin typeface="Calibri"/>
              </a:defRPr>
            </a:pPr>
            <a:r>
              <a:t>Security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554480" y="5687568"/>
            <a:ext cx="411480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9CA3AF"/>
                </a:solidFill>
                <a:latin typeface="Calibri"/>
              </a:defRPr>
            </a:pPr>
            <a:r>
              <a:t>SOC 2-ready  •  GDPR-aware  •  AES-256  •  RBAC  •  Multi-tenant  •  Audit Trails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6126480" y="5623560"/>
            <a:ext cx="5669280" cy="5486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6309360" y="5669280"/>
            <a:ext cx="164592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FBBF24"/>
                </a:solidFill>
                <a:latin typeface="Calibri"/>
              </a:defRPr>
            </a:pPr>
            <a:r>
              <a:t>Observability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7589520" y="5687568"/>
            <a:ext cx="4023360" cy="4114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900" b="0">
                <a:solidFill>
                  <a:srgbClr val="9CA3AF"/>
                </a:solidFill>
                <a:latin typeface="Calibri"/>
              </a:defRPr>
            </a:pPr>
            <a:r>
              <a:t>Langfuse  •  Full LLM tracing  •  Cost per contract  •  OpenTelemetry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F87171"/>
                </a:solidFill>
                <a:latin typeface="Calibri"/>
              </a:defRPr>
            </a:pPr>
            <a:r>
              <a:t>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Risk Detection: see what others miss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8229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9CA3AF"/>
                </a:solidFill>
                <a:latin typeface="Calibri"/>
              </a:defRPr>
            </a:pPr>
            <a:r>
              <a:t>Every contract carries risk — hidden indemnities, uncapped liabilities, ambiguous termination clauses. Evaluetor’s AI scores and categorises risk automatically so your team can focus on what matters most.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How Risk Analysis Works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6324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9CA3AF"/>
                </a:solidFill>
                <a:latin typeface="Calibri"/>
              </a:defRPr>
            </a:pPr>
            <a:r>
              <a:t>Fully automated from upload to alert: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3703320"/>
            <a:ext cx="274320" cy="27432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712464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30712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6576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Document Parsing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3675888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Text extracted from PDF, DOCX, or scanned images via OCR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33271" y="4005072"/>
            <a:ext cx="36576" cy="256032"/>
          </a:xfrm>
          <a:prstGeom prst="rect">
            <a:avLst/>
          </a:prstGeom>
          <a:solidFill>
            <a:srgbClr val="373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14400" y="4297680"/>
            <a:ext cx="274320" cy="27432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306824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30712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25196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Clause Classification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4270248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AI identifies 30+ clause types across the full document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33271" y="4599432"/>
            <a:ext cx="36576" cy="256032"/>
          </a:xfrm>
          <a:prstGeom prst="rect">
            <a:avLst/>
          </a:prstGeom>
          <a:solidFill>
            <a:srgbClr val="373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4400" y="4892040"/>
            <a:ext cx="274320" cy="274320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901184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30712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84632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Risk Categorisation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4864608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Each clause scored across 10 risk categories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33271" y="5193792"/>
            <a:ext cx="36576" cy="256032"/>
          </a:xfrm>
          <a:prstGeom prst="rect">
            <a:avLst/>
          </a:prstGeom>
          <a:solidFill>
            <a:srgbClr val="373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5486400"/>
            <a:ext cx="274320" cy="274320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495544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30712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44068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Severity Scoring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5458968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4-level scale: Low, Medium, High, Critical with confidence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33271" y="5788152"/>
            <a:ext cx="36576" cy="256032"/>
          </a:xfrm>
          <a:prstGeom prst="rect">
            <a:avLst/>
          </a:prstGeom>
          <a:solidFill>
            <a:srgbClr val="373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14400" y="6080760"/>
            <a:ext cx="274320" cy="27432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6089904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30712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603504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Portfolio Alerts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0" y="6053328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High-risk items surfaced on dashboards with recommended actions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265176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Key Capabilities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0" y="3200400"/>
            <a:ext cx="4846320" cy="10972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812280" y="3429000"/>
            <a:ext cx="109728" cy="109728"/>
          </a:xfrm>
          <a:prstGeom prst="ellipse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40880" y="3337560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10 Risk Categories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12280" y="3657600"/>
            <a:ext cx="43891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Indemnification, liability caps, IP assignment, termination, confidentiality, non-compete, data protection, insurance, warranty, and force majeure — each scored with weighted severity from 0–100.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0" y="4434840"/>
            <a:ext cx="4846320" cy="10972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812280" y="4663440"/>
            <a:ext cx="109728" cy="109728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40880" y="4572000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Cross-Contract Anomaly Detection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12280" y="4892040"/>
            <a:ext cx="43891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Knowledge graph compares terms across your portfolio and flags deviations from your norms. Example: “This vendor usually has 30-day payment terms — this contract has 45.”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83680" y="5669280"/>
            <a:ext cx="4846320" cy="10972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812280" y="5897880"/>
            <a:ext cx="109728" cy="109728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040880" y="5806440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Portfolio Risk Dashboard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12280" y="6126480"/>
            <a:ext cx="43891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Aggregate risk posture across all contracts with drill-down by vendor, contract type, business unit, or risk category. Trend analysis shows whether your portfolio risk is improving over time.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6304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304" y="0"/>
            <a:ext cx="6095390" cy="4572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34D399"/>
                </a:solidFill>
                <a:latin typeface="Calibri"/>
              </a:defRPr>
            </a:pPr>
            <a:r>
              <a:t>DEEP DIVE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Obligation Tracking: never miss a commitment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8229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9CA3AF"/>
                </a:solidFill>
                <a:latin typeface="Calibri"/>
              </a:defRPr>
            </a:pPr>
            <a:r>
              <a:t>Missed obligations cost money, damage relationships, and create compliance exposure. Evaluetor extracts every obligation from every contract and tracks them through their full lifecycle — with owners, deadlines, and evidence.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The Obligation Lifecycle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6324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9CA3AF"/>
                </a:solidFill>
                <a:latin typeface="Calibri"/>
              </a:defRPr>
            </a:pPr>
            <a:r>
              <a:t>From extraction to compliance proof: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703320"/>
            <a:ext cx="274320" cy="27432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712464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30712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6576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AI Extraction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3675888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Obligations identified with deadlines, parties, and consequences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33271" y="4005072"/>
            <a:ext cx="36576" cy="256032"/>
          </a:xfrm>
          <a:prstGeom prst="rect">
            <a:avLst/>
          </a:prstGeom>
          <a:solidFill>
            <a:srgbClr val="373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14400" y="4297680"/>
            <a:ext cx="274320" cy="27432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306824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30712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25196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Classification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4270248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7 types: delivery, reporting, payment, regulatory, performance, notice, compliance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33271" y="4599432"/>
            <a:ext cx="36576" cy="256032"/>
          </a:xfrm>
          <a:prstGeom prst="rect">
            <a:avLst/>
          </a:prstGeom>
          <a:solidFill>
            <a:srgbClr val="373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4892040"/>
            <a:ext cx="274320" cy="274320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901184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30712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84632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Owner Assignment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4864608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Each obligation assigned to a responsible person with escalation path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33271" y="5193792"/>
            <a:ext cx="36576" cy="256032"/>
          </a:xfrm>
          <a:prstGeom prst="rect">
            <a:avLst/>
          </a:prstGeom>
          <a:solidFill>
            <a:srgbClr val="373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5486400"/>
            <a:ext cx="274320" cy="27432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495544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30712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544068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Status Tracking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5458968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RAG indicators (Red / Amber / Green) updated as deadlines approach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33271" y="5788152"/>
            <a:ext cx="36576" cy="256032"/>
          </a:xfrm>
          <a:prstGeom prst="rect">
            <a:avLst/>
          </a:prstGeom>
          <a:solidFill>
            <a:srgbClr val="373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4400" y="6080760"/>
            <a:ext cx="274320" cy="27432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6089904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30712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603504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Evidence &amp; Audit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6053328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Compliance evidence attached for audit trails and reporting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265176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Key Capabilities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0" y="3200400"/>
            <a:ext cx="4846320" cy="10972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812280" y="3429000"/>
            <a:ext cx="109728" cy="109728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40880" y="3337560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RAG Status Dashboard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12280" y="3657600"/>
            <a:ext cx="43891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At-a-glance compliance visibility across your entire portfolio. Red flags overdue items, amber shows approaching deadlines, green confirms on-track — filterable by vendor, business unit, or contract type.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0" y="4434840"/>
            <a:ext cx="4846320" cy="10972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812280" y="4663440"/>
            <a:ext cx="109728" cy="109728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040880" y="4572000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Configurable Deadline Alerts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12280" y="4892040"/>
            <a:ext cx="43891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Automated notifications at configurable lead times before each deadline. Alerts route to obligation owners via email, Slack, or Microsoft Teams — with escalation when deadlines are missed.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0" y="5669280"/>
            <a:ext cx="4846320" cy="10972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812280" y="5897880"/>
            <a:ext cx="109728" cy="109728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040880" y="5806440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Compliance Reporting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12280" y="6126480"/>
            <a:ext cx="43891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Generate compliance reports by date range, vendor, or obligation type. Track fulfilment rates over time with trend analysis. Attach evidence documents for audit readiness.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60A5FA"/>
                </a:solidFill>
                <a:latin typeface="Calibri"/>
              </a:defRPr>
            </a:pPr>
            <a:r>
              <a:t>DEEP DIVE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SLA Monitoring: recover what you’re owed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8229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9CA3AF"/>
                </a:solidFill>
                <a:latin typeface="Calibri"/>
              </a:defRPr>
            </a:pPr>
            <a:r>
              <a:t>SLA breaches happen constantly — the challenge is detecting them. Evaluetor extracts SLA terms, compares them against actual performance, and calculates every service credit you’re entitled 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65176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From Contract to Credit Recovery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06324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9CA3AF"/>
                </a:solidFill>
                <a:latin typeface="Calibri"/>
              </a:defRPr>
            </a:pPr>
            <a:r>
              <a:t>Automated end-to-end: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3703320"/>
            <a:ext cx="274320" cy="274320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3712464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30712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6576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SLA Extraction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3675888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AI identifies metrics, targets, measurement periods, and penalties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33271" y="4005072"/>
            <a:ext cx="36576" cy="256032"/>
          </a:xfrm>
          <a:prstGeom prst="rect">
            <a:avLst/>
          </a:prstGeom>
          <a:solidFill>
            <a:srgbClr val="373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14400" y="4297680"/>
            <a:ext cx="274320" cy="27432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306824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30712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71600" y="425196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Performance Ingestion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200400" y="4270248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Actual performance data imported via API or manual entry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33271" y="4599432"/>
            <a:ext cx="36576" cy="256032"/>
          </a:xfrm>
          <a:prstGeom prst="rect">
            <a:avLst/>
          </a:prstGeom>
          <a:solidFill>
            <a:srgbClr val="373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914400" y="4892040"/>
            <a:ext cx="274320" cy="27432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4901184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30712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484632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Threshold Comparison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200400" y="4864608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Contracted targets compared against actuals in real time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33271" y="5193792"/>
            <a:ext cx="36576" cy="256032"/>
          </a:xfrm>
          <a:prstGeom prst="rect">
            <a:avLst/>
          </a:prstGeom>
          <a:solidFill>
            <a:srgbClr val="373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14400" y="5486400"/>
            <a:ext cx="274320" cy="274320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14400" y="5495544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30712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71600" y="544068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Breach Detection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200400" y="5458968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Violations classified by severity: Minor, Moderate, Major, Critical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33271" y="5788152"/>
            <a:ext cx="36576" cy="256032"/>
          </a:xfrm>
          <a:prstGeom prst="rect">
            <a:avLst/>
          </a:prstGeom>
          <a:solidFill>
            <a:srgbClr val="373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14400" y="6080760"/>
            <a:ext cx="274320" cy="27432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14400" y="6089904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30712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371600" y="603504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Credit Calculation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00400" y="6053328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Service credits and penalties computed automatically per contract terms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583680" y="265176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Key Capabilities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583680" y="3200400"/>
            <a:ext cx="4846320" cy="10972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812280" y="3429000"/>
            <a:ext cx="109728" cy="109728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040880" y="3337560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9 SLA Metric Types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812280" y="3657600"/>
            <a:ext cx="43891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Uptime, Response Time, Resolution Time, Throughput, Error Rate, Availability, Latency, MTTR, and Custom metrics — each with targets, thresholds, and measurement windows extracted by AI.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583680" y="4434840"/>
            <a:ext cx="4846320" cy="10972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6812280" y="4663440"/>
            <a:ext cx="109728" cy="109728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040880" y="4572000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Service Credit Recovery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12280" y="4892040"/>
            <a:ext cx="43891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Automatic calculation of credits owed based on breach severity and contract terms. Track recovery status from detection through claim to resolution. Customers report 3–5x more credits found.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583680" y="5669280"/>
            <a:ext cx="4846320" cy="10972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812280" y="5897880"/>
            <a:ext cx="109728" cy="109728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7040880" y="5806440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Vendor Scorecards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812280" y="6126480"/>
            <a:ext cx="43891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A–F grade vendor ratings combining SLA compliance rate, breach frequency, financial impact, and trend direction. Compare vendor performance across your portfolio with historical benchmarking.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6304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304" y="0"/>
            <a:ext cx="6095390" cy="4572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EC4899"/>
                </a:solidFill>
                <a:latin typeface="Calibri"/>
              </a:defRPr>
            </a:pPr>
            <a:r>
              <a:t>KEY DIFFERENTIATOR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Relationship Governance: only in Evaluetor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8229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9CA3AF"/>
                </a:solidFill>
                <a:latin typeface="Calibri"/>
              </a:defRPr>
            </a:pPr>
            <a:r>
              <a:t>Most CLM platforms stop at the contract. Evaluetor goes further — automatically connecting contract data to the business relationships they support. No other CLM vendor offers this capability.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65176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The Automated Governance Bridge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063240"/>
            <a:ext cx="5029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0">
                <a:solidFill>
                  <a:srgbClr val="9CA3AF"/>
                </a:solidFill>
                <a:latin typeface="Calibri"/>
              </a:defRPr>
            </a:pPr>
            <a:r>
              <a:t>Contract upload triggers a fully automated pipeline: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703320"/>
            <a:ext cx="274320" cy="274320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3712464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30712"/>
                </a:solidFill>
                <a:latin typeface="Calibri"/>
              </a:defRPr>
            </a:pPr>
            <a: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371600" y="365760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Contract Upload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3675888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AI extracts parties, terms, SLAs, and obligations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033271" y="4005072"/>
            <a:ext cx="36576" cy="256032"/>
          </a:xfrm>
          <a:prstGeom prst="rect">
            <a:avLst/>
          </a:prstGeom>
          <a:solidFill>
            <a:srgbClr val="373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914400" y="4297680"/>
            <a:ext cx="274320" cy="274320"/>
          </a:xfrm>
          <a:prstGeom prst="ellipse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4306824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30712"/>
                </a:solidFill>
                <a:latin typeface="Calibri"/>
              </a:defRPr>
            </a:pPr>
            <a: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25196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Organizations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4270248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Counterparties auto-linked to your org directory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33271" y="4599432"/>
            <a:ext cx="36576" cy="256032"/>
          </a:xfrm>
          <a:prstGeom prst="rect">
            <a:avLst/>
          </a:prstGeom>
          <a:solidFill>
            <a:srgbClr val="373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914400" y="4892040"/>
            <a:ext cx="274320" cy="274320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4400" y="4901184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30712"/>
                </a:solidFill>
                <a:latin typeface="Calibri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371600" y="484632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Relationships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200400" y="4864608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Business relationships created with health scoring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33271" y="5193792"/>
            <a:ext cx="36576" cy="256032"/>
          </a:xfrm>
          <a:prstGeom prst="rect">
            <a:avLst/>
          </a:prstGeom>
          <a:solidFill>
            <a:srgbClr val="373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5486400"/>
            <a:ext cx="274320" cy="27432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5495544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30712"/>
                </a:solidFill>
                <a:latin typeface="Calibri"/>
              </a:defRPr>
            </a:pPr>
            <a: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371600" y="544068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KPIs &amp; Scoring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200400" y="5458968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Performance metrics tracked with dual-perspective scoring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33271" y="5788152"/>
            <a:ext cx="36576" cy="256032"/>
          </a:xfrm>
          <a:prstGeom prst="rect">
            <a:avLst/>
          </a:prstGeom>
          <a:solidFill>
            <a:srgbClr val="373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914400" y="6080760"/>
            <a:ext cx="274320" cy="274320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914400" y="6089904"/>
            <a:ext cx="274320" cy="2743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100" b="1">
                <a:solidFill>
                  <a:srgbClr val="030712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71600" y="6035040"/>
            <a:ext cx="1828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300" b="1">
                <a:solidFill>
                  <a:srgbClr val="FFFFFF"/>
                </a:solidFill>
                <a:latin typeface="Calibri"/>
              </a:defRPr>
            </a:pPr>
            <a:r>
              <a:t>Improvement Points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200400" y="6053328"/>
            <a:ext cx="27432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Gaps automatically surface with action recommendations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583680" y="2651760"/>
            <a:ext cx="50292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800" b="1">
                <a:solidFill>
                  <a:srgbClr val="FFFFFF"/>
                </a:solidFill>
                <a:latin typeface="Calibri"/>
              </a:defRPr>
            </a:pPr>
            <a:r>
              <a:t>What Makes This Unique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583680" y="3200400"/>
            <a:ext cx="4846320" cy="10972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812280" y="3429000"/>
            <a:ext cx="109728" cy="109728"/>
          </a:xfrm>
          <a:prstGeom prst="ellipse">
            <a:avLst/>
          </a:prstGeom>
          <a:solidFill>
            <a:srgbClr val="EC4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040880" y="3337560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Perception Gap Analysis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812280" y="3657600"/>
            <a:ext cx="43891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Dual-perspective scoring reveals misalignment between how you see vendor performance and how they see it — with severity classification that drives targeted improvement.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583680" y="4434840"/>
            <a:ext cx="4846320" cy="10972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6812280" y="4663440"/>
            <a:ext cx="109728" cy="109728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040880" y="4572000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Composite Health Scoring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812280" y="4892040"/>
            <a:ext cx="43891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Relationship health calculated from Risk (30%), SLA Compliance (40%), and Obligation Fulfillment (30%) — a single score that tells you where each relationship truly stands.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6583680" y="5669280"/>
            <a:ext cx="4846320" cy="109728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6812280" y="5897880"/>
            <a:ext cx="109728" cy="109728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040880" y="5806440"/>
            <a:ext cx="41148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Automated Improvement Tracking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812280" y="6126480"/>
            <a:ext cx="438912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0">
                <a:solidFill>
                  <a:srgbClr val="9CA3AF"/>
                </a:solidFill>
                <a:latin typeface="Calibri"/>
              </a:defRPr>
            </a:pPr>
            <a:r>
              <a:t>When perception gaps exceed thresholds, improvement points are auto-generated with ownership, priority, and action items. From insight to action without manual intervention.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096304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096304" y="0"/>
            <a:ext cx="6095390" cy="45720"/>
          </a:xfrm>
          <a:prstGeom prst="rect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54864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A78BFA"/>
                </a:solidFill>
                <a:latin typeface="Calibri"/>
              </a:defRPr>
            </a:pPr>
            <a:r>
              <a:t>WHY EVALUETOR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9144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AI-native. Not AI-bolted-on.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9CA3AF"/>
                </a:solidFill>
                <a:latin typeface="Calibri"/>
              </a:defRPr>
            </a:pPr>
            <a:r>
              <a:t>Legacy CLM tools added AI as an afterthought. We built intelligence into the foundation.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31520" y="2377440"/>
          <a:ext cx="109728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103120"/>
                <a:gridCol w="2103120"/>
                <a:gridCol w="2103120"/>
                <a:gridCol w="2103120"/>
              </a:tblGrid>
              <a:tr h="487680">
                <a:tc>
                  <a:txBody>
                    <a:bodyPr/>
                    <a:lstStyle/>
                    <a:p>
                      <a:pPr algn="l">
                        <a:defRPr sz="1300" b="1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  <a:r>
                        <a:t>Capability</a:t>
                      </a:r>
                    </a:p>
                  </a:txBody>
                  <a:tcPr>
                    <a:solidFill>
                      <a:srgbClr val="0A0F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B923C"/>
                          </a:solidFill>
                          <a:latin typeface="Calibri"/>
                        </a:defRPr>
                      </a:pPr>
                      <a:r>
                        <a:t>Evaluetor</a:t>
                      </a:r>
                    </a:p>
                  </a:txBody>
                  <a:tcPr>
                    <a:solidFill>
                      <a:srgbClr val="0A0F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  <a:r>
                        <a:t>DocuSign CLM</a:t>
                      </a:r>
                    </a:p>
                  </a:txBody>
                  <a:tcPr>
                    <a:solidFill>
                      <a:srgbClr val="0A0F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  <a:r>
                        <a:t>Icertis</a:t>
                      </a:r>
                    </a:p>
                  </a:txBody>
                  <a:tcPr>
                    <a:solidFill>
                      <a:srgbClr val="0A0F1A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  <a:r>
                        <a:t>Ironclad</a:t>
                      </a:r>
                    </a:p>
                  </a:txBody>
                  <a:tcPr>
                    <a:solidFill>
                      <a:srgbClr val="0A0F1A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D1D5DB"/>
                          </a:solidFill>
                          <a:latin typeface="Calibri"/>
                        </a:defRPr>
                      </a:pPr>
                      <a:r>
                        <a:t>Time to Value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B923C"/>
                          </a:solidFill>
                          <a:latin typeface="Calibri"/>
                        </a:defRPr>
                      </a:pPr>
                      <a:r>
                        <a:t>Hours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  <a:r>
                        <a:t>6–12 months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  <a:r>
                        <a:t>12–18 months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  <a:r>
                        <a:t>3–6 months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D1D5DB"/>
                          </a:solidFill>
                          <a:latin typeface="Calibri"/>
                        </a:defRPr>
                      </a:pPr>
                      <a:r>
                        <a:t>AI Extraction</a:t>
                      </a:r>
                    </a:p>
                  </a:txBody>
                  <a:tcPr>
                    <a:solidFill>
                      <a:srgbClr val="03071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B923C"/>
                          </a:solidFill>
                          <a:latin typeface="Calibri"/>
                        </a:defRPr>
                      </a:pPr>
                      <a:r>
                        <a:t>9 native agents</a:t>
                      </a:r>
                    </a:p>
                  </a:txBody>
                  <a:tcPr>
                    <a:solidFill>
                      <a:srgbClr val="03071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  <a:r>
                        <a:t>Limited</a:t>
                      </a:r>
                    </a:p>
                  </a:txBody>
                  <a:tcPr>
                    <a:solidFill>
                      <a:srgbClr val="03071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  <a:r>
                        <a:t>Add-on</a:t>
                      </a:r>
                    </a:p>
                  </a:txBody>
                  <a:tcPr>
                    <a:solidFill>
                      <a:srgbClr val="03071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  <a:r>
                        <a:t>Limited</a:t>
                      </a:r>
                    </a:p>
                  </a:txBody>
                  <a:tcPr>
                    <a:solidFill>
                      <a:srgbClr val="030712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D1D5DB"/>
                          </a:solidFill>
                          <a:latin typeface="Calibri"/>
                        </a:defRPr>
                      </a:pPr>
                      <a:r>
                        <a:t>SLA Monitoring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B923C"/>
                          </a:solidFill>
                          <a:latin typeface="Calibri"/>
                        </a:defRPr>
                      </a:pPr>
                      <a:r>
                        <a:t>Built-in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  <a:r>
                        <a:t>Add-on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D1D5DB"/>
                          </a:solidFill>
                          <a:latin typeface="Calibri"/>
                        </a:defRPr>
                      </a:pPr>
                      <a:r>
                        <a:t>Obligation Tracking</a:t>
                      </a:r>
                    </a:p>
                  </a:txBody>
                  <a:tcPr>
                    <a:solidFill>
                      <a:srgbClr val="03071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B923C"/>
                          </a:solidFill>
                          <a:latin typeface="Calibri"/>
                        </a:defRPr>
                      </a:pPr>
                      <a:r>
                        <a:t>AI-extracted</a:t>
                      </a:r>
                    </a:p>
                  </a:txBody>
                  <a:tcPr>
                    <a:solidFill>
                      <a:srgbClr val="03071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  <a:r>
                        <a:t>Manual</a:t>
                      </a:r>
                    </a:p>
                  </a:txBody>
                  <a:tcPr>
                    <a:solidFill>
                      <a:srgbClr val="03071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  <a:r>
                        <a:t>Manual</a:t>
                      </a:r>
                    </a:p>
                  </a:txBody>
                  <a:tcPr>
                    <a:solidFill>
                      <a:srgbClr val="03071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  <a:r>
                        <a:t>Limited</a:t>
                      </a:r>
                    </a:p>
                  </a:txBody>
                  <a:tcPr>
                    <a:solidFill>
                      <a:srgbClr val="030712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D1D5DB"/>
                          </a:solidFill>
                          <a:latin typeface="Calibri"/>
                        </a:defRPr>
                      </a:pPr>
                      <a:r>
                        <a:t>Relationship Governance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B923C"/>
                          </a:solidFill>
                          <a:latin typeface="Calibri"/>
                        </a:defRPr>
                      </a:pPr>
                      <a:r>
                        <a:t>Built-in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D1D5DB"/>
                          </a:solidFill>
                          <a:latin typeface="Calibri"/>
                        </a:defRPr>
                      </a:pPr>
                      <a:r>
                        <a:t>Knowledge Graph</a:t>
                      </a:r>
                    </a:p>
                  </a:txBody>
                  <a:tcPr>
                    <a:solidFill>
                      <a:srgbClr val="03071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B923C"/>
                          </a:solidFill>
                          <a:latin typeface="Calibri"/>
                        </a:defRPr>
                      </a:pPr>
                      <a:r>
                        <a:t>Built-in</a:t>
                      </a:r>
                    </a:p>
                  </a:txBody>
                  <a:tcPr>
                    <a:solidFill>
                      <a:srgbClr val="03071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03071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03071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030712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D1D5DB"/>
                          </a:solidFill>
                          <a:latin typeface="Calibri"/>
                        </a:defRPr>
                      </a:pPr>
                      <a:r>
                        <a:t>Unlimited Users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B923C"/>
                          </a:solidFill>
                          <a:latin typeface="Calibri"/>
                        </a:defRPr>
                      </a:pPr>
                      <a:r>
                        <a:t>✓ Yes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  <a:r>
                        <a:t>✗</a:t>
                      </a:r>
                    </a:p>
                  </a:txBody>
                  <a:tcPr>
                    <a:solidFill>
                      <a:srgbClr val="111827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 algn="l">
                        <a:defRPr sz="1300" b="0">
                          <a:solidFill>
                            <a:srgbClr val="D1D5DB"/>
                          </a:solidFill>
                          <a:latin typeface="Calibri"/>
                        </a:defRPr>
                      </a:pPr>
                      <a:r>
                        <a:t>LLM Observability</a:t>
                      </a:r>
                    </a:p>
                  </a:txBody>
                  <a:tcPr>
                    <a:solidFill>
                      <a:srgbClr val="03071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B923C"/>
                          </a:solidFill>
                          <a:latin typeface="Calibri"/>
                        </a:defRPr>
                      </a:pPr>
                      <a:r>
                        <a:t>Langfuse</a:t>
                      </a:r>
                    </a:p>
                  </a:txBody>
                  <a:tcPr>
                    <a:solidFill>
                      <a:srgbClr val="03071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03071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03071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0">
                          <a:solidFill>
                            <a:srgbClr val="6B7280"/>
                          </a:solidFill>
                          <a:latin typeface="Calibri"/>
                        </a:defRPr>
                      </a:pPr>
                      <a:r>
                        <a:t>No</a:t>
                      </a:r>
                    </a:p>
                  </a:txBody>
                  <a:tcPr>
                    <a:solidFill>
                      <a:srgbClr val="030712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3071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365760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100" b="1">
                <a:solidFill>
                  <a:srgbClr val="34D399"/>
                </a:solidFill>
                <a:latin typeface="Calibri"/>
              </a:defRPr>
            </a:pPr>
            <a:r>
              <a:t>RESULTS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91440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4000" b="1">
                <a:solidFill>
                  <a:srgbClr val="FFFFFF"/>
                </a:solidFill>
                <a:latin typeface="Calibri"/>
              </a:defRPr>
            </a:pPr>
            <a:r>
              <a:t>Measurable impact from day 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7315200" cy="45720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0">
                <a:solidFill>
                  <a:srgbClr val="9CA3AF"/>
                </a:solidFill>
                <a:latin typeface="Calibri"/>
              </a:defRPr>
            </a:pPr>
            <a:r>
              <a:t>Immediate, quantifiable results — not months of implementation before you see value.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2468880"/>
            <a:ext cx="2468880" cy="16459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2651760"/>
            <a:ext cx="19202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200" b="1">
                <a:solidFill>
                  <a:srgbClr val="A78BFA"/>
                </a:solidFill>
                <a:latin typeface="Calibri"/>
              </a:defRPr>
            </a:pPr>
            <a:r>
              <a:t>90%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3337560"/>
            <a:ext cx="19202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9CA3AF"/>
                </a:solidFill>
                <a:latin typeface="Calibri"/>
              </a:defRPr>
            </a:pPr>
            <a:r>
              <a:t>Less time</a:t>
            </a:r>
            <a:br/>
            <a:r>
              <a:t>reviewing contracts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566160" y="2468880"/>
            <a:ext cx="2468880" cy="16459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40480" y="2651760"/>
            <a:ext cx="19202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200" b="1">
                <a:solidFill>
                  <a:srgbClr val="FB923C"/>
                </a:solidFill>
                <a:latin typeface="Calibri"/>
              </a:defRPr>
            </a:pPr>
            <a:r>
              <a:t>3–5x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3337560"/>
            <a:ext cx="19202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9CA3AF"/>
                </a:solidFill>
                <a:latin typeface="Calibri"/>
              </a:defRPr>
            </a:pPr>
            <a:r>
              <a:t>More SLA credits</a:t>
            </a:r>
            <a:br/>
            <a:r>
              <a:t>recovered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2468880"/>
            <a:ext cx="2468880" cy="16459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75120" y="2651760"/>
            <a:ext cx="19202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200" b="1">
                <a:solidFill>
                  <a:srgbClr val="F87171"/>
                </a:solidFill>
                <a:latin typeface="Calibri"/>
              </a:defRPr>
            </a:pPr>
            <a:r>
              <a:t>95%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3337560"/>
            <a:ext cx="19202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9CA3AF"/>
                </a:solidFill>
                <a:latin typeface="Calibri"/>
              </a:defRPr>
            </a:pPr>
            <a:r>
              <a:t>Fewer missed</a:t>
            </a:r>
            <a:br/>
            <a:r>
              <a:t>deadlines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235440" y="2468880"/>
            <a:ext cx="2468880" cy="164592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509760" y="2651760"/>
            <a:ext cx="1920240" cy="7315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4200" b="1">
                <a:solidFill>
                  <a:srgbClr val="34D399"/>
                </a:solidFill>
                <a:latin typeface="Calibri"/>
              </a:defRPr>
            </a:pPr>
            <a:r>
              <a:t>$2M+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509760" y="3337560"/>
            <a:ext cx="1920240" cy="64008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300" b="0">
                <a:solidFill>
                  <a:srgbClr val="9CA3AF"/>
                </a:solidFill>
                <a:latin typeface="Calibri"/>
              </a:defRPr>
            </a:pPr>
            <a:r>
              <a:t>Credits recovered</a:t>
            </a:r>
            <a:br/>
            <a:r>
              <a:t>across customers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4572000"/>
            <a:ext cx="3291840" cy="14630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05840" y="4846320"/>
            <a:ext cx="109728" cy="109728"/>
          </a:xfrm>
          <a:prstGeom prst="ellipse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234440" y="4754880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For Legal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5166360"/>
            <a:ext cx="274320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9CA3AF"/>
                </a:solidFill>
                <a:latin typeface="Calibri"/>
              </a:defRPr>
            </a:pPr>
            <a:r>
              <a:t>Days of contract review compressed to minutes. Automated risk scoring across 10 categories. Portfolio-wide semantic search.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389120" y="4572000"/>
            <a:ext cx="3291840" cy="14630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4663440" y="4846320"/>
            <a:ext cx="109728" cy="109728"/>
          </a:xfrm>
          <a:prstGeom prst="ellipse">
            <a:avLst/>
          </a:prstGeom>
          <a:solidFill>
            <a:srgbClr val="FB9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892040" y="4754880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For Procurement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5166360"/>
            <a:ext cx="274320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9CA3AF"/>
                </a:solidFill>
                <a:latin typeface="Calibri"/>
              </a:defRPr>
            </a:pPr>
            <a:r>
              <a:t>Real-time SLA monitoring. Detect breaches the moment they happen. Recover every service credit owed.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046720" y="4572000"/>
            <a:ext cx="3291840" cy="1463040"/>
          </a:xfrm>
          <a:prstGeom prst="roundRect">
            <a:avLst/>
          </a:prstGeom>
          <a:solidFill>
            <a:srgbClr val="111827"/>
          </a:solidFill>
          <a:ln w="12700">
            <a:solidFill>
              <a:srgbClr val="2D33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321040" y="4846320"/>
            <a:ext cx="109728" cy="109728"/>
          </a:xfrm>
          <a:prstGeom prst="ellipse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549640" y="4754880"/>
            <a:ext cx="2560320" cy="3200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For Finance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21040" y="5166360"/>
            <a:ext cx="2743200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200" b="0">
                <a:solidFill>
                  <a:srgbClr val="9CA3AF"/>
                </a:solidFill>
                <a:latin typeface="Calibri"/>
              </a:defRPr>
            </a:pPr>
            <a:r>
              <a:t>Track every obligation and deadline. Detect auto-renewal traps before they trigger. Understand true financial exposure.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251960" y="6263640"/>
            <a:ext cx="3657600" cy="502920"/>
          </a:xfrm>
          <a:prstGeom prst="roundRect">
            <a:avLst/>
          </a:prstGeom>
          <a:solidFill>
            <a:srgbClr val="FB923C"/>
          </a:solidFill>
          <a:ln w="12700"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251960" y="6281928"/>
            <a:ext cx="3657600" cy="502920"/>
          </a:xfrm>
          <a:prstGeom prst="rect">
            <a:avLst/>
          </a:prstGeom>
          <a:noFill/>
        </p:spPr>
        <p:txBody>
          <a:bodyPr wrap="square"/>
          <a:lstStyle/>
          <a:p>
            <a:pPr algn="ctr">
              <a:defRPr sz="1800" b="1">
                <a:solidFill>
                  <a:srgbClr val="FFFFFF"/>
                </a:solidFill>
                <a:latin typeface="Calibri"/>
              </a:defRPr>
            </a:pPr>
            <a:r>
              <a:t>Let’s schedule a live demo  →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31520" y="6400800"/>
            <a:ext cx="36576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defRPr sz="1000" b="0">
                <a:solidFill>
                  <a:srgbClr val="6B7280"/>
                </a:solidFill>
                <a:latin typeface="Calibri"/>
              </a:defRPr>
            </a:pPr>
            <a:r>
              <a:t>evaluetor.com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defRPr sz="1000" b="0">
                <a:solidFill>
                  <a:srgbClr val="6B7280"/>
                </a:solidFill>
                <a:latin typeface="Calibri"/>
              </a:defRPr>
            </a:pPr>
            <a: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